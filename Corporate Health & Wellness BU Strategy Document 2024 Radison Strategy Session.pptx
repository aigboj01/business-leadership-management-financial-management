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288_9F86197C.xml" ContentType="application/vnd.ms-powerpoint.comments+xml"/>
  <Override PartName="/ppt/comments/modernComment_295_876FE184.xml" ContentType="application/vnd.ms-powerpoint.comments+xml"/>
  <Override PartName="/ppt/comments/modernComment_296_51DAB8CA.xml" ContentType="application/vnd.ms-powerpoint.comments+xml"/>
  <Override PartName="/ppt/comments/modernComment_298_C22BA6AF.xml" ContentType="application/vnd.ms-powerpoint.comments+xml"/>
  <Override PartName="/ppt/comments/modernComment_297_21EDA747.xml" ContentType="application/vnd.ms-powerpoint.comments+xml"/>
  <Override PartName="/ppt/comments/modernComment_285_4F20632E.xml" ContentType="application/vnd.ms-powerpoint.comments+xml"/>
  <Override PartName="/ppt/comments/modernComment_2A5_14084C60.xml" ContentType="application/vnd.ms-powerpoint.comments+xml"/>
  <Override PartName="/ppt/comments/modernComment_2CA_FDE07EC4.xml" ContentType="application/vnd.ms-powerpoint.comments+xml"/>
  <Override PartName="/ppt/comments/modernComment_2A6_7145A784.xml" ContentType="application/vnd.ms-powerpoint.comments+xml"/>
  <Override PartName="/ppt/comments/modernComment_2E4_86A2E2F7.xml" ContentType="application/vnd.ms-powerpoint.comments+xml"/>
  <Override PartName="/ppt/comments/modernComment_265_4EC9EA6C.xml" ContentType="application/vnd.ms-powerpoint.comments+xml"/>
  <Override PartName="/ppt/comments/modernComment_2AC_26E93899.xml" ContentType="application/vnd.ms-powerpoint.comments+xml"/>
  <Override PartName="/ppt/comments/modernComment_2AE_4A924917.xml" ContentType="application/vnd.ms-powerpoint.comments+xml"/>
  <Override PartName="/ppt/comments/modernComment_2E7_7AC7A280.xml" ContentType="application/vnd.ms-powerpoint.comments+xml"/>
  <Override PartName="/ppt/comments/modernComment_264_5D5B2B0F.xml" ContentType="application/vnd.ms-powerpoint.comments+xml"/>
  <Override PartName="/ppt/comments/modernComment_27E_374F0DF2.xml" ContentType="application/vnd.ms-powerpoint.comments+xml"/>
  <Override PartName="/ppt/comments/modernComment_2AA_C5ED0A1.xml" ContentType="application/vnd.ms-powerpoint.comments+xml"/>
  <Override PartName="/ppt/comments/modernComment_2AB_68618A7E.xml" ContentType="application/vnd.ms-powerpoint.comments+xml"/>
  <Override PartName="/ppt/comments/modernComment_2AF_2FE4B402.xml" ContentType="application/vnd.ms-powerpoint.comments+xml"/>
  <Override PartName="/ppt/comments/modernComment_2E8_CF762515.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omments/modernComment_290_C4A9BFDE.xml" ContentType="application/vnd.ms-powerpoint.comments+xml"/>
  <Override PartName="/ppt/comments/modernComment_2B3_E1CAD56D.xml" ContentType="application/vnd.ms-powerpoint.comments+xml"/>
  <Override PartName="/ppt/comments/modernComment_2B4_F0420F3C.xml" ContentType="application/vnd.ms-powerpoint.comments+xml"/>
  <Override PartName="/ppt/comments/modernComment_2B5_322DDCC9.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639" r:id="rId2"/>
    <p:sldId id="747" r:id="rId3"/>
    <p:sldId id="753" r:id="rId4"/>
    <p:sldId id="754" r:id="rId5"/>
    <p:sldId id="752" r:id="rId6"/>
    <p:sldId id="751" r:id="rId7"/>
    <p:sldId id="741" r:id="rId8"/>
    <p:sldId id="742" r:id="rId9"/>
    <p:sldId id="835" r:id="rId10"/>
    <p:sldId id="838" r:id="rId11"/>
    <p:sldId id="927" r:id="rId12"/>
    <p:sldId id="837" r:id="rId13"/>
    <p:sldId id="836" r:id="rId14"/>
    <p:sldId id="749" r:id="rId15"/>
    <p:sldId id="648" r:id="rId16"/>
    <p:sldId id="661" r:id="rId17"/>
    <p:sldId id="748" r:id="rId18"/>
    <p:sldId id="834" r:id="rId19"/>
    <p:sldId id="662" r:id="rId20"/>
    <p:sldId id="664" r:id="rId21"/>
    <p:sldId id="663" r:id="rId22"/>
    <p:sldId id="643" r:id="rId23"/>
    <p:sldId id="671" r:id="rId24"/>
    <p:sldId id="713" r:id="rId25"/>
    <p:sldId id="670" r:id="rId26"/>
    <p:sldId id="739" r:id="rId27"/>
    <p:sldId id="645" r:id="rId28"/>
    <p:sldId id="677" r:id="rId29"/>
    <p:sldId id="714" r:id="rId30"/>
    <p:sldId id="678" r:id="rId31"/>
    <p:sldId id="740" r:id="rId32"/>
    <p:sldId id="613" r:id="rId33"/>
    <p:sldId id="684" r:id="rId34"/>
    <p:sldId id="686" r:id="rId35"/>
    <p:sldId id="743" r:id="rId36"/>
    <p:sldId id="755" r:id="rId37"/>
    <p:sldId id="612" r:id="rId38"/>
    <p:sldId id="638" r:id="rId39"/>
    <p:sldId id="832" r:id="rId40"/>
    <p:sldId id="682" r:id="rId41"/>
    <p:sldId id="683" r:id="rId42"/>
    <p:sldId id="687" r:id="rId43"/>
    <p:sldId id="744" r:id="rId44"/>
    <p:sldId id="833" r:id="rId45"/>
    <p:sldId id="737" r:id="rId46"/>
    <p:sldId id="615" r:id="rId47"/>
    <p:sldId id="688" r:id="rId48"/>
    <p:sldId id="689" r:id="rId49"/>
    <p:sldId id="690" r:id="rId50"/>
    <p:sldId id="745" r:id="rId51"/>
    <p:sldId id="656" r:id="rId52"/>
    <p:sldId id="691" r:id="rId53"/>
    <p:sldId id="692" r:id="rId54"/>
    <p:sldId id="693" r:id="rId55"/>
    <p:sldId id="839" r:id="rId56"/>
    <p:sldId id="920" r:id="rId57"/>
    <p:sldId id="924" r:id="rId58"/>
    <p:sldId id="923" r:id="rId59"/>
    <p:sldId id="925" r:id="rId60"/>
    <p:sldId id="840" r:id="rId61"/>
    <p:sldId id="926" r:id="rId62"/>
  </p:sldIdLst>
  <p:sldSz cx="12192000" cy="6858000"/>
  <p:notesSz cx="6858000" cy="9144000"/>
  <p:defaultTextStyle>
    <a:defPPr>
      <a:defRPr lang="aa-E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EFB8C8-B637-F92C-C8A6-623D76E22698}" name="Itunu Akinware" initials="IA" userId="Itunu Akinware"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47" d="100"/>
          <a:sy n="47" d="100"/>
        </p:scale>
        <p:origin x="47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wnloads\SalesByCustomerReport.xls"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GB" sz="1100"/>
              <a:t>Average rev / Industry </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Sheet1!$H$26</c:f>
              <c:strCache>
                <c:ptCount val="1"/>
                <c:pt idx="0">
                  <c:v>Average</c:v>
                </c:pt>
              </c:strCache>
            </c:strRef>
          </c:tx>
          <c:spPr>
            <a:solidFill>
              <a:schemeClr val="accent1"/>
            </a:solidFill>
            <a:ln>
              <a:noFill/>
            </a:ln>
            <a:effectLst/>
          </c:spPr>
          <c:invertIfNegative val="0"/>
          <c:cat>
            <c:strRef>
              <c:f>Sheet1!$G$27:$G$31</c:f>
              <c:strCache>
                <c:ptCount val="5"/>
                <c:pt idx="0">
                  <c:v>Food and Beverage </c:v>
                </c:pt>
                <c:pt idx="1">
                  <c:v>Logistics </c:v>
                </c:pt>
                <c:pt idx="2">
                  <c:v>Oiland Gas </c:v>
                </c:pt>
                <c:pt idx="3">
                  <c:v>Telco</c:v>
                </c:pt>
                <c:pt idx="4">
                  <c:v>Tobacco </c:v>
                </c:pt>
              </c:strCache>
            </c:strRef>
          </c:cat>
          <c:val>
            <c:numRef>
              <c:f>Sheet1!$H$27:$H$31</c:f>
              <c:numCache>
                <c:formatCode>_(* #,##0.00_);_(* \(#,##0.00\);_(* "-"??_);_(@_)</c:formatCode>
                <c:ptCount val="5"/>
                <c:pt idx="0">
                  <c:v>26353192.256000001</c:v>
                </c:pt>
                <c:pt idx="1">
                  <c:v>20289111.91</c:v>
                </c:pt>
                <c:pt idx="2">
                  <c:v>6827435.9607692305</c:v>
                </c:pt>
                <c:pt idx="3">
                  <c:v>9197259.3399999999</c:v>
                </c:pt>
                <c:pt idx="4">
                  <c:v>42784781.140000001</c:v>
                </c:pt>
              </c:numCache>
            </c:numRef>
          </c:val>
          <c:extLst>
            <c:ext xmlns:c16="http://schemas.microsoft.com/office/drawing/2014/chart" uri="{C3380CC4-5D6E-409C-BE32-E72D297353CC}">
              <c16:uniqueId val="{00000000-4C67-4DDA-900C-DA0CE1AA9851}"/>
            </c:ext>
          </c:extLst>
        </c:ser>
        <c:dLbls>
          <c:showLegendKey val="0"/>
          <c:showVal val="0"/>
          <c:showCatName val="0"/>
          <c:showSerName val="0"/>
          <c:showPercent val="0"/>
          <c:showBubbleSize val="0"/>
        </c:dLbls>
        <c:gapWidth val="219"/>
        <c:overlap val="-27"/>
        <c:axId val="739494464"/>
        <c:axId val="739483584"/>
      </c:barChart>
      <c:catAx>
        <c:axId val="739494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9483584"/>
        <c:crosses val="autoZero"/>
        <c:auto val="1"/>
        <c:lblAlgn val="ctr"/>
        <c:lblOffset val="100"/>
        <c:noMultiLvlLbl val="0"/>
      </c:catAx>
      <c:valAx>
        <c:axId val="739483584"/>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9494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2A5_14084C60.xml><?xml version="1.0" encoding="utf-8"?>
<p188:cmLst xmlns:a="http://schemas.openxmlformats.org/drawingml/2006/main" xmlns:r="http://schemas.openxmlformats.org/officeDocument/2006/relationships" xmlns:p188="http://schemas.microsoft.com/office/powerpoint/2018/8/main">
  <p188:cm id="{D111DB7D-B2A9-4370-9448-496F85F245AD}" authorId="{87EFB8C8-B637-F92C-C8A6-623D76E22698}" created="2023-01-26T17:51:24.259">
    <pc:sldMkLst xmlns:pc="http://schemas.microsoft.com/office/powerpoint/2013/main/command">
      <pc:docMk/>
      <pc:sldMk cId="1327522606" sldId="645"/>
    </pc:sldMkLst>
    <p188:txBody>
      <a:bodyPr/>
      <a:lstStyle/>
      <a:p>
        <a:r>
          <a:rPr lang="en-GB"/>
          <a:t>30% Revenue increase? Based on what? Current Medsupply figures??? Health and safety or Medical Supplies???? 200 to 400? Are these opportunities available? Are you serving up to 200 brands  as of today?</a:t>
        </a:r>
      </a:p>
    </p188:txBody>
  </p188:cm>
</p188:cmLst>
</file>

<file path=ppt/comments/modernComment_2A6_7145A784.xml><?xml version="1.0" encoding="utf-8"?>
<p188:cmLst xmlns:a="http://schemas.openxmlformats.org/drawingml/2006/main" xmlns:r="http://schemas.openxmlformats.org/officeDocument/2006/relationships" xmlns:p188="http://schemas.microsoft.com/office/powerpoint/2018/8/main">
  <p188:cm id="{D111DB7D-B2A9-4370-9448-496F85F245AD}" authorId="{87EFB8C8-B637-F92C-C8A6-623D76E22698}" created="2023-01-26T17:51:24.259">
    <pc:sldMkLst xmlns:pc="http://schemas.microsoft.com/office/powerpoint/2013/main/command">
      <pc:docMk/>
      <pc:sldMk cId="1327522606" sldId="645"/>
    </pc:sldMkLst>
    <p188:txBody>
      <a:bodyPr/>
      <a:lstStyle/>
      <a:p>
        <a:r>
          <a:rPr lang="en-GB"/>
          <a:t>30% Revenue increase? Based on what? Current Medsupply figures??? Health and safety or Medical Supplies???? 200 to 400? Are these opportunities available? Are you serving up to 200 brands  as of today?</a:t>
        </a:r>
      </a:p>
    </p188:txBody>
  </p188:cm>
</p188:cmLst>
</file>

<file path=ppt/comments/modernComment_2AA_C5ED0A1.xml><?xml version="1.0" encoding="utf-8"?>
<p188:cmLst xmlns:a="http://schemas.openxmlformats.org/drawingml/2006/main" xmlns:r="http://schemas.openxmlformats.org/officeDocument/2006/relationships" xmlns:p188="http://schemas.microsoft.com/office/powerpoint/2018/8/main">
  <p188:cm id="{72C4EBDE-D2B1-4E6D-8CEB-BAF859C6E5E5}" authorId="{87EFB8C8-B637-F92C-C8A6-623D76E22698}" created="2023-01-26T21:26:40.127">
    <ac:deMkLst xmlns:ac="http://schemas.microsoft.com/office/drawing/2013/main/command">
      <pc:docMk xmlns:pc="http://schemas.microsoft.com/office/powerpoint/2013/main/command"/>
      <pc:sldMk xmlns:pc="http://schemas.microsoft.com/office/powerpoint/2013/main/command" cId="1566255887" sldId="612"/>
      <ac:spMk id="89" creationId="{65CE81F9-0672-424B-B444-669E75B6FE66}"/>
    </ac:deMkLst>
    <p188:txBody>
      <a:bodyPr/>
      <a:lstStyle/>
      <a:p>
        <a:r>
          <a:rPr lang="en-GB"/>
          <a:t>Your channels cannot be digital marketing in a B to B market. Your channels are players like Sterling Bank and anyone else that can be a conduit to sales .
Direct Cost as left out the cost of the actual products </a:t>
        </a:r>
      </a:p>
    </p188:txBody>
  </p188:cm>
</p188:cmLst>
</file>

<file path=ppt/comments/modernComment_2AB_68618A7E.xml><?xml version="1.0" encoding="utf-8"?>
<p188:cmLst xmlns:a="http://schemas.openxmlformats.org/drawingml/2006/main" xmlns:r="http://schemas.openxmlformats.org/officeDocument/2006/relationships" xmlns:p188="http://schemas.microsoft.com/office/powerpoint/2018/8/main">
  <p188:cm id="{72C4EBDE-D2B1-4E6D-8CEB-BAF859C6E5E5}" authorId="{87EFB8C8-B637-F92C-C8A6-623D76E22698}" created="2023-01-26T21:26:40.127">
    <ac:deMkLst xmlns:ac="http://schemas.microsoft.com/office/drawing/2013/main/command">
      <pc:docMk xmlns:pc="http://schemas.microsoft.com/office/powerpoint/2013/main/command"/>
      <pc:sldMk xmlns:pc="http://schemas.microsoft.com/office/powerpoint/2013/main/command" cId="1566255887" sldId="612"/>
      <ac:spMk id="89" creationId="{65CE81F9-0672-424B-B444-669E75B6FE66}"/>
    </ac:deMkLst>
    <p188:txBody>
      <a:bodyPr/>
      <a:lstStyle/>
      <a:p>
        <a:r>
          <a:rPr lang="en-GB"/>
          <a:t>Your channels cannot be digital marketing in a B to B market. Your channels are players like Sterling Bank and anyone else that can be a conduit to sales .
Direct Cost as left out the cost of the actual products </a:t>
        </a:r>
      </a:p>
    </p188:txBody>
  </p188:cm>
</p188:cmLst>
</file>

<file path=ppt/comments/modernComment_2AC_26E93899.xml><?xml version="1.0" encoding="utf-8"?>
<p188:cmLst xmlns:a="http://schemas.openxmlformats.org/drawingml/2006/main" xmlns:r="http://schemas.openxmlformats.org/officeDocument/2006/relationships" xmlns:p188="http://schemas.microsoft.com/office/powerpoint/2018/8/main">
  <p188:cm id="{CCF01CEB-B245-4238-BEE1-C77F5CC9AEA2}" authorId="{87EFB8C8-B637-F92C-C8A6-623D76E22698}" created="2023-01-26T17:24:44.628">
    <pc:sldMkLst xmlns:pc="http://schemas.microsoft.com/office/powerpoint/2013/main/command">
      <pc:docMk/>
      <pc:sldMk cId="1321855596" sldId="613"/>
    </pc:sldMkLst>
    <p188:txBody>
      <a:bodyPr/>
      <a:lstStyle/>
      <a:p>
        <a:r>
          <a:rPr lang="en-GB"/>
          <a:t>Most of the Strengths seem like weaknesses to me that we need to begin to build capacity in</a:t>
        </a:r>
      </a:p>
    </p188:txBody>
  </p188:cm>
</p188:cmLst>
</file>

<file path=ppt/comments/modernComment_2AE_4A924917.xml><?xml version="1.0" encoding="utf-8"?>
<p188:cmLst xmlns:a="http://schemas.openxmlformats.org/drawingml/2006/main" xmlns:r="http://schemas.openxmlformats.org/officeDocument/2006/relationships" xmlns:p188="http://schemas.microsoft.com/office/powerpoint/2018/8/main">
  <p188:cm id="{CCF01CEB-B245-4238-BEE1-C77F5CC9AEA2}" authorId="{87EFB8C8-B637-F92C-C8A6-623D76E22698}" created="2023-01-26T17:24:44.628">
    <pc:sldMkLst xmlns:pc="http://schemas.microsoft.com/office/powerpoint/2013/main/command">
      <pc:docMk/>
      <pc:sldMk cId="1321855596" sldId="613"/>
    </pc:sldMkLst>
    <p188:txBody>
      <a:bodyPr/>
      <a:lstStyle/>
      <a:p>
        <a:r>
          <a:rPr lang="en-GB"/>
          <a:t>Most of the Strengths seem like weaknesses to me that we need to begin to build capacity in</a:t>
        </a:r>
      </a:p>
    </p188:txBody>
  </p188:cm>
</p188:cmLst>
</file>

<file path=ppt/comments/modernComment_2AF_2FE4B402.xml><?xml version="1.0" encoding="utf-8"?>
<p188:cmLst xmlns:a="http://schemas.openxmlformats.org/drawingml/2006/main" xmlns:r="http://schemas.openxmlformats.org/officeDocument/2006/relationships" xmlns:p188="http://schemas.microsoft.com/office/powerpoint/2018/8/main">
  <p188:cm id="{72C4EBDE-D2B1-4E6D-8CEB-BAF859C6E5E5}" authorId="{87EFB8C8-B637-F92C-C8A6-623D76E22698}" created="2023-01-26T21:26:40.127">
    <ac:deMkLst xmlns:ac="http://schemas.microsoft.com/office/drawing/2013/main/command">
      <pc:docMk xmlns:pc="http://schemas.microsoft.com/office/powerpoint/2013/main/command"/>
      <pc:sldMk xmlns:pc="http://schemas.microsoft.com/office/powerpoint/2013/main/command" cId="1566255887" sldId="612"/>
      <ac:spMk id="89" creationId="{65CE81F9-0672-424B-B444-669E75B6FE66}"/>
    </ac:deMkLst>
    <p188:txBody>
      <a:bodyPr/>
      <a:lstStyle/>
      <a:p>
        <a:r>
          <a:rPr lang="en-GB"/>
          <a:t>Your channels cannot be digital marketing in a B to B market. Your channels are players like Sterling Bank and anyone else that can be a conduit to sales .
Direct Cost as left out the cost of the actual products </a:t>
        </a:r>
      </a:p>
    </p188:txBody>
  </p188:cm>
</p188:cmLst>
</file>

<file path=ppt/comments/modernComment_2B3_E1CAD56D.xml><?xml version="1.0" encoding="utf-8"?>
<p188:cmLst xmlns:a="http://schemas.openxmlformats.org/drawingml/2006/main" xmlns:r="http://schemas.openxmlformats.org/officeDocument/2006/relationships" xmlns:p188="http://schemas.microsoft.com/office/powerpoint/2018/8/main">
  <p188:cm id="{DC9C5230-1762-489E-B7B3-FEE78B2B05F4}" authorId="{87EFB8C8-B637-F92C-C8A6-623D76E22698}" created="2023-01-26T17:57:36.651">
    <ac:deMkLst xmlns:ac="http://schemas.microsoft.com/office/drawing/2013/main/command">
      <pc:docMk xmlns:pc="http://schemas.microsoft.com/office/powerpoint/2013/main/command"/>
      <pc:sldMk xmlns:pc="http://schemas.microsoft.com/office/powerpoint/2013/main/command" cId="3299459038" sldId="656"/>
      <ac:spMk id="2" creationId="{99F31483-5BB2-8FAE-87C2-FD06C849BDE3}"/>
    </ac:deMkLst>
    <p188:txBody>
      <a:bodyPr/>
      <a:lstStyle/>
      <a:p>
        <a:r>
          <a:rPr lang="en-GB"/>
          <a:t>Insert a concise plan for saes and marketting to include all forms of chanel marketting, Above and below the line, ??digital marketing ? Sales Strategy etc Do this for each identified target and tier. You can include other areas I may have left out but follow the template</a:t>
        </a:r>
      </a:p>
    </p188:txBody>
  </p188:cm>
</p188:cmLst>
</file>

<file path=ppt/comments/modernComment_2B4_F0420F3C.xml><?xml version="1.0" encoding="utf-8"?>
<p188:cmLst xmlns:a="http://schemas.openxmlformats.org/drawingml/2006/main" xmlns:r="http://schemas.openxmlformats.org/officeDocument/2006/relationships" xmlns:p188="http://schemas.microsoft.com/office/powerpoint/2018/8/main">
  <p188:cm id="{DC9C5230-1762-489E-B7B3-FEE78B2B05F4}" authorId="{87EFB8C8-B637-F92C-C8A6-623D76E22698}" created="2023-01-26T17:57:36.651">
    <ac:deMkLst xmlns:ac="http://schemas.microsoft.com/office/drawing/2013/main/command">
      <pc:docMk xmlns:pc="http://schemas.microsoft.com/office/powerpoint/2013/main/command"/>
      <pc:sldMk xmlns:pc="http://schemas.microsoft.com/office/powerpoint/2013/main/command" cId="3299459038" sldId="656"/>
      <ac:spMk id="2" creationId="{99F31483-5BB2-8FAE-87C2-FD06C849BDE3}"/>
    </ac:deMkLst>
    <p188:txBody>
      <a:bodyPr/>
      <a:lstStyle/>
      <a:p>
        <a:r>
          <a:rPr lang="en-GB"/>
          <a:t>Insert a concise plan for saes and marketting to include all forms of chanel marketting, Above and below the line, ??digital marketing ? Sales Strategy etc Do this for each identified target and tier. You can include other areas I may have left out but follow the template</a:t>
        </a:r>
      </a:p>
    </p188:txBody>
  </p188:cm>
</p188:cmLst>
</file>

<file path=ppt/comments/modernComment_2B5_322DDCC9.xml><?xml version="1.0" encoding="utf-8"?>
<p188:cmLst xmlns:a="http://schemas.openxmlformats.org/drawingml/2006/main" xmlns:r="http://schemas.openxmlformats.org/officeDocument/2006/relationships" xmlns:p188="http://schemas.microsoft.com/office/powerpoint/2018/8/main">
  <p188:cm id="{DC9C5230-1762-489E-B7B3-FEE78B2B05F4}" authorId="{87EFB8C8-B637-F92C-C8A6-623D76E22698}" created="2023-01-26T17:57:36.651">
    <ac:deMkLst xmlns:ac="http://schemas.microsoft.com/office/drawing/2013/main/command">
      <pc:docMk xmlns:pc="http://schemas.microsoft.com/office/powerpoint/2013/main/command"/>
      <pc:sldMk xmlns:pc="http://schemas.microsoft.com/office/powerpoint/2013/main/command" cId="3299459038" sldId="656"/>
      <ac:spMk id="2" creationId="{99F31483-5BB2-8FAE-87C2-FD06C849BDE3}"/>
    </ac:deMkLst>
    <p188:txBody>
      <a:bodyPr/>
      <a:lstStyle/>
      <a:p>
        <a:r>
          <a:rPr lang="en-GB"/>
          <a:t>Insert a concise plan for saes and marketting to include all forms of chanel marketting, Above and below the line, ??digital marketing ? Sales Strategy etc Do this for each identified target and tier. You can include other areas I may have left out but follow the template</a:t>
        </a:r>
      </a:p>
    </p188:txBody>
  </p188:cm>
</p188:cmLst>
</file>

<file path=ppt/comments/modernComment_2CA_FDE07EC4.xml><?xml version="1.0" encoding="utf-8"?>
<p188:cmLst xmlns:a="http://schemas.openxmlformats.org/drawingml/2006/main" xmlns:r="http://schemas.openxmlformats.org/officeDocument/2006/relationships" xmlns:p188="http://schemas.microsoft.com/office/powerpoint/2018/8/main">
  <p188:cm id="{D111DB7D-B2A9-4370-9448-496F85F245AD}" authorId="{87EFB8C8-B637-F92C-C8A6-623D76E22698}" created="2023-01-26T17:51:24.259">
    <pc:sldMkLst xmlns:pc="http://schemas.microsoft.com/office/powerpoint/2013/main/command">
      <pc:docMk/>
      <pc:sldMk cId="1327522606" sldId="645"/>
    </pc:sldMkLst>
    <p188:txBody>
      <a:bodyPr/>
      <a:lstStyle/>
      <a:p>
        <a:r>
          <a:rPr lang="en-GB"/>
          <a:t>30% Revenue increase? Based on what? Current Medsupply figures??? Health and safety or Medical Supplies???? 200 to 400? Are these opportunities available? Are you serving up to 200 brands  as of today?</a:t>
        </a:r>
      </a:p>
    </p188:txBody>
  </p188:cm>
</p188:cmLst>
</file>

<file path=ppt/comments/modernComment_2E4_86A2E2F7.xml><?xml version="1.0" encoding="utf-8"?>
<p188:cmLst xmlns:a="http://schemas.openxmlformats.org/drawingml/2006/main" xmlns:r="http://schemas.openxmlformats.org/officeDocument/2006/relationships" xmlns:p188="http://schemas.microsoft.com/office/powerpoint/2018/8/main">
  <p188:cm id="{D111DB7D-B2A9-4370-9448-496F85F245AD}" authorId="{87EFB8C8-B637-F92C-C8A6-623D76E22698}" created="2023-01-26T17:51:24.259">
    <pc:sldMkLst xmlns:pc="http://schemas.microsoft.com/office/powerpoint/2013/main/command">
      <pc:docMk/>
      <pc:sldMk cId="1327522606" sldId="645"/>
    </pc:sldMkLst>
    <p188:txBody>
      <a:bodyPr/>
      <a:lstStyle/>
      <a:p>
        <a:r>
          <a:rPr lang="en-GB"/>
          <a:t>30% Revenue increase? Based on what? Current Medsupply figures??? Health and safety or Medical Supplies???? 200 to 400? Are these opportunities available? Are you serving up to 200 brands  as of today?</a:t>
        </a:r>
      </a:p>
    </p188:txBody>
  </p188:cm>
</p188:cmLst>
</file>

<file path=ppt/comments/modernComment_2E7_7AC7A280.xml><?xml version="1.0" encoding="utf-8"?>
<p188:cmLst xmlns:a="http://schemas.openxmlformats.org/drawingml/2006/main" xmlns:r="http://schemas.openxmlformats.org/officeDocument/2006/relationships" xmlns:p188="http://schemas.microsoft.com/office/powerpoint/2018/8/main">
  <p188:cm id="{CCF01CEB-B245-4238-BEE1-C77F5CC9AEA2}" authorId="{87EFB8C8-B637-F92C-C8A6-623D76E22698}" created="2023-01-26T17:24:44.628">
    <pc:sldMkLst xmlns:pc="http://schemas.microsoft.com/office/powerpoint/2013/main/command">
      <pc:docMk/>
      <pc:sldMk cId="1321855596" sldId="613"/>
    </pc:sldMkLst>
    <p188:txBody>
      <a:bodyPr/>
      <a:lstStyle/>
      <a:p>
        <a:r>
          <a:rPr lang="en-GB"/>
          <a:t>Most of the Strengths seem like weaknesses to me that we need to begin to build capacity in</a:t>
        </a:r>
      </a:p>
    </p188:txBody>
  </p188:cm>
</p188:cmLst>
</file>

<file path=ppt/comments/modernComment_2E8_CF762515.xml><?xml version="1.0" encoding="utf-8"?>
<p188:cmLst xmlns:a="http://schemas.openxmlformats.org/drawingml/2006/main" xmlns:r="http://schemas.openxmlformats.org/officeDocument/2006/relationships" xmlns:p188="http://schemas.microsoft.com/office/powerpoint/2018/8/main">
  <p188:cm id="{72C4EBDE-D2B1-4E6D-8CEB-BAF859C6E5E5}" authorId="{87EFB8C8-B637-F92C-C8A6-623D76E22698}" created="2023-01-26T21:26:40.127">
    <ac:deMkLst xmlns:ac="http://schemas.microsoft.com/office/drawing/2013/main/command">
      <pc:docMk xmlns:pc="http://schemas.microsoft.com/office/powerpoint/2013/main/command"/>
      <pc:sldMk xmlns:pc="http://schemas.microsoft.com/office/powerpoint/2013/main/command" cId="1566255887" sldId="612"/>
      <ac:spMk id="89" creationId="{65CE81F9-0672-424B-B444-669E75B6FE66}"/>
    </ac:deMkLst>
    <p188:txBody>
      <a:bodyPr/>
      <a:lstStyle/>
      <a:p>
        <a:r>
          <a:rPr lang="en-GB"/>
          <a:t>Your channels cannot be digital marketing in a B to B market. Your channels are players like Sterling Bank and anyone else that can be a conduit to sales .
Direct Cost as left out the cost of the actual products </a:t>
        </a:r>
      </a:p>
    </p188:txBody>
  </p188:cm>
</p188:cmLst>
</file>

<file path=ppt/comments/modernComment_27E_374F0DF2.xml><?xml version="1.0" encoding="utf-8"?>
<p188:cmLst xmlns:a="http://schemas.openxmlformats.org/drawingml/2006/main" xmlns:r="http://schemas.openxmlformats.org/officeDocument/2006/relationships" xmlns:p188="http://schemas.microsoft.com/office/powerpoint/2018/8/main">
  <p188:cm id="{2F2173E4-0172-47AF-99FF-2C084BC368DF}" authorId="{87EFB8C8-B637-F92C-C8A6-623D76E22698}" created="2023-01-26T17:13:42.637">
    <pc:sldMkLst xmlns:pc="http://schemas.microsoft.com/office/powerpoint/2013/main/command">
      <pc:docMk/>
      <pc:sldMk cId="927927794" sldId="638"/>
    </pc:sldMkLst>
    <p188:txBody>
      <a:bodyPr/>
      <a:lstStyle/>
      <a:p>
        <a:r>
          <a:rPr lang="en-GB"/>
          <a:t>This operational model is only for Pharmaceuticals . Also this is only for hospitals and corporates , what is the model for State governments ? The State govt cash collection model needs to be included</a:t>
        </a:r>
      </a:p>
    </p188:txBody>
  </p188:cm>
</p188:cmLst>
</file>

<file path=ppt/comments/modernComment_264_5D5B2B0F.xml><?xml version="1.0" encoding="utf-8"?>
<p188:cmLst xmlns:a="http://schemas.openxmlformats.org/drawingml/2006/main" xmlns:r="http://schemas.openxmlformats.org/officeDocument/2006/relationships" xmlns:p188="http://schemas.microsoft.com/office/powerpoint/2018/8/main">
  <p188:cm id="{72C4EBDE-D2B1-4E6D-8CEB-BAF859C6E5E5}" authorId="{87EFB8C8-B637-F92C-C8A6-623D76E22698}" created="2023-01-26T21:26:40.127">
    <ac:deMkLst xmlns:ac="http://schemas.microsoft.com/office/drawing/2013/main/command">
      <pc:docMk xmlns:pc="http://schemas.microsoft.com/office/powerpoint/2013/main/command"/>
      <pc:sldMk xmlns:pc="http://schemas.microsoft.com/office/powerpoint/2013/main/command" cId="1566255887" sldId="612"/>
      <ac:spMk id="89" creationId="{65CE81F9-0672-424B-B444-669E75B6FE66}"/>
    </ac:deMkLst>
    <p188:txBody>
      <a:bodyPr/>
      <a:lstStyle/>
      <a:p>
        <a:r>
          <a:rPr lang="en-GB"/>
          <a:t>Your channels cannot be digital marketing in a B to B market. Your channels are players like Sterling Bank and anyone else that can be a conduit to sales .
Direct Cost as left out the cost of the actual products </a:t>
        </a:r>
      </a:p>
    </p188:txBody>
  </p188:cm>
</p188:cmLst>
</file>

<file path=ppt/comments/modernComment_265_4EC9EA6C.xml><?xml version="1.0" encoding="utf-8"?>
<p188:cmLst xmlns:a="http://schemas.openxmlformats.org/drawingml/2006/main" xmlns:r="http://schemas.openxmlformats.org/officeDocument/2006/relationships" xmlns:p188="http://schemas.microsoft.com/office/powerpoint/2018/8/main">
  <p188:cm id="{CCF01CEB-B245-4238-BEE1-C77F5CC9AEA2}" authorId="{87EFB8C8-B637-F92C-C8A6-623D76E22698}" created="2023-01-26T17:24:44.628">
    <pc:sldMkLst xmlns:pc="http://schemas.microsoft.com/office/powerpoint/2013/main/command">
      <pc:docMk/>
      <pc:sldMk cId="1321855596" sldId="613"/>
    </pc:sldMkLst>
    <p188:txBody>
      <a:bodyPr/>
      <a:lstStyle/>
      <a:p>
        <a:r>
          <a:rPr lang="en-GB"/>
          <a:t>Most of the Strengths seem like weaknesses to me that we need to begin to build capacity in</a:t>
        </a:r>
      </a:p>
    </p188:txBody>
  </p188:cm>
</p188:cmLst>
</file>

<file path=ppt/comments/modernComment_285_4F20632E.xml><?xml version="1.0" encoding="utf-8"?>
<p188:cmLst xmlns:a="http://schemas.openxmlformats.org/drawingml/2006/main" xmlns:r="http://schemas.openxmlformats.org/officeDocument/2006/relationships" xmlns:p188="http://schemas.microsoft.com/office/powerpoint/2018/8/main">
  <p188:cm id="{D111DB7D-B2A9-4370-9448-496F85F245AD}" authorId="{87EFB8C8-B637-F92C-C8A6-623D76E22698}" created="2023-01-26T17:51:24.259">
    <pc:sldMkLst xmlns:pc="http://schemas.microsoft.com/office/powerpoint/2013/main/command">
      <pc:docMk/>
      <pc:sldMk cId="1327522606" sldId="645"/>
    </pc:sldMkLst>
    <p188:txBody>
      <a:bodyPr/>
      <a:lstStyle/>
      <a:p>
        <a:r>
          <a:rPr lang="en-GB"/>
          <a:t>30% Revenue increase? Based on what? Current Medsupply figures??? Health and safety or Medical Supplies???? 200 to 400? Are these opportunities available? Are you serving up to 200 brands  as of today?</a:t>
        </a:r>
      </a:p>
    </p188:txBody>
  </p188:cm>
</p188:cmLst>
</file>

<file path=ppt/comments/modernComment_288_9F86197C.xml><?xml version="1.0" encoding="utf-8"?>
<p188:cmLst xmlns:a="http://schemas.openxmlformats.org/drawingml/2006/main" xmlns:r="http://schemas.openxmlformats.org/officeDocument/2006/relationships" xmlns:p188="http://schemas.microsoft.com/office/powerpoint/2018/8/main">
  <p188:cm id="{0F987CBD-F98F-49C3-95ED-E6C2A0C7F8E4}" authorId="{87EFB8C8-B637-F92C-C8A6-623D76E22698}" created="2023-01-26T17:15:23.781">
    <ac:deMkLst xmlns:ac="http://schemas.microsoft.com/office/drawing/2013/main/command">
      <pc:docMk xmlns:pc="http://schemas.microsoft.com/office/powerpoint/2013/main/command"/>
      <pc:sldMk xmlns:pc="http://schemas.microsoft.com/office/powerpoint/2013/main/command" cId="2676365692" sldId="648"/>
      <ac:graphicFrameMk id="6" creationId="{F825E510-7E84-744B-6F06-5EA96DC42E2F}"/>
    </ac:deMkLst>
    <p188:txBody>
      <a:bodyPr/>
      <a:lstStyle/>
      <a:p>
        <a:r>
          <a:rPr lang="en-GB"/>
          <a:t>I guess its safe to say that this document is focused on Pharmaceuticals and Medical Consumables . This slide should be an overview but state that the document is focused on pharmaceuticals</a:t>
        </a:r>
      </a:p>
    </p188:txBody>
  </p188:cm>
</p188:cmLst>
</file>

<file path=ppt/comments/modernComment_290_C4A9BFDE.xml><?xml version="1.0" encoding="utf-8"?>
<p188:cmLst xmlns:a="http://schemas.openxmlformats.org/drawingml/2006/main" xmlns:r="http://schemas.openxmlformats.org/officeDocument/2006/relationships" xmlns:p188="http://schemas.microsoft.com/office/powerpoint/2018/8/main">
  <p188:cm id="{DC9C5230-1762-489E-B7B3-FEE78B2B05F4}" authorId="{87EFB8C8-B637-F92C-C8A6-623D76E22698}" created="2023-01-26T17:57:36.651">
    <ac:deMkLst xmlns:ac="http://schemas.microsoft.com/office/drawing/2013/main/command">
      <pc:docMk xmlns:pc="http://schemas.microsoft.com/office/powerpoint/2013/main/command"/>
      <pc:sldMk xmlns:pc="http://schemas.microsoft.com/office/powerpoint/2013/main/command" cId="3299459038" sldId="656"/>
      <ac:spMk id="2" creationId="{99F31483-5BB2-8FAE-87C2-FD06C849BDE3}"/>
    </ac:deMkLst>
    <p188:txBody>
      <a:bodyPr/>
      <a:lstStyle/>
      <a:p>
        <a:r>
          <a:rPr lang="en-GB"/>
          <a:t>Insert a concise plan for saes and marketting to include all forms of chanel marketting, Above and below the line, ??digital marketing ? Sales Strategy etc Do this for each identified target and tier. You can include other areas I may have left out but follow the template</a:t>
        </a:r>
      </a:p>
    </p188:txBody>
  </p188:cm>
</p188:cmLst>
</file>

<file path=ppt/comments/modernComment_295_876FE184.xml><?xml version="1.0" encoding="utf-8"?>
<p188:cmLst xmlns:a="http://schemas.openxmlformats.org/drawingml/2006/main" xmlns:r="http://schemas.openxmlformats.org/officeDocument/2006/relationships" xmlns:p188="http://schemas.microsoft.com/office/powerpoint/2018/8/main">
  <p188:cm id="{0F987CBD-F98F-49C3-95ED-E6C2A0C7F8E4}" authorId="{87EFB8C8-B637-F92C-C8A6-623D76E22698}" created="2023-01-26T17:15:23.781">
    <ac:deMkLst xmlns:ac="http://schemas.microsoft.com/office/drawing/2013/main/command">
      <pc:docMk xmlns:pc="http://schemas.microsoft.com/office/powerpoint/2013/main/command"/>
      <pc:sldMk xmlns:pc="http://schemas.microsoft.com/office/powerpoint/2013/main/command" cId="2676365692" sldId="648"/>
      <ac:graphicFrameMk id="6" creationId="{F825E510-7E84-744B-6F06-5EA96DC42E2F}"/>
    </ac:deMkLst>
    <p188:txBody>
      <a:bodyPr/>
      <a:lstStyle/>
      <a:p>
        <a:r>
          <a:rPr lang="en-GB"/>
          <a:t>I guess its safe to say that this document is focused on Pharmaceuticals and Medical Consumables . This slide should be an overview but state that the document is focused on pharmaceuticals</a:t>
        </a:r>
      </a:p>
    </p188:txBody>
  </p188:cm>
</p188:cmLst>
</file>

<file path=ppt/comments/modernComment_296_51DAB8CA.xml><?xml version="1.0" encoding="utf-8"?>
<p188:cmLst xmlns:a="http://schemas.openxmlformats.org/drawingml/2006/main" xmlns:r="http://schemas.openxmlformats.org/officeDocument/2006/relationships" xmlns:p188="http://schemas.microsoft.com/office/powerpoint/2018/8/main">
  <p188:cm id="{0F987CBD-F98F-49C3-95ED-E6C2A0C7F8E4}" authorId="{87EFB8C8-B637-F92C-C8A6-623D76E22698}" created="2023-01-26T17:15:23.781">
    <ac:deMkLst xmlns:ac="http://schemas.microsoft.com/office/drawing/2013/main/command">
      <pc:docMk xmlns:pc="http://schemas.microsoft.com/office/powerpoint/2013/main/command"/>
      <pc:sldMk xmlns:pc="http://schemas.microsoft.com/office/powerpoint/2013/main/command" cId="2676365692" sldId="648"/>
      <ac:graphicFrameMk id="6" creationId="{F825E510-7E84-744B-6F06-5EA96DC42E2F}"/>
    </ac:deMkLst>
    <p188:txBody>
      <a:bodyPr/>
      <a:lstStyle/>
      <a:p>
        <a:r>
          <a:rPr lang="en-GB"/>
          <a:t>I guess its safe to say that this document is focused on Pharmaceuticals and Medical Consumables . This slide should be an overview but state that the document is focused on pharmaceuticals</a:t>
        </a:r>
      </a:p>
    </p188:txBody>
  </p188:cm>
</p188:cmLst>
</file>

<file path=ppt/comments/modernComment_297_21EDA747.xml><?xml version="1.0" encoding="utf-8"?>
<p188:cmLst xmlns:a="http://schemas.openxmlformats.org/drawingml/2006/main" xmlns:r="http://schemas.openxmlformats.org/officeDocument/2006/relationships" xmlns:p188="http://schemas.microsoft.com/office/powerpoint/2018/8/main">
  <p188:cm id="{0F987CBD-F98F-49C3-95ED-E6C2A0C7F8E4}" authorId="{87EFB8C8-B637-F92C-C8A6-623D76E22698}" created="2023-01-26T17:15:23.781">
    <ac:deMkLst xmlns:ac="http://schemas.microsoft.com/office/drawing/2013/main/command">
      <pc:docMk xmlns:pc="http://schemas.microsoft.com/office/powerpoint/2013/main/command"/>
      <pc:sldMk xmlns:pc="http://schemas.microsoft.com/office/powerpoint/2013/main/command" cId="2676365692" sldId="648"/>
      <ac:graphicFrameMk id="6" creationId="{F825E510-7E84-744B-6F06-5EA96DC42E2F}"/>
    </ac:deMkLst>
    <p188:txBody>
      <a:bodyPr/>
      <a:lstStyle/>
      <a:p>
        <a:r>
          <a:rPr lang="en-GB"/>
          <a:t>I guess its safe to say that this document is focused on Pharmaceuticals and Medical Consumables . This slide should be an overview but state that the document is focused on pharmaceuticals</a:t>
        </a:r>
      </a:p>
    </p188:txBody>
  </p188:cm>
</p188:cmLst>
</file>

<file path=ppt/comments/modernComment_298_C22BA6AF.xml><?xml version="1.0" encoding="utf-8"?>
<p188:cmLst xmlns:a="http://schemas.openxmlformats.org/drawingml/2006/main" xmlns:r="http://schemas.openxmlformats.org/officeDocument/2006/relationships" xmlns:p188="http://schemas.microsoft.com/office/powerpoint/2018/8/main">
  <p188:cm id="{0F987CBD-F98F-49C3-95ED-E6C2A0C7F8E4}" authorId="{87EFB8C8-B637-F92C-C8A6-623D76E22698}" created="2023-01-26T17:15:23.781">
    <ac:deMkLst xmlns:ac="http://schemas.microsoft.com/office/drawing/2013/main/command">
      <pc:docMk xmlns:pc="http://schemas.microsoft.com/office/powerpoint/2013/main/command"/>
      <pc:sldMk xmlns:pc="http://schemas.microsoft.com/office/powerpoint/2013/main/command" cId="2676365692" sldId="648"/>
      <ac:graphicFrameMk id="6" creationId="{F825E510-7E84-744B-6F06-5EA96DC42E2F}"/>
    </ac:deMkLst>
    <p188:txBody>
      <a:bodyPr/>
      <a:lstStyle/>
      <a:p>
        <a:r>
          <a:rPr lang="en-GB"/>
          <a:t>I guess its safe to say that this document is focused on Pharmaceuticals and Medical Consumables . This slide should be an overview but state that the document is focused on pharmaceuticals</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9DF7FB-9645-4049-A7FF-118E18672F1A}" type="doc">
      <dgm:prSet loTypeId="urn:microsoft.com/office/officeart/2011/layout/HexagonRadial" loCatId="cycle" qsTypeId="urn:microsoft.com/office/officeart/2005/8/quickstyle/simple1" qsCatId="simple" csTypeId="urn:microsoft.com/office/officeart/2005/8/colors/colorful1" csCatId="colorful" phldr="1"/>
      <dgm:spPr/>
      <dgm:t>
        <a:bodyPr/>
        <a:lstStyle/>
        <a:p>
          <a:endParaRPr lang="aa-ET"/>
        </a:p>
      </dgm:t>
    </dgm:pt>
    <dgm:pt modelId="{F9DE54F3-E9FD-49F8-ADC9-050FADE8F433}">
      <dgm:prSet phldrT="[Text]"/>
      <dgm:spPr/>
      <dgm:t>
        <a:bodyPr/>
        <a:lstStyle/>
        <a:p>
          <a:r>
            <a:rPr lang="en-US" b="1" dirty="0">
              <a:latin typeface="Corbel" panose="020B0503020204020204" pitchFamily="34" charset="0"/>
            </a:rPr>
            <a:t>Key Success Factors</a:t>
          </a:r>
          <a:endParaRPr lang="aa-ET" b="1" dirty="0">
            <a:latin typeface="Corbel" panose="020B0503020204020204" pitchFamily="34" charset="0"/>
          </a:endParaRPr>
        </a:p>
      </dgm:t>
    </dgm:pt>
    <dgm:pt modelId="{57BB84EB-4ED3-4028-9189-448FD67947D5}" type="parTrans" cxnId="{8739C132-3B44-41FF-B64A-D64DF06791C3}">
      <dgm:prSet/>
      <dgm:spPr/>
      <dgm:t>
        <a:bodyPr/>
        <a:lstStyle/>
        <a:p>
          <a:endParaRPr lang="aa-ET" b="1">
            <a:latin typeface="Corbel" panose="020B0503020204020204" pitchFamily="34" charset="0"/>
          </a:endParaRPr>
        </a:p>
      </dgm:t>
    </dgm:pt>
    <dgm:pt modelId="{E208891D-EBD8-47B3-A17F-FFE7D4604A10}" type="sibTrans" cxnId="{8739C132-3B44-41FF-B64A-D64DF06791C3}">
      <dgm:prSet/>
      <dgm:spPr/>
      <dgm:t>
        <a:bodyPr/>
        <a:lstStyle/>
        <a:p>
          <a:endParaRPr lang="aa-ET" b="1">
            <a:latin typeface="Corbel" panose="020B0503020204020204" pitchFamily="34" charset="0"/>
          </a:endParaRPr>
        </a:p>
      </dgm:t>
    </dgm:pt>
    <dgm:pt modelId="{5722F5BD-122A-42B4-B6CA-A7BF5BD993B9}">
      <dgm:prSet phldrT="[Text]"/>
      <dgm:spPr/>
      <dgm:t>
        <a:bodyPr/>
        <a:lstStyle/>
        <a:p>
          <a:r>
            <a:rPr lang="en-US" b="1" dirty="0">
              <a:latin typeface="Corbel" panose="020B0503020204020204" pitchFamily="34" charset="0"/>
            </a:rPr>
            <a:t>State-of-the-Art Technology</a:t>
          </a:r>
        </a:p>
        <a:p>
          <a:r>
            <a:rPr lang="en-US" b="1" dirty="0">
              <a:latin typeface="Corbel" panose="020B0503020204020204" pitchFamily="34" charset="0"/>
            </a:rPr>
            <a:t>EMR</a:t>
          </a:r>
          <a:endParaRPr lang="aa-ET" b="1" dirty="0">
            <a:latin typeface="Corbel" panose="020B0503020204020204" pitchFamily="34" charset="0"/>
          </a:endParaRPr>
        </a:p>
      </dgm:t>
    </dgm:pt>
    <dgm:pt modelId="{030C5B6E-2557-4407-AEF5-6F4BBA5DE00E}" type="parTrans" cxnId="{E308903A-C41C-4470-91D9-3F812A45DD5F}">
      <dgm:prSet/>
      <dgm:spPr/>
      <dgm:t>
        <a:bodyPr/>
        <a:lstStyle/>
        <a:p>
          <a:endParaRPr lang="aa-ET" b="1">
            <a:latin typeface="Corbel" panose="020B0503020204020204" pitchFamily="34" charset="0"/>
          </a:endParaRPr>
        </a:p>
      </dgm:t>
    </dgm:pt>
    <dgm:pt modelId="{3A2077E5-8AF5-4759-A457-17E3E8608B2A}" type="sibTrans" cxnId="{E308903A-C41C-4470-91D9-3F812A45DD5F}">
      <dgm:prSet/>
      <dgm:spPr/>
      <dgm:t>
        <a:bodyPr/>
        <a:lstStyle/>
        <a:p>
          <a:endParaRPr lang="aa-ET" b="1">
            <a:latin typeface="Corbel" panose="020B0503020204020204" pitchFamily="34" charset="0"/>
          </a:endParaRPr>
        </a:p>
      </dgm:t>
    </dgm:pt>
    <dgm:pt modelId="{BDD1D52D-B7EF-4F28-BE6F-58BFBE5D2F9C}">
      <dgm:prSet phldrT="[Text]"/>
      <dgm:spPr>
        <a:solidFill>
          <a:srgbClr val="00B0F0"/>
        </a:solidFill>
      </dgm:spPr>
      <dgm:t>
        <a:bodyPr/>
        <a:lstStyle/>
        <a:p>
          <a:r>
            <a:rPr lang="en-US" b="1" dirty="0">
              <a:latin typeface="Corbel" panose="020B0503020204020204" pitchFamily="34" charset="0"/>
            </a:rPr>
            <a:t>Good Quality Service</a:t>
          </a:r>
          <a:endParaRPr lang="aa-ET" b="1" dirty="0">
            <a:latin typeface="Corbel" panose="020B0503020204020204" pitchFamily="34" charset="0"/>
          </a:endParaRPr>
        </a:p>
      </dgm:t>
    </dgm:pt>
    <dgm:pt modelId="{F18CF87E-164C-45AB-83C9-45EF7C7674B3}" type="parTrans" cxnId="{E04E185B-B03F-4A42-AC81-4350D8D4A386}">
      <dgm:prSet/>
      <dgm:spPr/>
      <dgm:t>
        <a:bodyPr/>
        <a:lstStyle/>
        <a:p>
          <a:endParaRPr lang="aa-ET" b="1">
            <a:latin typeface="Corbel" panose="020B0503020204020204" pitchFamily="34" charset="0"/>
          </a:endParaRPr>
        </a:p>
      </dgm:t>
    </dgm:pt>
    <dgm:pt modelId="{DC583E53-37DA-4441-AC26-1D2B29579180}" type="sibTrans" cxnId="{E04E185B-B03F-4A42-AC81-4350D8D4A386}">
      <dgm:prSet/>
      <dgm:spPr/>
      <dgm:t>
        <a:bodyPr/>
        <a:lstStyle/>
        <a:p>
          <a:endParaRPr lang="aa-ET" b="1">
            <a:latin typeface="Corbel" panose="020B0503020204020204" pitchFamily="34" charset="0"/>
          </a:endParaRPr>
        </a:p>
      </dgm:t>
    </dgm:pt>
    <dgm:pt modelId="{00705FE3-2F78-4788-96EA-1203CB4DB89A}">
      <dgm:prSet phldrT="[Text]"/>
      <dgm:spPr/>
      <dgm:t>
        <a:bodyPr/>
        <a:lstStyle/>
        <a:p>
          <a:r>
            <a:rPr lang="en-US" b="1" dirty="0">
              <a:latin typeface="Corbel" panose="020B0503020204020204" pitchFamily="34" charset="0"/>
            </a:rPr>
            <a:t>Wider Spread of Branches </a:t>
          </a:r>
          <a:endParaRPr lang="aa-ET" b="1" dirty="0">
            <a:latin typeface="Corbel" panose="020B0503020204020204" pitchFamily="34" charset="0"/>
          </a:endParaRPr>
        </a:p>
      </dgm:t>
    </dgm:pt>
    <dgm:pt modelId="{9E1CB67D-0EA8-49BB-8156-772D369BB867}" type="parTrans" cxnId="{4C6A7262-4A6F-4832-8A92-2419A2AEAF7D}">
      <dgm:prSet/>
      <dgm:spPr/>
      <dgm:t>
        <a:bodyPr/>
        <a:lstStyle/>
        <a:p>
          <a:endParaRPr lang="aa-ET" b="1">
            <a:latin typeface="Corbel" panose="020B0503020204020204" pitchFamily="34" charset="0"/>
          </a:endParaRPr>
        </a:p>
      </dgm:t>
    </dgm:pt>
    <dgm:pt modelId="{950C945C-1725-4C3C-8A39-E3D9C9BAC083}" type="sibTrans" cxnId="{4C6A7262-4A6F-4832-8A92-2419A2AEAF7D}">
      <dgm:prSet/>
      <dgm:spPr/>
      <dgm:t>
        <a:bodyPr/>
        <a:lstStyle/>
        <a:p>
          <a:endParaRPr lang="aa-ET" b="1">
            <a:latin typeface="Corbel" panose="020B0503020204020204" pitchFamily="34" charset="0"/>
          </a:endParaRPr>
        </a:p>
      </dgm:t>
    </dgm:pt>
    <dgm:pt modelId="{E49373E6-D5EE-41AA-9816-326C447BAB99}">
      <dgm:prSet phldrT="[Text]"/>
      <dgm:spPr/>
      <dgm:t>
        <a:bodyPr/>
        <a:lstStyle/>
        <a:p>
          <a:r>
            <a:rPr lang="en-US" b="1" dirty="0">
              <a:latin typeface="Corbel" panose="020B0503020204020204" pitchFamily="34" charset="0"/>
            </a:rPr>
            <a:t>Marketing Strategy</a:t>
          </a:r>
          <a:endParaRPr lang="aa-ET" b="1" dirty="0">
            <a:latin typeface="Corbel" panose="020B0503020204020204" pitchFamily="34" charset="0"/>
          </a:endParaRPr>
        </a:p>
      </dgm:t>
    </dgm:pt>
    <dgm:pt modelId="{ED8F3596-08FF-455C-964B-F66849D191A9}" type="parTrans" cxnId="{6DE64F6B-C84C-48E0-9FD1-5055D2EBE1C0}">
      <dgm:prSet/>
      <dgm:spPr/>
      <dgm:t>
        <a:bodyPr/>
        <a:lstStyle/>
        <a:p>
          <a:endParaRPr lang="aa-ET" b="1">
            <a:latin typeface="Corbel" panose="020B0503020204020204" pitchFamily="34" charset="0"/>
          </a:endParaRPr>
        </a:p>
      </dgm:t>
    </dgm:pt>
    <dgm:pt modelId="{F2982899-7FE4-475A-95FD-171B6DEF542B}" type="sibTrans" cxnId="{6DE64F6B-C84C-48E0-9FD1-5055D2EBE1C0}">
      <dgm:prSet/>
      <dgm:spPr/>
      <dgm:t>
        <a:bodyPr/>
        <a:lstStyle/>
        <a:p>
          <a:endParaRPr lang="aa-ET" b="1">
            <a:latin typeface="Corbel" panose="020B0503020204020204" pitchFamily="34" charset="0"/>
          </a:endParaRPr>
        </a:p>
      </dgm:t>
    </dgm:pt>
    <dgm:pt modelId="{91421703-6FD0-432D-8D53-AAEDE9AF0F78}">
      <dgm:prSet phldrT="[Text]"/>
      <dgm:spPr/>
      <dgm:t>
        <a:bodyPr/>
        <a:lstStyle/>
        <a:p>
          <a:r>
            <a:rPr lang="en-US" b="1" dirty="0">
              <a:latin typeface="Corbel" panose="020B0503020204020204" pitchFamily="34" charset="0"/>
            </a:rPr>
            <a:t>Approved and Audits </a:t>
          </a:r>
          <a:endParaRPr lang="aa-ET" b="1" dirty="0">
            <a:latin typeface="Corbel" panose="020B0503020204020204" pitchFamily="34" charset="0"/>
          </a:endParaRPr>
        </a:p>
      </dgm:t>
    </dgm:pt>
    <dgm:pt modelId="{8341192B-118F-418D-A184-084F24AE82D0}" type="parTrans" cxnId="{D0CDD31D-91B6-4CD0-8549-04A8C43C43A0}">
      <dgm:prSet/>
      <dgm:spPr/>
      <dgm:t>
        <a:bodyPr/>
        <a:lstStyle/>
        <a:p>
          <a:endParaRPr lang="aa-ET" b="1">
            <a:latin typeface="Corbel" panose="020B0503020204020204" pitchFamily="34" charset="0"/>
          </a:endParaRPr>
        </a:p>
      </dgm:t>
    </dgm:pt>
    <dgm:pt modelId="{BEDA8DC0-B699-490B-AC8B-BE965ADD5016}" type="sibTrans" cxnId="{D0CDD31D-91B6-4CD0-8549-04A8C43C43A0}">
      <dgm:prSet/>
      <dgm:spPr/>
      <dgm:t>
        <a:bodyPr/>
        <a:lstStyle/>
        <a:p>
          <a:endParaRPr lang="aa-ET" b="1">
            <a:latin typeface="Corbel" panose="020B0503020204020204" pitchFamily="34" charset="0"/>
          </a:endParaRPr>
        </a:p>
      </dgm:t>
    </dgm:pt>
    <dgm:pt modelId="{81E4EA5E-8342-414A-B0BA-B49DC5E1CA75}">
      <dgm:prSet phldrT="[Text]"/>
      <dgm:spPr>
        <a:solidFill>
          <a:schemeClr val="accent4">
            <a:lumMod val="50000"/>
          </a:schemeClr>
        </a:solidFill>
      </dgm:spPr>
      <dgm:t>
        <a:bodyPr/>
        <a:lstStyle/>
        <a:p>
          <a:r>
            <a:rPr lang="en-US" b="1" dirty="0">
              <a:latin typeface="Corbel" panose="020B0503020204020204" pitchFamily="34" charset="0"/>
            </a:rPr>
            <a:t>Competitive Pricing</a:t>
          </a:r>
          <a:endParaRPr lang="aa-ET" b="1" dirty="0">
            <a:latin typeface="Corbel" panose="020B0503020204020204" pitchFamily="34" charset="0"/>
          </a:endParaRPr>
        </a:p>
      </dgm:t>
    </dgm:pt>
    <dgm:pt modelId="{7B62E6EB-9988-432A-ABDB-EA3EE18C4B27}" type="sibTrans" cxnId="{F97D351A-13B0-4560-B0DA-9ABF7A5A286C}">
      <dgm:prSet/>
      <dgm:spPr/>
      <dgm:t>
        <a:bodyPr/>
        <a:lstStyle/>
        <a:p>
          <a:endParaRPr lang="aa-ET" b="1">
            <a:latin typeface="Corbel" panose="020B0503020204020204" pitchFamily="34" charset="0"/>
          </a:endParaRPr>
        </a:p>
      </dgm:t>
    </dgm:pt>
    <dgm:pt modelId="{9ECF72A5-C52E-4F71-865B-771BB32FA778}" type="parTrans" cxnId="{F97D351A-13B0-4560-B0DA-9ABF7A5A286C}">
      <dgm:prSet/>
      <dgm:spPr/>
      <dgm:t>
        <a:bodyPr/>
        <a:lstStyle/>
        <a:p>
          <a:endParaRPr lang="aa-ET" b="1">
            <a:latin typeface="Corbel" panose="020B0503020204020204" pitchFamily="34" charset="0"/>
          </a:endParaRPr>
        </a:p>
      </dgm:t>
    </dgm:pt>
    <dgm:pt modelId="{4E8DB477-DA8B-454F-B2A0-027E5B23D3CB}">
      <dgm:prSet/>
      <dgm:spPr/>
    </dgm:pt>
    <dgm:pt modelId="{EEC5EB1B-CE1E-4FB9-B2D5-20C7E3B2A646}" type="parTrans" cxnId="{7A147E73-40FA-4A41-B640-A8FAD7F03407}">
      <dgm:prSet/>
      <dgm:spPr/>
      <dgm:t>
        <a:bodyPr/>
        <a:lstStyle/>
        <a:p>
          <a:endParaRPr lang="en-GB"/>
        </a:p>
      </dgm:t>
    </dgm:pt>
    <dgm:pt modelId="{9F1FD654-4EC0-44E7-AEE9-5311DD1AF513}" type="sibTrans" cxnId="{7A147E73-40FA-4A41-B640-A8FAD7F03407}">
      <dgm:prSet/>
      <dgm:spPr/>
      <dgm:t>
        <a:bodyPr/>
        <a:lstStyle/>
        <a:p>
          <a:endParaRPr lang="en-GB"/>
        </a:p>
      </dgm:t>
    </dgm:pt>
    <dgm:pt modelId="{55AC4C5A-FF37-4699-A692-80EBCD39161C}">
      <dgm:prSet/>
      <dgm:spPr/>
    </dgm:pt>
    <dgm:pt modelId="{9296490E-A113-47F0-87D7-7A4EE3FD2F5C}" type="parTrans" cxnId="{55D7878C-D9E8-475B-A3AB-BED5DEE00112}">
      <dgm:prSet/>
      <dgm:spPr/>
      <dgm:t>
        <a:bodyPr/>
        <a:lstStyle/>
        <a:p>
          <a:endParaRPr lang="en-GB"/>
        </a:p>
      </dgm:t>
    </dgm:pt>
    <dgm:pt modelId="{F4D27085-7D54-4F63-AFF9-906B55751E74}" type="sibTrans" cxnId="{55D7878C-D9E8-475B-A3AB-BED5DEE00112}">
      <dgm:prSet/>
      <dgm:spPr/>
      <dgm:t>
        <a:bodyPr/>
        <a:lstStyle/>
        <a:p>
          <a:endParaRPr lang="en-GB"/>
        </a:p>
      </dgm:t>
    </dgm:pt>
    <dgm:pt modelId="{08B91B8B-E005-4367-A63B-255C72F2AD99}">
      <dgm:prSet/>
      <dgm:spPr/>
    </dgm:pt>
    <dgm:pt modelId="{00368A52-3707-412B-9A16-D411018520E0}" type="parTrans" cxnId="{AE68AAAD-C1B7-43C3-94A2-86CEEB50AEB7}">
      <dgm:prSet/>
      <dgm:spPr/>
      <dgm:t>
        <a:bodyPr/>
        <a:lstStyle/>
        <a:p>
          <a:endParaRPr lang="en-GB"/>
        </a:p>
      </dgm:t>
    </dgm:pt>
    <dgm:pt modelId="{30F96251-3B55-40A6-A134-D92233DC0833}" type="sibTrans" cxnId="{AE68AAAD-C1B7-43C3-94A2-86CEEB50AEB7}">
      <dgm:prSet/>
      <dgm:spPr/>
      <dgm:t>
        <a:bodyPr/>
        <a:lstStyle/>
        <a:p>
          <a:endParaRPr lang="en-GB"/>
        </a:p>
      </dgm:t>
    </dgm:pt>
    <dgm:pt modelId="{73FB22BE-ED87-4286-9C90-484DBB0FF946}">
      <dgm:prSet/>
      <dgm:spPr/>
    </dgm:pt>
    <dgm:pt modelId="{10F59849-C19D-4EC7-A3E2-28D8B317EF15}" type="parTrans" cxnId="{15DDD04A-A8E6-453D-9F33-9FC5DAD28030}">
      <dgm:prSet/>
      <dgm:spPr/>
      <dgm:t>
        <a:bodyPr/>
        <a:lstStyle/>
        <a:p>
          <a:endParaRPr lang="en-GB"/>
        </a:p>
      </dgm:t>
    </dgm:pt>
    <dgm:pt modelId="{FC69C3C8-B4DD-4D3F-8F32-598B2938514B}" type="sibTrans" cxnId="{15DDD04A-A8E6-453D-9F33-9FC5DAD28030}">
      <dgm:prSet/>
      <dgm:spPr/>
      <dgm:t>
        <a:bodyPr/>
        <a:lstStyle/>
        <a:p>
          <a:endParaRPr lang="en-GB"/>
        </a:p>
      </dgm:t>
    </dgm:pt>
    <dgm:pt modelId="{D41C91AB-77B6-487E-AADB-F792FEC88B08}">
      <dgm:prSet/>
      <dgm:spPr/>
    </dgm:pt>
    <dgm:pt modelId="{AC0A40A6-24A1-4C41-9B5F-F28E478BA109}" type="parTrans" cxnId="{14BA5A00-9337-46B6-8D24-FECFD0790030}">
      <dgm:prSet/>
      <dgm:spPr/>
      <dgm:t>
        <a:bodyPr/>
        <a:lstStyle/>
        <a:p>
          <a:endParaRPr lang="en-GB"/>
        </a:p>
      </dgm:t>
    </dgm:pt>
    <dgm:pt modelId="{CB4963A6-2854-431A-BCEE-965DAAAE2873}" type="sibTrans" cxnId="{14BA5A00-9337-46B6-8D24-FECFD0790030}">
      <dgm:prSet/>
      <dgm:spPr/>
      <dgm:t>
        <a:bodyPr/>
        <a:lstStyle/>
        <a:p>
          <a:endParaRPr lang="en-GB"/>
        </a:p>
      </dgm:t>
    </dgm:pt>
    <dgm:pt modelId="{66705812-6636-4190-BA03-8980695F3CD9}">
      <dgm:prSet/>
      <dgm:spPr/>
      <dgm:t>
        <a:bodyPr/>
        <a:lstStyle/>
        <a:p>
          <a:endParaRPr lang="en-GB"/>
        </a:p>
      </dgm:t>
    </dgm:pt>
    <dgm:pt modelId="{D2B88946-4875-4D48-88C7-8BF6749D0071}" type="parTrans" cxnId="{C691954C-B2DD-4946-9B6A-8C248ECFA05A}">
      <dgm:prSet/>
      <dgm:spPr/>
      <dgm:t>
        <a:bodyPr/>
        <a:lstStyle/>
        <a:p>
          <a:endParaRPr lang="en-GB"/>
        </a:p>
      </dgm:t>
    </dgm:pt>
    <dgm:pt modelId="{51C24062-84C6-40FD-81E5-83BF48C82AAF}" type="sibTrans" cxnId="{C691954C-B2DD-4946-9B6A-8C248ECFA05A}">
      <dgm:prSet/>
      <dgm:spPr/>
      <dgm:t>
        <a:bodyPr/>
        <a:lstStyle/>
        <a:p>
          <a:endParaRPr lang="en-GB"/>
        </a:p>
      </dgm:t>
    </dgm:pt>
    <dgm:pt modelId="{3288AE33-DF0C-40BC-9057-EA16DEB967D6}">
      <dgm:prSet/>
      <dgm:spPr/>
    </dgm:pt>
    <dgm:pt modelId="{894C8F72-28A7-4DF6-B4F7-18D441DD3F08}" type="parTrans" cxnId="{5863F54D-30C5-4EF6-A900-18C434778A29}">
      <dgm:prSet/>
      <dgm:spPr/>
      <dgm:t>
        <a:bodyPr/>
        <a:lstStyle/>
        <a:p>
          <a:endParaRPr lang="en-GB"/>
        </a:p>
      </dgm:t>
    </dgm:pt>
    <dgm:pt modelId="{7A121D86-DF25-40F6-A5EF-18938CE869A8}" type="sibTrans" cxnId="{5863F54D-30C5-4EF6-A900-18C434778A29}">
      <dgm:prSet/>
      <dgm:spPr/>
      <dgm:t>
        <a:bodyPr/>
        <a:lstStyle/>
        <a:p>
          <a:endParaRPr lang="en-GB"/>
        </a:p>
      </dgm:t>
    </dgm:pt>
    <dgm:pt modelId="{9BB299C9-33DD-4659-AA8F-EEBB46EC2376}">
      <dgm:prSet/>
      <dgm:spPr/>
    </dgm:pt>
    <dgm:pt modelId="{A5896208-C987-4A1C-AEDE-1D07694E01C9}" type="parTrans" cxnId="{CDB7B690-6A6E-4492-9A07-3DCB31467429}">
      <dgm:prSet/>
      <dgm:spPr/>
      <dgm:t>
        <a:bodyPr/>
        <a:lstStyle/>
        <a:p>
          <a:endParaRPr lang="en-GB"/>
        </a:p>
      </dgm:t>
    </dgm:pt>
    <dgm:pt modelId="{F6706AC0-8150-48F5-9209-85A2A0839A2F}" type="sibTrans" cxnId="{CDB7B690-6A6E-4492-9A07-3DCB31467429}">
      <dgm:prSet/>
      <dgm:spPr/>
      <dgm:t>
        <a:bodyPr/>
        <a:lstStyle/>
        <a:p>
          <a:endParaRPr lang="en-GB"/>
        </a:p>
      </dgm:t>
    </dgm:pt>
    <dgm:pt modelId="{E52CB6D9-D7EA-4A4F-9111-64D7E54F25B9}">
      <dgm:prSet/>
      <dgm:spPr/>
    </dgm:pt>
    <dgm:pt modelId="{3BBA3752-8BD0-435F-BB22-876265CB07C2}" type="parTrans" cxnId="{1B8B1539-7805-437E-8B4A-75ECC81CAA95}">
      <dgm:prSet/>
      <dgm:spPr/>
      <dgm:t>
        <a:bodyPr/>
        <a:lstStyle/>
        <a:p>
          <a:endParaRPr lang="en-GB"/>
        </a:p>
      </dgm:t>
    </dgm:pt>
    <dgm:pt modelId="{5AE39B94-209E-4FD3-81E7-D8CF6908B702}" type="sibTrans" cxnId="{1B8B1539-7805-437E-8B4A-75ECC81CAA95}">
      <dgm:prSet/>
      <dgm:spPr/>
      <dgm:t>
        <a:bodyPr/>
        <a:lstStyle/>
        <a:p>
          <a:endParaRPr lang="en-GB"/>
        </a:p>
      </dgm:t>
    </dgm:pt>
    <dgm:pt modelId="{35F37C56-0924-4F7B-9A1D-69DCE93CBE16}">
      <dgm:prSet/>
      <dgm:spPr/>
      <dgm:t>
        <a:bodyPr/>
        <a:lstStyle/>
        <a:p>
          <a:endParaRPr lang="en-GB"/>
        </a:p>
      </dgm:t>
    </dgm:pt>
    <dgm:pt modelId="{95F14ABB-4FF6-4459-9807-50C2D24F2852}" type="parTrans" cxnId="{9D104FA3-DABE-4AD3-8CC5-72399121CAEF}">
      <dgm:prSet/>
      <dgm:spPr/>
      <dgm:t>
        <a:bodyPr/>
        <a:lstStyle/>
        <a:p>
          <a:endParaRPr lang="en-GB"/>
        </a:p>
      </dgm:t>
    </dgm:pt>
    <dgm:pt modelId="{E14986CD-B0ED-4998-A4EE-8AC8B36ECFF3}" type="sibTrans" cxnId="{9D104FA3-DABE-4AD3-8CC5-72399121CAEF}">
      <dgm:prSet/>
      <dgm:spPr/>
      <dgm:t>
        <a:bodyPr/>
        <a:lstStyle/>
        <a:p>
          <a:endParaRPr lang="en-GB"/>
        </a:p>
      </dgm:t>
    </dgm:pt>
    <dgm:pt modelId="{5F5CE61B-7DD9-4102-BBBA-45FDD900A2BD}">
      <dgm:prSet/>
      <dgm:spPr/>
    </dgm:pt>
    <dgm:pt modelId="{A2215AF5-2EC8-4CEA-8C3B-8879E4FA0E5C}" type="parTrans" cxnId="{3836B814-42E8-4795-B869-4DFCB59BD2B9}">
      <dgm:prSet/>
      <dgm:spPr/>
      <dgm:t>
        <a:bodyPr/>
        <a:lstStyle/>
        <a:p>
          <a:endParaRPr lang="en-GB"/>
        </a:p>
      </dgm:t>
    </dgm:pt>
    <dgm:pt modelId="{602BE25B-39A2-45F3-8CD6-4D27D4565F2D}" type="sibTrans" cxnId="{3836B814-42E8-4795-B869-4DFCB59BD2B9}">
      <dgm:prSet/>
      <dgm:spPr/>
      <dgm:t>
        <a:bodyPr/>
        <a:lstStyle/>
        <a:p>
          <a:endParaRPr lang="en-GB"/>
        </a:p>
      </dgm:t>
    </dgm:pt>
    <dgm:pt modelId="{F6C69C91-B8B5-4A68-A225-9BC1BBC69F16}">
      <dgm:prSet/>
      <dgm:spPr/>
    </dgm:pt>
    <dgm:pt modelId="{C69FF28F-B24C-4A0B-9555-7172D321BBDF}" type="parTrans" cxnId="{F3893F4B-B12B-4EAA-8CF3-73ECA5D4D98F}">
      <dgm:prSet/>
      <dgm:spPr/>
      <dgm:t>
        <a:bodyPr/>
        <a:lstStyle/>
        <a:p>
          <a:endParaRPr lang="en-GB"/>
        </a:p>
      </dgm:t>
    </dgm:pt>
    <dgm:pt modelId="{DA95D5E7-62E3-492F-8BEB-B7DB79B67D3D}" type="sibTrans" cxnId="{F3893F4B-B12B-4EAA-8CF3-73ECA5D4D98F}">
      <dgm:prSet/>
      <dgm:spPr/>
      <dgm:t>
        <a:bodyPr/>
        <a:lstStyle/>
        <a:p>
          <a:endParaRPr lang="en-GB"/>
        </a:p>
      </dgm:t>
    </dgm:pt>
    <dgm:pt modelId="{501FC558-18D2-4C40-B3F6-24285EE0091B}">
      <dgm:prSet/>
      <dgm:spPr/>
    </dgm:pt>
    <dgm:pt modelId="{E68FB763-426D-497F-A979-08B6B596E0A1}" type="parTrans" cxnId="{086D5654-90FA-4799-B228-4D401026492A}">
      <dgm:prSet/>
      <dgm:spPr/>
      <dgm:t>
        <a:bodyPr/>
        <a:lstStyle/>
        <a:p>
          <a:endParaRPr lang="en-GB"/>
        </a:p>
      </dgm:t>
    </dgm:pt>
    <dgm:pt modelId="{E6F49809-BE9D-4F88-865F-12FBB13DEA6F}" type="sibTrans" cxnId="{086D5654-90FA-4799-B228-4D401026492A}">
      <dgm:prSet/>
      <dgm:spPr/>
      <dgm:t>
        <a:bodyPr/>
        <a:lstStyle/>
        <a:p>
          <a:endParaRPr lang="en-GB"/>
        </a:p>
      </dgm:t>
    </dgm:pt>
    <dgm:pt modelId="{58C80071-C773-4389-9DD0-8E921F314F3E}">
      <dgm:prSet/>
      <dgm:spPr/>
    </dgm:pt>
    <dgm:pt modelId="{04F92A31-DC57-43BF-8AA0-73432AED6D02}" type="parTrans" cxnId="{0C4D4E91-6EAD-4D0B-B98B-33E5543DEF02}">
      <dgm:prSet/>
      <dgm:spPr/>
      <dgm:t>
        <a:bodyPr/>
        <a:lstStyle/>
        <a:p>
          <a:endParaRPr lang="en-GB"/>
        </a:p>
      </dgm:t>
    </dgm:pt>
    <dgm:pt modelId="{C728B5D3-C7D8-47B9-97B5-56003C4B9CC8}" type="sibTrans" cxnId="{0C4D4E91-6EAD-4D0B-B98B-33E5543DEF02}">
      <dgm:prSet/>
      <dgm:spPr/>
      <dgm:t>
        <a:bodyPr/>
        <a:lstStyle/>
        <a:p>
          <a:endParaRPr lang="en-GB"/>
        </a:p>
      </dgm:t>
    </dgm:pt>
    <dgm:pt modelId="{4C01D3E4-56CA-4FB0-8028-084994C95EFA}">
      <dgm:prSet/>
      <dgm:spPr/>
      <dgm:t>
        <a:bodyPr/>
        <a:lstStyle/>
        <a:p>
          <a:endParaRPr lang="en-GB"/>
        </a:p>
      </dgm:t>
    </dgm:pt>
    <dgm:pt modelId="{EF617821-EDD2-443E-9E9A-4F8605AC02A7}" type="parTrans" cxnId="{5667ADAF-4914-445D-889A-7AA85202CBD3}">
      <dgm:prSet/>
      <dgm:spPr/>
      <dgm:t>
        <a:bodyPr/>
        <a:lstStyle/>
        <a:p>
          <a:endParaRPr lang="en-GB"/>
        </a:p>
      </dgm:t>
    </dgm:pt>
    <dgm:pt modelId="{48ED17CD-DF5B-4133-B277-FCB387DE67F0}" type="sibTrans" cxnId="{5667ADAF-4914-445D-889A-7AA85202CBD3}">
      <dgm:prSet/>
      <dgm:spPr/>
      <dgm:t>
        <a:bodyPr/>
        <a:lstStyle/>
        <a:p>
          <a:endParaRPr lang="en-GB"/>
        </a:p>
      </dgm:t>
    </dgm:pt>
    <dgm:pt modelId="{B5D484EC-794B-47B6-9C84-F878D2A95F7D}">
      <dgm:prSet/>
      <dgm:spPr/>
    </dgm:pt>
    <dgm:pt modelId="{1F435E24-1C66-46DD-9F29-73AA42E87E67}" type="parTrans" cxnId="{84179093-CF8F-4528-BE2E-52834FE34FFD}">
      <dgm:prSet/>
      <dgm:spPr/>
      <dgm:t>
        <a:bodyPr/>
        <a:lstStyle/>
        <a:p>
          <a:endParaRPr lang="en-GB"/>
        </a:p>
      </dgm:t>
    </dgm:pt>
    <dgm:pt modelId="{18D9F70F-43C9-45C4-BC45-298BA1025462}" type="sibTrans" cxnId="{84179093-CF8F-4528-BE2E-52834FE34FFD}">
      <dgm:prSet/>
      <dgm:spPr/>
      <dgm:t>
        <a:bodyPr/>
        <a:lstStyle/>
        <a:p>
          <a:endParaRPr lang="en-GB"/>
        </a:p>
      </dgm:t>
    </dgm:pt>
    <dgm:pt modelId="{4CA37C0D-4EED-41C3-82CB-F15E2F9184D1}">
      <dgm:prSet/>
      <dgm:spPr/>
    </dgm:pt>
    <dgm:pt modelId="{FDFB65C5-F292-413A-A532-1155E4BAB990}" type="parTrans" cxnId="{80D1C98F-2A26-451B-8BCE-D8A32AAC70F4}">
      <dgm:prSet/>
      <dgm:spPr/>
      <dgm:t>
        <a:bodyPr/>
        <a:lstStyle/>
        <a:p>
          <a:endParaRPr lang="en-GB"/>
        </a:p>
      </dgm:t>
    </dgm:pt>
    <dgm:pt modelId="{CF7F7CCE-D9F7-4C63-8495-0ACBDCDE0C63}" type="sibTrans" cxnId="{80D1C98F-2A26-451B-8BCE-D8A32AAC70F4}">
      <dgm:prSet/>
      <dgm:spPr/>
      <dgm:t>
        <a:bodyPr/>
        <a:lstStyle/>
        <a:p>
          <a:endParaRPr lang="en-GB"/>
        </a:p>
      </dgm:t>
    </dgm:pt>
    <dgm:pt modelId="{D1233004-8934-4861-86DB-4A3636F07CE8}">
      <dgm:prSet/>
      <dgm:spPr/>
    </dgm:pt>
    <dgm:pt modelId="{63336202-FA21-45E4-AA9C-FC10AD5FDF43}" type="parTrans" cxnId="{D4E6081E-F14D-4651-B21B-617CADD86980}">
      <dgm:prSet/>
      <dgm:spPr/>
      <dgm:t>
        <a:bodyPr/>
        <a:lstStyle/>
        <a:p>
          <a:endParaRPr lang="en-GB"/>
        </a:p>
      </dgm:t>
    </dgm:pt>
    <dgm:pt modelId="{CFCE51D6-F07A-417B-BDBB-124E8691A7D4}" type="sibTrans" cxnId="{D4E6081E-F14D-4651-B21B-617CADD86980}">
      <dgm:prSet/>
      <dgm:spPr/>
      <dgm:t>
        <a:bodyPr/>
        <a:lstStyle/>
        <a:p>
          <a:endParaRPr lang="en-GB"/>
        </a:p>
      </dgm:t>
    </dgm:pt>
    <dgm:pt modelId="{2AAF935B-7EFC-45A0-80F5-AF93F022D17B}">
      <dgm:prSet/>
      <dgm:spPr/>
    </dgm:pt>
    <dgm:pt modelId="{56C0D672-7123-4174-9CE4-C2EDAC3BEA52}" type="parTrans" cxnId="{C8E5DBB5-EB26-4FDE-848B-F78349A2D323}">
      <dgm:prSet/>
      <dgm:spPr/>
      <dgm:t>
        <a:bodyPr/>
        <a:lstStyle/>
        <a:p>
          <a:endParaRPr lang="en-GB"/>
        </a:p>
      </dgm:t>
    </dgm:pt>
    <dgm:pt modelId="{C73CA690-2D07-484E-B2B1-90B901A71D2D}" type="sibTrans" cxnId="{C8E5DBB5-EB26-4FDE-848B-F78349A2D323}">
      <dgm:prSet/>
      <dgm:spPr/>
      <dgm:t>
        <a:bodyPr/>
        <a:lstStyle/>
        <a:p>
          <a:endParaRPr lang="en-GB"/>
        </a:p>
      </dgm:t>
    </dgm:pt>
    <dgm:pt modelId="{2539B205-FDC4-49DB-8020-6AE927453EF0}" type="pres">
      <dgm:prSet presAssocID="{3D9DF7FB-9645-4049-A7FF-118E18672F1A}" presName="Name0" presStyleCnt="0">
        <dgm:presLayoutVars>
          <dgm:chMax val="1"/>
          <dgm:chPref val="1"/>
          <dgm:dir/>
          <dgm:animOne val="branch"/>
          <dgm:animLvl val="lvl"/>
        </dgm:presLayoutVars>
      </dgm:prSet>
      <dgm:spPr/>
    </dgm:pt>
    <dgm:pt modelId="{51FAF1B7-E6D2-4BE6-AB71-ABC4B47F5A52}" type="pres">
      <dgm:prSet presAssocID="{F9DE54F3-E9FD-49F8-ADC9-050FADE8F433}" presName="Parent" presStyleLbl="node0" presStyleIdx="0" presStyleCnt="1">
        <dgm:presLayoutVars>
          <dgm:chMax val="6"/>
          <dgm:chPref val="6"/>
        </dgm:presLayoutVars>
      </dgm:prSet>
      <dgm:spPr/>
    </dgm:pt>
    <dgm:pt modelId="{BE565E13-F0A3-447B-9F77-46C3B9428FD0}" type="pres">
      <dgm:prSet presAssocID="{81E4EA5E-8342-414A-B0BA-B49DC5E1CA75}" presName="Accent1" presStyleCnt="0"/>
      <dgm:spPr/>
    </dgm:pt>
    <dgm:pt modelId="{E0C4D81A-ABD6-4A0D-9723-C48DFDF64FCE}" type="pres">
      <dgm:prSet presAssocID="{81E4EA5E-8342-414A-B0BA-B49DC5E1CA75}" presName="Accent" presStyleLbl="bgShp" presStyleIdx="0" presStyleCnt="6"/>
      <dgm:spPr/>
    </dgm:pt>
    <dgm:pt modelId="{0FEFBE30-2F31-49E4-931E-33E8D91B2293}" type="pres">
      <dgm:prSet presAssocID="{81E4EA5E-8342-414A-B0BA-B49DC5E1CA75}" presName="Child1" presStyleLbl="node1" presStyleIdx="0" presStyleCnt="6">
        <dgm:presLayoutVars>
          <dgm:chMax val="0"/>
          <dgm:chPref val="0"/>
          <dgm:bulletEnabled val="1"/>
        </dgm:presLayoutVars>
      </dgm:prSet>
      <dgm:spPr/>
    </dgm:pt>
    <dgm:pt modelId="{D81C59F3-E86B-44FB-826B-A08B5F1D297E}" type="pres">
      <dgm:prSet presAssocID="{5722F5BD-122A-42B4-B6CA-A7BF5BD993B9}" presName="Accent2" presStyleCnt="0"/>
      <dgm:spPr/>
    </dgm:pt>
    <dgm:pt modelId="{6CD19D98-8C61-4208-B198-096E8311CE70}" type="pres">
      <dgm:prSet presAssocID="{5722F5BD-122A-42B4-B6CA-A7BF5BD993B9}" presName="Accent" presStyleLbl="bgShp" presStyleIdx="1" presStyleCnt="6"/>
      <dgm:spPr/>
    </dgm:pt>
    <dgm:pt modelId="{316962A3-9918-4FE3-86E5-A552F4C7773E}" type="pres">
      <dgm:prSet presAssocID="{5722F5BD-122A-42B4-B6CA-A7BF5BD993B9}" presName="Child2" presStyleLbl="node1" presStyleIdx="1" presStyleCnt="6">
        <dgm:presLayoutVars>
          <dgm:chMax val="0"/>
          <dgm:chPref val="0"/>
          <dgm:bulletEnabled val="1"/>
        </dgm:presLayoutVars>
      </dgm:prSet>
      <dgm:spPr/>
    </dgm:pt>
    <dgm:pt modelId="{7196B9EE-3452-4336-8F3E-85A50BA51CC5}" type="pres">
      <dgm:prSet presAssocID="{BDD1D52D-B7EF-4F28-BE6F-58BFBE5D2F9C}" presName="Accent3" presStyleCnt="0"/>
      <dgm:spPr/>
    </dgm:pt>
    <dgm:pt modelId="{CEBB408E-98A8-4A1F-8298-12C37AFFFB83}" type="pres">
      <dgm:prSet presAssocID="{BDD1D52D-B7EF-4F28-BE6F-58BFBE5D2F9C}" presName="Accent" presStyleLbl="bgShp" presStyleIdx="2" presStyleCnt="6"/>
      <dgm:spPr/>
    </dgm:pt>
    <dgm:pt modelId="{F6A7438A-9CE0-40B1-AFCE-AD33B91C5EEB}" type="pres">
      <dgm:prSet presAssocID="{BDD1D52D-B7EF-4F28-BE6F-58BFBE5D2F9C}" presName="Child3" presStyleLbl="node1" presStyleIdx="2" presStyleCnt="6">
        <dgm:presLayoutVars>
          <dgm:chMax val="0"/>
          <dgm:chPref val="0"/>
          <dgm:bulletEnabled val="1"/>
        </dgm:presLayoutVars>
      </dgm:prSet>
      <dgm:spPr/>
    </dgm:pt>
    <dgm:pt modelId="{8A6B1748-FB26-472F-AB07-A1A1C9B29913}" type="pres">
      <dgm:prSet presAssocID="{00705FE3-2F78-4788-96EA-1203CB4DB89A}" presName="Accent4" presStyleCnt="0"/>
      <dgm:spPr/>
    </dgm:pt>
    <dgm:pt modelId="{542047D4-BBF9-4D11-9933-8008C3FE3FA0}" type="pres">
      <dgm:prSet presAssocID="{00705FE3-2F78-4788-96EA-1203CB4DB89A}" presName="Accent" presStyleLbl="bgShp" presStyleIdx="3" presStyleCnt="6"/>
      <dgm:spPr/>
    </dgm:pt>
    <dgm:pt modelId="{166EEE4B-5E96-4261-87B0-71F85859616B}" type="pres">
      <dgm:prSet presAssocID="{00705FE3-2F78-4788-96EA-1203CB4DB89A}" presName="Child4" presStyleLbl="node1" presStyleIdx="3" presStyleCnt="6">
        <dgm:presLayoutVars>
          <dgm:chMax val="0"/>
          <dgm:chPref val="0"/>
          <dgm:bulletEnabled val="1"/>
        </dgm:presLayoutVars>
      </dgm:prSet>
      <dgm:spPr/>
    </dgm:pt>
    <dgm:pt modelId="{9F4D8716-F047-4667-B666-35A4D71F9D0B}" type="pres">
      <dgm:prSet presAssocID="{E49373E6-D5EE-41AA-9816-326C447BAB99}" presName="Accent5" presStyleCnt="0"/>
      <dgm:spPr/>
    </dgm:pt>
    <dgm:pt modelId="{0F6BFBE8-A507-442E-B314-93F400E72233}" type="pres">
      <dgm:prSet presAssocID="{E49373E6-D5EE-41AA-9816-326C447BAB99}" presName="Accent" presStyleLbl="bgShp" presStyleIdx="4" presStyleCnt="6"/>
      <dgm:spPr/>
    </dgm:pt>
    <dgm:pt modelId="{A3A0D3B5-11D4-4F11-B032-11BB7675572F}" type="pres">
      <dgm:prSet presAssocID="{E49373E6-D5EE-41AA-9816-326C447BAB99}" presName="Child5" presStyleLbl="node1" presStyleIdx="4" presStyleCnt="6">
        <dgm:presLayoutVars>
          <dgm:chMax val="0"/>
          <dgm:chPref val="0"/>
          <dgm:bulletEnabled val="1"/>
        </dgm:presLayoutVars>
      </dgm:prSet>
      <dgm:spPr/>
    </dgm:pt>
    <dgm:pt modelId="{57B9BF79-C1C1-4857-9CA9-A3B86C0AEB76}" type="pres">
      <dgm:prSet presAssocID="{91421703-6FD0-432D-8D53-AAEDE9AF0F78}" presName="Accent6" presStyleCnt="0"/>
      <dgm:spPr/>
    </dgm:pt>
    <dgm:pt modelId="{2737E041-5162-495D-9E16-31AE6C5474FA}" type="pres">
      <dgm:prSet presAssocID="{91421703-6FD0-432D-8D53-AAEDE9AF0F78}" presName="Accent" presStyleLbl="bgShp" presStyleIdx="5" presStyleCnt="6"/>
      <dgm:spPr/>
    </dgm:pt>
    <dgm:pt modelId="{FCBE0ACB-B644-4510-A7A6-309B592886A6}" type="pres">
      <dgm:prSet presAssocID="{91421703-6FD0-432D-8D53-AAEDE9AF0F78}" presName="Child6" presStyleLbl="node1" presStyleIdx="5" presStyleCnt="6">
        <dgm:presLayoutVars>
          <dgm:chMax val="0"/>
          <dgm:chPref val="0"/>
          <dgm:bulletEnabled val="1"/>
        </dgm:presLayoutVars>
      </dgm:prSet>
      <dgm:spPr/>
    </dgm:pt>
  </dgm:ptLst>
  <dgm:cxnLst>
    <dgm:cxn modelId="{14BA5A00-9337-46B6-8D24-FECFD0790030}" srcId="{3D9DF7FB-9645-4049-A7FF-118E18672F1A}" destId="{D41C91AB-77B6-487E-AADB-F792FEC88B08}" srcOrd="4" destOrd="0" parTransId="{AC0A40A6-24A1-4C41-9B5F-F28E478BA109}" sibTransId="{CB4963A6-2854-431A-BCEE-965DAAAE2873}"/>
    <dgm:cxn modelId="{3836B814-42E8-4795-B869-4DFCB59BD2B9}" srcId="{3D9DF7FB-9645-4049-A7FF-118E18672F1A}" destId="{5F5CE61B-7DD9-4102-BBBA-45FDD900A2BD}" srcOrd="9" destOrd="0" parTransId="{A2215AF5-2EC8-4CEA-8C3B-8879E4FA0E5C}" sibTransId="{602BE25B-39A2-45F3-8CD6-4D27D4565F2D}"/>
    <dgm:cxn modelId="{C264A519-1166-4846-AC56-5941D1B65BC9}" type="presOf" srcId="{F9DE54F3-E9FD-49F8-ADC9-050FADE8F433}" destId="{51FAF1B7-E6D2-4BE6-AB71-ABC4B47F5A52}" srcOrd="0" destOrd="0" presId="urn:microsoft.com/office/officeart/2011/layout/HexagonRadial"/>
    <dgm:cxn modelId="{F97D351A-13B0-4560-B0DA-9ABF7A5A286C}" srcId="{F9DE54F3-E9FD-49F8-ADC9-050FADE8F433}" destId="{81E4EA5E-8342-414A-B0BA-B49DC5E1CA75}" srcOrd="0" destOrd="0" parTransId="{9ECF72A5-C52E-4F71-865B-771BB32FA778}" sibTransId="{7B62E6EB-9988-432A-ABDB-EA3EE18C4B27}"/>
    <dgm:cxn modelId="{D0CDD31D-91B6-4CD0-8549-04A8C43C43A0}" srcId="{F9DE54F3-E9FD-49F8-ADC9-050FADE8F433}" destId="{91421703-6FD0-432D-8D53-AAEDE9AF0F78}" srcOrd="5" destOrd="0" parTransId="{8341192B-118F-418D-A184-084F24AE82D0}" sibTransId="{BEDA8DC0-B699-490B-AC8B-BE965ADD5016}"/>
    <dgm:cxn modelId="{D4E6081E-F14D-4651-B21B-617CADD86980}" srcId="{3D9DF7FB-9645-4049-A7FF-118E18672F1A}" destId="{D1233004-8934-4861-86DB-4A3636F07CE8}" srcOrd="14" destOrd="0" parTransId="{63336202-FA21-45E4-AA9C-FC10AD5FDF43}" sibTransId="{CFCE51D6-F07A-417B-BDBB-124E8691A7D4}"/>
    <dgm:cxn modelId="{8739C132-3B44-41FF-B64A-D64DF06791C3}" srcId="{3D9DF7FB-9645-4049-A7FF-118E18672F1A}" destId="{F9DE54F3-E9FD-49F8-ADC9-050FADE8F433}" srcOrd="0" destOrd="0" parTransId="{57BB84EB-4ED3-4028-9189-448FD67947D5}" sibTransId="{E208891D-EBD8-47B3-A17F-FFE7D4604A10}"/>
    <dgm:cxn modelId="{C52A9B34-CCE0-4B8E-AE9A-C65572F85652}" type="presOf" srcId="{00705FE3-2F78-4788-96EA-1203CB4DB89A}" destId="{166EEE4B-5E96-4261-87B0-71F85859616B}" srcOrd="0" destOrd="0" presId="urn:microsoft.com/office/officeart/2011/layout/HexagonRadial"/>
    <dgm:cxn modelId="{1B8B1539-7805-437E-8B4A-75ECC81CAA95}" srcId="{3D9DF7FB-9645-4049-A7FF-118E18672F1A}" destId="{E52CB6D9-D7EA-4A4F-9111-64D7E54F25B9}" srcOrd="7" destOrd="0" parTransId="{3BBA3752-8BD0-435F-BB22-876265CB07C2}" sibTransId="{5AE39B94-209E-4FD3-81E7-D8CF6908B702}"/>
    <dgm:cxn modelId="{E308903A-C41C-4470-91D9-3F812A45DD5F}" srcId="{F9DE54F3-E9FD-49F8-ADC9-050FADE8F433}" destId="{5722F5BD-122A-42B4-B6CA-A7BF5BD993B9}" srcOrd="1" destOrd="0" parTransId="{030C5B6E-2557-4407-AEF5-6F4BBA5DE00E}" sibTransId="{3A2077E5-8AF5-4759-A457-17E3E8608B2A}"/>
    <dgm:cxn modelId="{E04E185B-B03F-4A42-AC81-4350D8D4A386}" srcId="{F9DE54F3-E9FD-49F8-ADC9-050FADE8F433}" destId="{BDD1D52D-B7EF-4F28-BE6F-58BFBE5D2F9C}" srcOrd="2" destOrd="0" parTransId="{F18CF87E-164C-45AB-83C9-45EF7C7674B3}" sibTransId="{DC583E53-37DA-4441-AC26-1D2B29579180}"/>
    <dgm:cxn modelId="{4C6A7262-4A6F-4832-8A92-2419A2AEAF7D}" srcId="{F9DE54F3-E9FD-49F8-ADC9-050FADE8F433}" destId="{00705FE3-2F78-4788-96EA-1203CB4DB89A}" srcOrd="3" destOrd="0" parTransId="{9E1CB67D-0EA8-49BB-8156-772D369BB867}" sibTransId="{950C945C-1725-4C3C-8A39-E3D9C9BAC083}"/>
    <dgm:cxn modelId="{CDE5D065-DD1C-41E8-B654-0F6AF8CAFF23}" type="presOf" srcId="{81E4EA5E-8342-414A-B0BA-B49DC5E1CA75}" destId="{0FEFBE30-2F31-49E4-931E-33E8D91B2293}" srcOrd="0" destOrd="0" presId="urn:microsoft.com/office/officeart/2011/layout/HexagonRadial"/>
    <dgm:cxn modelId="{15DDD04A-A8E6-453D-9F33-9FC5DAD28030}" srcId="{3D9DF7FB-9645-4049-A7FF-118E18672F1A}" destId="{73FB22BE-ED87-4286-9C90-484DBB0FF946}" srcOrd="3" destOrd="0" parTransId="{10F59849-C19D-4EC7-A3E2-28D8B317EF15}" sibTransId="{FC69C3C8-B4DD-4D3F-8F32-598B2938514B}"/>
    <dgm:cxn modelId="{F3893F4B-B12B-4EAA-8CF3-73ECA5D4D98F}" srcId="{5F5CE61B-7DD9-4102-BBBA-45FDD900A2BD}" destId="{F6C69C91-B8B5-4A68-A225-9BC1BBC69F16}" srcOrd="0" destOrd="0" parTransId="{C69FF28F-B24C-4A0B-9555-7172D321BBDF}" sibTransId="{DA95D5E7-62E3-492F-8BEB-B7DB79B67D3D}"/>
    <dgm:cxn modelId="{6DE64F6B-C84C-48E0-9FD1-5055D2EBE1C0}" srcId="{F9DE54F3-E9FD-49F8-ADC9-050FADE8F433}" destId="{E49373E6-D5EE-41AA-9816-326C447BAB99}" srcOrd="4" destOrd="0" parTransId="{ED8F3596-08FF-455C-964B-F66849D191A9}" sibTransId="{F2982899-7FE4-475A-95FD-171B6DEF542B}"/>
    <dgm:cxn modelId="{C691954C-B2DD-4946-9B6A-8C248ECFA05A}" srcId="{3D9DF7FB-9645-4049-A7FF-118E18672F1A}" destId="{66705812-6636-4190-BA03-8980695F3CD9}" srcOrd="5" destOrd="0" parTransId="{D2B88946-4875-4D48-88C7-8BF6749D0071}" sibTransId="{51C24062-84C6-40FD-81E5-83BF48C82AAF}"/>
    <dgm:cxn modelId="{5863F54D-30C5-4EF6-A900-18C434778A29}" srcId="{3D9DF7FB-9645-4049-A7FF-118E18672F1A}" destId="{3288AE33-DF0C-40BC-9057-EA16DEB967D6}" srcOrd="6" destOrd="0" parTransId="{894C8F72-28A7-4DF6-B4F7-18D441DD3F08}" sibTransId="{7A121D86-DF25-40F6-A5EF-18938CE869A8}"/>
    <dgm:cxn modelId="{7A147E73-40FA-4A41-B640-A8FAD7F03407}" srcId="{3D9DF7FB-9645-4049-A7FF-118E18672F1A}" destId="{4E8DB477-DA8B-454F-B2A0-027E5B23D3CB}" srcOrd="1" destOrd="0" parTransId="{EEC5EB1B-CE1E-4FB9-B2D5-20C7E3B2A646}" sibTransId="{9F1FD654-4EC0-44E7-AEE9-5311DD1AF513}"/>
    <dgm:cxn modelId="{086D5654-90FA-4799-B228-4D401026492A}" srcId="{3D9DF7FB-9645-4049-A7FF-118E18672F1A}" destId="{501FC558-18D2-4C40-B3F6-24285EE0091B}" srcOrd="10" destOrd="0" parTransId="{E68FB763-426D-497F-A979-08B6B596E0A1}" sibTransId="{E6F49809-BE9D-4F88-865F-12FBB13DEA6F}"/>
    <dgm:cxn modelId="{2811C485-0A50-4B44-B99D-BC735F171309}" type="presOf" srcId="{91421703-6FD0-432D-8D53-AAEDE9AF0F78}" destId="{FCBE0ACB-B644-4510-A7A6-309B592886A6}" srcOrd="0" destOrd="0" presId="urn:microsoft.com/office/officeart/2011/layout/HexagonRadial"/>
    <dgm:cxn modelId="{55D7878C-D9E8-475B-A3AB-BED5DEE00112}" srcId="{4E8DB477-DA8B-454F-B2A0-027E5B23D3CB}" destId="{55AC4C5A-FF37-4699-A692-80EBCD39161C}" srcOrd="0" destOrd="0" parTransId="{9296490E-A113-47F0-87D7-7A4EE3FD2F5C}" sibTransId="{F4D27085-7D54-4F63-AFF9-906B55751E74}"/>
    <dgm:cxn modelId="{80D1C98F-2A26-451B-8BCE-D8A32AAC70F4}" srcId="{B5D484EC-794B-47B6-9C84-F878D2A95F7D}" destId="{4CA37C0D-4EED-41C3-82CB-F15E2F9184D1}" srcOrd="0" destOrd="0" parTransId="{FDFB65C5-F292-413A-A532-1155E4BAB990}" sibTransId="{CF7F7CCE-D9F7-4C63-8495-0ACBDCDE0C63}"/>
    <dgm:cxn modelId="{CDB7B690-6A6E-4492-9A07-3DCB31467429}" srcId="{3288AE33-DF0C-40BC-9057-EA16DEB967D6}" destId="{9BB299C9-33DD-4659-AA8F-EEBB46EC2376}" srcOrd="0" destOrd="0" parTransId="{A5896208-C987-4A1C-AEDE-1D07694E01C9}" sibTransId="{F6706AC0-8150-48F5-9209-85A2A0839A2F}"/>
    <dgm:cxn modelId="{0C4D4E91-6EAD-4D0B-B98B-33E5543DEF02}" srcId="{3D9DF7FB-9645-4049-A7FF-118E18672F1A}" destId="{58C80071-C773-4389-9DD0-8E921F314F3E}" srcOrd="11" destOrd="0" parTransId="{04F92A31-DC57-43BF-8AA0-73432AED6D02}" sibTransId="{C728B5D3-C7D8-47B9-97B5-56003C4B9CC8}"/>
    <dgm:cxn modelId="{84179093-CF8F-4528-BE2E-52834FE34FFD}" srcId="{3D9DF7FB-9645-4049-A7FF-118E18672F1A}" destId="{B5D484EC-794B-47B6-9C84-F878D2A95F7D}" srcOrd="13" destOrd="0" parTransId="{1F435E24-1C66-46DD-9F29-73AA42E87E67}" sibTransId="{18D9F70F-43C9-45C4-BC45-298BA1025462}"/>
    <dgm:cxn modelId="{667CBA9D-BC7B-4224-917C-8073AFE7AFDF}" type="presOf" srcId="{3D9DF7FB-9645-4049-A7FF-118E18672F1A}" destId="{2539B205-FDC4-49DB-8020-6AE927453EF0}" srcOrd="0" destOrd="0" presId="urn:microsoft.com/office/officeart/2011/layout/HexagonRadial"/>
    <dgm:cxn modelId="{9D104FA3-DABE-4AD3-8CC5-72399121CAEF}" srcId="{3D9DF7FB-9645-4049-A7FF-118E18672F1A}" destId="{35F37C56-0924-4F7B-9A1D-69DCE93CBE16}" srcOrd="8" destOrd="0" parTransId="{95F14ABB-4FF6-4459-9807-50C2D24F2852}" sibTransId="{E14986CD-B0ED-4998-A4EE-8AC8B36ECFF3}"/>
    <dgm:cxn modelId="{AE68AAAD-C1B7-43C3-94A2-86CEEB50AEB7}" srcId="{3D9DF7FB-9645-4049-A7FF-118E18672F1A}" destId="{08B91B8B-E005-4367-A63B-255C72F2AD99}" srcOrd="2" destOrd="0" parTransId="{00368A52-3707-412B-9A16-D411018520E0}" sibTransId="{30F96251-3B55-40A6-A134-D92233DC0833}"/>
    <dgm:cxn modelId="{854D31AF-8F2B-46E8-99A7-2641E75E39DF}" type="presOf" srcId="{5722F5BD-122A-42B4-B6CA-A7BF5BD993B9}" destId="{316962A3-9918-4FE3-86E5-A552F4C7773E}" srcOrd="0" destOrd="0" presId="urn:microsoft.com/office/officeart/2011/layout/HexagonRadial"/>
    <dgm:cxn modelId="{C35DA4AF-52D6-4FC8-93D1-4DC5F5624CE6}" type="presOf" srcId="{E49373E6-D5EE-41AA-9816-326C447BAB99}" destId="{A3A0D3B5-11D4-4F11-B032-11BB7675572F}" srcOrd="0" destOrd="0" presId="urn:microsoft.com/office/officeart/2011/layout/HexagonRadial"/>
    <dgm:cxn modelId="{5667ADAF-4914-445D-889A-7AA85202CBD3}" srcId="{3D9DF7FB-9645-4049-A7FF-118E18672F1A}" destId="{4C01D3E4-56CA-4FB0-8028-084994C95EFA}" srcOrd="12" destOrd="0" parTransId="{EF617821-EDD2-443E-9E9A-4F8605AC02A7}" sibTransId="{48ED17CD-DF5B-4133-B277-FCB387DE67F0}"/>
    <dgm:cxn modelId="{C8E5DBB5-EB26-4FDE-848B-F78349A2D323}" srcId="{3D9DF7FB-9645-4049-A7FF-118E18672F1A}" destId="{2AAF935B-7EFC-45A0-80F5-AF93F022D17B}" srcOrd="15" destOrd="0" parTransId="{56C0D672-7123-4174-9CE4-C2EDAC3BEA52}" sibTransId="{C73CA690-2D07-484E-B2B1-90B901A71D2D}"/>
    <dgm:cxn modelId="{DC9F44EC-EA26-4E11-9F25-11581816127C}" type="presOf" srcId="{BDD1D52D-B7EF-4F28-BE6F-58BFBE5D2F9C}" destId="{F6A7438A-9CE0-40B1-AFCE-AD33B91C5EEB}" srcOrd="0" destOrd="0" presId="urn:microsoft.com/office/officeart/2011/layout/HexagonRadial"/>
    <dgm:cxn modelId="{73205BFE-7620-4681-B41F-8900E4C4F4BF}" type="presParOf" srcId="{2539B205-FDC4-49DB-8020-6AE927453EF0}" destId="{51FAF1B7-E6D2-4BE6-AB71-ABC4B47F5A52}" srcOrd="0" destOrd="0" presId="urn:microsoft.com/office/officeart/2011/layout/HexagonRadial"/>
    <dgm:cxn modelId="{826FDEDE-EF42-4268-947A-8A5E83A9CED4}" type="presParOf" srcId="{2539B205-FDC4-49DB-8020-6AE927453EF0}" destId="{BE565E13-F0A3-447B-9F77-46C3B9428FD0}" srcOrd="1" destOrd="0" presId="urn:microsoft.com/office/officeart/2011/layout/HexagonRadial"/>
    <dgm:cxn modelId="{6BD1DB1D-6F02-4A30-B5EB-7791C61FCE5C}" type="presParOf" srcId="{BE565E13-F0A3-447B-9F77-46C3B9428FD0}" destId="{E0C4D81A-ABD6-4A0D-9723-C48DFDF64FCE}" srcOrd="0" destOrd="0" presId="urn:microsoft.com/office/officeart/2011/layout/HexagonRadial"/>
    <dgm:cxn modelId="{08303505-2C63-42E8-9593-CFE5E52911BB}" type="presParOf" srcId="{2539B205-FDC4-49DB-8020-6AE927453EF0}" destId="{0FEFBE30-2F31-49E4-931E-33E8D91B2293}" srcOrd="2" destOrd="0" presId="urn:microsoft.com/office/officeart/2011/layout/HexagonRadial"/>
    <dgm:cxn modelId="{4767C28A-964B-4584-A951-B9FB8A8C25E8}" type="presParOf" srcId="{2539B205-FDC4-49DB-8020-6AE927453EF0}" destId="{D81C59F3-E86B-44FB-826B-A08B5F1D297E}" srcOrd="3" destOrd="0" presId="urn:microsoft.com/office/officeart/2011/layout/HexagonRadial"/>
    <dgm:cxn modelId="{5F289737-3DAB-45C1-B7DC-A62CD8865030}" type="presParOf" srcId="{D81C59F3-E86B-44FB-826B-A08B5F1D297E}" destId="{6CD19D98-8C61-4208-B198-096E8311CE70}" srcOrd="0" destOrd="0" presId="urn:microsoft.com/office/officeart/2011/layout/HexagonRadial"/>
    <dgm:cxn modelId="{6EDF13D9-4C90-47C1-9C7D-07958E8DE9E5}" type="presParOf" srcId="{2539B205-FDC4-49DB-8020-6AE927453EF0}" destId="{316962A3-9918-4FE3-86E5-A552F4C7773E}" srcOrd="4" destOrd="0" presId="urn:microsoft.com/office/officeart/2011/layout/HexagonRadial"/>
    <dgm:cxn modelId="{739B33C2-F060-4A46-8E9A-28C621225973}" type="presParOf" srcId="{2539B205-FDC4-49DB-8020-6AE927453EF0}" destId="{7196B9EE-3452-4336-8F3E-85A50BA51CC5}" srcOrd="5" destOrd="0" presId="urn:microsoft.com/office/officeart/2011/layout/HexagonRadial"/>
    <dgm:cxn modelId="{277E2B08-FC13-4A06-8EBA-2B3C52A7CCB2}" type="presParOf" srcId="{7196B9EE-3452-4336-8F3E-85A50BA51CC5}" destId="{CEBB408E-98A8-4A1F-8298-12C37AFFFB83}" srcOrd="0" destOrd="0" presId="urn:microsoft.com/office/officeart/2011/layout/HexagonRadial"/>
    <dgm:cxn modelId="{8BCC9EAE-42CE-4277-9BCA-887C951CA0AD}" type="presParOf" srcId="{2539B205-FDC4-49DB-8020-6AE927453EF0}" destId="{F6A7438A-9CE0-40B1-AFCE-AD33B91C5EEB}" srcOrd="6" destOrd="0" presId="urn:microsoft.com/office/officeart/2011/layout/HexagonRadial"/>
    <dgm:cxn modelId="{C4EFFF7D-9E6B-463F-8A67-52FE427F0409}" type="presParOf" srcId="{2539B205-FDC4-49DB-8020-6AE927453EF0}" destId="{8A6B1748-FB26-472F-AB07-A1A1C9B29913}" srcOrd="7" destOrd="0" presId="urn:microsoft.com/office/officeart/2011/layout/HexagonRadial"/>
    <dgm:cxn modelId="{7B0AECBC-C4C7-4748-83FE-1BAFE03077D2}" type="presParOf" srcId="{8A6B1748-FB26-472F-AB07-A1A1C9B29913}" destId="{542047D4-BBF9-4D11-9933-8008C3FE3FA0}" srcOrd="0" destOrd="0" presId="urn:microsoft.com/office/officeart/2011/layout/HexagonRadial"/>
    <dgm:cxn modelId="{9E41A843-4C10-4271-A6DE-5C90CAD79D99}" type="presParOf" srcId="{2539B205-FDC4-49DB-8020-6AE927453EF0}" destId="{166EEE4B-5E96-4261-87B0-71F85859616B}" srcOrd="8" destOrd="0" presId="urn:microsoft.com/office/officeart/2011/layout/HexagonRadial"/>
    <dgm:cxn modelId="{7FFE50CD-1CFA-4B76-83CD-06554BE2B13A}" type="presParOf" srcId="{2539B205-FDC4-49DB-8020-6AE927453EF0}" destId="{9F4D8716-F047-4667-B666-35A4D71F9D0B}" srcOrd="9" destOrd="0" presId="urn:microsoft.com/office/officeart/2011/layout/HexagonRadial"/>
    <dgm:cxn modelId="{4B03D848-6A9E-476D-95CB-0CA1E26DBA98}" type="presParOf" srcId="{9F4D8716-F047-4667-B666-35A4D71F9D0B}" destId="{0F6BFBE8-A507-442E-B314-93F400E72233}" srcOrd="0" destOrd="0" presId="urn:microsoft.com/office/officeart/2011/layout/HexagonRadial"/>
    <dgm:cxn modelId="{F81907A3-941C-4B71-9F55-5083E0B1760F}" type="presParOf" srcId="{2539B205-FDC4-49DB-8020-6AE927453EF0}" destId="{A3A0D3B5-11D4-4F11-B032-11BB7675572F}" srcOrd="10" destOrd="0" presId="urn:microsoft.com/office/officeart/2011/layout/HexagonRadial"/>
    <dgm:cxn modelId="{7864CA3E-0094-427E-842C-01675B4A4EF3}" type="presParOf" srcId="{2539B205-FDC4-49DB-8020-6AE927453EF0}" destId="{57B9BF79-C1C1-4857-9CA9-A3B86C0AEB76}" srcOrd="11" destOrd="0" presId="urn:microsoft.com/office/officeart/2011/layout/HexagonRadial"/>
    <dgm:cxn modelId="{0E8C6811-DA56-40B8-894D-BFB68709F704}" type="presParOf" srcId="{57B9BF79-C1C1-4857-9CA9-A3B86C0AEB76}" destId="{2737E041-5162-495D-9E16-31AE6C5474FA}" srcOrd="0" destOrd="0" presId="urn:microsoft.com/office/officeart/2011/layout/HexagonRadial"/>
    <dgm:cxn modelId="{6F8CF617-7704-44CE-ADB8-791A479AC919}" type="presParOf" srcId="{2539B205-FDC4-49DB-8020-6AE927453EF0}" destId="{FCBE0ACB-B644-4510-A7A6-309B592886A6}"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9DF7FB-9645-4049-A7FF-118E18672F1A}" type="doc">
      <dgm:prSet loTypeId="urn:microsoft.com/office/officeart/2011/layout/HexagonRadial" loCatId="cycle" qsTypeId="urn:microsoft.com/office/officeart/2005/8/quickstyle/simple1" qsCatId="simple" csTypeId="urn:microsoft.com/office/officeart/2005/8/colors/colorful1" csCatId="colorful" phldr="1"/>
      <dgm:spPr/>
      <dgm:t>
        <a:bodyPr/>
        <a:lstStyle/>
        <a:p>
          <a:endParaRPr lang="aa-ET"/>
        </a:p>
      </dgm:t>
    </dgm:pt>
    <dgm:pt modelId="{F9DE54F3-E9FD-49F8-ADC9-050FADE8F433}">
      <dgm:prSet phldrT="[Text]"/>
      <dgm:spPr/>
      <dgm:t>
        <a:bodyPr/>
        <a:lstStyle/>
        <a:p>
          <a:r>
            <a:rPr lang="en-US" b="1" dirty="0">
              <a:latin typeface="Corbel" panose="020B0503020204020204" pitchFamily="34" charset="0"/>
            </a:rPr>
            <a:t>Key Success Factors</a:t>
          </a:r>
          <a:endParaRPr lang="aa-ET" b="1" dirty="0">
            <a:latin typeface="Corbel" panose="020B0503020204020204" pitchFamily="34" charset="0"/>
          </a:endParaRPr>
        </a:p>
      </dgm:t>
    </dgm:pt>
    <dgm:pt modelId="{57BB84EB-4ED3-4028-9189-448FD67947D5}" type="parTrans" cxnId="{8739C132-3B44-41FF-B64A-D64DF06791C3}">
      <dgm:prSet/>
      <dgm:spPr/>
      <dgm:t>
        <a:bodyPr/>
        <a:lstStyle/>
        <a:p>
          <a:endParaRPr lang="aa-ET" b="1">
            <a:latin typeface="Corbel" panose="020B0503020204020204" pitchFamily="34" charset="0"/>
          </a:endParaRPr>
        </a:p>
      </dgm:t>
    </dgm:pt>
    <dgm:pt modelId="{E208891D-EBD8-47B3-A17F-FFE7D4604A10}" type="sibTrans" cxnId="{8739C132-3B44-41FF-B64A-D64DF06791C3}">
      <dgm:prSet/>
      <dgm:spPr/>
      <dgm:t>
        <a:bodyPr/>
        <a:lstStyle/>
        <a:p>
          <a:endParaRPr lang="aa-ET" b="1">
            <a:latin typeface="Corbel" panose="020B0503020204020204" pitchFamily="34" charset="0"/>
          </a:endParaRPr>
        </a:p>
      </dgm:t>
    </dgm:pt>
    <dgm:pt modelId="{5722F5BD-122A-42B4-B6CA-A7BF5BD993B9}">
      <dgm:prSet phldrT="[Text]"/>
      <dgm:spPr/>
      <dgm:t>
        <a:bodyPr/>
        <a:lstStyle/>
        <a:p>
          <a:r>
            <a:rPr lang="en-US" b="1" dirty="0">
              <a:latin typeface="Corbel" panose="020B0503020204020204" pitchFamily="34" charset="0"/>
            </a:rPr>
            <a:t>State-of-the-Art Technology</a:t>
          </a:r>
          <a:endParaRPr lang="aa-ET" b="1" dirty="0">
            <a:latin typeface="Corbel" panose="020B0503020204020204" pitchFamily="34" charset="0"/>
          </a:endParaRPr>
        </a:p>
      </dgm:t>
    </dgm:pt>
    <dgm:pt modelId="{030C5B6E-2557-4407-AEF5-6F4BBA5DE00E}" type="parTrans" cxnId="{E308903A-C41C-4470-91D9-3F812A45DD5F}">
      <dgm:prSet/>
      <dgm:spPr/>
      <dgm:t>
        <a:bodyPr/>
        <a:lstStyle/>
        <a:p>
          <a:endParaRPr lang="aa-ET" b="1">
            <a:latin typeface="Corbel" panose="020B0503020204020204" pitchFamily="34" charset="0"/>
          </a:endParaRPr>
        </a:p>
      </dgm:t>
    </dgm:pt>
    <dgm:pt modelId="{3A2077E5-8AF5-4759-A457-17E3E8608B2A}" type="sibTrans" cxnId="{E308903A-C41C-4470-91D9-3F812A45DD5F}">
      <dgm:prSet/>
      <dgm:spPr/>
      <dgm:t>
        <a:bodyPr/>
        <a:lstStyle/>
        <a:p>
          <a:endParaRPr lang="aa-ET" b="1">
            <a:latin typeface="Corbel" panose="020B0503020204020204" pitchFamily="34" charset="0"/>
          </a:endParaRPr>
        </a:p>
      </dgm:t>
    </dgm:pt>
    <dgm:pt modelId="{BDD1D52D-B7EF-4F28-BE6F-58BFBE5D2F9C}">
      <dgm:prSet phldrT="[Text]"/>
      <dgm:spPr>
        <a:solidFill>
          <a:srgbClr val="00B0F0"/>
        </a:solidFill>
      </dgm:spPr>
      <dgm:t>
        <a:bodyPr/>
        <a:lstStyle/>
        <a:p>
          <a:r>
            <a:rPr lang="en-US" b="1" dirty="0">
              <a:latin typeface="Corbel" panose="020B0503020204020204" pitchFamily="34" charset="0"/>
            </a:rPr>
            <a:t>World-class Clinical Governance </a:t>
          </a:r>
          <a:endParaRPr lang="aa-ET" b="1" dirty="0">
            <a:latin typeface="Corbel" panose="020B0503020204020204" pitchFamily="34" charset="0"/>
          </a:endParaRPr>
        </a:p>
      </dgm:t>
    </dgm:pt>
    <dgm:pt modelId="{F18CF87E-164C-45AB-83C9-45EF7C7674B3}" type="parTrans" cxnId="{E04E185B-B03F-4A42-AC81-4350D8D4A386}">
      <dgm:prSet/>
      <dgm:spPr/>
      <dgm:t>
        <a:bodyPr/>
        <a:lstStyle/>
        <a:p>
          <a:endParaRPr lang="aa-ET" b="1">
            <a:latin typeface="Corbel" panose="020B0503020204020204" pitchFamily="34" charset="0"/>
          </a:endParaRPr>
        </a:p>
      </dgm:t>
    </dgm:pt>
    <dgm:pt modelId="{DC583E53-37DA-4441-AC26-1D2B29579180}" type="sibTrans" cxnId="{E04E185B-B03F-4A42-AC81-4350D8D4A386}">
      <dgm:prSet/>
      <dgm:spPr/>
      <dgm:t>
        <a:bodyPr/>
        <a:lstStyle/>
        <a:p>
          <a:endParaRPr lang="aa-ET" b="1">
            <a:latin typeface="Corbel" panose="020B0503020204020204" pitchFamily="34" charset="0"/>
          </a:endParaRPr>
        </a:p>
      </dgm:t>
    </dgm:pt>
    <dgm:pt modelId="{00705FE3-2F78-4788-96EA-1203CB4DB89A}">
      <dgm:prSet phldrT="[Text]"/>
      <dgm:spPr/>
      <dgm:t>
        <a:bodyPr/>
        <a:lstStyle/>
        <a:p>
          <a:r>
            <a:rPr lang="en-US" b="1" dirty="0">
              <a:latin typeface="Corbel" panose="020B0503020204020204" pitchFamily="34" charset="0"/>
            </a:rPr>
            <a:t>Trained and Competent  Staff </a:t>
          </a:r>
          <a:endParaRPr lang="aa-ET" b="1" dirty="0">
            <a:latin typeface="Corbel" panose="020B0503020204020204" pitchFamily="34" charset="0"/>
          </a:endParaRPr>
        </a:p>
      </dgm:t>
    </dgm:pt>
    <dgm:pt modelId="{9E1CB67D-0EA8-49BB-8156-772D369BB867}" type="parTrans" cxnId="{4C6A7262-4A6F-4832-8A92-2419A2AEAF7D}">
      <dgm:prSet/>
      <dgm:spPr/>
      <dgm:t>
        <a:bodyPr/>
        <a:lstStyle/>
        <a:p>
          <a:endParaRPr lang="aa-ET" b="1">
            <a:latin typeface="Corbel" panose="020B0503020204020204" pitchFamily="34" charset="0"/>
          </a:endParaRPr>
        </a:p>
      </dgm:t>
    </dgm:pt>
    <dgm:pt modelId="{950C945C-1725-4C3C-8A39-E3D9C9BAC083}" type="sibTrans" cxnId="{4C6A7262-4A6F-4832-8A92-2419A2AEAF7D}">
      <dgm:prSet/>
      <dgm:spPr/>
      <dgm:t>
        <a:bodyPr/>
        <a:lstStyle/>
        <a:p>
          <a:endParaRPr lang="aa-ET" b="1">
            <a:latin typeface="Corbel" panose="020B0503020204020204" pitchFamily="34" charset="0"/>
          </a:endParaRPr>
        </a:p>
      </dgm:t>
    </dgm:pt>
    <dgm:pt modelId="{E49373E6-D5EE-41AA-9816-326C447BAB99}">
      <dgm:prSet phldrT="[Text]"/>
      <dgm:spPr/>
      <dgm:t>
        <a:bodyPr/>
        <a:lstStyle/>
        <a:p>
          <a:r>
            <a:rPr lang="en-US" b="1" dirty="0">
              <a:latin typeface="Corbel" panose="020B0503020204020204" pitchFamily="34" charset="0"/>
            </a:rPr>
            <a:t>Marketing Strategy</a:t>
          </a:r>
          <a:endParaRPr lang="aa-ET" b="1" dirty="0">
            <a:latin typeface="Corbel" panose="020B0503020204020204" pitchFamily="34" charset="0"/>
          </a:endParaRPr>
        </a:p>
      </dgm:t>
    </dgm:pt>
    <dgm:pt modelId="{ED8F3596-08FF-455C-964B-F66849D191A9}" type="parTrans" cxnId="{6DE64F6B-C84C-48E0-9FD1-5055D2EBE1C0}">
      <dgm:prSet/>
      <dgm:spPr/>
      <dgm:t>
        <a:bodyPr/>
        <a:lstStyle/>
        <a:p>
          <a:endParaRPr lang="aa-ET" b="1">
            <a:latin typeface="Corbel" panose="020B0503020204020204" pitchFamily="34" charset="0"/>
          </a:endParaRPr>
        </a:p>
      </dgm:t>
    </dgm:pt>
    <dgm:pt modelId="{F2982899-7FE4-475A-95FD-171B6DEF542B}" type="sibTrans" cxnId="{6DE64F6B-C84C-48E0-9FD1-5055D2EBE1C0}">
      <dgm:prSet/>
      <dgm:spPr/>
      <dgm:t>
        <a:bodyPr/>
        <a:lstStyle/>
        <a:p>
          <a:endParaRPr lang="aa-ET" b="1">
            <a:latin typeface="Corbel" panose="020B0503020204020204" pitchFamily="34" charset="0"/>
          </a:endParaRPr>
        </a:p>
      </dgm:t>
    </dgm:pt>
    <dgm:pt modelId="{91421703-6FD0-432D-8D53-AAEDE9AF0F78}">
      <dgm:prSet phldrT="[Text]"/>
      <dgm:spPr/>
      <dgm:t>
        <a:bodyPr/>
        <a:lstStyle/>
        <a:p>
          <a:r>
            <a:rPr lang="en-US" b="1" dirty="0">
              <a:latin typeface="Corbel" panose="020B0503020204020204" pitchFamily="34" charset="0"/>
            </a:rPr>
            <a:t>Brand Reputation &amp; Loyalty</a:t>
          </a:r>
          <a:endParaRPr lang="aa-ET" b="1" dirty="0">
            <a:latin typeface="Corbel" panose="020B0503020204020204" pitchFamily="34" charset="0"/>
          </a:endParaRPr>
        </a:p>
      </dgm:t>
    </dgm:pt>
    <dgm:pt modelId="{8341192B-118F-418D-A184-084F24AE82D0}" type="parTrans" cxnId="{D0CDD31D-91B6-4CD0-8549-04A8C43C43A0}">
      <dgm:prSet/>
      <dgm:spPr/>
      <dgm:t>
        <a:bodyPr/>
        <a:lstStyle/>
        <a:p>
          <a:endParaRPr lang="aa-ET" b="1">
            <a:latin typeface="Corbel" panose="020B0503020204020204" pitchFamily="34" charset="0"/>
          </a:endParaRPr>
        </a:p>
      </dgm:t>
    </dgm:pt>
    <dgm:pt modelId="{BEDA8DC0-B699-490B-AC8B-BE965ADD5016}" type="sibTrans" cxnId="{D0CDD31D-91B6-4CD0-8549-04A8C43C43A0}">
      <dgm:prSet/>
      <dgm:spPr/>
      <dgm:t>
        <a:bodyPr/>
        <a:lstStyle/>
        <a:p>
          <a:endParaRPr lang="aa-ET" b="1">
            <a:latin typeface="Corbel" panose="020B0503020204020204" pitchFamily="34" charset="0"/>
          </a:endParaRPr>
        </a:p>
      </dgm:t>
    </dgm:pt>
    <dgm:pt modelId="{81E4EA5E-8342-414A-B0BA-B49DC5E1CA75}">
      <dgm:prSet phldrT="[Text]"/>
      <dgm:spPr>
        <a:solidFill>
          <a:schemeClr val="accent4">
            <a:lumMod val="50000"/>
          </a:schemeClr>
        </a:solidFill>
      </dgm:spPr>
      <dgm:t>
        <a:bodyPr/>
        <a:lstStyle/>
        <a:p>
          <a:r>
            <a:rPr lang="en-US" b="1" dirty="0">
              <a:latin typeface="Corbel" panose="020B0503020204020204" pitchFamily="34" charset="0"/>
            </a:rPr>
            <a:t>Competitive Pricing</a:t>
          </a:r>
          <a:endParaRPr lang="aa-ET" b="1" dirty="0">
            <a:latin typeface="Corbel" panose="020B0503020204020204" pitchFamily="34" charset="0"/>
          </a:endParaRPr>
        </a:p>
      </dgm:t>
    </dgm:pt>
    <dgm:pt modelId="{7B62E6EB-9988-432A-ABDB-EA3EE18C4B27}" type="sibTrans" cxnId="{F97D351A-13B0-4560-B0DA-9ABF7A5A286C}">
      <dgm:prSet/>
      <dgm:spPr/>
      <dgm:t>
        <a:bodyPr/>
        <a:lstStyle/>
        <a:p>
          <a:endParaRPr lang="aa-ET" b="1">
            <a:latin typeface="Corbel" panose="020B0503020204020204" pitchFamily="34" charset="0"/>
          </a:endParaRPr>
        </a:p>
      </dgm:t>
    </dgm:pt>
    <dgm:pt modelId="{9ECF72A5-C52E-4F71-865B-771BB32FA778}" type="parTrans" cxnId="{F97D351A-13B0-4560-B0DA-9ABF7A5A286C}">
      <dgm:prSet/>
      <dgm:spPr/>
      <dgm:t>
        <a:bodyPr/>
        <a:lstStyle/>
        <a:p>
          <a:endParaRPr lang="aa-ET" b="1">
            <a:latin typeface="Corbel" panose="020B0503020204020204" pitchFamily="34" charset="0"/>
          </a:endParaRPr>
        </a:p>
      </dgm:t>
    </dgm:pt>
    <dgm:pt modelId="{2539B205-FDC4-49DB-8020-6AE927453EF0}" type="pres">
      <dgm:prSet presAssocID="{3D9DF7FB-9645-4049-A7FF-118E18672F1A}" presName="Name0" presStyleCnt="0">
        <dgm:presLayoutVars>
          <dgm:chMax val="1"/>
          <dgm:chPref val="1"/>
          <dgm:dir/>
          <dgm:animOne val="branch"/>
          <dgm:animLvl val="lvl"/>
        </dgm:presLayoutVars>
      </dgm:prSet>
      <dgm:spPr/>
    </dgm:pt>
    <dgm:pt modelId="{51FAF1B7-E6D2-4BE6-AB71-ABC4B47F5A52}" type="pres">
      <dgm:prSet presAssocID="{F9DE54F3-E9FD-49F8-ADC9-050FADE8F433}" presName="Parent" presStyleLbl="node0" presStyleIdx="0" presStyleCnt="1">
        <dgm:presLayoutVars>
          <dgm:chMax val="6"/>
          <dgm:chPref val="6"/>
        </dgm:presLayoutVars>
      </dgm:prSet>
      <dgm:spPr/>
    </dgm:pt>
    <dgm:pt modelId="{BE565E13-F0A3-447B-9F77-46C3B9428FD0}" type="pres">
      <dgm:prSet presAssocID="{81E4EA5E-8342-414A-B0BA-B49DC5E1CA75}" presName="Accent1" presStyleCnt="0"/>
      <dgm:spPr/>
    </dgm:pt>
    <dgm:pt modelId="{E0C4D81A-ABD6-4A0D-9723-C48DFDF64FCE}" type="pres">
      <dgm:prSet presAssocID="{81E4EA5E-8342-414A-B0BA-B49DC5E1CA75}" presName="Accent" presStyleLbl="bgShp" presStyleIdx="0" presStyleCnt="6"/>
      <dgm:spPr/>
    </dgm:pt>
    <dgm:pt modelId="{0FEFBE30-2F31-49E4-931E-33E8D91B2293}" type="pres">
      <dgm:prSet presAssocID="{81E4EA5E-8342-414A-B0BA-B49DC5E1CA75}" presName="Child1" presStyleLbl="node1" presStyleIdx="0" presStyleCnt="6">
        <dgm:presLayoutVars>
          <dgm:chMax val="0"/>
          <dgm:chPref val="0"/>
          <dgm:bulletEnabled val="1"/>
        </dgm:presLayoutVars>
      </dgm:prSet>
      <dgm:spPr/>
    </dgm:pt>
    <dgm:pt modelId="{D81C59F3-E86B-44FB-826B-A08B5F1D297E}" type="pres">
      <dgm:prSet presAssocID="{5722F5BD-122A-42B4-B6CA-A7BF5BD993B9}" presName="Accent2" presStyleCnt="0"/>
      <dgm:spPr/>
    </dgm:pt>
    <dgm:pt modelId="{6CD19D98-8C61-4208-B198-096E8311CE70}" type="pres">
      <dgm:prSet presAssocID="{5722F5BD-122A-42B4-B6CA-A7BF5BD993B9}" presName="Accent" presStyleLbl="bgShp" presStyleIdx="1" presStyleCnt="6"/>
      <dgm:spPr/>
    </dgm:pt>
    <dgm:pt modelId="{316962A3-9918-4FE3-86E5-A552F4C7773E}" type="pres">
      <dgm:prSet presAssocID="{5722F5BD-122A-42B4-B6CA-A7BF5BD993B9}" presName="Child2" presStyleLbl="node1" presStyleIdx="1" presStyleCnt="6">
        <dgm:presLayoutVars>
          <dgm:chMax val="0"/>
          <dgm:chPref val="0"/>
          <dgm:bulletEnabled val="1"/>
        </dgm:presLayoutVars>
      </dgm:prSet>
      <dgm:spPr/>
    </dgm:pt>
    <dgm:pt modelId="{7196B9EE-3452-4336-8F3E-85A50BA51CC5}" type="pres">
      <dgm:prSet presAssocID="{BDD1D52D-B7EF-4F28-BE6F-58BFBE5D2F9C}" presName="Accent3" presStyleCnt="0"/>
      <dgm:spPr/>
    </dgm:pt>
    <dgm:pt modelId="{CEBB408E-98A8-4A1F-8298-12C37AFFFB83}" type="pres">
      <dgm:prSet presAssocID="{BDD1D52D-B7EF-4F28-BE6F-58BFBE5D2F9C}" presName="Accent" presStyleLbl="bgShp" presStyleIdx="2" presStyleCnt="6"/>
      <dgm:spPr/>
    </dgm:pt>
    <dgm:pt modelId="{F6A7438A-9CE0-40B1-AFCE-AD33B91C5EEB}" type="pres">
      <dgm:prSet presAssocID="{BDD1D52D-B7EF-4F28-BE6F-58BFBE5D2F9C}" presName="Child3" presStyleLbl="node1" presStyleIdx="2" presStyleCnt="6">
        <dgm:presLayoutVars>
          <dgm:chMax val="0"/>
          <dgm:chPref val="0"/>
          <dgm:bulletEnabled val="1"/>
        </dgm:presLayoutVars>
      </dgm:prSet>
      <dgm:spPr/>
    </dgm:pt>
    <dgm:pt modelId="{8A6B1748-FB26-472F-AB07-A1A1C9B29913}" type="pres">
      <dgm:prSet presAssocID="{00705FE3-2F78-4788-96EA-1203CB4DB89A}" presName="Accent4" presStyleCnt="0"/>
      <dgm:spPr/>
    </dgm:pt>
    <dgm:pt modelId="{542047D4-BBF9-4D11-9933-8008C3FE3FA0}" type="pres">
      <dgm:prSet presAssocID="{00705FE3-2F78-4788-96EA-1203CB4DB89A}" presName="Accent" presStyleLbl="bgShp" presStyleIdx="3" presStyleCnt="6"/>
      <dgm:spPr/>
    </dgm:pt>
    <dgm:pt modelId="{166EEE4B-5E96-4261-87B0-71F85859616B}" type="pres">
      <dgm:prSet presAssocID="{00705FE3-2F78-4788-96EA-1203CB4DB89A}" presName="Child4" presStyleLbl="node1" presStyleIdx="3" presStyleCnt="6">
        <dgm:presLayoutVars>
          <dgm:chMax val="0"/>
          <dgm:chPref val="0"/>
          <dgm:bulletEnabled val="1"/>
        </dgm:presLayoutVars>
      </dgm:prSet>
      <dgm:spPr/>
    </dgm:pt>
    <dgm:pt modelId="{9F4D8716-F047-4667-B666-35A4D71F9D0B}" type="pres">
      <dgm:prSet presAssocID="{E49373E6-D5EE-41AA-9816-326C447BAB99}" presName="Accent5" presStyleCnt="0"/>
      <dgm:spPr/>
    </dgm:pt>
    <dgm:pt modelId="{0F6BFBE8-A507-442E-B314-93F400E72233}" type="pres">
      <dgm:prSet presAssocID="{E49373E6-D5EE-41AA-9816-326C447BAB99}" presName="Accent" presStyleLbl="bgShp" presStyleIdx="4" presStyleCnt="6"/>
      <dgm:spPr/>
    </dgm:pt>
    <dgm:pt modelId="{A3A0D3B5-11D4-4F11-B032-11BB7675572F}" type="pres">
      <dgm:prSet presAssocID="{E49373E6-D5EE-41AA-9816-326C447BAB99}" presName="Child5" presStyleLbl="node1" presStyleIdx="4" presStyleCnt="6">
        <dgm:presLayoutVars>
          <dgm:chMax val="0"/>
          <dgm:chPref val="0"/>
          <dgm:bulletEnabled val="1"/>
        </dgm:presLayoutVars>
      </dgm:prSet>
      <dgm:spPr/>
    </dgm:pt>
    <dgm:pt modelId="{57B9BF79-C1C1-4857-9CA9-A3B86C0AEB76}" type="pres">
      <dgm:prSet presAssocID="{91421703-6FD0-432D-8D53-AAEDE9AF0F78}" presName="Accent6" presStyleCnt="0"/>
      <dgm:spPr/>
    </dgm:pt>
    <dgm:pt modelId="{2737E041-5162-495D-9E16-31AE6C5474FA}" type="pres">
      <dgm:prSet presAssocID="{91421703-6FD0-432D-8D53-AAEDE9AF0F78}" presName="Accent" presStyleLbl="bgShp" presStyleIdx="5" presStyleCnt="6"/>
      <dgm:spPr/>
    </dgm:pt>
    <dgm:pt modelId="{FCBE0ACB-B644-4510-A7A6-309B592886A6}" type="pres">
      <dgm:prSet presAssocID="{91421703-6FD0-432D-8D53-AAEDE9AF0F78}" presName="Child6" presStyleLbl="node1" presStyleIdx="5" presStyleCnt="6">
        <dgm:presLayoutVars>
          <dgm:chMax val="0"/>
          <dgm:chPref val="0"/>
          <dgm:bulletEnabled val="1"/>
        </dgm:presLayoutVars>
      </dgm:prSet>
      <dgm:spPr/>
    </dgm:pt>
  </dgm:ptLst>
  <dgm:cxnLst>
    <dgm:cxn modelId="{F97D351A-13B0-4560-B0DA-9ABF7A5A286C}" srcId="{F9DE54F3-E9FD-49F8-ADC9-050FADE8F433}" destId="{81E4EA5E-8342-414A-B0BA-B49DC5E1CA75}" srcOrd="0" destOrd="0" parTransId="{9ECF72A5-C52E-4F71-865B-771BB32FA778}" sibTransId="{7B62E6EB-9988-432A-ABDB-EA3EE18C4B27}"/>
    <dgm:cxn modelId="{D0CDD31D-91B6-4CD0-8549-04A8C43C43A0}" srcId="{F9DE54F3-E9FD-49F8-ADC9-050FADE8F433}" destId="{91421703-6FD0-432D-8D53-AAEDE9AF0F78}" srcOrd="5" destOrd="0" parTransId="{8341192B-118F-418D-A184-084F24AE82D0}" sibTransId="{BEDA8DC0-B699-490B-AC8B-BE965ADD5016}"/>
    <dgm:cxn modelId="{D8FF2531-E038-4C58-8A63-A9544260C929}" type="presOf" srcId="{E49373E6-D5EE-41AA-9816-326C447BAB99}" destId="{A3A0D3B5-11D4-4F11-B032-11BB7675572F}" srcOrd="0" destOrd="0" presId="urn:microsoft.com/office/officeart/2011/layout/HexagonRadial"/>
    <dgm:cxn modelId="{8739C132-3B44-41FF-B64A-D64DF06791C3}" srcId="{3D9DF7FB-9645-4049-A7FF-118E18672F1A}" destId="{F9DE54F3-E9FD-49F8-ADC9-050FADE8F433}" srcOrd="0" destOrd="0" parTransId="{57BB84EB-4ED3-4028-9189-448FD67947D5}" sibTransId="{E208891D-EBD8-47B3-A17F-FFE7D4604A10}"/>
    <dgm:cxn modelId="{E308903A-C41C-4470-91D9-3F812A45DD5F}" srcId="{F9DE54F3-E9FD-49F8-ADC9-050FADE8F433}" destId="{5722F5BD-122A-42B4-B6CA-A7BF5BD993B9}" srcOrd="1" destOrd="0" parTransId="{030C5B6E-2557-4407-AEF5-6F4BBA5DE00E}" sibTransId="{3A2077E5-8AF5-4759-A457-17E3E8608B2A}"/>
    <dgm:cxn modelId="{2B0E403F-6CB9-4781-909C-3153B48199E9}" type="presOf" srcId="{00705FE3-2F78-4788-96EA-1203CB4DB89A}" destId="{166EEE4B-5E96-4261-87B0-71F85859616B}" srcOrd="0" destOrd="0" presId="urn:microsoft.com/office/officeart/2011/layout/HexagonRadial"/>
    <dgm:cxn modelId="{E04E185B-B03F-4A42-AC81-4350D8D4A386}" srcId="{F9DE54F3-E9FD-49F8-ADC9-050FADE8F433}" destId="{BDD1D52D-B7EF-4F28-BE6F-58BFBE5D2F9C}" srcOrd="2" destOrd="0" parTransId="{F18CF87E-164C-45AB-83C9-45EF7C7674B3}" sibTransId="{DC583E53-37DA-4441-AC26-1D2B29579180}"/>
    <dgm:cxn modelId="{4C6A7262-4A6F-4832-8A92-2419A2AEAF7D}" srcId="{F9DE54F3-E9FD-49F8-ADC9-050FADE8F433}" destId="{00705FE3-2F78-4788-96EA-1203CB4DB89A}" srcOrd="3" destOrd="0" parTransId="{9E1CB67D-0EA8-49BB-8156-772D369BB867}" sibTransId="{950C945C-1725-4C3C-8A39-E3D9C9BAC083}"/>
    <dgm:cxn modelId="{6DE64F6B-C84C-48E0-9FD1-5055D2EBE1C0}" srcId="{F9DE54F3-E9FD-49F8-ADC9-050FADE8F433}" destId="{E49373E6-D5EE-41AA-9816-326C447BAB99}" srcOrd="4" destOrd="0" parTransId="{ED8F3596-08FF-455C-964B-F66849D191A9}" sibTransId="{F2982899-7FE4-475A-95FD-171B6DEF542B}"/>
    <dgm:cxn modelId="{234E816C-7EC2-4320-AEF5-FEFAC703892E}" type="presOf" srcId="{91421703-6FD0-432D-8D53-AAEDE9AF0F78}" destId="{FCBE0ACB-B644-4510-A7A6-309B592886A6}" srcOrd="0" destOrd="0" presId="urn:microsoft.com/office/officeart/2011/layout/HexagonRadial"/>
    <dgm:cxn modelId="{A58AF570-EB1A-4DB7-877D-BF787BB7A693}" type="presOf" srcId="{3D9DF7FB-9645-4049-A7FF-118E18672F1A}" destId="{2539B205-FDC4-49DB-8020-6AE927453EF0}" srcOrd="0" destOrd="0" presId="urn:microsoft.com/office/officeart/2011/layout/HexagonRadial"/>
    <dgm:cxn modelId="{B468CE58-E338-4749-9A4D-11478D719E61}" type="presOf" srcId="{F9DE54F3-E9FD-49F8-ADC9-050FADE8F433}" destId="{51FAF1B7-E6D2-4BE6-AB71-ABC4B47F5A52}" srcOrd="0" destOrd="0" presId="urn:microsoft.com/office/officeart/2011/layout/HexagonRadial"/>
    <dgm:cxn modelId="{6C7476AB-3156-4C15-929E-AC49BFF9EAB1}" type="presOf" srcId="{81E4EA5E-8342-414A-B0BA-B49DC5E1CA75}" destId="{0FEFBE30-2F31-49E4-931E-33E8D91B2293}" srcOrd="0" destOrd="0" presId="urn:microsoft.com/office/officeart/2011/layout/HexagonRadial"/>
    <dgm:cxn modelId="{8BB808B3-6450-4918-A48B-944CD2534967}" type="presOf" srcId="{5722F5BD-122A-42B4-B6CA-A7BF5BD993B9}" destId="{316962A3-9918-4FE3-86E5-A552F4C7773E}" srcOrd="0" destOrd="0" presId="urn:microsoft.com/office/officeart/2011/layout/HexagonRadial"/>
    <dgm:cxn modelId="{0635A8BD-9284-4276-A744-241F7C4A2977}" type="presOf" srcId="{BDD1D52D-B7EF-4F28-BE6F-58BFBE5D2F9C}" destId="{F6A7438A-9CE0-40B1-AFCE-AD33B91C5EEB}" srcOrd="0" destOrd="0" presId="urn:microsoft.com/office/officeart/2011/layout/HexagonRadial"/>
    <dgm:cxn modelId="{8C6345A4-755C-4E61-8CB9-100C42029610}" type="presParOf" srcId="{2539B205-FDC4-49DB-8020-6AE927453EF0}" destId="{51FAF1B7-E6D2-4BE6-AB71-ABC4B47F5A52}" srcOrd="0" destOrd="0" presId="urn:microsoft.com/office/officeart/2011/layout/HexagonRadial"/>
    <dgm:cxn modelId="{8F203192-7444-4533-8DBD-9DC65C8525F5}" type="presParOf" srcId="{2539B205-FDC4-49DB-8020-6AE927453EF0}" destId="{BE565E13-F0A3-447B-9F77-46C3B9428FD0}" srcOrd="1" destOrd="0" presId="urn:microsoft.com/office/officeart/2011/layout/HexagonRadial"/>
    <dgm:cxn modelId="{0B0304A5-8DE4-4DD0-9FFE-43E883F4059B}" type="presParOf" srcId="{BE565E13-F0A3-447B-9F77-46C3B9428FD0}" destId="{E0C4D81A-ABD6-4A0D-9723-C48DFDF64FCE}" srcOrd="0" destOrd="0" presId="urn:microsoft.com/office/officeart/2011/layout/HexagonRadial"/>
    <dgm:cxn modelId="{10692457-4EF4-43CD-BE73-0E3F3BAF8718}" type="presParOf" srcId="{2539B205-FDC4-49DB-8020-6AE927453EF0}" destId="{0FEFBE30-2F31-49E4-931E-33E8D91B2293}" srcOrd="2" destOrd="0" presId="urn:microsoft.com/office/officeart/2011/layout/HexagonRadial"/>
    <dgm:cxn modelId="{9DF37850-B30F-4354-AB6B-2D3A1781C13B}" type="presParOf" srcId="{2539B205-FDC4-49DB-8020-6AE927453EF0}" destId="{D81C59F3-E86B-44FB-826B-A08B5F1D297E}" srcOrd="3" destOrd="0" presId="urn:microsoft.com/office/officeart/2011/layout/HexagonRadial"/>
    <dgm:cxn modelId="{565C2C3F-98B3-40CD-865D-A2BDFC62FE37}" type="presParOf" srcId="{D81C59F3-E86B-44FB-826B-A08B5F1D297E}" destId="{6CD19D98-8C61-4208-B198-096E8311CE70}" srcOrd="0" destOrd="0" presId="urn:microsoft.com/office/officeart/2011/layout/HexagonRadial"/>
    <dgm:cxn modelId="{70827E6E-8C26-4FD8-B802-75BD45137FB6}" type="presParOf" srcId="{2539B205-FDC4-49DB-8020-6AE927453EF0}" destId="{316962A3-9918-4FE3-86E5-A552F4C7773E}" srcOrd="4" destOrd="0" presId="urn:microsoft.com/office/officeart/2011/layout/HexagonRadial"/>
    <dgm:cxn modelId="{C5366A48-4F00-4D5F-BD74-AC6BBA9635AE}" type="presParOf" srcId="{2539B205-FDC4-49DB-8020-6AE927453EF0}" destId="{7196B9EE-3452-4336-8F3E-85A50BA51CC5}" srcOrd="5" destOrd="0" presId="urn:microsoft.com/office/officeart/2011/layout/HexagonRadial"/>
    <dgm:cxn modelId="{3F86B499-AC51-4208-8560-3905CF369B64}" type="presParOf" srcId="{7196B9EE-3452-4336-8F3E-85A50BA51CC5}" destId="{CEBB408E-98A8-4A1F-8298-12C37AFFFB83}" srcOrd="0" destOrd="0" presId="urn:microsoft.com/office/officeart/2011/layout/HexagonRadial"/>
    <dgm:cxn modelId="{129F066A-FD87-4DB2-8C07-E5663E315D30}" type="presParOf" srcId="{2539B205-FDC4-49DB-8020-6AE927453EF0}" destId="{F6A7438A-9CE0-40B1-AFCE-AD33B91C5EEB}" srcOrd="6" destOrd="0" presId="urn:microsoft.com/office/officeart/2011/layout/HexagonRadial"/>
    <dgm:cxn modelId="{96C0CD1A-151C-4DE3-8757-BDCD806ED307}" type="presParOf" srcId="{2539B205-FDC4-49DB-8020-6AE927453EF0}" destId="{8A6B1748-FB26-472F-AB07-A1A1C9B29913}" srcOrd="7" destOrd="0" presId="urn:microsoft.com/office/officeart/2011/layout/HexagonRadial"/>
    <dgm:cxn modelId="{BBB8FA83-88E8-461B-A2FD-6D498A10159C}" type="presParOf" srcId="{8A6B1748-FB26-472F-AB07-A1A1C9B29913}" destId="{542047D4-BBF9-4D11-9933-8008C3FE3FA0}" srcOrd="0" destOrd="0" presId="urn:microsoft.com/office/officeart/2011/layout/HexagonRadial"/>
    <dgm:cxn modelId="{203F35CB-FE82-4E81-8E91-4FAF08D84478}" type="presParOf" srcId="{2539B205-FDC4-49DB-8020-6AE927453EF0}" destId="{166EEE4B-5E96-4261-87B0-71F85859616B}" srcOrd="8" destOrd="0" presId="urn:microsoft.com/office/officeart/2011/layout/HexagonRadial"/>
    <dgm:cxn modelId="{F5A9E9AB-B073-404E-80C6-6444474BE326}" type="presParOf" srcId="{2539B205-FDC4-49DB-8020-6AE927453EF0}" destId="{9F4D8716-F047-4667-B666-35A4D71F9D0B}" srcOrd="9" destOrd="0" presId="urn:microsoft.com/office/officeart/2011/layout/HexagonRadial"/>
    <dgm:cxn modelId="{C1B8E75F-0B0A-40DE-AFA5-2CBD1B951F55}" type="presParOf" srcId="{9F4D8716-F047-4667-B666-35A4D71F9D0B}" destId="{0F6BFBE8-A507-442E-B314-93F400E72233}" srcOrd="0" destOrd="0" presId="urn:microsoft.com/office/officeart/2011/layout/HexagonRadial"/>
    <dgm:cxn modelId="{D97F2B10-0B69-42FD-8746-2129716F729F}" type="presParOf" srcId="{2539B205-FDC4-49DB-8020-6AE927453EF0}" destId="{A3A0D3B5-11D4-4F11-B032-11BB7675572F}" srcOrd="10" destOrd="0" presId="urn:microsoft.com/office/officeart/2011/layout/HexagonRadial"/>
    <dgm:cxn modelId="{80CA88B6-C8C9-4C3D-BA8B-778D02AAF0E3}" type="presParOf" srcId="{2539B205-FDC4-49DB-8020-6AE927453EF0}" destId="{57B9BF79-C1C1-4857-9CA9-A3B86C0AEB76}" srcOrd="11" destOrd="0" presId="urn:microsoft.com/office/officeart/2011/layout/HexagonRadial"/>
    <dgm:cxn modelId="{A06F2B32-AE99-45D3-89F6-351540B7D41B}" type="presParOf" srcId="{57B9BF79-C1C1-4857-9CA9-A3B86C0AEB76}" destId="{2737E041-5162-495D-9E16-31AE6C5474FA}" srcOrd="0" destOrd="0" presId="urn:microsoft.com/office/officeart/2011/layout/HexagonRadial"/>
    <dgm:cxn modelId="{F92C41FD-56C3-4DBC-B111-0181033F0870}" type="presParOf" srcId="{2539B205-FDC4-49DB-8020-6AE927453EF0}" destId="{FCBE0ACB-B644-4510-A7A6-309B592886A6}"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9DF7FB-9645-4049-A7FF-118E18672F1A}" type="doc">
      <dgm:prSet loTypeId="urn:microsoft.com/office/officeart/2011/layout/HexagonRadial" loCatId="cycle" qsTypeId="urn:microsoft.com/office/officeart/2005/8/quickstyle/simple1" qsCatId="simple" csTypeId="urn:microsoft.com/office/officeart/2005/8/colors/colorful1" csCatId="colorful" phldr="1"/>
      <dgm:spPr/>
      <dgm:t>
        <a:bodyPr/>
        <a:lstStyle/>
        <a:p>
          <a:endParaRPr lang="aa-ET"/>
        </a:p>
      </dgm:t>
    </dgm:pt>
    <dgm:pt modelId="{F9DE54F3-E9FD-49F8-ADC9-050FADE8F433}">
      <dgm:prSet phldrT="[Text]"/>
      <dgm:spPr/>
      <dgm:t>
        <a:bodyPr/>
        <a:lstStyle/>
        <a:p>
          <a:r>
            <a:rPr lang="en-US" b="1" dirty="0">
              <a:latin typeface="Corbel" panose="020B0503020204020204" pitchFamily="34" charset="0"/>
            </a:rPr>
            <a:t>Key Success Factors</a:t>
          </a:r>
          <a:endParaRPr lang="aa-ET" b="1" dirty="0">
            <a:latin typeface="Corbel" panose="020B0503020204020204" pitchFamily="34" charset="0"/>
          </a:endParaRPr>
        </a:p>
      </dgm:t>
    </dgm:pt>
    <dgm:pt modelId="{57BB84EB-4ED3-4028-9189-448FD67947D5}" type="parTrans" cxnId="{8739C132-3B44-41FF-B64A-D64DF06791C3}">
      <dgm:prSet/>
      <dgm:spPr/>
      <dgm:t>
        <a:bodyPr/>
        <a:lstStyle/>
        <a:p>
          <a:endParaRPr lang="aa-ET" b="1">
            <a:latin typeface="Corbel" panose="020B0503020204020204" pitchFamily="34" charset="0"/>
          </a:endParaRPr>
        </a:p>
      </dgm:t>
    </dgm:pt>
    <dgm:pt modelId="{E208891D-EBD8-47B3-A17F-FFE7D4604A10}" type="sibTrans" cxnId="{8739C132-3B44-41FF-B64A-D64DF06791C3}">
      <dgm:prSet/>
      <dgm:spPr/>
      <dgm:t>
        <a:bodyPr/>
        <a:lstStyle/>
        <a:p>
          <a:endParaRPr lang="aa-ET" b="1">
            <a:latin typeface="Corbel" panose="020B0503020204020204" pitchFamily="34" charset="0"/>
          </a:endParaRPr>
        </a:p>
      </dgm:t>
    </dgm:pt>
    <dgm:pt modelId="{5722F5BD-122A-42B4-B6CA-A7BF5BD993B9}">
      <dgm:prSet phldrT="[Text]"/>
      <dgm:spPr/>
      <dgm:t>
        <a:bodyPr/>
        <a:lstStyle/>
        <a:p>
          <a:r>
            <a:rPr lang="en-US" b="1" dirty="0">
              <a:latin typeface="Corbel" panose="020B0503020204020204" pitchFamily="34" charset="0"/>
            </a:rPr>
            <a:t>State-of-the-Art Technology</a:t>
          </a:r>
        </a:p>
        <a:p>
          <a:r>
            <a:rPr lang="en-US" b="1" dirty="0">
              <a:latin typeface="Corbel" panose="020B0503020204020204" pitchFamily="34" charset="0"/>
            </a:rPr>
            <a:t>EMR </a:t>
          </a:r>
          <a:endParaRPr lang="aa-ET" b="1" dirty="0">
            <a:latin typeface="Corbel" panose="020B0503020204020204" pitchFamily="34" charset="0"/>
          </a:endParaRPr>
        </a:p>
      </dgm:t>
    </dgm:pt>
    <dgm:pt modelId="{030C5B6E-2557-4407-AEF5-6F4BBA5DE00E}" type="parTrans" cxnId="{E308903A-C41C-4470-91D9-3F812A45DD5F}">
      <dgm:prSet/>
      <dgm:spPr/>
      <dgm:t>
        <a:bodyPr/>
        <a:lstStyle/>
        <a:p>
          <a:endParaRPr lang="aa-ET" b="1">
            <a:latin typeface="Corbel" panose="020B0503020204020204" pitchFamily="34" charset="0"/>
          </a:endParaRPr>
        </a:p>
      </dgm:t>
    </dgm:pt>
    <dgm:pt modelId="{3A2077E5-8AF5-4759-A457-17E3E8608B2A}" type="sibTrans" cxnId="{E308903A-C41C-4470-91D9-3F812A45DD5F}">
      <dgm:prSet/>
      <dgm:spPr/>
      <dgm:t>
        <a:bodyPr/>
        <a:lstStyle/>
        <a:p>
          <a:endParaRPr lang="aa-ET" b="1">
            <a:latin typeface="Corbel" panose="020B0503020204020204" pitchFamily="34" charset="0"/>
          </a:endParaRPr>
        </a:p>
      </dgm:t>
    </dgm:pt>
    <dgm:pt modelId="{BDD1D52D-B7EF-4F28-BE6F-58BFBE5D2F9C}">
      <dgm:prSet phldrT="[Text]"/>
      <dgm:spPr>
        <a:solidFill>
          <a:srgbClr val="00B0F0"/>
        </a:solidFill>
      </dgm:spPr>
      <dgm:t>
        <a:bodyPr/>
        <a:lstStyle/>
        <a:p>
          <a:r>
            <a:rPr lang="en-US" b="1" dirty="0">
              <a:latin typeface="Corbel" panose="020B0503020204020204" pitchFamily="34" charset="0"/>
            </a:rPr>
            <a:t>Convenient Service </a:t>
          </a:r>
          <a:endParaRPr lang="aa-ET" b="1" dirty="0">
            <a:latin typeface="Corbel" panose="020B0503020204020204" pitchFamily="34" charset="0"/>
          </a:endParaRPr>
        </a:p>
      </dgm:t>
    </dgm:pt>
    <dgm:pt modelId="{F18CF87E-164C-45AB-83C9-45EF7C7674B3}" type="parTrans" cxnId="{E04E185B-B03F-4A42-AC81-4350D8D4A386}">
      <dgm:prSet/>
      <dgm:spPr/>
      <dgm:t>
        <a:bodyPr/>
        <a:lstStyle/>
        <a:p>
          <a:endParaRPr lang="aa-ET" b="1">
            <a:latin typeface="Corbel" panose="020B0503020204020204" pitchFamily="34" charset="0"/>
          </a:endParaRPr>
        </a:p>
      </dgm:t>
    </dgm:pt>
    <dgm:pt modelId="{DC583E53-37DA-4441-AC26-1D2B29579180}" type="sibTrans" cxnId="{E04E185B-B03F-4A42-AC81-4350D8D4A386}">
      <dgm:prSet/>
      <dgm:spPr/>
      <dgm:t>
        <a:bodyPr/>
        <a:lstStyle/>
        <a:p>
          <a:endParaRPr lang="aa-ET" b="1">
            <a:latin typeface="Corbel" panose="020B0503020204020204" pitchFamily="34" charset="0"/>
          </a:endParaRPr>
        </a:p>
      </dgm:t>
    </dgm:pt>
    <dgm:pt modelId="{00705FE3-2F78-4788-96EA-1203CB4DB89A}">
      <dgm:prSet phldrT="[Text]"/>
      <dgm:spPr/>
      <dgm:t>
        <a:bodyPr/>
        <a:lstStyle/>
        <a:p>
          <a:r>
            <a:rPr lang="en-US" b="1" dirty="0">
              <a:latin typeface="Corbel" panose="020B0503020204020204" pitchFamily="34" charset="0"/>
            </a:rPr>
            <a:t>Mobile Project Team </a:t>
          </a:r>
          <a:endParaRPr lang="aa-ET" b="1" dirty="0">
            <a:latin typeface="Corbel" panose="020B0503020204020204" pitchFamily="34" charset="0"/>
          </a:endParaRPr>
        </a:p>
      </dgm:t>
    </dgm:pt>
    <dgm:pt modelId="{9E1CB67D-0EA8-49BB-8156-772D369BB867}" type="parTrans" cxnId="{4C6A7262-4A6F-4832-8A92-2419A2AEAF7D}">
      <dgm:prSet/>
      <dgm:spPr/>
      <dgm:t>
        <a:bodyPr/>
        <a:lstStyle/>
        <a:p>
          <a:endParaRPr lang="aa-ET" b="1">
            <a:latin typeface="Corbel" panose="020B0503020204020204" pitchFamily="34" charset="0"/>
          </a:endParaRPr>
        </a:p>
      </dgm:t>
    </dgm:pt>
    <dgm:pt modelId="{950C945C-1725-4C3C-8A39-E3D9C9BAC083}" type="sibTrans" cxnId="{4C6A7262-4A6F-4832-8A92-2419A2AEAF7D}">
      <dgm:prSet/>
      <dgm:spPr/>
      <dgm:t>
        <a:bodyPr/>
        <a:lstStyle/>
        <a:p>
          <a:endParaRPr lang="aa-ET" b="1">
            <a:latin typeface="Corbel" panose="020B0503020204020204" pitchFamily="34" charset="0"/>
          </a:endParaRPr>
        </a:p>
      </dgm:t>
    </dgm:pt>
    <dgm:pt modelId="{E49373E6-D5EE-41AA-9816-326C447BAB99}">
      <dgm:prSet phldrT="[Text]"/>
      <dgm:spPr/>
      <dgm:t>
        <a:bodyPr/>
        <a:lstStyle/>
        <a:p>
          <a:r>
            <a:rPr lang="en-US" b="1" dirty="0">
              <a:latin typeface="Corbel" panose="020B0503020204020204" pitchFamily="34" charset="0"/>
            </a:rPr>
            <a:t>Marketing Strategy</a:t>
          </a:r>
          <a:endParaRPr lang="aa-ET" b="1" dirty="0">
            <a:latin typeface="Corbel" panose="020B0503020204020204" pitchFamily="34" charset="0"/>
          </a:endParaRPr>
        </a:p>
      </dgm:t>
    </dgm:pt>
    <dgm:pt modelId="{ED8F3596-08FF-455C-964B-F66849D191A9}" type="parTrans" cxnId="{6DE64F6B-C84C-48E0-9FD1-5055D2EBE1C0}">
      <dgm:prSet/>
      <dgm:spPr/>
      <dgm:t>
        <a:bodyPr/>
        <a:lstStyle/>
        <a:p>
          <a:endParaRPr lang="aa-ET" b="1">
            <a:latin typeface="Corbel" panose="020B0503020204020204" pitchFamily="34" charset="0"/>
          </a:endParaRPr>
        </a:p>
      </dgm:t>
    </dgm:pt>
    <dgm:pt modelId="{F2982899-7FE4-475A-95FD-171B6DEF542B}" type="sibTrans" cxnId="{6DE64F6B-C84C-48E0-9FD1-5055D2EBE1C0}">
      <dgm:prSet/>
      <dgm:spPr/>
      <dgm:t>
        <a:bodyPr/>
        <a:lstStyle/>
        <a:p>
          <a:endParaRPr lang="aa-ET" b="1">
            <a:latin typeface="Corbel" panose="020B0503020204020204" pitchFamily="34" charset="0"/>
          </a:endParaRPr>
        </a:p>
      </dgm:t>
    </dgm:pt>
    <dgm:pt modelId="{91421703-6FD0-432D-8D53-AAEDE9AF0F78}">
      <dgm:prSet phldrT="[Text]"/>
      <dgm:spPr/>
      <dgm:t>
        <a:bodyPr/>
        <a:lstStyle/>
        <a:p>
          <a:r>
            <a:rPr lang="en-US" b="1" dirty="0">
              <a:latin typeface="Corbel" panose="020B0503020204020204" pitchFamily="34" charset="0"/>
            </a:rPr>
            <a:t>Brand Reputation &amp; Loyalty</a:t>
          </a:r>
          <a:endParaRPr lang="aa-ET" b="1" dirty="0">
            <a:latin typeface="Corbel" panose="020B0503020204020204" pitchFamily="34" charset="0"/>
          </a:endParaRPr>
        </a:p>
      </dgm:t>
    </dgm:pt>
    <dgm:pt modelId="{8341192B-118F-418D-A184-084F24AE82D0}" type="parTrans" cxnId="{D0CDD31D-91B6-4CD0-8549-04A8C43C43A0}">
      <dgm:prSet/>
      <dgm:spPr/>
      <dgm:t>
        <a:bodyPr/>
        <a:lstStyle/>
        <a:p>
          <a:endParaRPr lang="aa-ET" b="1">
            <a:latin typeface="Corbel" panose="020B0503020204020204" pitchFamily="34" charset="0"/>
          </a:endParaRPr>
        </a:p>
      </dgm:t>
    </dgm:pt>
    <dgm:pt modelId="{BEDA8DC0-B699-490B-AC8B-BE965ADD5016}" type="sibTrans" cxnId="{D0CDD31D-91B6-4CD0-8549-04A8C43C43A0}">
      <dgm:prSet/>
      <dgm:spPr/>
      <dgm:t>
        <a:bodyPr/>
        <a:lstStyle/>
        <a:p>
          <a:endParaRPr lang="aa-ET" b="1">
            <a:latin typeface="Corbel" panose="020B0503020204020204" pitchFamily="34" charset="0"/>
          </a:endParaRPr>
        </a:p>
      </dgm:t>
    </dgm:pt>
    <dgm:pt modelId="{81E4EA5E-8342-414A-B0BA-B49DC5E1CA75}">
      <dgm:prSet phldrT="[Text]"/>
      <dgm:spPr>
        <a:solidFill>
          <a:schemeClr val="accent4">
            <a:lumMod val="50000"/>
          </a:schemeClr>
        </a:solidFill>
      </dgm:spPr>
      <dgm:t>
        <a:bodyPr/>
        <a:lstStyle/>
        <a:p>
          <a:r>
            <a:rPr lang="en-US" b="1" dirty="0">
              <a:latin typeface="Corbel" panose="020B0503020204020204" pitchFamily="34" charset="0"/>
            </a:rPr>
            <a:t>Competitive Pricing</a:t>
          </a:r>
          <a:endParaRPr lang="aa-ET" b="1" dirty="0">
            <a:latin typeface="Corbel" panose="020B0503020204020204" pitchFamily="34" charset="0"/>
          </a:endParaRPr>
        </a:p>
      </dgm:t>
    </dgm:pt>
    <dgm:pt modelId="{7B62E6EB-9988-432A-ABDB-EA3EE18C4B27}" type="sibTrans" cxnId="{F97D351A-13B0-4560-B0DA-9ABF7A5A286C}">
      <dgm:prSet/>
      <dgm:spPr/>
      <dgm:t>
        <a:bodyPr/>
        <a:lstStyle/>
        <a:p>
          <a:endParaRPr lang="aa-ET" b="1">
            <a:latin typeface="Corbel" panose="020B0503020204020204" pitchFamily="34" charset="0"/>
          </a:endParaRPr>
        </a:p>
      </dgm:t>
    </dgm:pt>
    <dgm:pt modelId="{9ECF72A5-C52E-4F71-865B-771BB32FA778}" type="parTrans" cxnId="{F97D351A-13B0-4560-B0DA-9ABF7A5A286C}">
      <dgm:prSet/>
      <dgm:spPr/>
      <dgm:t>
        <a:bodyPr/>
        <a:lstStyle/>
        <a:p>
          <a:endParaRPr lang="aa-ET" b="1">
            <a:latin typeface="Corbel" panose="020B0503020204020204" pitchFamily="34" charset="0"/>
          </a:endParaRPr>
        </a:p>
      </dgm:t>
    </dgm:pt>
    <dgm:pt modelId="{2539B205-FDC4-49DB-8020-6AE927453EF0}" type="pres">
      <dgm:prSet presAssocID="{3D9DF7FB-9645-4049-A7FF-118E18672F1A}" presName="Name0" presStyleCnt="0">
        <dgm:presLayoutVars>
          <dgm:chMax val="1"/>
          <dgm:chPref val="1"/>
          <dgm:dir/>
          <dgm:animOne val="branch"/>
          <dgm:animLvl val="lvl"/>
        </dgm:presLayoutVars>
      </dgm:prSet>
      <dgm:spPr/>
    </dgm:pt>
    <dgm:pt modelId="{51FAF1B7-E6D2-4BE6-AB71-ABC4B47F5A52}" type="pres">
      <dgm:prSet presAssocID="{F9DE54F3-E9FD-49F8-ADC9-050FADE8F433}" presName="Parent" presStyleLbl="node0" presStyleIdx="0" presStyleCnt="1">
        <dgm:presLayoutVars>
          <dgm:chMax val="6"/>
          <dgm:chPref val="6"/>
        </dgm:presLayoutVars>
      </dgm:prSet>
      <dgm:spPr/>
    </dgm:pt>
    <dgm:pt modelId="{BE565E13-F0A3-447B-9F77-46C3B9428FD0}" type="pres">
      <dgm:prSet presAssocID="{81E4EA5E-8342-414A-B0BA-B49DC5E1CA75}" presName="Accent1" presStyleCnt="0"/>
      <dgm:spPr/>
    </dgm:pt>
    <dgm:pt modelId="{E0C4D81A-ABD6-4A0D-9723-C48DFDF64FCE}" type="pres">
      <dgm:prSet presAssocID="{81E4EA5E-8342-414A-B0BA-B49DC5E1CA75}" presName="Accent" presStyleLbl="bgShp" presStyleIdx="0" presStyleCnt="6"/>
      <dgm:spPr/>
    </dgm:pt>
    <dgm:pt modelId="{0FEFBE30-2F31-49E4-931E-33E8D91B2293}" type="pres">
      <dgm:prSet presAssocID="{81E4EA5E-8342-414A-B0BA-B49DC5E1CA75}" presName="Child1" presStyleLbl="node1" presStyleIdx="0" presStyleCnt="6">
        <dgm:presLayoutVars>
          <dgm:chMax val="0"/>
          <dgm:chPref val="0"/>
          <dgm:bulletEnabled val="1"/>
        </dgm:presLayoutVars>
      </dgm:prSet>
      <dgm:spPr/>
    </dgm:pt>
    <dgm:pt modelId="{D81C59F3-E86B-44FB-826B-A08B5F1D297E}" type="pres">
      <dgm:prSet presAssocID="{5722F5BD-122A-42B4-B6CA-A7BF5BD993B9}" presName="Accent2" presStyleCnt="0"/>
      <dgm:spPr/>
    </dgm:pt>
    <dgm:pt modelId="{6CD19D98-8C61-4208-B198-096E8311CE70}" type="pres">
      <dgm:prSet presAssocID="{5722F5BD-122A-42B4-B6CA-A7BF5BD993B9}" presName="Accent" presStyleLbl="bgShp" presStyleIdx="1" presStyleCnt="6"/>
      <dgm:spPr/>
    </dgm:pt>
    <dgm:pt modelId="{316962A3-9918-4FE3-86E5-A552F4C7773E}" type="pres">
      <dgm:prSet presAssocID="{5722F5BD-122A-42B4-B6CA-A7BF5BD993B9}" presName="Child2" presStyleLbl="node1" presStyleIdx="1" presStyleCnt="6">
        <dgm:presLayoutVars>
          <dgm:chMax val="0"/>
          <dgm:chPref val="0"/>
          <dgm:bulletEnabled val="1"/>
        </dgm:presLayoutVars>
      </dgm:prSet>
      <dgm:spPr/>
    </dgm:pt>
    <dgm:pt modelId="{7196B9EE-3452-4336-8F3E-85A50BA51CC5}" type="pres">
      <dgm:prSet presAssocID="{BDD1D52D-B7EF-4F28-BE6F-58BFBE5D2F9C}" presName="Accent3" presStyleCnt="0"/>
      <dgm:spPr/>
    </dgm:pt>
    <dgm:pt modelId="{CEBB408E-98A8-4A1F-8298-12C37AFFFB83}" type="pres">
      <dgm:prSet presAssocID="{BDD1D52D-B7EF-4F28-BE6F-58BFBE5D2F9C}" presName="Accent" presStyleLbl="bgShp" presStyleIdx="2" presStyleCnt="6"/>
      <dgm:spPr/>
    </dgm:pt>
    <dgm:pt modelId="{F6A7438A-9CE0-40B1-AFCE-AD33B91C5EEB}" type="pres">
      <dgm:prSet presAssocID="{BDD1D52D-B7EF-4F28-BE6F-58BFBE5D2F9C}" presName="Child3" presStyleLbl="node1" presStyleIdx="2" presStyleCnt="6">
        <dgm:presLayoutVars>
          <dgm:chMax val="0"/>
          <dgm:chPref val="0"/>
          <dgm:bulletEnabled val="1"/>
        </dgm:presLayoutVars>
      </dgm:prSet>
      <dgm:spPr/>
    </dgm:pt>
    <dgm:pt modelId="{8A6B1748-FB26-472F-AB07-A1A1C9B29913}" type="pres">
      <dgm:prSet presAssocID="{00705FE3-2F78-4788-96EA-1203CB4DB89A}" presName="Accent4" presStyleCnt="0"/>
      <dgm:spPr/>
    </dgm:pt>
    <dgm:pt modelId="{542047D4-BBF9-4D11-9933-8008C3FE3FA0}" type="pres">
      <dgm:prSet presAssocID="{00705FE3-2F78-4788-96EA-1203CB4DB89A}" presName="Accent" presStyleLbl="bgShp" presStyleIdx="3" presStyleCnt="6"/>
      <dgm:spPr/>
    </dgm:pt>
    <dgm:pt modelId="{166EEE4B-5E96-4261-87B0-71F85859616B}" type="pres">
      <dgm:prSet presAssocID="{00705FE3-2F78-4788-96EA-1203CB4DB89A}" presName="Child4" presStyleLbl="node1" presStyleIdx="3" presStyleCnt="6">
        <dgm:presLayoutVars>
          <dgm:chMax val="0"/>
          <dgm:chPref val="0"/>
          <dgm:bulletEnabled val="1"/>
        </dgm:presLayoutVars>
      </dgm:prSet>
      <dgm:spPr/>
    </dgm:pt>
    <dgm:pt modelId="{9F4D8716-F047-4667-B666-35A4D71F9D0B}" type="pres">
      <dgm:prSet presAssocID="{E49373E6-D5EE-41AA-9816-326C447BAB99}" presName="Accent5" presStyleCnt="0"/>
      <dgm:spPr/>
    </dgm:pt>
    <dgm:pt modelId="{0F6BFBE8-A507-442E-B314-93F400E72233}" type="pres">
      <dgm:prSet presAssocID="{E49373E6-D5EE-41AA-9816-326C447BAB99}" presName="Accent" presStyleLbl="bgShp" presStyleIdx="4" presStyleCnt="6"/>
      <dgm:spPr/>
    </dgm:pt>
    <dgm:pt modelId="{A3A0D3B5-11D4-4F11-B032-11BB7675572F}" type="pres">
      <dgm:prSet presAssocID="{E49373E6-D5EE-41AA-9816-326C447BAB99}" presName="Child5" presStyleLbl="node1" presStyleIdx="4" presStyleCnt="6">
        <dgm:presLayoutVars>
          <dgm:chMax val="0"/>
          <dgm:chPref val="0"/>
          <dgm:bulletEnabled val="1"/>
        </dgm:presLayoutVars>
      </dgm:prSet>
      <dgm:spPr/>
    </dgm:pt>
    <dgm:pt modelId="{57B9BF79-C1C1-4857-9CA9-A3B86C0AEB76}" type="pres">
      <dgm:prSet presAssocID="{91421703-6FD0-432D-8D53-AAEDE9AF0F78}" presName="Accent6" presStyleCnt="0"/>
      <dgm:spPr/>
    </dgm:pt>
    <dgm:pt modelId="{2737E041-5162-495D-9E16-31AE6C5474FA}" type="pres">
      <dgm:prSet presAssocID="{91421703-6FD0-432D-8D53-AAEDE9AF0F78}" presName="Accent" presStyleLbl="bgShp" presStyleIdx="5" presStyleCnt="6"/>
      <dgm:spPr/>
    </dgm:pt>
    <dgm:pt modelId="{FCBE0ACB-B644-4510-A7A6-309B592886A6}" type="pres">
      <dgm:prSet presAssocID="{91421703-6FD0-432D-8D53-AAEDE9AF0F78}" presName="Child6" presStyleLbl="node1" presStyleIdx="5" presStyleCnt="6">
        <dgm:presLayoutVars>
          <dgm:chMax val="0"/>
          <dgm:chPref val="0"/>
          <dgm:bulletEnabled val="1"/>
        </dgm:presLayoutVars>
      </dgm:prSet>
      <dgm:spPr/>
    </dgm:pt>
  </dgm:ptLst>
  <dgm:cxnLst>
    <dgm:cxn modelId="{F97D351A-13B0-4560-B0DA-9ABF7A5A286C}" srcId="{F9DE54F3-E9FD-49F8-ADC9-050FADE8F433}" destId="{81E4EA5E-8342-414A-B0BA-B49DC5E1CA75}" srcOrd="0" destOrd="0" parTransId="{9ECF72A5-C52E-4F71-865B-771BB32FA778}" sibTransId="{7B62E6EB-9988-432A-ABDB-EA3EE18C4B27}"/>
    <dgm:cxn modelId="{D0CDD31D-91B6-4CD0-8549-04A8C43C43A0}" srcId="{F9DE54F3-E9FD-49F8-ADC9-050FADE8F433}" destId="{91421703-6FD0-432D-8D53-AAEDE9AF0F78}" srcOrd="5" destOrd="0" parTransId="{8341192B-118F-418D-A184-084F24AE82D0}" sibTransId="{BEDA8DC0-B699-490B-AC8B-BE965ADD5016}"/>
    <dgm:cxn modelId="{8739C132-3B44-41FF-B64A-D64DF06791C3}" srcId="{3D9DF7FB-9645-4049-A7FF-118E18672F1A}" destId="{F9DE54F3-E9FD-49F8-ADC9-050FADE8F433}" srcOrd="0" destOrd="0" parTransId="{57BB84EB-4ED3-4028-9189-448FD67947D5}" sibTransId="{E208891D-EBD8-47B3-A17F-FFE7D4604A10}"/>
    <dgm:cxn modelId="{95E06A39-73F7-41BF-8665-F4E51F387C39}" type="presOf" srcId="{5722F5BD-122A-42B4-B6CA-A7BF5BD993B9}" destId="{316962A3-9918-4FE3-86E5-A552F4C7773E}" srcOrd="0" destOrd="0" presId="urn:microsoft.com/office/officeart/2011/layout/HexagonRadial"/>
    <dgm:cxn modelId="{E308903A-C41C-4470-91D9-3F812A45DD5F}" srcId="{F9DE54F3-E9FD-49F8-ADC9-050FADE8F433}" destId="{5722F5BD-122A-42B4-B6CA-A7BF5BD993B9}" srcOrd="1" destOrd="0" parTransId="{030C5B6E-2557-4407-AEF5-6F4BBA5DE00E}" sibTransId="{3A2077E5-8AF5-4759-A457-17E3E8608B2A}"/>
    <dgm:cxn modelId="{BC98573D-9269-416B-9BE9-07D47512428B}" type="presOf" srcId="{3D9DF7FB-9645-4049-A7FF-118E18672F1A}" destId="{2539B205-FDC4-49DB-8020-6AE927453EF0}" srcOrd="0" destOrd="0" presId="urn:microsoft.com/office/officeart/2011/layout/HexagonRadial"/>
    <dgm:cxn modelId="{AB4F9F40-D25D-4512-99D2-87FD7E4F3087}" type="presOf" srcId="{BDD1D52D-B7EF-4F28-BE6F-58BFBE5D2F9C}" destId="{F6A7438A-9CE0-40B1-AFCE-AD33B91C5EEB}" srcOrd="0" destOrd="0" presId="urn:microsoft.com/office/officeart/2011/layout/HexagonRadial"/>
    <dgm:cxn modelId="{E04E185B-B03F-4A42-AC81-4350D8D4A386}" srcId="{F9DE54F3-E9FD-49F8-ADC9-050FADE8F433}" destId="{BDD1D52D-B7EF-4F28-BE6F-58BFBE5D2F9C}" srcOrd="2" destOrd="0" parTransId="{F18CF87E-164C-45AB-83C9-45EF7C7674B3}" sibTransId="{DC583E53-37DA-4441-AC26-1D2B29579180}"/>
    <dgm:cxn modelId="{4C6A7262-4A6F-4832-8A92-2419A2AEAF7D}" srcId="{F9DE54F3-E9FD-49F8-ADC9-050FADE8F433}" destId="{00705FE3-2F78-4788-96EA-1203CB4DB89A}" srcOrd="3" destOrd="0" parTransId="{9E1CB67D-0EA8-49BB-8156-772D369BB867}" sibTransId="{950C945C-1725-4C3C-8A39-E3D9C9BAC083}"/>
    <dgm:cxn modelId="{6DE64F6B-C84C-48E0-9FD1-5055D2EBE1C0}" srcId="{F9DE54F3-E9FD-49F8-ADC9-050FADE8F433}" destId="{E49373E6-D5EE-41AA-9816-326C447BAB99}" srcOrd="4" destOrd="0" parTransId="{ED8F3596-08FF-455C-964B-F66849D191A9}" sibTransId="{F2982899-7FE4-475A-95FD-171B6DEF542B}"/>
    <dgm:cxn modelId="{CE86004F-352B-4920-AB3A-852D49207704}" type="presOf" srcId="{81E4EA5E-8342-414A-B0BA-B49DC5E1CA75}" destId="{0FEFBE30-2F31-49E4-931E-33E8D91B2293}" srcOrd="0" destOrd="0" presId="urn:microsoft.com/office/officeart/2011/layout/HexagonRadial"/>
    <dgm:cxn modelId="{AFBAD6DC-F477-42BF-BB86-5BEFBED12FCC}" type="presOf" srcId="{F9DE54F3-E9FD-49F8-ADC9-050FADE8F433}" destId="{51FAF1B7-E6D2-4BE6-AB71-ABC4B47F5A52}" srcOrd="0" destOrd="0" presId="urn:microsoft.com/office/officeart/2011/layout/HexagonRadial"/>
    <dgm:cxn modelId="{B7B1C4F1-13DF-4799-AC40-DDF640966FC7}" type="presOf" srcId="{E49373E6-D5EE-41AA-9816-326C447BAB99}" destId="{A3A0D3B5-11D4-4F11-B032-11BB7675572F}" srcOrd="0" destOrd="0" presId="urn:microsoft.com/office/officeart/2011/layout/HexagonRadial"/>
    <dgm:cxn modelId="{61C7EAF4-C708-4A47-A1D5-8D2527C53D23}" type="presOf" srcId="{00705FE3-2F78-4788-96EA-1203CB4DB89A}" destId="{166EEE4B-5E96-4261-87B0-71F85859616B}" srcOrd="0" destOrd="0" presId="urn:microsoft.com/office/officeart/2011/layout/HexagonRadial"/>
    <dgm:cxn modelId="{BCA348F5-BFBF-4A55-BDA8-4E7A7B96ECD2}" type="presOf" srcId="{91421703-6FD0-432D-8D53-AAEDE9AF0F78}" destId="{FCBE0ACB-B644-4510-A7A6-309B592886A6}" srcOrd="0" destOrd="0" presId="urn:microsoft.com/office/officeart/2011/layout/HexagonRadial"/>
    <dgm:cxn modelId="{4285C50C-0BB1-4231-B495-8E481CDD68B7}" type="presParOf" srcId="{2539B205-FDC4-49DB-8020-6AE927453EF0}" destId="{51FAF1B7-E6D2-4BE6-AB71-ABC4B47F5A52}" srcOrd="0" destOrd="0" presId="urn:microsoft.com/office/officeart/2011/layout/HexagonRadial"/>
    <dgm:cxn modelId="{AB8E73EE-4173-48E4-ADAC-43F5322A465B}" type="presParOf" srcId="{2539B205-FDC4-49DB-8020-6AE927453EF0}" destId="{BE565E13-F0A3-447B-9F77-46C3B9428FD0}" srcOrd="1" destOrd="0" presId="urn:microsoft.com/office/officeart/2011/layout/HexagonRadial"/>
    <dgm:cxn modelId="{A47DA4FB-597A-4D78-914B-9A11E69073A2}" type="presParOf" srcId="{BE565E13-F0A3-447B-9F77-46C3B9428FD0}" destId="{E0C4D81A-ABD6-4A0D-9723-C48DFDF64FCE}" srcOrd="0" destOrd="0" presId="urn:microsoft.com/office/officeart/2011/layout/HexagonRadial"/>
    <dgm:cxn modelId="{D076C8CF-E8DE-4DE9-BE2B-18D382B6AB96}" type="presParOf" srcId="{2539B205-FDC4-49DB-8020-6AE927453EF0}" destId="{0FEFBE30-2F31-49E4-931E-33E8D91B2293}" srcOrd="2" destOrd="0" presId="urn:microsoft.com/office/officeart/2011/layout/HexagonRadial"/>
    <dgm:cxn modelId="{D048CCDE-411A-4B3B-9D29-14037EDFCC97}" type="presParOf" srcId="{2539B205-FDC4-49DB-8020-6AE927453EF0}" destId="{D81C59F3-E86B-44FB-826B-A08B5F1D297E}" srcOrd="3" destOrd="0" presId="urn:microsoft.com/office/officeart/2011/layout/HexagonRadial"/>
    <dgm:cxn modelId="{682A44FD-FD46-4632-8819-DB3BDA8D1637}" type="presParOf" srcId="{D81C59F3-E86B-44FB-826B-A08B5F1D297E}" destId="{6CD19D98-8C61-4208-B198-096E8311CE70}" srcOrd="0" destOrd="0" presId="urn:microsoft.com/office/officeart/2011/layout/HexagonRadial"/>
    <dgm:cxn modelId="{1D7ADC19-D768-4151-B712-77924E93B2E5}" type="presParOf" srcId="{2539B205-FDC4-49DB-8020-6AE927453EF0}" destId="{316962A3-9918-4FE3-86E5-A552F4C7773E}" srcOrd="4" destOrd="0" presId="urn:microsoft.com/office/officeart/2011/layout/HexagonRadial"/>
    <dgm:cxn modelId="{9738ECFE-0834-4DDA-B64F-3337DA5D686A}" type="presParOf" srcId="{2539B205-FDC4-49DB-8020-6AE927453EF0}" destId="{7196B9EE-3452-4336-8F3E-85A50BA51CC5}" srcOrd="5" destOrd="0" presId="urn:microsoft.com/office/officeart/2011/layout/HexagonRadial"/>
    <dgm:cxn modelId="{5BF7F30D-5EC8-4109-8D96-BD320D01C057}" type="presParOf" srcId="{7196B9EE-3452-4336-8F3E-85A50BA51CC5}" destId="{CEBB408E-98A8-4A1F-8298-12C37AFFFB83}" srcOrd="0" destOrd="0" presId="urn:microsoft.com/office/officeart/2011/layout/HexagonRadial"/>
    <dgm:cxn modelId="{A6B75F9E-9BDC-44C8-873C-296455C01AEA}" type="presParOf" srcId="{2539B205-FDC4-49DB-8020-6AE927453EF0}" destId="{F6A7438A-9CE0-40B1-AFCE-AD33B91C5EEB}" srcOrd="6" destOrd="0" presId="urn:microsoft.com/office/officeart/2011/layout/HexagonRadial"/>
    <dgm:cxn modelId="{4E20AC76-F9F8-4194-953A-AA818915C98B}" type="presParOf" srcId="{2539B205-FDC4-49DB-8020-6AE927453EF0}" destId="{8A6B1748-FB26-472F-AB07-A1A1C9B29913}" srcOrd="7" destOrd="0" presId="urn:microsoft.com/office/officeart/2011/layout/HexagonRadial"/>
    <dgm:cxn modelId="{DB94A7B4-39A7-46F5-B2BD-6A1F1D14E941}" type="presParOf" srcId="{8A6B1748-FB26-472F-AB07-A1A1C9B29913}" destId="{542047D4-BBF9-4D11-9933-8008C3FE3FA0}" srcOrd="0" destOrd="0" presId="urn:microsoft.com/office/officeart/2011/layout/HexagonRadial"/>
    <dgm:cxn modelId="{AE969751-D175-413A-80A1-5F44450BB291}" type="presParOf" srcId="{2539B205-FDC4-49DB-8020-6AE927453EF0}" destId="{166EEE4B-5E96-4261-87B0-71F85859616B}" srcOrd="8" destOrd="0" presId="urn:microsoft.com/office/officeart/2011/layout/HexagonRadial"/>
    <dgm:cxn modelId="{7AEC2C93-8A88-423A-B3B7-EE6ABDBB7BAD}" type="presParOf" srcId="{2539B205-FDC4-49DB-8020-6AE927453EF0}" destId="{9F4D8716-F047-4667-B666-35A4D71F9D0B}" srcOrd="9" destOrd="0" presId="urn:microsoft.com/office/officeart/2011/layout/HexagonRadial"/>
    <dgm:cxn modelId="{2E7466E5-6259-417F-BECA-B57C3D5AC090}" type="presParOf" srcId="{9F4D8716-F047-4667-B666-35A4D71F9D0B}" destId="{0F6BFBE8-A507-442E-B314-93F400E72233}" srcOrd="0" destOrd="0" presId="urn:microsoft.com/office/officeart/2011/layout/HexagonRadial"/>
    <dgm:cxn modelId="{AD50FE3C-2E58-467A-AB7C-EC69584FAE53}" type="presParOf" srcId="{2539B205-FDC4-49DB-8020-6AE927453EF0}" destId="{A3A0D3B5-11D4-4F11-B032-11BB7675572F}" srcOrd="10" destOrd="0" presId="urn:microsoft.com/office/officeart/2011/layout/HexagonRadial"/>
    <dgm:cxn modelId="{EE2C9679-3F6C-4A6B-B3F5-C694A238014E}" type="presParOf" srcId="{2539B205-FDC4-49DB-8020-6AE927453EF0}" destId="{57B9BF79-C1C1-4857-9CA9-A3B86C0AEB76}" srcOrd="11" destOrd="0" presId="urn:microsoft.com/office/officeart/2011/layout/HexagonRadial"/>
    <dgm:cxn modelId="{D251566F-D988-430F-9F2A-63C6885F7FFC}" type="presParOf" srcId="{57B9BF79-C1C1-4857-9CA9-A3B86C0AEB76}" destId="{2737E041-5162-495D-9E16-31AE6C5474FA}" srcOrd="0" destOrd="0" presId="urn:microsoft.com/office/officeart/2011/layout/HexagonRadial"/>
    <dgm:cxn modelId="{80A29892-C4EF-4BAD-BC35-3D471A9D2B73}" type="presParOf" srcId="{2539B205-FDC4-49DB-8020-6AE927453EF0}" destId="{FCBE0ACB-B644-4510-A7A6-309B592886A6}"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9DF7FB-9645-4049-A7FF-118E18672F1A}" type="doc">
      <dgm:prSet loTypeId="urn:microsoft.com/office/officeart/2011/layout/HexagonRadial" loCatId="cycle" qsTypeId="urn:microsoft.com/office/officeart/2005/8/quickstyle/simple1" qsCatId="simple" csTypeId="urn:microsoft.com/office/officeart/2005/8/colors/colorful1" csCatId="colorful" phldr="1"/>
      <dgm:spPr/>
      <dgm:t>
        <a:bodyPr/>
        <a:lstStyle/>
        <a:p>
          <a:endParaRPr lang="aa-ET"/>
        </a:p>
      </dgm:t>
    </dgm:pt>
    <dgm:pt modelId="{F9DE54F3-E9FD-49F8-ADC9-050FADE8F433}">
      <dgm:prSet phldrT="[Text]"/>
      <dgm:spPr/>
      <dgm:t>
        <a:bodyPr/>
        <a:lstStyle/>
        <a:p>
          <a:r>
            <a:rPr lang="en-US" b="1" dirty="0">
              <a:latin typeface="Corbel" panose="020B0503020204020204" pitchFamily="34" charset="0"/>
            </a:rPr>
            <a:t>Key Success Factors</a:t>
          </a:r>
          <a:endParaRPr lang="aa-ET" b="1" dirty="0">
            <a:latin typeface="Corbel" panose="020B0503020204020204" pitchFamily="34" charset="0"/>
          </a:endParaRPr>
        </a:p>
      </dgm:t>
    </dgm:pt>
    <dgm:pt modelId="{57BB84EB-4ED3-4028-9189-448FD67947D5}" type="parTrans" cxnId="{8739C132-3B44-41FF-B64A-D64DF06791C3}">
      <dgm:prSet/>
      <dgm:spPr/>
      <dgm:t>
        <a:bodyPr/>
        <a:lstStyle/>
        <a:p>
          <a:endParaRPr lang="aa-ET" b="1">
            <a:latin typeface="Corbel" panose="020B0503020204020204" pitchFamily="34" charset="0"/>
          </a:endParaRPr>
        </a:p>
      </dgm:t>
    </dgm:pt>
    <dgm:pt modelId="{E208891D-EBD8-47B3-A17F-FFE7D4604A10}" type="sibTrans" cxnId="{8739C132-3B44-41FF-B64A-D64DF06791C3}">
      <dgm:prSet/>
      <dgm:spPr/>
      <dgm:t>
        <a:bodyPr/>
        <a:lstStyle/>
        <a:p>
          <a:endParaRPr lang="aa-ET" b="1">
            <a:latin typeface="Corbel" panose="020B0503020204020204" pitchFamily="34" charset="0"/>
          </a:endParaRPr>
        </a:p>
      </dgm:t>
    </dgm:pt>
    <dgm:pt modelId="{5722F5BD-122A-42B4-B6CA-A7BF5BD993B9}">
      <dgm:prSet phldrT="[Text]"/>
      <dgm:spPr/>
      <dgm:t>
        <a:bodyPr/>
        <a:lstStyle/>
        <a:p>
          <a:r>
            <a:rPr lang="en-US" b="1" dirty="0">
              <a:latin typeface="Corbel" panose="020B0503020204020204" pitchFamily="34" charset="0"/>
            </a:rPr>
            <a:t>Advisory Database </a:t>
          </a:r>
          <a:endParaRPr lang="aa-ET" b="1" dirty="0">
            <a:latin typeface="Corbel" panose="020B0503020204020204" pitchFamily="34" charset="0"/>
          </a:endParaRPr>
        </a:p>
      </dgm:t>
    </dgm:pt>
    <dgm:pt modelId="{030C5B6E-2557-4407-AEF5-6F4BBA5DE00E}" type="parTrans" cxnId="{E308903A-C41C-4470-91D9-3F812A45DD5F}">
      <dgm:prSet/>
      <dgm:spPr/>
      <dgm:t>
        <a:bodyPr/>
        <a:lstStyle/>
        <a:p>
          <a:endParaRPr lang="aa-ET" b="1">
            <a:latin typeface="Corbel" panose="020B0503020204020204" pitchFamily="34" charset="0"/>
          </a:endParaRPr>
        </a:p>
      </dgm:t>
    </dgm:pt>
    <dgm:pt modelId="{3A2077E5-8AF5-4759-A457-17E3E8608B2A}" type="sibTrans" cxnId="{E308903A-C41C-4470-91D9-3F812A45DD5F}">
      <dgm:prSet/>
      <dgm:spPr/>
      <dgm:t>
        <a:bodyPr/>
        <a:lstStyle/>
        <a:p>
          <a:endParaRPr lang="aa-ET" b="1">
            <a:latin typeface="Corbel" panose="020B0503020204020204" pitchFamily="34" charset="0"/>
          </a:endParaRPr>
        </a:p>
      </dgm:t>
    </dgm:pt>
    <dgm:pt modelId="{BDD1D52D-B7EF-4F28-BE6F-58BFBE5D2F9C}">
      <dgm:prSet phldrT="[Text]"/>
      <dgm:spPr>
        <a:solidFill>
          <a:srgbClr val="00B0F0"/>
        </a:solidFill>
      </dgm:spPr>
      <dgm:t>
        <a:bodyPr/>
        <a:lstStyle/>
        <a:p>
          <a:r>
            <a:rPr lang="en-US" b="1" dirty="0">
              <a:latin typeface="Corbel" panose="020B0503020204020204" pitchFamily="34" charset="0"/>
            </a:rPr>
            <a:t>Unique Value proposition </a:t>
          </a:r>
          <a:endParaRPr lang="aa-ET" b="1" dirty="0">
            <a:latin typeface="Corbel" panose="020B0503020204020204" pitchFamily="34" charset="0"/>
          </a:endParaRPr>
        </a:p>
      </dgm:t>
    </dgm:pt>
    <dgm:pt modelId="{F18CF87E-164C-45AB-83C9-45EF7C7674B3}" type="parTrans" cxnId="{E04E185B-B03F-4A42-AC81-4350D8D4A386}">
      <dgm:prSet/>
      <dgm:spPr/>
      <dgm:t>
        <a:bodyPr/>
        <a:lstStyle/>
        <a:p>
          <a:endParaRPr lang="aa-ET" b="1">
            <a:latin typeface="Corbel" panose="020B0503020204020204" pitchFamily="34" charset="0"/>
          </a:endParaRPr>
        </a:p>
      </dgm:t>
    </dgm:pt>
    <dgm:pt modelId="{DC583E53-37DA-4441-AC26-1D2B29579180}" type="sibTrans" cxnId="{E04E185B-B03F-4A42-AC81-4350D8D4A386}">
      <dgm:prSet/>
      <dgm:spPr/>
      <dgm:t>
        <a:bodyPr/>
        <a:lstStyle/>
        <a:p>
          <a:endParaRPr lang="aa-ET" b="1">
            <a:latin typeface="Corbel" panose="020B0503020204020204" pitchFamily="34" charset="0"/>
          </a:endParaRPr>
        </a:p>
      </dgm:t>
    </dgm:pt>
    <dgm:pt modelId="{00705FE3-2F78-4788-96EA-1203CB4DB89A}">
      <dgm:prSet phldrT="[Text]"/>
      <dgm:spPr/>
      <dgm:t>
        <a:bodyPr/>
        <a:lstStyle/>
        <a:p>
          <a:r>
            <a:rPr lang="en-US" b="1" dirty="0">
              <a:latin typeface="Corbel" panose="020B0503020204020204" pitchFamily="34" charset="0"/>
            </a:rPr>
            <a:t>Specialization </a:t>
          </a:r>
          <a:endParaRPr lang="aa-ET" b="1" dirty="0">
            <a:latin typeface="Corbel" panose="020B0503020204020204" pitchFamily="34" charset="0"/>
          </a:endParaRPr>
        </a:p>
      </dgm:t>
    </dgm:pt>
    <dgm:pt modelId="{9E1CB67D-0EA8-49BB-8156-772D369BB867}" type="parTrans" cxnId="{4C6A7262-4A6F-4832-8A92-2419A2AEAF7D}">
      <dgm:prSet/>
      <dgm:spPr/>
      <dgm:t>
        <a:bodyPr/>
        <a:lstStyle/>
        <a:p>
          <a:endParaRPr lang="aa-ET" b="1">
            <a:latin typeface="Corbel" panose="020B0503020204020204" pitchFamily="34" charset="0"/>
          </a:endParaRPr>
        </a:p>
      </dgm:t>
    </dgm:pt>
    <dgm:pt modelId="{950C945C-1725-4C3C-8A39-E3D9C9BAC083}" type="sibTrans" cxnId="{4C6A7262-4A6F-4832-8A92-2419A2AEAF7D}">
      <dgm:prSet/>
      <dgm:spPr/>
      <dgm:t>
        <a:bodyPr/>
        <a:lstStyle/>
        <a:p>
          <a:endParaRPr lang="aa-ET" b="1">
            <a:latin typeface="Corbel" panose="020B0503020204020204" pitchFamily="34" charset="0"/>
          </a:endParaRPr>
        </a:p>
      </dgm:t>
    </dgm:pt>
    <dgm:pt modelId="{E49373E6-D5EE-41AA-9816-326C447BAB99}">
      <dgm:prSet phldrT="[Text]"/>
      <dgm:spPr/>
      <dgm:t>
        <a:bodyPr/>
        <a:lstStyle/>
        <a:p>
          <a:r>
            <a:rPr lang="en-US" b="1" dirty="0">
              <a:latin typeface="Corbel" panose="020B0503020204020204" pitchFamily="34" charset="0"/>
            </a:rPr>
            <a:t>Marketing Strategy</a:t>
          </a:r>
          <a:endParaRPr lang="aa-ET" b="1" dirty="0">
            <a:latin typeface="Corbel" panose="020B0503020204020204" pitchFamily="34" charset="0"/>
          </a:endParaRPr>
        </a:p>
      </dgm:t>
    </dgm:pt>
    <dgm:pt modelId="{ED8F3596-08FF-455C-964B-F66849D191A9}" type="parTrans" cxnId="{6DE64F6B-C84C-48E0-9FD1-5055D2EBE1C0}">
      <dgm:prSet/>
      <dgm:spPr/>
      <dgm:t>
        <a:bodyPr/>
        <a:lstStyle/>
        <a:p>
          <a:endParaRPr lang="aa-ET" b="1">
            <a:latin typeface="Corbel" panose="020B0503020204020204" pitchFamily="34" charset="0"/>
          </a:endParaRPr>
        </a:p>
      </dgm:t>
    </dgm:pt>
    <dgm:pt modelId="{F2982899-7FE4-475A-95FD-171B6DEF542B}" type="sibTrans" cxnId="{6DE64F6B-C84C-48E0-9FD1-5055D2EBE1C0}">
      <dgm:prSet/>
      <dgm:spPr/>
      <dgm:t>
        <a:bodyPr/>
        <a:lstStyle/>
        <a:p>
          <a:endParaRPr lang="aa-ET" b="1">
            <a:latin typeface="Corbel" panose="020B0503020204020204" pitchFamily="34" charset="0"/>
          </a:endParaRPr>
        </a:p>
      </dgm:t>
    </dgm:pt>
    <dgm:pt modelId="{91421703-6FD0-432D-8D53-AAEDE9AF0F78}">
      <dgm:prSet phldrT="[Text]"/>
      <dgm:spPr/>
      <dgm:t>
        <a:bodyPr/>
        <a:lstStyle/>
        <a:p>
          <a:r>
            <a:rPr lang="en-US" b="1" dirty="0">
              <a:latin typeface="Corbel" panose="020B0503020204020204" pitchFamily="34" charset="0"/>
            </a:rPr>
            <a:t>Brand Reputation &amp; Loyalty</a:t>
          </a:r>
          <a:endParaRPr lang="aa-ET" b="1" dirty="0">
            <a:latin typeface="Corbel" panose="020B0503020204020204" pitchFamily="34" charset="0"/>
          </a:endParaRPr>
        </a:p>
      </dgm:t>
    </dgm:pt>
    <dgm:pt modelId="{8341192B-118F-418D-A184-084F24AE82D0}" type="parTrans" cxnId="{D0CDD31D-91B6-4CD0-8549-04A8C43C43A0}">
      <dgm:prSet/>
      <dgm:spPr/>
      <dgm:t>
        <a:bodyPr/>
        <a:lstStyle/>
        <a:p>
          <a:endParaRPr lang="aa-ET" b="1">
            <a:latin typeface="Corbel" panose="020B0503020204020204" pitchFamily="34" charset="0"/>
          </a:endParaRPr>
        </a:p>
      </dgm:t>
    </dgm:pt>
    <dgm:pt modelId="{BEDA8DC0-B699-490B-AC8B-BE965ADD5016}" type="sibTrans" cxnId="{D0CDD31D-91B6-4CD0-8549-04A8C43C43A0}">
      <dgm:prSet/>
      <dgm:spPr/>
      <dgm:t>
        <a:bodyPr/>
        <a:lstStyle/>
        <a:p>
          <a:endParaRPr lang="aa-ET" b="1">
            <a:latin typeface="Corbel" panose="020B0503020204020204" pitchFamily="34" charset="0"/>
          </a:endParaRPr>
        </a:p>
      </dgm:t>
    </dgm:pt>
    <dgm:pt modelId="{81E4EA5E-8342-414A-B0BA-B49DC5E1CA75}">
      <dgm:prSet phldrT="[Text]"/>
      <dgm:spPr>
        <a:solidFill>
          <a:schemeClr val="accent4">
            <a:lumMod val="50000"/>
          </a:schemeClr>
        </a:solidFill>
      </dgm:spPr>
      <dgm:t>
        <a:bodyPr/>
        <a:lstStyle/>
        <a:p>
          <a:r>
            <a:rPr lang="en-US" b="1" dirty="0">
              <a:latin typeface="Corbel" panose="020B0503020204020204" pitchFamily="34" charset="0"/>
            </a:rPr>
            <a:t>Competitive Pricing</a:t>
          </a:r>
          <a:endParaRPr lang="aa-ET" b="1" dirty="0">
            <a:latin typeface="Corbel" panose="020B0503020204020204" pitchFamily="34" charset="0"/>
          </a:endParaRPr>
        </a:p>
      </dgm:t>
    </dgm:pt>
    <dgm:pt modelId="{7B62E6EB-9988-432A-ABDB-EA3EE18C4B27}" type="sibTrans" cxnId="{F97D351A-13B0-4560-B0DA-9ABF7A5A286C}">
      <dgm:prSet/>
      <dgm:spPr/>
      <dgm:t>
        <a:bodyPr/>
        <a:lstStyle/>
        <a:p>
          <a:endParaRPr lang="aa-ET" b="1">
            <a:latin typeface="Corbel" panose="020B0503020204020204" pitchFamily="34" charset="0"/>
          </a:endParaRPr>
        </a:p>
      </dgm:t>
    </dgm:pt>
    <dgm:pt modelId="{9ECF72A5-C52E-4F71-865B-771BB32FA778}" type="parTrans" cxnId="{F97D351A-13B0-4560-B0DA-9ABF7A5A286C}">
      <dgm:prSet/>
      <dgm:spPr/>
      <dgm:t>
        <a:bodyPr/>
        <a:lstStyle/>
        <a:p>
          <a:endParaRPr lang="aa-ET" b="1">
            <a:latin typeface="Corbel" panose="020B0503020204020204" pitchFamily="34" charset="0"/>
          </a:endParaRPr>
        </a:p>
      </dgm:t>
    </dgm:pt>
    <dgm:pt modelId="{2539B205-FDC4-49DB-8020-6AE927453EF0}" type="pres">
      <dgm:prSet presAssocID="{3D9DF7FB-9645-4049-A7FF-118E18672F1A}" presName="Name0" presStyleCnt="0">
        <dgm:presLayoutVars>
          <dgm:chMax val="1"/>
          <dgm:chPref val="1"/>
          <dgm:dir/>
          <dgm:animOne val="branch"/>
          <dgm:animLvl val="lvl"/>
        </dgm:presLayoutVars>
      </dgm:prSet>
      <dgm:spPr/>
    </dgm:pt>
    <dgm:pt modelId="{51FAF1B7-E6D2-4BE6-AB71-ABC4B47F5A52}" type="pres">
      <dgm:prSet presAssocID="{F9DE54F3-E9FD-49F8-ADC9-050FADE8F433}" presName="Parent" presStyleLbl="node0" presStyleIdx="0" presStyleCnt="1">
        <dgm:presLayoutVars>
          <dgm:chMax val="6"/>
          <dgm:chPref val="6"/>
        </dgm:presLayoutVars>
      </dgm:prSet>
      <dgm:spPr/>
    </dgm:pt>
    <dgm:pt modelId="{BE565E13-F0A3-447B-9F77-46C3B9428FD0}" type="pres">
      <dgm:prSet presAssocID="{81E4EA5E-8342-414A-B0BA-B49DC5E1CA75}" presName="Accent1" presStyleCnt="0"/>
      <dgm:spPr/>
    </dgm:pt>
    <dgm:pt modelId="{E0C4D81A-ABD6-4A0D-9723-C48DFDF64FCE}" type="pres">
      <dgm:prSet presAssocID="{81E4EA5E-8342-414A-B0BA-B49DC5E1CA75}" presName="Accent" presStyleLbl="bgShp" presStyleIdx="0" presStyleCnt="6"/>
      <dgm:spPr/>
    </dgm:pt>
    <dgm:pt modelId="{0FEFBE30-2F31-49E4-931E-33E8D91B2293}" type="pres">
      <dgm:prSet presAssocID="{81E4EA5E-8342-414A-B0BA-B49DC5E1CA75}" presName="Child1" presStyleLbl="node1" presStyleIdx="0" presStyleCnt="6">
        <dgm:presLayoutVars>
          <dgm:chMax val="0"/>
          <dgm:chPref val="0"/>
          <dgm:bulletEnabled val="1"/>
        </dgm:presLayoutVars>
      </dgm:prSet>
      <dgm:spPr/>
    </dgm:pt>
    <dgm:pt modelId="{D81C59F3-E86B-44FB-826B-A08B5F1D297E}" type="pres">
      <dgm:prSet presAssocID="{5722F5BD-122A-42B4-B6CA-A7BF5BD993B9}" presName="Accent2" presStyleCnt="0"/>
      <dgm:spPr/>
    </dgm:pt>
    <dgm:pt modelId="{6CD19D98-8C61-4208-B198-096E8311CE70}" type="pres">
      <dgm:prSet presAssocID="{5722F5BD-122A-42B4-B6CA-A7BF5BD993B9}" presName="Accent" presStyleLbl="bgShp" presStyleIdx="1" presStyleCnt="6"/>
      <dgm:spPr/>
    </dgm:pt>
    <dgm:pt modelId="{316962A3-9918-4FE3-86E5-A552F4C7773E}" type="pres">
      <dgm:prSet presAssocID="{5722F5BD-122A-42B4-B6CA-A7BF5BD993B9}" presName="Child2" presStyleLbl="node1" presStyleIdx="1" presStyleCnt="6">
        <dgm:presLayoutVars>
          <dgm:chMax val="0"/>
          <dgm:chPref val="0"/>
          <dgm:bulletEnabled val="1"/>
        </dgm:presLayoutVars>
      </dgm:prSet>
      <dgm:spPr/>
    </dgm:pt>
    <dgm:pt modelId="{7196B9EE-3452-4336-8F3E-85A50BA51CC5}" type="pres">
      <dgm:prSet presAssocID="{BDD1D52D-B7EF-4F28-BE6F-58BFBE5D2F9C}" presName="Accent3" presStyleCnt="0"/>
      <dgm:spPr/>
    </dgm:pt>
    <dgm:pt modelId="{CEBB408E-98A8-4A1F-8298-12C37AFFFB83}" type="pres">
      <dgm:prSet presAssocID="{BDD1D52D-B7EF-4F28-BE6F-58BFBE5D2F9C}" presName="Accent" presStyleLbl="bgShp" presStyleIdx="2" presStyleCnt="6"/>
      <dgm:spPr/>
    </dgm:pt>
    <dgm:pt modelId="{F6A7438A-9CE0-40B1-AFCE-AD33B91C5EEB}" type="pres">
      <dgm:prSet presAssocID="{BDD1D52D-B7EF-4F28-BE6F-58BFBE5D2F9C}" presName="Child3" presStyleLbl="node1" presStyleIdx="2" presStyleCnt="6">
        <dgm:presLayoutVars>
          <dgm:chMax val="0"/>
          <dgm:chPref val="0"/>
          <dgm:bulletEnabled val="1"/>
        </dgm:presLayoutVars>
      </dgm:prSet>
      <dgm:spPr/>
    </dgm:pt>
    <dgm:pt modelId="{8A6B1748-FB26-472F-AB07-A1A1C9B29913}" type="pres">
      <dgm:prSet presAssocID="{00705FE3-2F78-4788-96EA-1203CB4DB89A}" presName="Accent4" presStyleCnt="0"/>
      <dgm:spPr/>
    </dgm:pt>
    <dgm:pt modelId="{542047D4-BBF9-4D11-9933-8008C3FE3FA0}" type="pres">
      <dgm:prSet presAssocID="{00705FE3-2F78-4788-96EA-1203CB4DB89A}" presName="Accent" presStyleLbl="bgShp" presStyleIdx="3" presStyleCnt="6"/>
      <dgm:spPr/>
    </dgm:pt>
    <dgm:pt modelId="{166EEE4B-5E96-4261-87B0-71F85859616B}" type="pres">
      <dgm:prSet presAssocID="{00705FE3-2F78-4788-96EA-1203CB4DB89A}" presName="Child4" presStyleLbl="node1" presStyleIdx="3" presStyleCnt="6">
        <dgm:presLayoutVars>
          <dgm:chMax val="0"/>
          <dgm:chPref val="0"/>
          <dgm:bulletEnabled val="1"/>
        </dgm:presLayoutVars>
      </dgm:prSet>
      <dgm:spPr/>
    </dgm:pt>
    <dgm:pt modelId="{9F4D8716-F047-4667-B666-35A4D71F9D0B}" type="pres">
      <dgm:prSet presAssocID="{E49373E6-D5EE-41AA-9816-326C447BAB99}" presName="Accent5" presStyleCnt="0"/>
      <dgm:spPr/>
    </dgm:pt>
    <dgm:pt modelId="{0F6BFBE8-A507-442E-B314-93F400E72233}" type="pres">
      <dgm:prSet presAssocID="{E49373E6-D5EE-41AA-9816-326C447BAB99}" presName="Accent" presStyleLbl="bgShp" presStyleIdx="4" presStyleCnt="6"/>
      <dgm:spPr/>
    </dgm:pt>
    <dgm:pt modelId="{A3A0D3B5-11D4-4F11-B032-11BB7675572F}" type="pres">
      <dgm:prSet presAssocID="{E49373E6-D5EE-41AA-9816-326C447BAB99}" presName="Child5" presStyleLbl="node1" presStyleIdx="4" presStyleCnt="6">
        <dgm:presLayoutVars>
          <dgm:chMax val="0"/>
          <dgm:chPref val="0"/>
          <dgm:bulletEnabled val="1"/>
        </dgm:presLayoutVars>
      </dgm:prSet>
      <dgm:spPr/>
    </dgm:pt>
    <dgm:pt modelId="{57B9BF79-C1C1-4857-9CA9-A3B86C0AEB76}" type="pres">
      <dgm:prSet presAssocID="{91421703-6FD0-432D-8D53-AAEDE9AF0F78}" presName="Accent6" presStyleCnt="0"/>
      <dgm:spPr/>
    </dgm:pt>
    <dgm:pt modelId="{2737E041-5162-495D-9E16-31AE6C5474FA}" type="pres">
      <dgm:prSet presAssocID="{91421703-6FD0-432D-8D53-AAEDE9AF0F78}" presName="Accent" presStyleLbl="bgShp" presStyleIdx="5" presStyleCnt="6"/>
      <dgm:spPr/>
    </dgm:pt>
    <dgm:pt modelId="{FCBE0ACB-B644-4510-A7A6-309B592886A6}" type="pres">
      <dgm:prSet presAssocID="{91421703-6FD0-432D-8D53-AAEDE9AF0F78}" presName="Child6" presStyleLbl="node1" presStyleIdx="5" presStyleCnt="6">
        <dgm:presLayoutVars>
          <dgm:chMax val="0"/>
          <dgm:chPref val="0"/>
          <dgm:bulletEnabled val="1"/>
        </dgm:presLayoutVars>
      </dgm:prSet>
      <dgm:spPr/>
    </dgm:pt>
  </dgm:ptLst>
  <dgm:cxnLst>
    <dgm:cxn modelId="{F97D351A-13B0-4560-B0DA-9ABF7A5A286C}" srcId="{F9DE54F3-E9FD-49F8-ADC9-050FADE8F433}" destId="{81E4EA5E-8342-414A-B0BA-B49DC5E1CA75}" srcOrd="0" destOrd="0" parTransId="{9ECF72A5-C52E-4F71-865B-771BB32FA778}" sibTransId="{7B62E6EB-9988-432A-ABDB-EA3EE18C4B27}"/>
    <dgm:cxn modelId="{D0CDD31D-91B6-4CD0-8549-04A8C43C43A0}" srcId="{F9DE54F3-E9FD-49F8-ADC9-050FADE8F433}" destId="{91421703-6FD0-432D-8D53-AAEDE9AF0F78}" srcOrd="5" destOrd="0" parTransId="{8341192B-118F-418D-A184-084F24AE82D0}" sibTransId="{BEDA8DC0-B699-490B-AC8B-BE965ADD5016}"/>
    <dgm:cxn modelId="{8739C132-3B44-41FF-B64A-D64DF06791C3}" srcId="{3D9DF7FB-9645-4049-A7FF-118E18672F1A}" destId="{F9DE54F3-E9FD-49F8-ADC9-050FADE8F433}" srcOrd="0" destOrd="0" parTransId="{57BB84EB-4ED3-4028-9189-448FD67947D5}" sibTransId="{E208891D-EBD8-47B3-A17F-FFE7D4604A10}"/>
    <dgm:cxn modelId="{E308903A-C41C-4470-91D9-3F812A45DD5F}" srcId="{F9DE54F3-E9FD-49F8-ADC9-050FADE8F433}" destId="{5722F5BD-122A-42B4-B6CA-A7BF5BD993B9}" srcOrd="1" destOrd="0" parTransId="{030C5B6E-2557-4407-AEF5-6F4BBA5DE00E}" sibTransId="{3A2077E5-8AF5-4759-A457-17E3E8608B2A}"/>
    <dgm:cxn modelId="{E04E185B-B03F-4A42-AC81-4350D8D4A386}" srcId="{F9DE54F3-E9FD-49F8-ADC9-050FADE8F433}" destId="{BDD1D52D-B7EF-4F28-BE6F-58BFBE5D2F9C}" srcOrd="2" destOrd="0" parTransId="{F18CF87E-164C-45AB-83C9-45EF7C7674B3}" sibTransId="{DC583E53-37DA-4441-AC26-1D2B29579180}"/>
    <dgm:cxn modelId="{4C6A7262-4A6F-4832-8A92-2419A2AEAF7D}" srcId="{F9DE54F3-E9FD-49F8-ADC9-050FADE8F433}" destId="{00705FE3-2F78-4788-96EA-1203CB4DB89A}" srcOrd="3" destOrd="0" parTransId="{9E1CB67D-0EA8-49BB-8156-772D369BB867}" sibTransId="{950C945C-1725-4C3C-8A39-E3D9C9BAC083}"/>
    <dgm:cxn modelId="{6DE64F6B-C84C-48E0-9FD1-5055D2EBE1C0}" srcId="{F9DE54F3-E9FD-49F8-ADC9-050FADE8F433}" destId="{E49373E6-D5EE-41AA-9816-326C447BAB99}" srcOrd="4" destOrd="0" parTransId="{ED8F3596-08FF-455C-964B-F66849D191A9}" sibTransId="{F2982899-7FE4-475A-95FD-171B6DEF542B}"/>
    <dgm:cxn modelId="{08A1A24F-5903-45B7-AC9F-104DA8F69D23}" type="presOf" srcId="{00705FE3-2F78-4788-96EA-1203CB4DB89A}" destId="{166EEE4B-5E96-4261-87B0-71F85859616B}" srcOrd="0" destOrd="0" presId="urn:microsoft.com/office/officeart/2011/layout/HexagonRadial"/>
    <dgm:cxn modelId="{0E65C473-3618-4B77-B420-96F65916C8E1}" type="presOf" srcId="{E49373E6-D5EE-41AA-9816-326C447BAB99}" destId="{A3A0D3B5-11D4-4F11-B032-11BB7675572F}" srcOrd="0" destOrd="0" presId="urn:microsoft.com/office/officeart/2011/layout/HexagonRadial"/>
    <dgm:cxn modelId="{9E1A1882-4AF6-47A8-AAA3-F7B6D7883772}" type="presOf" srcId="{91421703-6FD0-432D-8D53-AAEDE9AF0F78}" destId="{FCBE0ACB-B644-4510-A7A6-309B592886A6}" srcOrd="0" destOrd="0" presId="urn:microsoft.com/office/officeart/2011/layout/HexagonRadial"/>
    <dgm:cxn modelId="{82390D85-4718-42A0-BBEE-1C031FC66965}" type="presOf" srcId="{F9DE54F3-E9FD-49F8-ADC9-050FADE8F433}" destId="{51FAF1B7-E6D2-4BE6-AB71-ABC4B47F5A52}" srcOrd="0" destOrd="0" presId="urn:microsoft.com/office/officeart/2011/layout/HexagonRadial"/>
    <dgm:cxn modelId="{6AB39F98-D0B5-4B6E-B055-B78C488FDB96}" type="presOf" srcId="{5722F5BD-122A-42B4-B6CA-A7BF5BD993B9}" destId="{316962A3-9918-4FE3-86E5-A552F4C7773E}" srcOrd="0" destOrd="0" presId="urn:microsoft.com/office/officeart/2011/layout/HexagonRadial"/>
    <dgm:cxn modelId="{41FB76CC-F8CF-4DBA-A5AE-81331CB60361}" type="presOf" srcId="{BDD1D52D-B7EF-4F28-BE6F-58BFBE5D2F9C}" destId="{F6A7438A-9CE0-40B1-AFCE-AD33B91C5EEB}" srcOrd="0" destOrd="0" presId="urn:microsoft.com/office/officeart/2011/layout/HexagonRadial"/>
    <dgm:cxn modelId="{930C16F3-929F-48E0-A880-99F5A62F0706}" type="presOf" srcId="{3D9DF7FB-9645-4049-A7FF-118E18672F1A}" destId="{2539B205-FDC4-49DB-8020-6AE927453EF0}" srcOrd="0" destOrd="0" presId="urn:microsoft.com/office/officeart/2011/layout/HexagonRadial"/>
    <dgm:cxn modelId="{98AB88F4-F28B-4535-A940-A24EA1E090D1}" type="presOf" srcId="{81E4EA5E-8342-414A-B0BA-B49DC5E1CA75}" destId="{0FEFBE30-2F31-49E4-931E-33E8D91B2293}" srcOrd="0" destOrd="0" presId="urn:microsoft.com/office/officeart/2011/layout/HexagonRadial"/>
    <dgm:cxn modelId="{5ED8D210-BDF9-4C20-AD40-F195422292F6}" type="presParOf" srcId="{2539B205-FDC4-49DB-8020-6AE927453EF0}" destId="{51FAF1B7-E6D2-4BE6-AB71-ABC4B47F5A52}" srcOrd="0" destOrd="0" presId="urn:microsoft.com/office/officeart/2011/layout/HexagonRadial"/>
    <dgm:cxn modelId="{AD823909-1CF1-4C23-8117-FF8F67877ED7}" type="presParOf" srcId="{2539B205-FDC4-49DB-8020-6AE927453EF0}" destId="{BE565E13-F0A3-447B-9F77-46C3B9428FD0}" srcOrd="1" destOrd="0" presId="urn:microsoft.com/office/officeart/2011/layout/HexagonRadial"/>
    <dgm:cxn modelId="{2A21B8A4-6BF8-4512-B0D3-6912B7AADBD3}" type="presParOf" srcId="{BE565E13-F0A3-447B-9F77-46C3B9428FD0}" destId="{E0C4D81A-ABD6-4A0D-9723-C48DFDF64FCE}" srcOrd="0" destOrd="0" presId="urn:microsoft.com/office/officeart/2011/layout/HexagonRadial"/>
    <dgm:cxn modelId="{FCB87E72-B9AF-426D-90C7-285DD76B0679}" type="presParOf" srcId="{2539B205-FDC4-49DB-8020-6AE927453EF0}" destId="{0FEFBE30-2F31-49E4-931E-33E8D91B2293}" srcOrd="2" destOrd="0" presId="urn:microsoft.com/office/officeart/2011/layout/HexagonRadial"/>
    <dgm:cxn modelId="{CA63BE91-0C95-4451-BB13-049CD095B88D}" type="presParOf" srcId="{2539B205-FDC4-49DB-8020-6AE927453EF0}" destId="{D81C59F3-E86B-44FB-826B-A08B5F1D297E}" srcOrd="3" destOrd="0" presId="urn:microsoft.com/office/officeart/2011/layout/HexagonRadial"/>
    <dgm:cxn modelId="{5682BFC4-8986-4846-AF9E-1D36C0CE8E2A}" type="presParOf" srcId="{D81C59F3-E86B-44FB-826B-A08B5F1D297E}" destId="{6CD19D98-8C61-4208-B198-096E8311CE70}" srcOrd="0" destOrd="0" presId="urn:microsoft.com/office/officeart/2011/layout/HexagonRadial"/>
    <dgm:cxn modelId="{D9531A7B-C8BA-49EB-B526-66A2F8675D1C}" type="presParOf" srcId="{2539B205-FDC4-49DB-8020-6AE927453EF0}" destId="{316962A3-9918-4FE3-86E5-A552F4C7773E}" srcOrd="4" destOrd="0" presId="urn:microsoft.com/office/officeart/2011/layout/HexagonRadial"/>
    <dgm:cxn modelId="{86A5A71E-19CB-40F2-B9A4-C0052EAA3821}" type="presParOf" srcId="{2539B205-FDC4-49DB-8020-6AE927453EF0}" destId="{7196B9EE-3452-4336-8F3E-85A50BA51CC5}" srcOrd="5" destOrd="0" presId="urn:microsoft.com/office/officeart/2011/layout/HexagonRadial"/>
    <dgm:cxn modelId="{755C0C6B-978D-412A-93EB-3819EF763576}" type="presParOf" srcId="{7196B9EE-3452-4336-8F3E-85A50BA51CC5}" destId="{CEBB408E-98A8-4A1F-8298-12C37AFFFB83}" srcOrd="0" destOrd="0" presId="urn:microsoft.com/office/officeart/2011/layout/HexagonRadial"/>
    <dgm:cxn modelId="{EF4E181F-9D4F-41AE-A1D5-6C0FDCDEC7F9}" type="presParOf" srcId="{2539B205-FDC4-49DB-8020-6AE927453EF0}" destId="{F6A7438A-9CE0-40B1-AFCE-AD33B91C5EEB}" srcOrd="6" destOrd="0" presId="urn:microsoft.com/office/officeart/2011/layout/HexagonRadial"/>
    <dgm:cxn modelId="{BD772BCD-A437-4B3F-8D44-142F999047DD}" type="presParOf" srcId="{2539B205-FDC4-49DB-8020-6AE927453EF0}" destId="{8A6B1748-FB26-472F-AB07-A1A1C9B29913}" srcOrd="7" destOrd="0" presId="urn:microsoft.com/office/officeart/2011/layout/HexagonRadial"/>
    <dgm:cxn modelId="{24B11483-5311-4011-BFB9-C82FC94D2E34}" type="presParOf" srcId="{8A6B1748-FB26-472F-AB07-A1A1C9B29913}" destId="{542047D4-BBF9-4D11-9933-8008C3FE3FA0}" srcOrd="0" destOrd="0" presId="urn:microsoft.com/office/officeart/2011/layout/HexagonRadial"/>
    <dgm:cxn modelId="{F7A94D75-BDC8-4624-8FA6-02CE99C5B656}" type="presParOf" srcId="{2539B205-FDC4-49DB-8020-6AE927453EF0}" destId="{166EEE4B-5E96-4261-87B0-71F85859616B}" srcOrd="8" destOrd="0" presId="urn:microsoft.com/office/officeart/2011/layout/HexagonRadial"/>
    <dgm:cxn modelId="{0B9242E6-4A34-4BBE-BAA4-442D81A619CD}" type="presParOf" srcId="{2539B205-FDC4-49DB-8020-6AE927453EF0}" destId="{9F4D8716-F047-4667-B666-35A4D71F9D0B}" srcOrd="9" destOrd="0" presId="urn:microsoft.com/office/officeart/2011/layout/HexagonRadial"/>
    <dgm:cxn modelId="{81CCC2B8-CE46-4FBB-BF46-EF2B79CBECF7}" type="presParOf" srcId="{9F4D8716-F047-4667-B666-35A4D71F9D0B}" destId="{0F6BFBE8-A507-442E-B314-93F400E72233}" srcOrd="0" destOrd="0" presId="urn:microsoft.com/office/officeart/2011/layout/HexagonRadial"/>
    <dgm:cxn modelId="{F8DB9D32-20A8-42E5-8F87-0B0AA04C95EC}" type="presParOf" srcId="{2539B205-FDC4-49DB-8020-6AE927453EF0}" destId="{A3A0D3B5-11D4-4F11-B032-11BB7675572F}" srcOrd="10" destOrd="0" presId="urn:microsoft.com/office/officeart/2011/layout/HexagonRadial"/>
    <dgm:cxn modelId="{6CCF42CA-879E-434B-93C6-841225B0DA80}" type="presParOf" srcId="{2539B205-FDC4-49DB-8020-6AE927453EF0}" destId="{57B9BF79-C1C1-4857-9CA9-A3B86C0AEB76}" srcOrd="11" destOrd="0" presId="urn:microsoft.com/office/officeart/2011/layout/HexagonRadial"/>
    <dgm:cxn modelId="{421A4F31-C13F-47DF-8A1C-3954C5EF94C6}" type="presParOf" srcId="{57B9BF79-C1C1-4857-9CA9-A3B86C0AEB76}" destId="{2737E041-5162-495D-9E16-31AE6C5474FA}" srcOrd="0" destOrd="0" presId="urn:microsoft.com/office/officeart/2011/layout/HexagonRadial"/>
    <dgm:cxn modelId="{E9353D7F-DF7B-4F6B-B389-3A1CE74A4D1A}" type="presParOf" srcId="{2539B205-FDC4-49DB-8020-6AE927453EF0}" destId="{FCBE0ACB-B644-4510-A7A6-309B592886A6}"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9DF7FB-9645-4049-A7FF-118E18672F1A}" type="doc">
      <dgm:prSet loTypeId="urn:microsoft.com/office/officeart/2011/layout/HexagonRadial" loCatId="cycle" qsTypeId="urn:microsoft.com/office/officeart/2005/8/quickstyle/simple1" qsCatId="simple" csTypeId="urn:microsoft.com/office/officeart/2005/8/colors/colorful1" csCatId="colorful" phldr="1"/>
      <dgm:spPr/>
      <dgm:t>
        <a:bodyPr/>
        <a:lstStyle/>
        <a:p>
          <a:endParaRPr lang="aa-ET"/>
        </a:p>
      </dgm:t>
    </dgm:pt>
    <dgm:pt modelId="{F9DE54F3-E9FD-49F8-ADC9-050FADE8F433}">
      <dgm:prSet phldrT="[Text]"/>
      <dgm:spPr/>
      <dgm:t>
        <a:bodyPr/>
        <a:lstStyle/>
        <a:p>
          <a:r>
            <a:rPr lang="en-US" b="1" dirty="0">
              <a:latin typeface="Corbel" panose="020B0503020204020204" pitchFamily="34" charset="0"/>
            </a:rPr>
            <a:t>Key Success Factors</a:t>
          </a:r>
          <a:endParaRPr lang="aa-ET" b="1" dirty="0">
            <a:latin typeface="Corbel" panose="020B0503020204020204" pitchFamily="34" charset="0"/>
          </a:endParaRPr>
        </a:p>
      </dgm:t>
    </dgm:pt>
    <dgm:pt modelId="{57BB84EB-4ED3-4028-9189-448FD67947D5}" type="parTrans" cxnId="{8739C132-3B44-41FF-B64A-D64DF06791C3}">
      <dgm:prSet/>
      <dgm:spPr/>
      <dgm:t>
        <a:bodyPr/>
        <a:lstStyle/>
        <a:p>
          <a:endParaRPr lang="aa-ET" b="1">
            <a:latin typeface="Corbel" panose="020B0503020204020204" pitchFamily="34" charset="0"/>
          </a:endParaRPr>
        </a:p>
      </dgm:t>
    </dgm:pt>
    <dgm:pt modelId="{E208891D-EBD8-47B3-A17F-FFE7D4604A10}" type="sibTrans" cxnId="{8739C132-3B44-41FF-B64A-D64DF06791C3}">
      <dgm:prSet/>
      <dgm:spPr/>
      <dgm:t>
        <a:bodyPr/>
        <a:lstStyle/>
        <a:p>
          <a:endParaRPr lang="aa-ET" b="1">
            <a:latin typeface="Corbel" panose="020B0503020204020204" pitchFamily="34" charset="0"/>
          </a:endParaRPr>
        </a:p>
      </dgm:t>
    </dgm:pt>
    <dgm:pt modelId="{5722F5BD-122A-42B4-B6CA-A7BF5BD993B9}">
      <dgm:prSet phldrT="[Text]"/>
      <dgm:spPr/>
      <dgm:t>
        <a:bodyPr/>
        <a:lstStyle/>
        <a:p>
          <a:r>
            <a:rPr lang="en-US" b="1" dirty="0">
              <a:latin typeface="Corbel" panose="020B0503020204020204" pitchFamily="34" charset="0"/>
            </a:rPr>
            <a:t>National Coverage </a:t>
          </a:r>
          <a:endParaRPr lang="aa-ET" b="1" dirty="0">
            <a:latin typeface="Corbel" panose="020B0503020204020204" pitchFamily="34" charset="0"/>
          </a:endParaRPr>
        </a:p>
      </dgm:t>
    </dgm:pt>
    <dgm:pt modelId="{030C5B6E-2557-4407-AEF5-6F4BBA5DE00E}" type="parTrans" cxnId="{E308903A-C41C-4470-91D9-3F812A45DD5F}">
      <dgm:prSet/>
      <dgm:spPr/>
      <dgm:t>
        <a:bodyPr/>
        <a:lstStyle/>
        <a:p>
          <a:endParaRPr lang="aa-ET" b="1">
            <a:latin typeface="Corbel" panose="020B0503020204020204" pitchFamily="34" charset="0"/>
          </a:endParaRPr>
        </a:p>
      </dgm:t>
    </dgm:pt>
    <dgm:pt modelId="{3A2077E5-8AF5-4759-A457-17E3E8608B2A}" type="sibTrans" cxnId="{E308903A-C41C-4470-91D9-3F812A45DD5F}">
      <dgm:prSet/>
      <dgm:spPr/>
      <dgm:t>
        <a:bodyPr/>
        <a:lstStyle/>
        <a:p>
          <a:endParaRPr lang="aa-ET" b="1">
            <a:latin typeface="Corbel" panose="020B0503020204020204" pitchFamily="34" charset="0"/>
          </a:endParaRPr>
        </a:p>
      </dgm:t>
    </dgm:pt>
    <dgm:pt modelId="{BDD1D52D-B7EF-4F28-BE6F-58BFBE5D2F9C}">
      <dgm:prSet phldrT="[Text]"/>
      <dgm:spPr>
        <a:solidFill>
          <a:srgbClr val="00B0F0"/>
        </a:solidFill>
      </dgm:spPr>
      <dgm:t>
        <a:bodyPr/>
        <a:lstStyle/>
        <a:p>
          <a:r>
            <a:rPr lang="en-US" b="1" dirty="0">
              <a:latin typeface="Corbel" panose="020B0503020204020204" pitchFamily="34" charset="0"/>
            </a:rPr>
            <a:t>Unique Value proposition </a:t>
          </a:r>
          <a:endParaRPr lang="aa-ET" b="1" dirty="0">
            <a:latin typeface="Corbel" panose="020B0503020204020204" pitchFamily="34" charset="0"/>
          </a:endParaRPr>
        </a:p>
      </dgm:t>
    </dgm:pt>
    <dgm:pt modelId="{F18CF87E-164C-45AB-83C9-45EF7C7674B3}" type="parTrans" cxnId="{E04E185B-B03F-4A42-AC81-4350D8D4A386}">
      <dgm:prSet/>
      <dgm:spPr/>
      <dgm:t>
        <a:bodyPr/>
        <a:lstStyle/>
        <a:p>
          <a:endParaRPr lang="aa-ET" b="1">
            <a:latin typeface="Corbel" panose="020B0503020204020204" pitchFamily="34" charset="0"/>
          </a:endParaRPr>
        </a:p>
      </dgm:t>
    </dgm:pt>
    <dgm:pt modelId="{DC583E53-37DA-4441-AC26-1D2B29579180}" type="sibTrans" cxnId="{E04E185B-B03F-4A42-AC81-4350D8D4A386}">
      <dgm:prSet/>
      <dgm:spPr/>
      <dgm:t>
        <a:bodyPr/>
        <a:lstStyle/>
        <a:p>
          <a:endParaRPr lang="aa-ET" b="1">
            <a:latin typeface="Corbel" panose="020B0503020204020204" pitchFamily="34" charset="0"/>
          </a:endParaRPr>
        </a:p>
      </dgm:t>
    </dgm:pt>
    <dgm:pt modelId="{00705FE3-2F78-4788-96EA-1203CB4DB89A}">
      <dgm:prSet phldrT="[Text]"/>
      <dgm:spPr/>
      <dgm:t>
        <a:bodyPr/>
        <a:lstStyle/>
        <a:p>
          <a:r>
            <a:rPr lang="en-US" b="1" dirty="0">
              <a:latin typeface="Corbel" panose="020B0503020204020204" pitchFamily="34" charset="0"/>
            </a:rPr>
            <a:t>Specialization </a:t>
          </a:r>
          <a:endParaRPr lang="aa-ET" b="1" dirty="0">
            <a:latin typeface="Corbel" panose="020B0503020204020204" pitchFamily="34" charset="0"/>
          </a:endParaRPr>
        </a:p>
      </dgm:t>
    </dgm:pt>
    <dgm:pt modelId="{9E1CB67D-0EA8-49BB-8156-772D369BB867}" type="parTrans" cxnId="{4C6A7262-4A6F-4832-8A92-2419A2AEAF7D}">
      <dgm:prSet/>
      <dgm:spPr/>
      <dgm:t>
        <a:bodyPr/>
        <a:lstStyle/>
        <a:p>
          <a:endParaRPr lang="aa-ET" b="1">
            <a:latin typeface="Corbel" panose="020B0503020204020204" pitchFamily="34" charset="0"/>
          </a:endParaRPr>
        </a:p>
      </dgm:t>
    </dgm:pt>
    <dgm:pt modelId="{950C945C-1725-4C3C-8A39-E3D9C9BAC083}" type="sibTrans" cxnId="{4C6A7262-4A6F-4832-8A92-2419A2AEAF7D}">
      <dgm:prSet/>
      <dgm:spPr/>
      <dgm:t>
        <a:bodyPr/>
        <a:lstStyle/>
        <a:p>
          <a:endParaRPr lang="aa-ET" b="1">
            <a:latin typeface="Corbel" panose="020B0503020204020204" pitchFamily="34" charset="0"/>
          </a:endParaRPr>
        </a:p>
      </dgm:t>
    </dgm:pt>
    <dgm:pt modelId="{E49373E6-D5EE-41AA-9816-326C447BAB99}">
      <dgm:prSet phldrT="[Text]"/>
      <dgm:spPr/>
      <dgm:t>
        <a:bodyPr/>
        <a:lstStyle/>
        <a:p>
          <a:r>
            <a:rPr lang="en-US" b="1" dirty="0">
              <a:latin typeface="Corbel" panose="020B0503020204020204" pitchFamily="34" charset="0"/>
            </a:rPr>
            <a:t>Marketing Strategy</a:t>
          </a:r>
          <a:endParaRPr lang="aa-ET" b="1" dirty="0">
            <a:latin typeface="Corbel" panose="020B0503020204020204" pitchFamily="34" charset="0"/>
          </a:endParaRPr>
        </a:p>
      </dgm:t>
    </dgm:pt>
    <dgm:pt modelId="{ED8F3596-08FF-455C-964B-F66849D191A9}" type="parTrans" cxnId="{6DE64F6B-C84C-48E0-9FD1-5055D2EBE1C0}">
      <dgm:prSet/>
      <dgm:spPr/>
      <dgm:t>
        <a:bodyPr/>
        <a:lstStyle/>
        <a:p>
          <a:endParaRPr lang="aa-ET" b="1">
            <a:latin typeface="Corbel" panose="020B0503020204020204" pitchFamily="34" charset="0"/>
          </a:endParaRPr>
        </a:p>
      </dgm:t>
    </dgm:pt>
    <dgm:pt modelId="{F2982899-7FE4-475A-95FD-171B6DEF542B}" type="sibTrans" cxnId="{6DE64F6B-C84C-48E0-9FD1-5055D2EBE1C0}">
      <dgm:prSet/>
      <dgm:spPr/>
      <dgm:t>
        <a:bodyPr/>
        <a:lstStyle/>
        <a:p>
          <a:endParaRPr lang="aa-ET" b="1">
            <a:latin typeface="Corbel" panose="020B0503020204020204" pitchFamily="34" charset="0"/>
          </a:endParaRPr>
        </a:p>
      </dgm:t>
    </dgm:pt>
    <dgm:pt modelId="{91421703-6FD0-432D-8D53-AAEDE9AF0F78}">
      <dgm:prSet phldrT="[Text]"/>
      <dgm:spPr/>
      <dgm:t>
        <a:bodyPr/>
        <a:lstStyle/>
        <a:p>
          <a:r>
            <a:rPr lang="en-US" b="1" dirty="0">
              <a:latin typeface="Corbel" panose="020B0503020204020204" pitchFamily="34" charset="0"/>
            </a:rPr>
            <a:t>Brand Reputation &amp; Loyalty</a:t>
          </a:r>
          <a:endParaRPr lang="aa-ET" b="1" dirty="0">
            <a:latin typeface="Corbel" panose="020B0503020204020204" pitchFamily="34" charset="0"/>
          </a:endParaRPr>
        </a:p>
      </dgm:t>
    </dgm:pt>
    <dgm:pt modelId="{8341192B-118F-418D-A184-084F24AE82D0}" type="parTrans" cxnId="{D0CDD31D-91B6-4CD0-8549-04A8C43C43A0}">
      <dgm:prSet/>
      <dgm:spPr/>
      <dgm:t>
        <a:bodyPr/>
        <a:lstStyle/>
        <a:p>
          <a:endParaRPr lang="aa-ET" b="1">
            <a:latin typeface="Corbel" panose="020B0503020204020204" pitchFamily="34" charset="0"/>
          </a:endParaRPr>
        </a:p>
      </dgm:t>
    </dgm:pt>
    <dgm:pt modelId="{BEDA8DC0-B699-490B-AC8B-BE965ADD5016}" type="sibTrans" cxnId="{D0CDD31D-91B6-4CD0-8549-04A8C43C43A0}">
      <dgm:prSet/>
      <dgm:spPr/>
      <dgm:t>
        <a:bodyPr/>
        <a:lstStyle/>
        <a:p>
          <a:endParaRPr lang="aa-ET" b="1">
            <a:latin typeface="Corbel" panose="020B0503020204020204" pitchFamily="34" charset="0"/>
          </a:endParaRPr>
        </a:p>
      </dgm:t>
    </dgm:pt>
    <dgm:pt modelId="{81E4EA5E-8342-414A-B0BA-B49DC5E1CA75}">
      <dgm:prSet phldrT="[Text]"/>
      <dgm:spPr>
        <a:solidFill>
          <a:schemeClr val="accent4">
            <a:lumMod val="50000"/>
          </a:schemeClr>
        </a:solidFill>
      </dgm:spPr>
      <dgm:t>
        <a:bodyPr/>
        <a:lstStyle/>
        <a:p>
          <a:r>
            <a:rPr lang="en-US" b="1" dirty="0">
              <a:latin typeface="Corbel" panose="020B0503020204020204" pitchFamily="34" charset="0"/>
            </a:rPr>
            <a:t>Premium  Pricing</a:t>
          </a:r>
          <a:endParaRPr lang="aa-ET" b="1" dirty="0">
            <a:latin typeface="Corbel" panose="020B0503020204020204" pitchFamily="34" charset="0"/>
          </a:endParaRPr>
        </a:p>
      </dgm:t>
    </dgm:pt>
    <dgm:pt modelId="{7B62E6EB-9988-432A-ABDB-EA3EE18C4B27}" type="sibTrans" cxnId="{F97D351A-13B0-4560-B0DA-9ABF7A5A286C}">
      <dgm:prSet/>
      <dgm:spPr/>
      <dgm:t>
        <a:bodyPr/>
        <a:lstStyle/>
        <a:p>
          <a:endParaRPr lang="aa-ET" b="1">
            <a:latin typeface="Corbel" panose="020B0503020204020204" pitchFamily="34" charset="0"/>
          </a:endParaRPr>
        </a:p>
      </dgm:t>
    </dgm:pt>
    <dgm:pt modelId="{9ECF72A5-C52E-4F71-865B-771BB32FA778}" type="parTrans" cxnId="{F97D351A-13B0-4560-B0DA-9ABF7A5A286C}">
      <dgm:prSet/>
      <dgm:spPr/>
      <dgm:t>
        <a:bodyPr/>
        <a:lstStyle/>
        <a:p>
          <a:endParaRPr lang="aa-ET" b="1">
            <a:latin typeface="Corbel" panose="020B0503020204020204" pitchFamily="34" charset="0"/>
          </a:endParaRPr>
        </a:p>
      </dgm:t>
    </dgm:pt>
    <dgm:pt modelId="{2539B205-FDC4-49DB-8020-6AE927453EF0}" type="pres">
      <dgm:prSet presAssocID="{3D9DF7FB-9645-4049-A7FF-118E18672F1A}" presName="Name0" presStyleCnt="0">
        <dgm:presLayoutVars>
          <dgm:chMax val="1"/>
          <dgm:chPref val="1"/>
          <dgm:dir/>
          <dgm:animOne val="branch"/>
          <dgm:animLvl val="lvl"/>
        </dgm:presLayoutVars>
      </dgm:prSet>
      <dgm:spPr/>
    </dgm:pt>
    <dgm:pt modelId="{51FAF1B7-E6D2-4BE6-AB71-ABC4B47F5A52}" type="pres">
      <dgm:prSet presAssocID="{F9DE54F3-E9FD-49F8-ADC9-050FADE8F433}" presName="Parent" presStyleLbl="node0" presStyleIdx="0" presStyleCnt="1">
        <dgm:presLayoutVars>
          <dgm:chMax val="6"/>
          <dgm:chPref val="6"/>
        </dgm:presLayoutVars>
      </dgm:prSet>
      <dgm:spPr/>
    </dgm:pt>
    <dgm:pt modelId="{BE565E13-F0A3-447B-9F77-46C3B9428FD0}" type="pres">
      <dgm:prSet presAssocID="{81E4EA5E-8342-414A-B0BA-B49DC5E1CA75}" presName="Accent1" presStyleCnt="0"/>
      <dgm:spPr/>
    </dgm:pt>
    <dgm:pt modelId="{E0C4D81A-ABD6-4A0D-9723-C48DFDF64FCE}" type="pres">
      <dgm:prSet presAssocID="{81E4EA5E-8342-414A-B0BA-B49DC5E1CA75}" presName="Accent" presStyleLbl="bgShp" presStyleIdx="0" presStyleCnt="6"/>
      <dgm:spPr/>
    </dgm:pt>
    <dgm:pt modelId="{0FEFBE30-2F31-49E4-931E-33E8D91B2293}" type="pres">
      <dgm:prSet presAssocID="{81E4EA5E-8342-414A-B0BA-B49DC5E1CA75}" presName="Child1" presStyleLbl="node1" presStyleIdx="0" presStyleCnt="6">
        <dgm:presLayoutVars>
          <dgm:chMax val="0"/>
          <dgm:chPref val="0"/>
          <dgm:bulletEnabled val="1"/>
        </dgm:presLayoutVars>
      </dgm:prSet>
      <dgm:spPr/>
    </dgm:pt>
    <dgm:pt modelId="{D81C59F3-E86B-44FB-826B-A08B5F1D297E}" type="pres">
      <dgm:prSet presAssocID="{5722F5BD-122A-42B4-B6CA-A7BF5BD993B9}" presName="Accent2" presStyleCnt="0"/>
      <dgm:spPr/>
    </dgm:pt>
    <dgm:pt modelId="{6CD19D98-8C61-4208-B198-096E8311CE70}" type="pres">
      <dgm:prSet presAssocID="{5722F5BD-122A-42B4-B6CA-A7BF5BD993B9}" presName="Accent" presStyleLbl="bgShp" presStyleIdx="1" presStyleCnt="6"/>
      <dgm:spPr/>
    </dgm:pt>
    <dgm:pt modelId="{316962A3-9918-4FE3-86E5-A552F4C7773E}" type="pres">
      <dgm:prSet presAssocID="{5722F5BD-122A-42B4-B6CA-A7BF5BD993B9}" presName="Child2" presStyleLbl="node1" presStyleIdx="1" presStyleCnt="6">
        <dgm:presLayoutVars>
          <dgm:chMax val="0"/>
          <dgm:chPref val="0"/>
          <dgm:bulletEnabled val="1"/>
        </dgm:presLayoutVars>
      </dgm:prSet>
      <dgm:spPr/>
    </dgm:pt>
    <dgm:pt modelId="{7196B9EE-3452-4336-8F3E-85A50BA51CC5}" type="pres">
      <dgm:prSet presAssocID="{BDD1D52D-B7EF-4F28-BE6F-58BFBE5D2F9C}" presName="Accent3" presStyleCnt="0"/>
      <dgm:spPr/>
    </dgm:pt>
    <dgm:pt modelId="{CEBB408E-98A8-4A1F-8298-12C37AFFFB83}" type="pres">
      <dgm:prSet presAssocID="{BDD1D52D-B7EF-4F28-BE6F-58BFBE5D2F9C}" presName="Accent" presStyleLbl="bgShp" presStyleIdx="2" presStyleCnt="6"/>
      <dgm:spPr/>
    </dgm:pt>
    <dgm:pt modelId="{F6A7438A-9CE0-40B1-AFCE-AD33B91C5EEB}" type="pres">
      <dgm:prSet presAssocID="{BDD1D52D-B7EF-4F28-BE6F-58BFBE5D2F9C}" presName="Child3" presStyleLbl="node1" presStyleIdx="2" presStyleCnt="6">
        <dgm:presLayoutVars>
          <dgm:chMax val="0"/>
          <dgm:chPref val="0"/>
          <dgm:bulletEnabled val="1"/>
        </dgm:presLayoutVars>
      </dgm:prSet>
      <dgm:spPr/>
    </dgm:pt>
    <dgm:pt modelId="{8A6B1748-FB26-472F-AB07-A1A1C9B29913}" type="pres">
      <dgm:prSet presAssocID="{00705FE3-2F78-4788-96EA-1203CB4DB89A}" presName="Accent4" presStyleCnt="0"/>
      <dgm:spPr/>
    </dgm:pt>
    <dgm:pt modelId="{542047D4-BBF9-4D11-9933-8008C3FE3FA0}" type="pres">
      <dgm:prSet presAssocID="{00705FE3-2F78-4788-96EA-1203CB4DB89A}" presName="Accent" presStyleLbl="bgShp" presStyleIdx="3" presStyleCnt="6"/>
      <dgm:spPr/>
    </dgm:pt>
    <dgm:pt modelId="{166EEE4B-5E96-4261-87B0-71F85859616B}" type="pres">
      <dgm:prSet presAssocID="{00705FE3-2F78-4788-96EA-1203CB4DB89A}" presName="Child4" presStyleLbl="node1" presStyleIdx="3" presStyleCnt="6">
        <dgm:presLayoutVars>
          <dgm:chMax val="0"/>
          <dgm:chPref val="0"/>
          <dgm:bulletEnabled val="1"/>
        </dgm:presLayoutVars>
      </dgm:prSet>
      <dgm:spPr/>
    </dgm:pt>
    <dgm:pt modelId="{9F4D8716-F047-4667-B666-35A4D71F9D0B}" type="pres">
      <dgm:prSet presAssocID="{E49373E6-D5EE-41AA-9816-326C447BAB99}" presName="Accent5" presStyleCnt="0"/>
      <dgm:spPr/>
    </dgm:pt>
    <dgm:pt modelId="{0F6BFBE8-A507-442E-B314-93F400E72233}" type="pres">
      <dgm:prSet presAssocID="{E49373E6-D5EE-41AA-9816-326C447BAB99}" presName="Accent" presStyleLbl="bgShp" presStyleIdx="4" presStyleCnt="6"/>
      <dgm:spPr/>
    </dgm:pt>
    <dgm:pt modelId="{A3A0D3B5-11D4-4F11-B032-11BB7675572F}" type="pres">
      <dgm:prSet presAssocID="{E49373E6-D5EE-41AA-9816-326C447BAB99}" presName="Child5" presStyleLbl="node1" presStyleIdx="4" presStyleCnt="6">
        <dgm:presLayoutVars>
          <dgm:chMax val="0"/>
          <dgm:chPref val="0"/>
          <dgm:bulletEnabled val="1"/>
        </dgm:presLayoutVars>
      </dgm:prSet>
      <dgm:spPr/>
    </dgm:pt>
    <dgm:pt modelId="{57B9BF79-C1C1-4857-9CA9-A3B86C0AEB76}" type="pres">
      <dgm:prSet presAssocID="{91421703-6FD0-432D-8D53-AAEDE9AF0F78}" presName="Accent6" presStyleCnt="0"/>
      <dgm:spPr/>
    </dgm:pt>
    <dgm:pt modelId="{2737E041-5162-495D-9E16-31AE6C5474FA}" type="pres">
      <dgm:prSet presAssocID="{91421703-6FD0-432D-8D53-AAEDE9AF0F78}" presName="Accent" presStyleLbl="bgShp" presStyleIdx="5" presStyleCnt="6"/>
      <dgm:spPr/>
    </dgm:pt>
    <dgm:pt modelId="{FCBE0ACB-B644-4510-A7A6-309B592886A6}" type="pres">
      <dgm:prSet presAssocID="{91421703-6FD0-432D-8D53-AAEDE9AF0F78}" presName="Child6" presStyleLbl="node1" presStyleIdx="5" presStyleCnt="6">
        <dgm:presLayoutVars>
          <dgm:chMax val="0"/>
          <dgm:chPref val="0"/>
          <dgm:bulletEnabled val="1"/>
        </dgm:presLayoutVars>
      </dgm:prSet>
      <dgm:spPr/>
    </dgm:pt>
  </dgm:ptLst>
  <dgm:cxnLst>
    <dgm:cxn modelId="{47ADBC03-3BC5-4982-8895-4AE3E53F826F}" type="presOf" srcId="{E49373E6-D5EE-41AA-9816-326C447BAB99}" destId="{A3A0D3B5-11D4-4F11-B032-11BB7675572F}" srcOrd="0" destOrd="0" presId="urn:microsoft.com/office/officeart/2011/layout/HexagonRadial"/>
    <dgm:cxn modelId="{9EB2BB09-F7D9-452B-A801-F1E4E17C978E}" type="presOf" srcId="{91421703-6FD0-432D-8D53-AAEDE9AF0F78}" destId="{FCBE0ACB-B644-4510-A7A6-309B592886A6}" srcOrd="0" destOrd="0" presId="urn:microsoft.com/office/officeart/2011/layout/HexagonRadial"/>
    <dgm:cxn modelId="{00019A17-C42C-42C6-AD83-40234BD99CF9}" type="presOf" srcId="{81E4EA5E-8342-414A-B0BA-B49DC5E1CA75}" destId="{0FEFBE30-2F31-49E4-931E-33E8D91B2293}" srcOrd="0" destOrd="0" presId="urn:microsoft.com/office/officeart/2011/layout/HexagonRadial"/>
    <dgm:cxn modelId="{F97D351A-13B0-4560-B0DA-9ABF7A5A286C}" srcId="{F9DE54F3-E9FD-49F8-ADC9-050FADE8F433}" destId="{81E4EA5E-8342-414A-B0BA-B49DC5E1CA75}" srcOrd="0" destOrd="0" parTransId="{9ECF72A5-C52E-4F71-865B-771BB32FA778}" sibTransId="{7B62E6EB-9988-432A-ABDB-EA3EE18C4B27}"/>
    <dgm:cxn modelId="{D0CDD31D-91B6-4CD0-8549-04A8C43C43A0}" srcId="{F9DE54F3-E9FD-49F8-ADC9-050FADE8F433}" destId="{91421703-6FD0-432D-8D53-AAEDE9AF0F78}" srcOrd="5" destOrd="0" parTransId="{8341192B-118F-418D-A184-084F24AE82D0}" sibTransId="{BEDA8DC0-B699-490B-AC8B-BE965ADD5016}"/>
    <dgm:cxn modelId="{8739C132-3B44-41FF-B64A-D64DF06791C3}" srcId="{3D9DF7FB-9645-4049-A7FF-118E18672F1A}" destId="{F9DE54F3-E9FD-49F8-ADC9-050FADE8F433}" srcOrd="0" destOrd="0" parTransId="{57BB84EB-4ED3-4028-9189-448FD67947D5}" sibTransId="{E208891D-EBD8-47B3-A17F-FFE7D4604A10}"/>
    <dgm:cxn modelId="{E308903A-C41C-4470-91D9-3F812A45DD5F}" srcId="{F9DE54F3-E9FD-49F8-ADC9-050FADE8F433}" destId="{5722F5BD-122A-42B4-B6CA-A7BF5BD993B9}" srcOrd="1" destOrd="0" parTransId="{030C5B6E-2557-4407-AEF5-6F4BBA5DE00E}" sibTransId="{3A2077E5-8AF5-4759-A457-17E3E8608B2A}"/>
    <dgm:cxn modelId="{E04E185B-B03F-4A42-AC81-4350D8D4A386}" srcId="{F9DE54F3-E9FD-49F8-ADC9-050FADE8F433}" destId="{BDD1D52D-B7EF-4F28-BE6F-58BFBE5D2F9C}" srcOrd="2" destOrd="0" parTransId="{F18CF87E-164C-45AB-83C9-45EF7C7674B3}" sibTransId="{DC583E53-37DA-4441-AC26-1D2B29579180}"/>
    <dgm:cxn modelId="{FC9A8141-8703-431D-9584-AA7429661A71}" type="presOf" srcId="{F9DE54F3-E9FD-49F8-ADC9-050FADE8F433}" destId="{51FAF1B7-E6D2-4BE6-AB71-ABC4B47F5A52}" srcOrd="0" destOrd="0" presId="urn:microsoft.com/office/officeart/2011/layout/HexagonRadial"/>
    <dgm:cxn modelId="{4C6A7262-4A6F-4832-8A92-2419A2AEAF7D}" srcId="{F9DE54F3-E9FD-49F8-ADC9-050FADE8F433}" destId="{00705FE3-2F78-4788-96EA-1203CB4DB89A}" srcOrd="3" destOrd="0" parTransId="{9E1CB67D-0EA8-49BB-8156-772D369BB867}" sibTransId="{950C945C-1725-4C3C-8A39-E3D9C9BAC083}"/>
    <dgm:cxn modelId="{6DE64F6B-C84C-48E0-9FD1-5055D2EBE1C0}" srcId="{F9DE54F3-E9FD-49F8-ADC9-050FADE8F433}" destId="{E49373E6-D5EE-41AA-9816-326C447BAB99}" srcOrd="4" destOrd="0" parTransId="{ED8F3596-08FF-455C-964B-F66849D191A9}" sibTransId="{F2982899-7FE4-475A-95FD-171B6DEF542B}"/>
    <dgm:cxn modelId="{C1A39AA2-AA71-4787-8CFF-3EB8BB65C0D6}" type="presOf" srcId="{00705FE3-2F78-4788-96EA-1203CB4DB89A}" destId="{166EEE4B-5E96-4261-87B0-71F85859616B}" srcOrd="0" destOrd="0" presId="urn:microsoft.com/office/officeart/2011/layout/HexagonRadial"/>
    <dgm:cxn modelId="{DEC750A9-76A1-4E2D-9B75-1042CC872C4C}" type="presOf" srcId="{5722F5BD-122A-42B4-B6CA-A7BF5BD993B9}" destId="{316962A3-9918-4FE3-86E5-A552F4C7773E}" srcOrd="0" destOrd="0" presId="urn:microsoft.com/office/officeart/2011/layout/HexagonRadial"/>
    <dgm:cxn modelId="{D42E51AD-7D17-4AB1-BAA2-9789A32DD298}" type="presOf" srcId="{BDD1D52D-B7EF-4F28-BE6F-58BFBE5D2F9C}" destId="{F6A7438A-9CE0-40B1-AFCE-AD33B91C5EEB}" srcOrd="0" destOrd="0" presId="urn:microsoft.com/office/officeart/2011/layout/HexagonRadial"/>
    <dgm:cxn modelId="{14CE97FC-FDC7-4DA7-B46C-688981FD7FB0}" type="presOf" srcId="{3D9DF7FB-9645-4049-A7FF-118E18672F1A}" destId="{2539B205-FDC4-49DB-8020-6AE927453EF0}" srcOrd="0" destOrd="0" presId="urn:microsoft.com/office/officeart/2011/layout/HexagonRadial"/>
    <dgm:cxn modelId="{BDD42888-4A7D-4A1D-80F6-0D5C011BDD90}" type="presParOf" srcId="{2539B205-FDC4-49DB-8020-6AE927453EF0}" destId="{51FAF1B7-E6D2-4BE6-AB71-ABC4B47F5A52}" srcOrd="0" destOrd="0" presId="urn:microsoft.com/office/officeart/2011/layout/HexagonRadial"/>
    <dgm:cxn modelId="{5FE05ED3-2C32-4246-98CB-34C5C75CABC2}" type="presParOf" srcId="{2539B205-FDC4-49DB-8020-6AE927453EF0}" destId="{BE565E13-F0A3-447B-9F77-46C3B9428FD0}" srcOrd="1" destOrd="0" presId="urn:microsoft.com/office/officeart/2011/layout/HexagonRadial"/>
    <dgm:cxn modelId="{FE918BEA-F495-4DB2-AEA4-BE1D6870D077}" type="presParOf" srcId="{BE565E13-F0A3-447B-9F77-46C3B9428FD0}" destId="{E0C4D81A-ABD6-4A0D-9723-C48DFDF64FCE}" srcOrd="0" destOrd="0" presId="urn:microsoft.com/office/officeart/2011/layout/HexagonRadial"/>
    <dgm:cxn modelId="{0205063C-22FC-452A-B0E3-9CF6D0735AF1}" type="presParOf" srcId="{2539B205-FDC4-49DB-8020-6AE927453EF0}" destId="{0FEFBE30-2F31-49E4-931E-33E8D91B2293}" srcOrd="2" destOrd="0" presId="urn:microsoft.com/office/officeart/2011/layout/HexagonRadial"/>
    <dgm:cxn modelId="{D4AAA5E5-2FDB-43B7-AAB6-5FAE98FAF1DB}" type="presParOf" srcId="{2539B205-FDC4-49DB-8020-6AE927453EF0}" destId="{D81C59F3-E86B-44FB-826B-A08B5F1D297E}" srcOrd="3" destOrd="0" presId="urn:microsoft.com/office/officeart/2011/layout/HexagonRadial"/>
    <dgm:cxn modelId="{BA1B8AA7-F26E-4225-8ADC-5157A8CA69AD}" type="presParOf" srcId="{D81C59F3-E86B-44FB-826B-A08B5F1D297E}" destId="{6CD19D98-8C61-4208-B198-096E8311CE70}" srcOrd="0" destOrd="0" presId="urn:microsoft.com/office/officeart/2011/layout/HexagonRadial"/>
    <dgm:cxn modelId="{2AA8A018-5AED-4A32-AE35-15A85D864DBD}" type="presParOf" srcId="{2539B205-FDC4-49DB-8020-6AE927453EF0}" destId="{316962A3-9918-4FE3-86E5-A552F4C7773E}" srcOrd="4" destOrd="0" presId="urn:microsoft.com/office/officeart/2011/layout/HexagonRadial"/>
    <dgm:cxn modelId="{CA892E78-2046-4CC9-AD19-EBFE43F71EA9}" type="presParOf" srcId="{2539B205-FDC4-49DB-8020-6AE927453EF0}" destId="{7196B9EE-3452-4336-8F3E-85A50BA51CC5}" srcOrd="5" destOrd="0" presId="urn:microsoft.com/office/officeart/2011/layout/HexagonRadial"/>
    <dgm:cxn modelId="{A2EF288A-EFB5-4925-8E76-A41AC240F90F}" type="presParOf" srcId="{7196B9EE-3452-4336-8F3E-85A50BA51CC5}" destId="{CEBB408E-98A8-4A1F-8298-12C37AFFFB83}" srcOrd="0" destOrd="0" presId="urn:microsoft.com/office/officeart/2011/layout/HexagonRadial"/>
    <dgm:cxn modelId="{C5E527BF-3848-4754-88AD-3B8E221AF140}" type="presParOf" srcId="{2539B205-FDC4-49DB-8020-6AE927453EF0}" destId="{F6A7438A-9CE0-40B1-AFCE-AD33B91C5EEB}" srcOrd="6" destOrd="0" presId="urn:microsoft.com/office/officeart/2011/layout/HexagonRadial"/>
    <dgm:cxn modelId="{2EA6AC7F-835E-495B-8E29-88F0A62489C1}" type="presParOf" srcId="{2539B205-FDC4-49DB-8020-6AE927453EF0}" destId="{8A6B1748-FB26-472F-AB07-A1A1C9B29913}" srcOrd="7" destOrd="0" presId="urn:microsoft.com/office/officeart/2011/layout/HexagonRadial"/>
    <dgm:cxn modelId="{AE00BBCD-BD87-4155-90D3-A52A659DE005}" type="presParOf" srcId="{8A6B1748-FB26-472F-AB07-A1A1C9B29913}" destId="{542047D4-BBF9-4D11-9933-8008C3FE3FA0}" srcOrd="0" destOrd="0" presId="urn:microsoft.com/office/officeart/2011/layout/HexagonRadial"/>
    <dgm:cxn modelId="{25CEAD25-C9E8-43C2-AB2F-30D569BABB0B}" type="presParOf" srcId="{2539B205-FDC4-49DB-8020-6AE927453EF0}" destId="{166EEE4B-5E96-4261-87B0-71F85859616B}" srcOrd="8" destOrd="0" presId="urn:microsoft.com/office/officeart/2011/layout/HexagonRadial"/>
    <dgm:cxn modelId="{F9F3F4D3-002B-47A8-9E6E-4964190B0D76}" type="presParOf" srcId="{2539B205-FDC4-49DB-8020-6AE927453EF0}" destId="{9F4D8716-F047-4667-B666-35A4D71F9D0B}" srcOrd="9" destOrd="0" presId="urn:microsoft.com/office/officeart/2011/layout/HexagonRadial"/>
    <dgm:cxn modelId="{5133CF23-EBD2-4001-B336-1B35F292E4A3}" type="presParOf" srcId="{9F4D8716-F047-4667-B666-35A4D71F9D0B}" destId="{0F6BFBE8-A507-442E-B314-93F400E72233}" srcOrd="0" destOrd="0" presId="urn:microsoft.com/office/officeart/2011/layout/HexagonRadial"/>
    <dgm:cxn modelId="{799255C6-8172-498F-9752-CF6B3559033E}" type="presParOf" srcId="{2539B205-FDC4-49DB-8020-6AE927453EF0}" destId="{A3A0D3B5-11D4-4F11-B032-11BB7675572F}" srcOrd="10" destOrd="0" presId="urn:microsoft.com/office/officeart/2011/layout/HexagonRadial"/>
    <dgm:cxn modelId="{D24A667A-B1B4-42B4-844C-8201A2D6FD3A}" type="presParOf" srcId="{2539B205-FDC4-49DB-8020-6AE927453EF0}" destId="{57B9BF79-C1C1-4857-9CA9-A3B86C0AEB76}" srcOrd="11" destOrd="0" presId="urn:microsoft.com/office/officeart/2011/layout/HexagonRadial"/>
    <dgm:cxn modelId="{C5D2AE3E-BA2C-44F4-86E9-43527F6480CC}" type="presParOf" srcId="{57B9BF79-C1C1-4857-9CA9-A3B86C0AEB76}" destId="{2737E041-5162-495D-9E16-31AE6C5474FA}" srcOrd="0" destOrd="0" presId="urn:microsoft.com/office/officeart/2011/layout/HexagonRadial"/>
    <dgm:cxn modelId="{9F5CD573-9E7B-4301-8517-7E0906266D3E}" type="presParOf" srcId="{2539B205-FDC4-49DB-8020-6AE927453EF0}" destId="{FCBE0ACB-B644-4510-A7A6-309B592886A6}"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AF1B7-E6D2-4BE6-AB71-ABC4B47F5A52}">
      <dsp:nvSpPr>
        <dsp:cNvPr id="0" name=""/>
        <dsp:cNvSpPr/>
      </dsp:nvSpPr>
      <dsp:spPr>
        <a:xfrm>
          <a:off x="3903844" y="1645933"/>
          <a:ext cx="2092052" cy="180971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Key Success Factors</a:t>
          </a:r>
          <a:endParaRPr lang="aa-ET" sz="1500" b="1" kern="1200" dirty="0">
            <a:latin typeface="Corbel" panose="020B0503020204020204" pitchFamily="34" charset="0"/>
          </a:endParaRPr>
        </a:p>
      </dsp:txBody>
      <dsp:txXfrm>
        <a:off x="4250526" y="1945827"/>
        <a:ext cx="1398688" cy="1209922"/>
      </dsp:txXfrm>
    </dsp:sp>
    <dsp:sp modelId="{6CD19D98-8C61-4208-B198-096E8311CE70}">
      <dsp:nvSpPr>
        <dsp:cNvPr id="0" name=""/>
        <dsp:cNvSpPr/>
      </dsp:nvSpPr>
      <dsp:spPr>
        <a:xfrm>
          <a:off x="5213871" y="78010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FBE30-2F31-49E4-931E-33E8D91B2293}">
      <dsp:nvSpPr>
        <dsp:cNvPr id="0" name=""/>
        <dsp:cNvSpPr/>
      </dsp:nvSpPr>
      <dsp:spPr>
        <a:xfrm>
          <a:off x="4096553" y="0"/>
          <a:ext cx="1714422" cy="1483176"/>
        </a:xfrm>
        <a:prstGeom prst="hexagon">
          <a:avLst>
            <a:gd name="adj" fmla="val 28570"/>
            <a:gd name="vf" fmla="val 115470"/>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Competitive Pricing</a:t>
          </a:r>
          <a:endParaRPr lang="aa-ET" sz="1500" b="1" kern="1200" dirty="0">
            <a:latin typeface="Corbel" panose="020B0503020204020204" pitchFamily="34" charset="0"/>
          </a:endParaRPr>
        </a:p>
      </dsp:txBody>
      <dsp:txXfrm>
        <a:off x="4380669" y="245794"/>
        <a:ext cx="1146190" cy="991588"/>
      </dsp:txXfrm>
    </dsp:sp>
    <dsp:sp modelId="{CEBB408E-98A8-4A1F-8298-12C37AFFFB83}">
      <dsp:nvSpPr>
        <dsp:cNvPr id="0" name=""/>
        <dsp:cNvSpPr/>
      </dsp:nvSpPr>
      <dsp:spPr>
        <a:xfrm>
          <a:off x="6135075" y="205154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962A3-9918-4FE3-86E5-A552F4C7773E}">
      <dsp:nvSpPr>
        <dsp:cNvPr id="0" name=""/>
        <dsp:cNvSpPr/>
      </dsp:nvSpPr>
      <dsp:spPr>
        <a:xfrm>
          <a:off x="5668877" y="912253"/>
          <a:ext cx="1714422" cy="1483176"/>
        </a:xfrm>
        <a:prstGeom prst="hexagon">
          <a:avLst>
            <a:gd name="adj" fmla="val 2857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State-of-the-Art Technology</a:t>
          </a:r>
        </a:p>
        <a:p>
          <a:pPr marL="0" lvl="0" indent="0" algn="ctr" defTabSz="666750">
            <a:lnSpc>
              <a:spcPct val="90000"/>
            </a:lnSpc>
            <a:spcBef>
              <a:spcPct val="0"/>
            </a:spcBef>
            <a:spcAft>
              <a:spcPct val="35000"/>
            </a:spcAft>
            <a:buNone/>
          </a:pPr>
          <a:r>
            <a:rPr lang="en-US" sz="1500" b="1" kern="1200" dirty="0">
              <a:latin typeface="Corbel" panose="020B0503020204020204" pitchFamily="34" charset="0"/>
            </a:rPr>
            <a:t>EMR</a:t>
          </a:r>
          <a:endParaRPr lang="aa-ET" sz="1500" b="1" kern="1200" dirty="0">
            <a:latin typeface="Corbel" panose="020B0503020204020204" pitchFamily="34" charset="0"/>
          </a:endParaRPr>
        </a:p>
      </dsp:txBody>
      <dsp:txXfrm>
        <a:off x="5952993" y="1158047"/>
        <a:ext cx="1146190" cy="991588"/>
      </dsp:txXfrm>
    </dsp:sp>
    <dsp:sp modelId="{542047D4-BBF9-4D11-9933-8008C3FE3FA0}">
      <dsp:nvSpPr>
        <dsp:cNvPr id="0" name=""/>
        <dsp:cNvSpPr/>
      </dsp:nvSpPr>
      <dsp:spPr>
        <a:xfrm>
          <a:off x="5495148" y="3486766"/>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7438A-9CE0-40B1-AFCE-AD33B91C5EEB}">
      <dsp:nvSpPr>
        <dsp:cNvPr id="0" name=""/>
        <dsp:cNvSpPr/>
      </dsp:nvSpPr>
      <dsp:spPr>
        <a:xfrm>
          <a:off x="5668877" y="2705636"/>
          <a:ext cx="1714422" cy="1483176"/>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Good Quality Service</a:t>
          </a:r>
          <a:endParaRPr lang="aa-ET" sz="1500" b="1" kern="1200" dirty="0">
            <a:latin typeface="Corbel" panose="020B0503020204020204" pitchFamily="34" charset="0"/>
          </a:endParaRPr>
        </a:p>
      </dsp:txBody>
      <dsp:txXfrm>
        <a:off x="5952993" y="2951430"/>
        <a:ext cx="1146190" cy="991588"/>
      </dsp:txXfrm>
    </dsp:sp>
    <dsp:sp modelId="{0F6BFBE8-A507-442E-B314-93F400E72233}">
      <dsp:nvSpPr>
        <dsp:cNvPr id="0" name=""/>
        <dsp:cNvSpPr/>
      </dsp:nvSpPr>
      <dsp:spPr>
        <a:xfrm>
          <a:off x="3907737" y="363574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EEE4B-5E96-4261-87B0-71F85859616B}">
      <dsp:nvSpPr>
        <dsp:cNvPr id="0" name=""/>
        <dsp:cNvSpPr/>
      </dsp:nvSpPr>
      <dsp:spPr>
        <a:xfrm>
          <a:off x="4096553" y="3618910"/>
          <a:ext cx="1714422" cy="148317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Wider Spread of Branches </a:t>
          </a:r>
          <a:endParaRPr lang="aa-ET" sz="1500" b="1" kern="1200" dirty="0">
            <a:latin typeface="Corbel" panose="020B0503020204020204" pitchFamily="34" charset="0"/>
          </a:endParaRPr>
        </a:p>
      </dsp:txBody>
      <dsp:txXfrm>
        <a:off x="4380669" y="3864704"/>
        <a:ext cx="1146190" cy="991588"/>
      </dsp:txXfrm>
    </dsp:sp>
    <dsp:sp modelId="{2737E041-5162-495D-9E16-31AE6C5474FA}">
      <dsp:nvSpPr>
        <dsp:cNvPr id="0" name=""/>
        <dsp:cNvSpPr/>
      </dsp:nvSpPr>
      <dsp:spPr>
        <a:xfrm>
          <a:off x="2971448" y="236481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D3B5-11D4-4F11-B032-11BB7675572F}">
      <dsp:nvSpPr>
        <dsp:cNvPr id="0" name=""/>
        <dsp:cNvSpPr/>
      </dsp:nvSpPr>
      <dsp:spPr>
        <a:xfrm>
          <a:off x="2516929" y="2706657"/>
          <a:ext cx="1714422" cy="1483176"/>
        </a:xfrm>
        <a:prstGeom prst="hexagon">
          <a:avLst>
            <a:gd name="adj" fmla="val 2857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Marketing Strategy</a:t>
          </a:r>
          <a:endParaRPr lang="aa-ET" sz="1500" b="1" kern="1200" dirty="0">
            <a:latin typeface="Corbel" panose="020B0503020204020204" pitchFamily="34" charset="0"/>
          </a:endParaRPr>
        </a:p>
      </dsp:txBody>
      <dsp:txXfrm>
        <a:off x="2801045" y="2952451"/>
        <a:ext cx="1146190" cy="991588"/>
      </dsp:txXfrm>
    </dsp:sp>
    <dsp:sp modelId="{FCBE0ACB-B644-4510-A7A6-309B592886A6}">
      <dsp:nvSpPr>
        <dsp:cNvPr id="0" name=""/>
        <dsp:cNvSpPr/>
      </dsp:nvSpPr>
      <dsp:spPr>
        <a:xfrm>
          <a:off x="2516929" y="910212"/>
          <a:ext cx="1714422" cy="1483176"/>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Approved and Audits </a:t>
          </a:r>
          <a:endParaRPr lang="aa-ET" sz="1500" b="1" kern="1200" dirty="0">
            <a:latin typeface="Corbel" panose="020B0503020204020204" pitchFamily="34" charset="0"/>
          </a:endParaRPr>
        </a:p>
      </dsp:txBody>
      <dsp:txXfrm>
        <a:off x="2801045" y="1156006"/>
        <a:ext cx="1146190" cy="9915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AF1B7-E6D2-4BE6-AB71-ABC4B47F5A52}">
      <dsp:nvSpPr>
        <dsp:cNvPr id="0" name=""/>
        <dsp:cNvSpPr/>
      </dsp:nvSpPr>
      <dsp:spPr>
        <a:xfrm>
          <a:off x="3903844" y="1645933"/>
          <a:ext cx="2092052" cy="180971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Key Success Factors</a:t>
          </a:r>
          <a:endParaRPr lang="aa-ET" sz="1600" b="1" kern="1200" dirty="0">
            <a:latin typeface="Corbel" panose="020B0503020204020204" pitchFamily="34" charset="0"/>
          </a:endParaRPr>
        </a:p>
      </dsp:txBody>
      <dsp:txXfrm>
        <a:off x="4250526" y="1945827"/>
        <a:ext cx="1398688" cy="1209922"/>
      </dsp:txXfrm>
    </dsp:sp>
    <dsp:sp modelId="{6CD19D98-8C61-4208-B198-096E8311CE70}">
      <dsp:nvSpPr>
        <dsp:cNvPr id="0" name=""/>
        <dsp:cNvSpPr/>
      </dsp:nvSpPr>
      <dsp:spPr>
        <a:xfrm>
          <a:off x="5213871" y="78010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FBE30-2F31-49E4-931E-33E8D91B2293}">
      <dsp:nvSpPr>
        <dsp:cNvPr id="0" name=""/>
        <dsp:cNvSpPr/>
      </dsp:nvSpPr>
      <dsp:spPr>
        <a:xfrm>
          <a:off x="4096553" y="0"/>
          <a:ext cx="1714422" cy="1483176"/>
        </a:xfrm>
        <a:prstGeom prst="hexagon">
          <a:avLst>
            <a:gd name="adj" fmla="val 28570"/>
            <a:gd name="vf" fmla="val 115470"/>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Competitive Pricing</a:t>
          </a:r>
          <a:endParaRPr lang="aa-ET" sz="1600" b="1" kern="1200" dirty="0">
            <a:latin typeface="Corbel" panose="020B0503020204020204" pitchFamily="34" charset="0"/>
          </a:endParaRPr>
        </a:p>
      </dsp:txBody>
      <dsp:txXfrm>
        <a:off x="4380669" y="245794"/>
        <a:ext cx="1146190" cy="991588"/>
      </dsp:txXfrm>
    </dsp:sp>
    <dsp:sp modelId="{CEBB408E-98A8-4A1F-8298-12C37AFFFB83}">
      <dsp:nvSpPr>
        <dsp:cNvPr id="0" name=""/>
        <dsp:cNvSpPr/>
      </dsp:nvSpPr>
      <dsp:spPr>
        <a:xfrm>
          <a:off x="6135075" y="205154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962A3-9918-4FE3-86E5-A552F4C7773E}">
      <dsp:nvSpPr>
        <dsp:cNvPr id="0" name=""/>
        <dsp:cNvSpPr/>
      </dsp:nvSpPr>
      <dsp:spPr>
        <a:xfrm>
          <a:off x="5668877" y="912253"/>
          <a:ext cx="1714422" cy="1483176"/>
        </a:xfrm>
        <a:prstGeom prst="hexagon">
          <a:avLst>
            <a:gd name="adj" fmla="val 2857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State-of-the-Art Technology</a:t>
          </a:r>
          <a:endParaRPr lang="aa-ET" sz="1600" b="1" kern="1200" dirty="0">
            <a:latin typeface="Corbel" panose="020B0503020204020204" pitchFamily="34" charset="0"/>
          </a:endParaRPr>
        </a:p>
      </dsp:txBody>
      <dsp:txXfrm>
        <a:off x="5952993" y="1158047"/>
        <a:ext cx="1146190" cy="991588"/>
      </dsp:txXfrm>
    </dsp:sp>
    <dsp:sp modelId="{542047D4-BBF9-4D11-9933-8008C3FE3FA0}">
      <dsp:nvSpPr>
        <dsp:cNvPr id="0" name=""/>
        <dsp:cNvSpPr/>
      </dsp:nvSpPr>
      <dsp:spPr>
        <a:xfrm>
          <a:off x="5495148" y="3486766"/>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7438A-9CE0-40B1-AFCE-AD33B91C5EEB}">
      <dsp:nvSpPr>
        <dsp:cNvPr id="0" name=""/>
        <dsp:cNvSpPr/>
      </dsp:nvSpPr>
      <dsp:spPr>
        <a:xfrm>
          <a:off x="5668877" y="2705636"/>
          <a:ext cx="1714422" cy="1483176"/>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World-class Clinical Governance </a:t>
          </a:r>
          <a:endParaRPr lang="aa-ET" sz="1600" b="1" kern="1200" dirty="0">
            <a:latin typeface="Corbel" panose="020B0503020204020204" pitchFamily="34" charset="0"/>
          </a:endParaRPr>
        </a:p>
      </dsp:txBody>
      <dsp:txXfrm>
        <a:off x="5952993" y="2951430"/>
        <a:ext cx="1146190" cy="991588"/>
      </dsp:txXfrm>
    </dsp:sp>
    <dsp:sp modelId="{0F6BFBE8-A507-442E-B314-93F400E72233}">
      <dsp:nvSpPr>
        <dsp:cNvPr id="0" name=""/>
        <dsp:cNvSpPr/>
      </dsp:nvSpPr>
      <dsp:spPr>
        <a:xfrm>
          <a:off x="3907737" y="363574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EEE4B-5E96-4261-87B0-71F85859616B}">
      <dsp:nvSpPr>
        <dsp:cNvPr id="0" name=""/>
        <dsp:cNvSpPr/>
      </dsp:nvSpPr>
      <dsp:spPr>
        <a:xfrm>
          <a:off x="4096553" y="3618910"/>
          <a:ext cx="1714422" cy="148317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Trained and Competent  Staff </a:t>
          </a:r>
          <a:endParaRPr lang="aa-ET" sz="1600" b="1" kern="1200" dirty="0">
            <a:latin typeface="Corbel" panose="020B0503020204020204" pitchFamily="34" charset="0"/>
          </a:endParaRPr>
        </a:p>
      </dsp:txBody>
      <dsp:txXfrm>
        <a:off x="4380669" y="3864704"/>
        <a:ext cx="1146190" cy="991588"/>
      </dsp:txXfrm>
    </dsp:sp>
    <dsp:sp modelId="{2737E041-5162-495D-9E16-31AE6C5474FA}">
      <dsp:nvSpPr>
        <dsp:cNvPr id="0" name=""/>
        <dsp:cNvSpPr/>
      </dsp:nvSpPr>
      <dsp:spPr>
        <a:xfrm>
          <a:off x="2971448" y="236481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D3B5-11D4-4F11-B032-11BB7675572F}">
      <dsp:nvSpPr>
        <dsp:cNvPr id="0" name=""/>
        <dsp:cNvSpPr/>
      </dsp:nvSpPr>
      <dsp:spPr>
        <a:xfrm>
          <a:off x="2516929" y="2706657"/>
          <a:ext cx="1714422" cy="1483176"/>
        </a:xfrm>
        <a:prstGeom prst="hexagon">
          <a:avLst>
            <a:gd name="adj" fmla="val 2857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Marketing Strategy</a:t>
          </a:r>
          <a:endParaRPr lang="aa-ET" sz="1600" b="1" kern="1200" dirty="0">
            <a:latin typeface="Corbel" panose="020B0503020204020204" pitchFamily="34" charset="0"/>
          </a:endParaRPr>
        </a:p>
      </dsp:txBody>
      <dsp:txXfrm>
        <a:off x="2801045" y="2952451"/>
        <a:ext cx="1146190" cy="991588"/>
      </dsp:txXfrm>
    </dsp:sp>
    <dsp:sp modelId="{FCBE0ACB-B644-4510-A7A6-309B592886A6}">
      <dsp:nvSpPr>
        <dsp:cNvPr id="0" name=""/>
        <dsp:cNvSpPr/>
      </dsp:nvSpPr>
      <dsp:spPr>
        <a:xfrm>
          <a:off x="2516929" y="910212"/>
          <a:ext cx="1714422" cy="1483176"/>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orbel" panose="020B0503020204020204" pitchFamily="34" charset="0"/>
            </a:rPr>
            <a:t>Brand Reputation &amp; Loyalty</a:t>
          </a:r>
          <a:endParaRPr lang="aa-ET" sz="1600" b="1" kern="1200" dirty="0">
            <a:latin typeface="Corbel" panose="020B0503020204020204" pitchFamily="34" charset="0"/>
          </a:endParaRPr>
        </a:p>
      </dsp:txBody>
      <dsp:txXfrm>
        <a:off x="2801045" y="1156006"/>
        <a:ext cx="1146190" cy="9915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AF1B7-E6D2-4BE6-AB71-ABC4B47F5A52}">
      <dsp:nvSpPr>
        <dsp:cNvPr id="0" name=""/>
        <dsp:cNvSpPr/>
      </dsp:nvSpPr>
      <dsp:spPr>
        <a:xfrm>
          <a:off x="3903844" y="1645933"/>
          <a:ext cx="2092052" cy="180971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Key Success Factors</a:t>
          </a:r>
          <a:endParaRPr lang="aa-ET" sz="1500" b="1" kern="1200" dirty="0">
            <a:latin typeface="Corbel" panose="020B0503020204020204" pitchFamily="34" charset="0"/>
          </a:endParaRPr>
        </a:p>
      </dsp:txBody>
      <dsp:txXfrm>
        <a:off x="4250526" y="1945827"/>
        <a:ext cx="1398688" cy="1209922"/>
      </dsp:txXfrm>
    </dsp:sp>
    <dsp:sp modelId="{6CD19D98-8C61-4208-B198-096E8311CE70}">
      <dsp:nvSpPr>
        <dsp:cNvPr id="0" name=""/>
        <dsp:cNvSpPr/>
      </dsp:nvSpPr>
      <dsp:spPr>
        <a:xfrm>
          <a:off x="5213871" y="78010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FBE30-2F31-49E4-931E-33E8D91B2293}">
      <dsp:nvSpPr>
        <dsp:cNvPr id="0" name=""/>
        <dsp:cNvSpPr/>
      </dsp:nvSpPr>
      <dsp:spPr>
        <a:xfrm>
          <a:off x="4096553" y="0"/>
          <a:ext cx="1714422" cy="1483176"/>
        </a:xfrm>
        <a:prstGeom prst="hexagon">
          <a:avLst>
            <a:gd name="adj" fmla="val 28570"/>
            <a:gd name="vf" fmla="val 115470"/>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Competitive Pricing</a:t>
          </a:r>
          <a:endParaRPr lang="aa-ET" sz="1500" b="1" kern="1200" dirty="0">
            <a:latin typeface="Corbel" panose="020B0503020204020204" pitchFamily="34" charset="0"/>
          </a:endParaRPr>
        </a:p>
      </dsp:txBody>
      <dsp:txXfrm>
        <a:off x="4380669" y="245794"/>
        <a:ext cx="1146190" cy="991588"/>
      </dsp:txXfrm>
    </dsp:sp>
    <dsp:sp modelId="{CEBB408E-98A8-4A1F-8298-12C37AFFFB83}">
      <dsp:nvSpPr>
        <dsp:cNvPr id="0" name=""/>
        <dsp:cNvSpPr/>
      </dsp:nvSpPr>
      <dsp:spPr>
        <a:xfrm>
          <a:off x="6135075" y="205154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962A3-9918-4FE3-86E5-A552F4C7773E}">
      <dsp:nvSpPr>
        <dsp:cNvPr id="0" name=""/>
        <dsp:cNvSpPr/>
      </dsp:nvSpPr>
      <dsp:spPr>
        <a:xfrm>
          <a:off x="5668877" y="912253"/>
          <a:ext cx="1714422" cy="1483176"/>
        </a:xfrm>
        <a:prstGeom prst="hexagon">
          <a:avLst>
            <a:gd name="adj" fmla="val 2857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State-of-the-Art Technology</a:t>
          </a:r>
        </a:p>
        <a:p>
          <a:pPr marL="0" lvl="0" indent="0" algn="ctr" defTabSz="666750">
            <a:lnSpc>
              <a:spcPct val="90000"/>
            </a:lnSpc>
            <a:spcBef>
              <a:spcPct val="0"/>
            </a:spcBef>
            <a:spcAft>
              <a:spcPct val="35000"/>
            </a:spcAft>
            <a:buNone/>
          </a:pPr>
          <a:r>
            <a:rPr lang="en-US" sz="1500" b="1" kern="1200" dirty="0">
              <a:latin typeface="Corbel" panose="020B0503020204020204" pitchFamily="34" charset="0"/>
            </a:rPr>
            <a:t>EMR </a:t>
          </a:r>
          <a:endParaRPr lang="aa-ET" sz="1500" b="1" kern="1200" dirty="0">
            <a:latin typeface="Corbel" panose="020B0503020204020204" pitchFamily="34" charset="0"/>
          </a:endParaRPr>
        </a:p>
      </dsp:txBody>
      <dsp:txXfrm>
        <a:off x="5952993" y="1158047"/>
        <a:ext cx="1146190" cy="991588"/>
      </dsp:txXfrm>
    </dsp:sp>
    <dsp:sp modelId="{542047D4-BBF9-4D11-9933-8008C3FE3FA0}">
      <dsp:nvSpPr>
        <dsp:cNvPr id="0" name=""/>
        <dsp:cNvSpPr/>
      </dsp:nvSpPr>
      <dsp:spPr>
        <a:xfrm>
          <a:off x="5495148" y="3486766"/>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7438A-9CE0-40B1-AFCE-AD33B91C5EEB}">
      <dsp:nvSpPr>
        <dsp:cNvPr id="0" name=""/>
        <dsp:cNvSpPr/>
      </dsp:nvSpPr>
      <dsp:spPr>
        <a:xfrm>
          <a:off x="5668877" y="2705636"/>
          <a:ext cx="1714422" cy="1483176"/>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Convenient Service </a:t>
          </a:r>
          <a:endParaRPr lang="aa-ET" sz="1500" b="1" kern="1200" dirty="0">
            <a:latin typeface="Corbel" panose="020B0503020204020204" pitchFamily="34" charset="0"/>
          </a:endParaRPr>
        </a:p>
      </dsp:txBody>
      <dsp:txXfrm>
        <a:off x="5952993" y="2951430"/>
        <a:ext cx="1146190" cy="991588"/>
      </dsp:txXfrm>
    </dsp:sp>
    <dsp:sp modelId="{0F6BFBE8-A507-442E-B314-93F400E72233}">
      <dsp:nvSpPr>
        <dsp:cNvPr id="0" name=""/>
        <dsp:cNvSpPr/>
      </dsp:nvSpPr>
      <dsp:spPr>
        <a:xfrm>
          <a:off x="3907737" y="363574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EEE4B-5E96-4261-87B0-71F85859616B}">
      <dsp:nvSpPr>
        <dsp:cNvPr id="0" name=""/>
        <dsp:cNvSpPr/>
      </dsp:nvSpPr>
      <dsp:spPr>
        <a:xfrm>
          <a:off x="4096553" y="3618910"/>
          <a:ext cx="1714422" cy="148317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Mobile Project Team </a:t>
          </a:r>
          <a:endParaRPr lang="aa-ET" sz="1500" b="1" kern="1200" dirty="0">
            <a:latin typeface="Corbel" panose="020B0503020204020204" pitchFamily="34" charset="0"/>
          </a:endParaRPr>
        </a:p>
      </dsp:txBody>
      <dsp:txXfrm>
        <a:off x="4380669" y="3864704"/>
        <a:ext cx="1146190" cy="991588"/>
      </dsp:txXfrm>
    </dsp:sp>
    <dsp:sp modelId="{2737E041-5162-495D-9E16-31AE6C5474FA}">
      <dsp:nvSpPr>
        <dsp:cNvPr id="0" name=""/>
        <dsp:cNvSpPr/>
      </dsp:nvSpPr>
      <dsp:spPr>
        <a:xfrm>
          <a:off x="2971448" y="236481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D3B5-11D4-4F11-B032-11BB7675572F}">
      <dsp:nvSpPr>
        <dsp:cNvPr id="0" name=""/>
        <dsp:cNvSpPr/>
      </dsp:nvSpPr>
      <dsp:spPr>
        <a:xfrm>
          <a:off x="2516929" y="2706657"/>
          <a:ext cx="1714422" cy="1483176"/>
        </a:xfrm>
        <a:prstGeom prst="hexagon">
          <a:avLst>
            <a:gd name="adj" fmla="val 2857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Marketing Strategy</a:t>
          </a:r>
          <a:endParaRPr lang="aa-ET" sz="1500" b="1" kern="1200" dirty="0">
            <a:latin typeface="Corbel" panose="020B0503020204020204" pitchFamily="34" charset="0"/>
          </a:endParaRPr>
        </a:p>
      </dsp:txBody>
      <dsp:txXfrm>
        <a:off x="2801045" y="2952451"/>
        <a:ext cx="1146190" cy="991588"/>
      </dsp:txXfrm>
    </dsp:sp>
    <dsp:sp modelId="{FCBE0ACB-B644-4510-A7A6-309B592886A6}">
      <dsp:nvSpPr>
        <dsp:cNvPr id="0" name=""/>
        <dsp:cNvSpPr/>
      </dsp:nvSpPr>
      <dsp:spPr>
        <a:xfrm>
          <a:off x="2516929" y="910212"/>
          <a:ext cx="1714422" cy="1483176"/>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orbel" panose="020B0503020204020204" pitchFamily="34" charset="0"/>
            </a:rPr>
            <a:t>Brand Reputation &amp; Loyalty</a:t>
          </a:r>
          <a:endParaRPr lang="aa-ET" sz="1500" b="1" kern="1200" dirty="0">
            <a:latin typeface="Corbel" panose="020B0503020204020204" pitchFamily="34" charset="0"/>
          </a:endParaRPr>
        </a:p>
      </dsp:txBody>
      <dsp:txXfrm>
        <a:off x="2801045" y="1156006"/>
        <a:ext cx="1146190" cy="9915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AF1B7-E6D2-4BE6-AB71-ABC4B47F5A52}">
      <dsp:nvSpPr>
        <dsp:cNvPr id="0" name=""/>
        <dsp:cNvSpPr/>
      </dsp:nvSpPr>
      <dsp:spPr>
        <a:xfrm>
          <a:off x="3903844" y="1645933"/>
          <a:ext cx="2092052" cy="180971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Key Success Factors</a:t>
          </a:r>
          <a:endParaRPr lang="aa-ET" sz="1400" b="1" kern="1200" dirty="0">
            <a:latin typeface="Corbel" panose="020B0503020204020204" pitchFamily="34" charset="0"/>
          </a:endParaRPr>
        </a:p>
      </dsp:txBody>
      <dsp:txXfrm>
        <a:off x="4250526" y="1945827"/>
        <a:ext cx="1398688" cy="1209922"/>
      </dsp:txXfrm>
    </dsp:sp>
    <dsp:sp modelId="{6CD19D98-8C61-4208-B198-096E8311CE70}">
      <dsp:nvSpPr>
        <dsp:cNvPr id="0" name=""/>
        <dsp:cNvSpPr/>
      </dsp:nvSpPr>
      <dsp:spPr>
        <a:xfrm>
          <a:off x="5213871" y="78010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FBE30-2F31-49E4-931E-33E8D91B2293}">
      <dsp:nvSpPr>
        <dsp:cNvPr id="0" name=""/>
        <dsp:cNvSpPr/>
      </dsp:nvSpPr>
      <dsp:spPr>
        <a:xfrm>
          <a:off x="4096553" y="0"/>
          <a:ext cx="1714422" cy="1483176"/>
        </a:xfrm>
        <a:prstGeom prst="hexagon">
          <a:avLst>
            <a:gd name="adj" fmla="val 28570"/>
            <a:gd name="vf" fmla="val 115470"/>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Competitive Pricing</a:t>
          </a:r>
          <a:endParaRPr lang="aa-ET" sz="1400" b="1" kern="1200" dirty="0">
            <a:latin typeface="Corbel" panose="020B0503020204020204" pitchFamily="34" charset="0"/>
          </a:endParaRPr>
        </a:p>
      </dsp:txBody>
      <dsp:txXfrm>
        <a:off x="4380669" y="245794"/>
        <a:ext cx="1146190" cy="991588"/>
      </dsp:txXfrm>
    </dsp:sp>
    <dsp:sp modelId="{CEBB408E-98A8-4A1F-8298-12C37AFFFB83}">
      <dsp:nvSpPr>
        <dsp:cNvPr id="0" name=""/>
        <dsp:cNvSpPr/>
      </dsp:nvSpPr>
      <dsp:spPr>
        <a:xfrm>
          <a:off x="6135075" y="205154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962A3-9918-4FE3-86E5-A552F4C7773E}">
      <dsp:nvSpPr>
        <dsp:cNvPr id="0" name=""/>
        <dsp:cNvSpPr/>
      </dsp:nvSpPr>
      <dsp:spPr>
        <a:xfrm>
          <a:off x="5668877" y="912253"/>
          <a:ext cx="1714422" cy="1483176"/>
        </a:xfrm>
        <a:prstGeom prst="hexagon">
          <a:avLst>
            <a:gd name="adj" fmla="val 2857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Advisory Database </a:t>
          </a:r>
          <a:endParaRPr lang="aa-ET" sz="1400" b="1" kern="1200" dirty="0">
            <a:latin typeface="Corbel" panose="020B0503020204020204" pitchFamily="34" charset="0"/>
          </a:endParaRPr>
        </a:p>
      </dsp:txBody>
      <dsp:txXfrm>
        <a:off x="5952993" y="1158047"/>
        <a:ext cx="1146190" cy="991588"/>
      </dsp:txXfrm>
    </dsp:sp>
    <dsp:sp modelId="{542047D4-BBF9-4D11-9933-8008C3FE3FA0}">
      <dsp:nvSpPr>
        <dsp:cNvPr id="0" name=""/>
        <dsp:cNvSpPr/>
      </dsp:nvSpPr>
      <dsp:spPr>
        <a:xfrm>
          <a:off x="5495148" y="3486766"/>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7438A-9CE0-40B1-AFCE-AD33B91C5EEB}">
      <dsp:nvSpPr>
        <dsp:cNvPr id="0" name=""/>
        <dsp:cNvSpPr/>
      </dsp:nvSpPr>
      <dsp:spPr>
        <a:xfrm>
          <a:off x="5668877" y="2705636"/>
          <a:ext cx="1714422" cy="1483176"/>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Unique Value proposition </a:t>
          </a:r>
          <a:endParaRPr lang="aa-ET" sz="1400" b="1" kern="1200" dirty="0">
            <a:latin typeface="Corbel" panose="020B0503020204020204" pitchFamily="34" charset="0"/>
          </a:endParaRPr>
        </a:p>
      </dsp:txBody>
      <dsp:txXfrm>
        <a:off x="5952993" y="2951430"/>
        <a:ext cx="1146190" cy="991588"/>
      </dsp:txXfrm>
    </dsp:sp>
    <dsp:sp modelId="{0F6BFBE8-A507-442E-B314-93F400E72233}">
      <dsp:nvSpPr>
        <dsp:cNvPr id="0" name=""/>
        <dsp:cNvSpPr/>
      </dsp:nvSpPr>
      <dsp:spPr>
        <a:xfrm>
          <a:off x="3907737" y="363574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EEE4B-5E96-4261-87B0-71F85859616B}">
      <dsp:nvSpPr>
        <dsp:cNvPr id="0" name=""/>
        <dsp:cNvSpPr/>
      </dsp:nvSpPr>
      <dsp:spPr>
        <a:xfrm>
          <a:off x="4096553" y="3618910"/>
          <a:ext cx="1714422" cy="148317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Specialization </a:t>
          </a:r>
          <a:endParaRPr lang="aa-ET" sz="1400" b="1" kern="1200" dirty="0">
            <a:latin typeface="Corbel" panose="020B0503020204020204" pitchFamily="34" charset="0"/>
          </a:endParaRPr>
        </a:p>
      </dsp:txBody>
      <dsp:txXfrm>
        <a:off x="4380669" y="3864704"/>
        <a:ext cx="1146190" cy="991588"/>
      </dsp:txXfrm>
    </dsp:sp>
    <dsp:sp modelId="{2737E041-5162-495D-9E16-31AE6C5474FA}">
      <dsp:nvSpPr>
        <dsp:cNvPr id="0" name=""/>
        <dsp:cNvSpPr/>
      </dsp:nvSpPr>
      <dsp:spPr>
        <a:xfrm>
          <a:off x="2971448" y="236481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D3B5-11D4-4F11-B032-11BB7675572F}">
      <dsp:nvSpPr>
        <dsp:cNvPr id="0" name=""/>
        <dsp:cNvSpPr/>
      </dsp:nvSpPr>
      <dsp:spPr>
        <a:xfrm>
          <a:off x="2516929" y="2706657"/>
          <a:ext cx="1714422" cy="1483176"/>
        </a:xfrm>
        <a:prstGeom prst="hexagon">
          <a:avLst>
            <a:gd name="adj" fmla="val 2857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Marketing Strategy</a:t>
          </a:r>
          <a:endParaRPr lang="aa-ET" sz="1400" b="1" kern="1200" dirty="0">
            <a:latin typeface="Corbel" panose="020B0503020204020204" pitchFamily="34" charset="0"/>
          </a:endParaRPr>
        </a:p>
      </dsp:txBody>
      <dsp:txXfrm>
        <a:off x="2801045" y="2952451"/>
        <a:ext cx="1146190" cy="991588"/>
      </dsp:txXfrm>
    </dsp:sp>
    <dsp:sp modelId="{FCBE0ACB-B644-4510-A7A6-309B592886A6}">
      <dsp:nvSpPr>
        <dsp:cNvPr id="0" name=""/>
        <dsp:cNvSpPr/>
      </dsp:nvSpPr>
      <dsp:spPr>
        <a:xfrm>
          <a:off x="2516929" y="910212"/>
          <a:ext cx="1714422" cy="1483176"/>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Brand Reputation &amp; Loyalty</a:t>
          </a:r>
          <a:endParaRPr lang="aa-ET" sz="1400" b="1" kern="1200" dirty="0">
            <a:latin typeface="Corbel" panose="020B0503020204020204" pitchFamily="34" charset="0"/>
          </a:endParaRPr>
        </a:p>
      </dsp:txBody>
      <dsp:txXfrm>
        <a:off x="2801045" y="1156006"/>
        <a:ext cx="1146190" cy="9915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AF1B7-E6D2-4BE6-AB71-ABC4B47F5A52}">
      <dsp:nvSpPr>
        <dsp:cNvPr id="0" name=""/>
        <dsp:cNvSpPr/>
      </dsp:nvSpPr>
      <dsp:spPr>
        <a:xfrm>
          <a:off x="3903844" y="1645933"/>
          <a:ext cx="2092052" cy="1809710"/>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Key Success Factors</a:t>
          </a:r>
          <a:endParaRPr lang="aa-ET" sz="1400" b="1" kern="1200" dirty="0">
            <a:latin typeface="Corbel" panose="020B0503020204020204" pitchFamily="34" charset="0"/>
          </a:endParaRPr>
        </a:p>
      </dsp:txBody>
      <dsp:txXfrm>
        <a:off x="4250526" y="1945827"/>
        <a:ext cx="1398688" cy="1209922"/>
      </dsp:txXfrm>
    </dsp:sp>
    <dsp:sp modelId="{6CD19D98-8C61-4208-B198-096E8311CE70}">
      <dsp:nvSpPr>
        <dsp:cNvPr id="0" name=""/>
        <dsp:cNvSpPr/>
      </dsp:nvSpPr>
      <dsp:spPr>
        <a:xfrm>
          <a:off x="5213871" y="78010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FBE30-2F31-49E4-931E-33E8D91B2293}">
      <dsp:nvSpPr>
        <dsp:cNvPr id="0" name=""/>
        <dsp:cNvSpPr/>
      </dsp:nvSpPr>
      <dsp:spPr>
        <a:xfrm>
          <a:off x="4096553" y="0"/>
          <a:ext cx="1714422" cy="1483176"/>
        </a:xfrm>
        <a:prstGeom prst="hexagon">
          <a:avLst>
            <a:gd name="adj" fmla="val 28570"/>
            <a:gd name="vf" fmla="val 115470"/>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Premium  Pricing</a:t>
          </a:r>
          <a:endParaRPr lang="aa-ET" sz="1400" b="1" kern="1200" dirty="0">
            <a:latin typeface="Corbel" panose="020B0503020204020204" pitchFamily="34" charset="0"/>
          </a:endParaRPr>
        </a:p>
      </dsp:txBody>
      <dsp:txXfrm>
        <a:off x="4380669" y="245794"/>
        <a:ext cx="1146190" cy="991588"/>
      </dsp:txXfrm>
    </dsp:sp>
    <dsp:sp modelId="{CEBB408E-98A8-4A1F-8298-12C37AFFFB83}">
      <dsp:nvSpPr>
        <dsp:cNvPr id="0" name=""/>
        <dsp:cNvSpPr/>
      </dsp:nvSpPr>
      <dsp:spPr>
        <a:xfrm>
          <a:off x="6135075" y="2051549"/>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962A3-9918-4FE3-86E5-A552F4C7773E}">
      <dsp:nvSpPr>
        <dsp:cNvPr id="0" name=""/>
        <dsp:cNvSpPr/>
      </dsp:nvSpPr>
      <dsp:spPr>
        <a:xfrm>
          <a:off x="5668877" y="912253"/>
          <a:ext cx="1714422" cy="1483176"/>
        </a:xfrm>
        <a:prstGeom prst="hexagon">
          <a:avLst>
            <a:gd name="adj" fmla="val 28570"/>
            <a:gd name="vf" fmla="val 1154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National Coverage </a:t>
          </a:r>
          <a:endParaRPr lang="aa-ET" sz="1400" b="1" kern="1200" dirty="0">
            <a:latin typeface="Corbel" panose="020B0503020204020204" pitchFamily="34" charset="0"/>
          </a:endParaRPr>
        </a:p>
      </dsp:txBody>
      <dsp:txXfrm>
        <a:off x="5952993" y="1158047"/>
        <a:ext cx="1146190" cy="991588"/>
      </dsp:txXfrm>
    </dsp:sp>
    <dsp:sp modelId="{542047D4-BBF9-4D11-9933-8008C3FE3FA0}">
      <dsp:nvSpPr>
        <dsp:cNvPr id="0" name=""/>
        <dsp:cNvSpPr/>
      </dsp:nvSpPr>
      <dsp:spPr>
        <a:xfrm>
          <a:off x="5495148" y="3486766"/>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7438A-9CE0-40B1-AFCE-AD33B91C5EEB}">
      <dsp:nvSpPr>
        <dsp:cNvPr id="0" name=""/>
        <dsp:cNvSpPr/>
      </dsp:nvSpPr>
      <dsp:spPr>
        <a:xfrm>
          <a:off x="5668877" y="2705636"/>
          <a:ext cx="1714422" cy="1483176"/>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Unique Value proposition </a:t>
          </a:r>
          <a:endParaRPr lang="aa-ET" sz="1400" b="1" kern="1200" dirty="0">
            <a:latin typeface="Corbel" panose="020B0503020204020204" pitchFamily="34" charset="0"/>
          </a:endParaRPr>
        </a:p>
      </dsp:txBody>
      <dsp:txXfrm>
        <a:off x="5952993" y="2951430"/>
        <a:ext cx="1146190" cy="991588"/>
      </dsp:txXfrm>
    </dsp:sp>
    <dsp:sp modelId="{0F6BFBE8-A507-442E-B314-93F400E72233}">
      <dsp:nvSpPr>
        <dsp:cNvPr id="0" name=""/>
        <dsp:cNvSpPr/>
      </dsp:nvSpPr>
      <dsp:spPr>
        <a:xfrm>
          <a:off x="3907737" y="363574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EEE4B-5E96-4261-87B0-71F85859616B}">
      <dsp:nvSpPr>
        <dsp:cNvPr id="0" name=""/>
        <dsp:cNvSpPr/>
      </dsp:nvSpPr>
      <dsp:spPr>
        <a:xfrm>
          <a:off x="4096553" y="3618910"/>
          <a:ext cx="1714422" cy="148317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Specialization </a:t>
          </a:r>
          <a:endParaRPr lang="aa-ET" sz="1400" b="1" kern="1200" dirty="0">
            <a:latin typeface="Corbel" panose="020B0503020204020204" pitchFamily="34" charset="0"/>
          </a:endParaRPr>
        </a:p>
      </dsp:txBody>
      <dsp:txXfrm>
        <a:off x="4380669" y="3864704"/>
        <a:ext cx="1146190" cy="991588"/>
      </dsp:txXfrm>
    </dsp:sp>
    <dsp:sp modelId="{2737E041-5162-495D-9E16-31AE6C5474FA}">
      <dsp:nvSpPr>
        <dsp:cNvPr id="0" name=""/>
        <dsp:cNvSpPr/>
      </dsp:nvSpPr>
      <dsp:spPr>
        <a:xfrm>
          <a:off x="2971448" y="2364817"/>
          <a:ext cx="789325" cy="680108"/>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D3B5-11D4-4F11-B032-11BB7675572F}">
      <dsp:nvSpPr>
        <dsp:cNvPr id="0" name=""/>
        <dsp:cNvSpPr/>
      </dsp:nvSpPr>
      <dsp:spPr>
        <a:xfrm>
          <a:off x="2516929" y="2706657"/>
          <a:ext cx="1714422" cy="1483176"/>
        </a:xfrm>
        <a:prstGeom prst="hexagon">
          <a:avLst>
            <a:gd name="adj" fmla="val 28570"/>
            <a:gd name="vf" fmla="val 11547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Marketing Strategy</a:t>
          </a:r>
          <a:endParaRPr lang="aa-ET" sz="1400" b="1" kern="1200" dirty="0">
            <a:latin typeface="Corbel" panose="020B0503020204020204" pitchFamily="34" charset="0"/>
          </a:endParaRPr>
        </a:p>
      </dsp:txBody>
      <dsp:txXfrm>
        <a:off x="2801045" y="2952451"/>
        <a:ext cx="1146190" cy="991588"/>
      </dsp:txXfrm>
    </dsp:sp>
    <dsp:sp modelId="{FCBE0ACB-B644-4510-A7A6-309B592886A6}">
      <dsp:nvSpPr>
        <dsp:cNvPr id="0" name=""/>
        <dsp:cNvSpPr/>
      </dsp:nvSpPr>
      <dsp:spPr>
        <a:xfrm>
          <a:off x="2516929" y="910212"/>
          <a:ext cx="1714422" cy="1483176"/>
        </a:xfrm>
        <a:prstGeom prst="hexagon">
          <a:avLst>
            <a:gd name="adj" fmla="val 28570"/>
            <a:gd name="vf" fmla="val 11547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orbel" panose="020B0503020204020204" pitchFamily="34" charset="0"/>
            </a:rPr>
            <a:t>Brand Reputation &amp; Loyalty</a:t>
          </a:r>
          <a:endParaRPr lang="aa-ET" sz="1400" b="1" kern="1200" dirty="0">
            <a:latin typeface="Corbel" panose="020B0503020204020204" pitchFamily="34" charset="0"/>
          </a:endParaRPr>
        </a:p>
      </dsp:txBody>
      <dsp:txXfrm>
        <a:off x="2801045" y="1156006"/>
        <a:ext cx="1146190" cy="991588"/>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9C44F-8BDF-4394-BB1D-6A5B9A7621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6EC90C2-14C7-40E8-A7AC-AEC7364FB1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F9A38CB-5342-40B5-AE49-67A22BA9A151}"/>
              </a:ext>
            </a:extLst>
          </p:cNvPr>
          <p:cNvSpPr>
            <a:spLocks noGrp="1"/>
          </p:cNvSpPr>
          <p:nvPr>
            <p:ph type="dt" sz="half" idx="10"/>
          </p:nvPr>
        </p:nvSpPr>
        <p:spPr/>
        <p:txBody>
          <a:bodyPr/>
          <a:lstStyle/>
          <a:p>
            <a:fld id="{DC354743-1605-4B3F-B346-6C12A37BDD72}" type="datetime1">
              <a:rPr lang="en-GB" smtClean="0">
                <a:solidFill>
                  <a:prstClr val="black">
                    <a:tint val="75000"/>
                  </a:prstClr>
                </a:solidFill>
              </a:rPr>
              <a:pPr/>
              <a:t>23/04/2025</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id="{B4375B1A-11C8-4594-872F-1D28D9515910}"/>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id="{64883078-DB44-453E-82F4-D1B49331FB0C}"/>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2219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0" name="Do not remove" hidden="1"/>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8956DF-032C-4E78-9A97-3C0E908E7C1D}"/>
              </a:ext>
            </a:extLst>
          </p:cNvPr>
          <p:cNvSpPr>
            <a:spLocks noGrp="1"/>
          </p:cNvSpPr>
          <p:nvPr>
            <p:ph type="title"/>
          </p:nvPr>
        </p:nvSpPr>
        <p:spPr>
          <a:xfrm>
            <a:off x="838200" y="320328"/>
            <a:ext cx="10055942" cy="568939"/>
          </a:xfrm>
        </p:spPr>
        <p:txBody>
          <a:bodyPr>
            <a:noAutofit/>
          </a:bodyPr>
          <a:lstStyle>
            <a:lvl1pPr>
              <a:defRPr sz="2000" b="1">
                <a:solidFill>
                  <a:srgbClr val="C00000"/>
                </a:solidFill>
                <a:latin typeface="Corbel" panose="020B050302020402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DEF518D2-4ED6-4F61-8F92-B7B5D23386B4}"/>
              </a:ext>
            </a:extLst>
          </p:cNvPr>
          <p:cNvSpPr>
            <a:spLocks noGrp="1"/>
          </p:cNvSpPr>
          <p:nvPr>
            <p:ph idx="1"/>
          </p:nvPr>
        </p:nvSpPr>
        <p:spPr>
          <a:xfrm>
            <a:off x="838200" y="1071716"/>
            <a:ext cx="10819294" cy="5105247"/>
          </a:xfrm>
        </p:spPr>
        <p:txBody>
          <a:bodyPr>
            <a:normAutofit/>
          </a:bodyPr>
          <a:lstStyle>
            <a:lvl1pPr>
              <a:defRPr sz="1600">
                <a:latin typeface="Corbel" panose="020B0503020204020204" pitchFamily="34" charset="0"/>
              </a:defRPr>
            </a:lvl1pPr>
            <a:lvl2pPr>
              <a:defRPr sz="1400">
                <a:latin typeface="Corbel" panose="020B0503020204020204" pitchFamily="34" charset="0"/>
              </a:defRPr>
            </a:lvl2pPr>
            <a:lvl3pPr>
              <a:defRPr sz="1200">
                <a:latin typeface="Corbel" panose="020B0503020204020204" pitchFamily="34" charset="0"/>
              </a:defRPr>
            </a:lvl3pPr>
            <a:lvl4pPr>
              <a:defRPr sz="1100">
                <a:latin typeface="Corbel" panose="020B0503020204020204" pitchFamily="34" charset="0"/>
              </a:defRPr>
            </a:lvl4pPr>
            <a:lvl5pPr>
              <a:defRPr sz="1100">
                <a:latin typeface="Corbel" panose="020B05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F9E7F7E5-6022-4054-A961-D49BF49F20C1}"/>
              </a:ext>
            </a:extLst>
          </p:cNvPr>
          <p:cNvSpPr>
            <a:spLocks noGrp="1"/>
          </p:cNvSpPr>
          <p:nvPr>
            <p:ph type="sldNum" sz="quarter" idx="12"/>
          </p:nvPr>
        </p:nvSpPr>
        <p:spPr>
          <a:xfrm>
            <a:off x="5937332" y="6356349"/>
            <a:ext cx="621030" cy="365125"/>
          </a:xfrm>
        </p:spPr>
        <p:txBody>
          <a:bodyPr/>
          <a:lstStyle>
            <a:lvl1pPr algn="ctr">
              <a:defRPr sz="1600" b="1">
                <a:solidFill>
                  <a:srgbClr val="C00000"/>
                </a:solidFill>
              </a:defRPr>
            </a:lvl1pPr>
          </a:lstStyle>
          <a:p>
            <a:fld id="{88DB5A6F-883B-4080-A811-FB5B8D05AFA3}" type="slidenum">
              <a:rPr lang="en-GB" smtClean="0"/>
              <a:pPr/>
              <a:t>‹#›</a:t>
            </a:fld>
            <a:endParaRPr lang="en-GB"/>
          </a:p>
        </p:txBody>
      </p:sp>
      <p:cxnSp>
        <p:nvCxnSpPr>
          <p:cNvPr id="8" name="Straight Connector 7">
            <a:extLst>
              <a:ext uri="{FF2B5EF4-FFF2-40B4-BE49-F238E27FC236}">
                <a16:creationId xmlns:a16="http://schemas.microsoft.com/office/drawing/2014/main" id="{E8198C67-32AC-4D73-9E23-54B4B535F2BE}"/>
              </a:ext>
            </a:extLst>
          </p:cNvPr>
          <p:cNvCxnSpPr>
            <a:cxnSpLocks/>
          </p:cNvCxnSpPr>
          <p:nvPr userDrawn="1"/>
        </p:nvCxnSpPr>
        <p:spPr>
          <a:xfrm>
            <a:off x="838200" y="934065"/>
            <a:ext cx="1005594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E0AF739-744C-4100-8998-58E5864AF01B}"/>
              </a:ext>
            </a:extLst>
          </p:cNvPr>
          <p:cNvCxnSpPr>
            <a:cxnSpLocks/>
          </p:cNvCxnSpPr>
          <p:nvPr userDrawn="1"/>
        </p:nvCxnSpPr>
        <p:spPr>
          <a:xfrm>
            <a:off x="838200" y="983225"/>
            <a:ext cx="10055942"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48512" y="368855"/>
            <a:ext cx="1125234" cy="407758"/>
          </a:xfrm>
          <a:prstGeom prst="rect">
            <a:avLst/>
          </a:prstGeom>
        </p:spPr>
      </p:pic>
    </p:spTree>
    <p:extLst>
      <p:ext uri="{BB962C8B-B14F-4D97-AF65-F5344CB8AC3E}">
        <p14:creationId xmlns:p14="http://schemas.microsoft.com/office/powerpoint/2010/main" val="3706037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9995A-E57C-46F2-B6F7-D79AC958F7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C1459F-E008-4F5F-80BE-0438CAC844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00AD9B-908F-49A2-B40F-B72B9812B73F}"/>
              </a:ext>
            </a:extLst>
          </p:cNvPr>
          <p:cNvSpPr>
            <a:spLocks noGrp="1"/>
          </p:cNvSpPr>
          <p:nvPr>
            <p:ph type="dt" sz="half" idx="10"/>
          </p:nvPr>
        </p:nvSpPr>
        <p:spPr/>
        <p:txBody>
          <a:bodyPr/>
          <a:lstStyle/>
          <a:p>
            <a:fld id="{FC6BBDE5-2238-4D80-9158-C05E2C427ED1}" type="datetime1">
              <a:rPr lang="en-GB" smtClean="0">
                <a:solidFill>
                  <a:prstClr val="black">
                    <a:tint val="75000"/>
                  </a:prstClr>
                </a:solidFill>
              </a:rPr>
              <a:pPr/>
              <a:t>23/04/2025</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id="{00768357-A940-4086-AB21-E18CD417E3F9}"/>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id="{E5A16FF4-7807-411F-AEA5-DD93BC882664}"/>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61594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8CB97-A888-4086-B658-FA53BCC38D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4966B62-DE34-43F8-AB57-E17369833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592A1A6-5FE9-4A6E-B38B-4387A7A85A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C345666-07F7-437B-AF6F-ECBA414B5FEE}"/>
              </a:ext>
            </a:extLst>
          </p:cNvPr>
          <p:cNvSpPr>
            <a:spLocks noGrp="1"/>
          </p:cNvSpPr>
          <p:nvPr>
            <p:ph type="dt" sz="half" idx="10"/>
          </p:nvPr>
        </p:nvSpPr>
        <p:spPr/>
        <p:txBody>
          <a:bodyPr/>
          <a:lstStyle/>
          <a:p>
            <a:fld id="{0A6D8459-DB25-4F27-8C2A-9EEF9E6601CD}" type="datetime1">
              <a:rPr lang="en-GB" smtClean="0">
                <a:solidFill>
                  <a:prstClr val="black">
                    <a:tint val="75000"/>
                  </a:prstClr>
                </a:solidFill>
              </a:rPr>
              <a:pPr/>
              <a:t>23/04/2025</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id="{0D3790CE-5F2B-4F90-9303-AFF8C6F112C6}"/>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id="{C2814FBF-8989-4B99-92BE-EF5177BFB0DB}"/>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086163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23743-C95C-4A97-A5C2-AE70E452406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1005F74-53D6-40C5-87AB-2F1D5D46C4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779437-1281-4C10-AE8C-44DE014ECF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EF237B8-7EB6-4B31-B126-3D276616AF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611C38-560F-47EC-85D7-3397130444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A908A73-F801-47E4-93B1-28E576780A24}"/>
              </a:ext>
            </a:extLst>
          </p:cNvPr>
          <p:cNvSpPr>
            <a:spLocks noGrp="1"/>
          </p:cNvSpPr>
          <p:nvPr>
            <p:ph type="dt" sz="half" idx="10"/>
          </p:nvPr>
        </p:nvSpPr>
        <p:spPr/>
        <p:txBody>
          <a:bodyPr/>
          <a:lstStyle/>
          <a:p>
            <a:fld id="{5467E42F-B699-412F-BEA9-99D9C8CD4D10}" type="datetime1">
              <a:rPr lang="en-GB" smtClean="0">
                <a:solidFill>
                  <a:prstClr val="black">
                    <a:tint val="75000"/>
                  </a:prstClr>
                </a:solidFill>
              </a:rPr>
              <a:pPr/>
              <a:t>23/04/2025</a:t>
            </a:fld>
            <a:endParaRPr lang="en-GB">
              <a:solidFill>
                <a:prstClr val="black">
                  <a:tint val="75000"/>
                </a:prstClr>
              </a:solidFill>
            </a:endParaRPr>
          </a:p>
        </p:txBody>
      </p:sp>
      <p:sp>
        <p:nvSpPr>
          <p:cNvPr id="8" name="Footer Placeholder 7">
            <a:extLst>
              <a:ext uri="{FF2B5EF4-FFF2-40B4-BE49-F238E27FC236}">
                <a16:creationId xmlns:a16="http://schemas.microsoft.com/office/drawing/2014/main" id="{9491DE6F-228B-4661-858C-85E30CBBAD20}"/>
              </a:ext>
            </a:extLst>
          </p:cNvPr>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a:extLst>
              <a:ext uri="{FF2B5EF4-FFF2-40B4-BE49-F238E27FC236}">
                <a16:creationId xmlns:a16="http://schemas.microsoft.com/office/drawing/2014/main" id="{43707DDF-C5B1-4DE6-B63F-3319BD98B3A7}"/>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91566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589F0-05AD-402E-BB98-34E429DCB71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D2DF18F-AD9D-4301-8CE4-54A4A20380FB}"/>
              </a:ext>
            </a:extLst>
          </p:cNvPr>
          <p:cNvSpPr>
            <a:spLocks noGrp="1"/>
          </p:cNvSpPr>
          <p:nvPr>
            <p:ph type="dt" sz="half" idx="10"/>
          </p:nvPr>
        </p:nvSpPr>
        <p:spPr/>
        <p:txBody>
          <a:bodyPr/>
          <a:lstStyle/>
          <a:p>
            <a:fld id="{C0193D92-AB62-47D8-9B18-C244F8B49623}" type="datetime1">
              <a:rPr lang="en-GB" smtClean="0">
                <a:solidFill>
                  <a:prstClr val="black">
                    <a:tint val="75000"/>
                  </a:prstClr>
                </a:solidFill>
              </a:rPr>
              <a:pPr/>
              <a:t>23/04/2025</a:t>
            </a:fld>
            <a:endParaRPr lang="en-GB">
              <a:solidFill>
                <a:prstClr val="black">
                  <a:tint val="75000"/>
                </a:prstClr>
              </a:solidFill>
            </a:endParaRPr>
          </a:p>
        </p:txBody>
      </p:sp>
      <p:sp>
        <p:nvSpPr>
          <p:cNvPr id="4" name="Footer Placeholder 3">
            <a:extLst>
              <a:ext uri="{FF2B5EF4-FFF2-40B4-BE49-F238E27FC236}">
                <a16:creationId xmlns:a16="http://schemas.microsoft.com/office/drawing/2014/main" id="{B6F61FD9-1803-4378-BC2B-11F95CB3FD49}"/>
              </a:ext>
            </a:extLst>
          </p:cNvPr>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a:extLst>
              <a:ext uri="{FF2B5EF4-FFF2-40B4-BE49-F238E27FC236}">
                <a16:creationId xmlns:a16="http://schemas.microsoft.com/office/drawing/2014/main" id="{9F36DAF7-3BAD-436F-9787-F1A250E26518}"/>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82830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9EAFF7-1AB5-477C-9E57-E178820AFC62}"/>
              </a:ext>
            </a:extLst>
          </p:cNvPr>
          <p:cNvSpPr>
            <a:spLocks noGrp="1"/>
          </p:cNvSpPr>
          <p:nvPr>
            <p:ph type="dt" sz="half" idx="10"/>
          </p:nvPr>
        </p:nvSpPr>
        <p:spPr/>
        <p:txBody>
          <a:bodyPr/>
          <a:lstStyle/>
          <a:p>
            <a:fld id="{70FA326F-71BB-4574-B5A7-6E1FC4FAAE0F}" type="datetime1">
              <a:rPr lang="en-GB" smtClean="0">
                <a:solidFill>
                  <a:prstClr val="black">
                    <a:tint val="75000"/>
                  </a:prstClr>
                </a:solidFill>
              </a:rPr>
              <a:pPr/>
              <a:t>23/04/2025</a:t>
            </a:fld>
            <a:endParaRPr lang="en-GB">
              <a:solidFill>
                <a:prstClr val="black">
                  <a:tint val="75000"/>
                </a:prstClr>
              </a:solidFill>
            </a:endParaRPr>
          </a:p>
        </p:txBody>
      </p:sp>
      <p:sp>
        <p:nvSpPr>
          <p:cNvPr id="3" name="Footer Placeholder 2">
            <a:extLst>
              <a:ext uri="{FF2B5EF4-FFF2-40B4-BE49-F238E27FC236}">
                <a16:creationId xmlns:a16="http://schemas.microsoft.com/office/drawing/2014/main" id="{F34D7BAF-6635-46B0-B662-1B6D7988AEBC}"/>
              </a:ext>
            </a:extLst>
          </p:cNvPr>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a:extLst>
              <a:ext uri="{FF2B5EF4-FFF2-40B4-BE49-F238E27FC236}">
                <a16:creationId xmlns:a16="http://schemas.microsoft.com/office/drawing/2014/main" id="{82C2065A-54B2-4383-BA49-5E2FBD0CC89B}"/>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9602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D73D-25DD-43F0-993F-6504D56C91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9C97548-0007-4234-A61A-C693FA1E8A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98AFA10-6A0C-4A8C-AB97-FFFBBEE079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B8FA-5DA6-4DC1-835E-39AE1D89F012}"/>
              </a:ext>
            </a:extLst>
          </p:cNvPr>
          <p:cNvSpPr>
            <a:spLocks noGrp="1"/>
          </p:cNvSpPr>
          <p:nvPr>
            <p:ph type="dt" sz="half" idx="10"/>
          </p:nvPr>
        </p:nvSpPr>
        <p:spPr/>
        <p:txBody>
          <a:bodyPr/>
          <a:lstStyle/>
          <a:p>
            <a:fld id="{F9BB2590-C843-4966-8201-FFF18279A80B}" type="datetime1">
              <a:rPr lang="en-GB" smtClean="0">
                <a:solidFill>
                  <a:prstClr val="black">
                    <a:tint val="75000"/>
                  </a:prstClr>
                </a:solidFill>
              </a:rPr>
              <a:pPr/>
              <a:t>23/04/2025</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id="{E57C7A9F-11A1-4806-B562-1F16A76DDDD0}"/>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id="{250F173F-7D53-48DE-A85C-2C2846D19AA6}"/>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56278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FFBFA-5455-4724-833D-C6D0340A7F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0451A5F-FDA1-4BFB-87CA-7E0E4D0B58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CE29220-099B-4282-AF36-D993183CB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4276DA-83FE-4521-9A5E-8239CCB09D7D}"/>
              </a:ext>
            </a:extLst>
          </p:cNvPr>
          <p:cNvSpPr>
            <a:spLocks noGrp="1"/>
          </p:cNvSpPr>
          <p:nvPr>
            <p:ph type="dt" sz="half" idx="10"/>
          </p:nvPr>
        </p:nvSpPr>
        <p:spPr/>
        <p:txBody>
          <a:bodyPr/>
          <a:lstStyle/>
          <a:p>
            <a:fld id="{41429AC0-D94D-4EBC-B8E9-7F3B3FF0600D}" type="datetime1">
              <a:rPr lang="en-GB" smtClean="0">
                <a:solidFill>
                  <a:prstClr val="black">
                    <a:tint val="75000"/>
                  </a:prstClr>
                </a:solidFill>
              </a:rPr>
              <a:pPr/>
              <a:t>23/04/2025</a:t>
            </a:fld>
            <a:endParaRPr lang="en-GB">
              <a:solidFill>
                <a:prstClr val="black">
                  <a:tint val="75000"/>
                </a:prstClr>
              </a:solidFill>
            </a:endParaRPr>
          </a:p>
        </p:txBody>
      </p:sp>
      <p:sp>
        <p:nvSpPr>
          <p:cNvPr id="6" name="Footer Placeholder 5">
            <a:extLst>
              <a:ext uri="{FF2B5EF4-FFF2-40B4-BE49-F238E27FC236}">
                <a16:creationId xmlns:a16="http://schemas.microsoft.com/office/drawing/2014/main" id="{24B64AAB-5864-4AD1-A7A0-2DCAB22C492C}"/>
              </a:ext>
            </a:extLst>
          </p:cNvPr>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a:extLst>
              <a:ext uri="{FF2B5EF4-FFF2-40B4-BE49-F238E27FC236}">
                <a16:creationId xmlns:a16="http://schemas.microsoft.com/office/drawing/2014/main" id="{D7F2ECB9-9356-4521-BEFF-42D2ED084127}"/>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147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7303-37AB-4BB6-9B1A-7FA6E519126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47F087-0322-4EF1-98D0-90889677F0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CCC492-0155-42B1-AED3-B4E146A75D09}"/>
              </a:ext>
            </a:extLst>
          </p:cNvPr>
          <p:cNvSpPr>
            <a:spLocks noGrp="1"/>
          </p:cNvSpPr>
          <p:nvPr>
            <p:ph type="dt" sz="half" idx="10"/>
          </p:nvPr>
        </p:nvSpPr>
        <p:spPr/>
        <p:txBody>
          <a:bodyPr/>
          <a:lstStyle/>
          <a:p>
            <a:fld id="{08125D85-9E15-4B73-B3CC-ED18EF02F2AE}" type="datetime1">
              <a:rPr lang="en-GB" smtClean="0">
                <a:solidFill>
                  <a:prstClr val="black">
                    <a:tint val="75000"/>
                  </a:prstClr>
                </a:solidFill>
              </a:rPr>
              <a:pPr/>
              <a:t>23/04/2025</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id="{504104C7-B4F9-4065-A6F3-FB87C9515A4C}"/>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id="{6C0250C5-C563-425C-B68B-4AD0F8227A33}"/>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5388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45637-1CC6-4FB1-A7B1-46780661ED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51FC278-C3CA-4882-8FF0-EAF78DB6A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D20668-73FD-4F12-8880-8FD79AE369E4}"/>
              </a:ext>
            </a:extLst>
          </p:cNvPr>
          <p:cNvSpPr>
            <a:spLocks noGrp="1"/>
          </p:cNvSpPr>
          <p:nvPr>
            <p:ph type="dt" sz="half" idx="10"/>
          </p:nvPr>
        </p:nvSpPr>
        <p:spPr/>
        <p:txBody>
          <a:bodyPr/>
          <a:lstStyle/>
          <a:p>
            <a:fld id="{4ACBAC8F-6700-4B37-A3FB-AC21FE45F0EA}" type="datetime1">
              <a:rPr lang="en-GB" smtClean="0">
                <a:solidFill>
                  <a:prstClr val="black">
                    <a:tint val="75000"/>
                  </a:prstClr>
                </a:solidFill>
              </a:rPr>
              <a:pPr/>
              <a:t>23/04/2025</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id="{5E1AA767-6246-4805-9FDA-0F16AC38D515}"/>
              </a:ext>
            </a:extLst>
          </p:cNvPr>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id="{B55B7B52-DCAC-4010-8ADF-3C05E95C20EC}"/>
              </a:ext>
            </a:extLst>
          </p:cNvPr>
          <p:cNvSpPr>
            <a:spLocks noGrp="1"/>
          </p:cNvSpPr>
          <p:nvPr>
            <p:ph type="sldNum" sz="quarter" idx="12"/>
          </p:nvPr>
        </p:nvSpPr>
        <p:spPr/>
        <p:txBody>
          <a:body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85850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0AB50-784F-471D-B560-2B7C458548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2F01D1-64A4-41D3-BDAC-C2E4E6029E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FB97ED-4B71-4F65-9481-B3EA1C5B89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2C2BF-4D64-4C22-BD43-BCA412418CB2}" type="datetime1">
              <a:rPr lang="en-GB" smtClean="0">
                <a:solidFill>
                  <a:prstClr val="black">
                    <a:tint val="75000"/>
                  </a:prstClr>
                </a:solidFill>
              </a:rPr>
              <a:pPr/>
              <a:t>23/04/2025</a:t>
            </a:fld>
            <a:endParaRPr lang="en-GB">
              <a:solidFill>
                <a:prstClr val="black">
                  <a:tint val="75000"/>
                </a:prstClr>
              </a:solidFill>
            </a:endParaRPr>
          </a:p>
        </p:txBody>
      </p:sp>
      <p:sp>
        <p:nvSpPr>
          <p:cNvPr id="5" name="Footer Placeholder 4">
            <a:extLst>
              <a:ext uri="{FF2B5EF4-FFF2-40B4-BE49-F238E27FC236}">
                <a16:creationId xmlns:a16="http://schemas.microsoft.com/office/drawing/2014/main" id="{77977186-81F6-4976-9392-2EE929F8DC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a:extLst>
              <a:ext uri="{FF2B5EF4-FFF2-40B4-BE49-F238E27FC236}">
                <a16:creationId xmlns:a16="http://schemas.microsoft.com/office/drawing/2014/main" id="{CB6B73A3-619E-48D4-ADEE-D91938EF9B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DB5A6F-883B-4080-A811-FB5B8D05AFA3}"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770293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288_9F86197C.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295_876FE18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296_51DAB8CA.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298_C22BA6AF.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297_21EDA74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285_4F20632E.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2A5_14084C6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2CA_FDE07EC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2A6_7145A78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2E4_86A2E2F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microsoft.com/office/2018/10/relationships/comments" Target="../comments/modernComment_265_4EC9EA6C.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microsoft.com/office/2018/10/relationships/comments" Target="../comments/modernComment_2AC_26E9389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microsoft.com/office/2018/10/relationships/comments" Target="../comments/modernComment_2AE_4A9249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2E7_7AC7A28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264_5D5B2B0F.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microsoft.com/office/2018/10/relationships/comments" Target="../comments/modernComment_27E_374F0DF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2AA_C5ED0A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2AB_68618A7E.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2AF_2FE4B40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2E8_CF76251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1.xml.rels><?xml version="1.0" encoding="UTF-8" standalone="yes"?>
<Relationships xmlns="http://schemas.openxmlformats.org/package/2006/relationships"><Relationship Id="rId2" Type="http://schemas.microsoft.com/office/2018/10/relationships/comments" Target="../comments/modernComment_290_C4A9BFDE.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microsoft.com/office/2018/10/relationships/comments" Target="../comments/modernComment_2B3_E1CAD56D.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microsoft.com/office/2018/10/relationships/comments" Target="../comments/modernComment_2B4_F0420F3C.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microsoft.com/office/2018/10/relationships/comments" Target="../comments/modernComment_2B5_322DDCC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CB4B-46B6-435C-9EDA-5E813D6D75DF}"/>
              </a:ext>
            </a:extLst>
          </p:cNvPr>
          <p:cNvSpPr>
            <a:spLocks noGrp="1"/>
          </p:cNvSpPr>
          <p:nvPr>
            <p:ph type="title"/>
          </p:nvPr>
        </p:nvSpPr>
        <p:spPr>
          <a:xfrm>
            <a:off x="909361" y="3873400"/>
            <a:ext cx="10055942" cy="568939"/>
          </a:xfrm>
        </p:spPr>
        <p:txBody>
          <a:bodyPr/>
          <a:lstStyle/>
          <a:p>
            <a:pPr algn="ctr"/>
            <a:r>
              <a:rPr lang="en-US" sz="6000" dirty="0">
                <a:solidFill>
                  <a:srgbClr val="FF0000"/>
                </a:solidFill>
              </a:rPr>
              <a:t>Strategy Document</a:t>
            </a:r>
            <a:br>
              <a:rPr lang="en-US" sz="6000" dirty="0">
                <a:solidFill>
                  <a:srgbClr val="FF0000"/>
                </a:solidFill>
              </a:rPr>
            </a:br>
            <a:r>
              <a:rPr lang="en-US" sz="6000" dirty="0">
                <a:solidFill>
                  <a:srgbClr val="FF0000"/>
                </a:solidFill>
              </a:rPr>
              <a:t> Medbury Medical Services </a:t>
            </a:r>
            <a:br>
              <a:rPr lang="en-US" sz="6000" dirty="0">
                <a:solidFill>
                  <a:srgbClr val="FF0000"/>
                </a:solidFill>
              </a:rPr>
            </a:br>
            <a:r>
              <a:rPr lang="en-US" sz="6000" dirty="0">
                <a:solidFill>
                  <a:srgbClr val="FF0000"/>
                </a:solidFill>
              </a:rPr>
              <a:t>Division</a:t>
            </a:r>
            <a:br>
              <a:rPr lang="en-US" sz="6000" dirty="0">
                <a:solidFill>
                  <a:srgbClr val="FF0000"/>
                </a:solidFill>
              </a:rPr>
            </a:br>
            <a:r>
              <a:rPr lang="en-US" sz="6000" dirty="0">
                <a:solidFill>
                  <a:srgbClr val="FF0000"/>
                </a:solidFill>
              </a:rPr>
              <a:t> 2025</a:t>
            </a:r>
            <a:br>
              <a:rPr lang="aa-ET" sz="6000" dirty="0">
                <a:solidFill>
                  <a:srgbClr val="FF0000"/>
                </a:solidFill>
              </a:rPr>
            </a:br>
            <a:br>
              <a:rPr lang="en-US" sz="6000" dirty="0">
                <a:solidFill>
                  <a:srgbClr val="FF0000"/>
                </a:solidFill>
              </a:rPr>
            </a:br>
            <a:r>
              <a:rPr lang="en-US" sz="6000" dirty="0">
                <a:solidFill>
                  <a:srgbClr val="FF0000"/>
                </a:solidFill>
              </a:rPr>
              <a:t> </a:t>
            </a:r>
            <a:br>
              <a:rPr lang="en-US" sz="6000" dirty="0">
                <a:solidFill>
                  <a:srgbClr val="FF0000"/>
                </a:solidFill>
              </a:rPr>
            </a:br>
            <a:endParaRPr lang="aa-ET" sz="6000" dirty="0">
              <a:solidFill>
                <a:srgbClr val="FF0000"/>
              </a:solidFill>
            </a:endParaRPr>
          </a:p>
        </p:txBody>
      </p:sp>
      <p:sp>
        <p:nvSpPr>
          <p:cNvPr id="4" name="Slide Number Placeholder 3">
            <a:extLst>
              <a:ext uri="{FF2B5EF4-FFF2-40B4-BE49-F238E27FC236}">
                <a16:creationId xmlns:a16="http://schemas.microsoft.com/office/drawing/2014/main" id="{C284A3B0-665C-4A09-B62C-BA8B7B2E7663}"/>
              </a:ext>
            </a:extLst>
          </p:cNvPr>
          <p:cNvSpPr>
            <a:spLocks noGrp="1"/>
          </p:cNvSpPr>
          <p:nvPr>
            <p:ph type="sldNum" sz="quarter" idx="12"/>
          </p:nvPr>
        </p:nvSpPr>
        <p:spPr/>
        <p:txBody>
          <a:bodyPr/>
          <a:lstStyle/>
          <a:p>
            <a:fld id="{88DB5A6F-883B-4080-A811-FB5B8D05AFA3}" type="slidenum">
              <a:rPr lang="en-GB" smtClean="0"/>
              <a:pPr/>
              <a:t>1</a:t>
            </a:fld>
            <a:endParaRPr lang="en-GB"/>
          </a:p>
        </p:txBody>
      </p:sp>
    </p:spTree>
    <p:extLst>
      <p:ext uri="{BB962C8B-B14F-4D97-AF65-F5344CB8AC3E}">
        <p14:creationId xmlns:p14="http://schemas.microsoft.com/office/powerpoint/2010/main" val="1390019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6B5B-18DD-E6AD-91EC-E356E9A18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779FC-7D7D-F03D-C843-D96DA023EC86}"/>
              </a:ext>
            </a:extLst>
          </p:cNvPr>
          <p:cNvSpPr>
            <a:spLocks noGrp="1"/>
          </p:cNvSpPr>
          <p:nvPr>
            <p:ph type="title"/>
          </p:nvPr>
        </p:nvSpPr>
        <p:spPr>
          <a:xfrm>
            <a:off x="139700" y="-30480"/>
            <a:ext cx="10055942" cy="568939"/>
          </a:xfrm>
        </p:spPr>
        <p:txBody>
          <a:bodyPr/>
          <a:lstStyle/>
          <a:p>
            <a:r>
              <a:rPr lang="en-GB" dirty="0"/>
              <a:t>Executive summary</a:t>
            </a:r>
            <a:endParaRPr lang="aa-ET" dirty="0"/>
          </a:p>
        </p:txBody>
      </p:sp>
      <p:sp>
        <p:nvSpPr>
          <p:cNvPr id="4" name="Slide Number Placeholder 3">
            <a:extLst>
              <a:ext uri="{FF2B5EF4-FFF2-40B4-BE49-F238E27FC236}">
                <a16:creationId xmlns:a16="http://schemas.microsoft.com/office/drawing/2014/main" id="{73F851D5-C06C-1AB4-10DA-9A770F9ACC0C}"/>
              </a:ext>
            </a:extLst>
          </p:cNvPr>
          <p:cNvSpPr>
            <a:spLocks noGrp="1"/>
          </p:cNvSpPr>
          <p:nvPr>
            <p:ph type="sldNum" sz="quarter" idx="12"/>
          </p:nvPr>
        </p:nvSpPr>
        <p:spPr/>
        <p:txBody>
          <a:bodyPr/>
          <a:lstStyle/>
          <a:p>
            <a:fld id="{88DB5A6F-883B-4080-A811-FB5B8D05AFA3}" type="slidenum">
              <a:rPr lang="en-GB" smtClean="0"/>
              <a:pPr/>
              <a:t>2</a:t>
            </a:fld>
            <a:endParaRPr lang="en-GB"/>
          </a:p>
        </p:txBody>
      </p:sp>
      <p:sp>
        <p:nvSpPr>
          <p:cNvPr id="7" name="TextBox 3">
            <a:extLst>
              <a:ext uri="{FF2B5EF4-FFF2-40B4-BE49-F238E27FC236}">
                <a16:creationId xmlns:a16="http://schemas.microsoft.com/office/drawing/2014/main" id="{EF5E377E-37CB-80F5-422A-A53206E35982}"/>
              </a:ext>
            </a:extLst>
          </p:cNvPr>
          <p:cNvSpPr txBox="1">
            <a:spLocks noGrp="1"/>
          </p:cNvSpPr>
          <p:nvPr>
            <p:ph idx="1"/>
          </p:nvPr>
        </p:nvSpPr>
        <p:spPr>
          <a:xfrm>
            <a:off x="139700" y="382438"/>
            <a:ext cx="11912600" cy="6208879"/>
          </a:xfrm>
          <a:prstGeom prst="rect">
            <a:avLst/>
          </a:prstGeom>
          <a:solidFill>
            <a:schemeClr val="bg1"/>
          </a:solidFill>
          <a:ln>
            <a:noFill/>
          </a:ln>
        </p:spPr>
        <p:txBody>
          <a:bodyPr wrap="square" rtlCol="0">
            <a:sp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buNone/>
            </a:pPr>
            <a:r>
              <a:rPr lang="en-US" b="1" dirty="0">
                <a:latin typeface="Corbel" panose="020B0503020204020204" pitchFamily="34" charset="0"/>
                <a:ea typeface="+mj-ea"/>
                <a:cs typeface="+mj-cs"/>
              </a:rPr>
              <a:t>MMS </a:t>
            </a:r>
            <a:r>
              <a:rPr lang="en-US" b="1">
                <a:latin typeface="Corbel" panose="020B0503020204020204" pitchFamily="34" charset="0"/>
                <a:ea typeface="+mj-ea"/>
                <a:cs typeface="+mj-cs"/>
              </a:rPr>
              <a:t>is  a Corporate </a:t>
            </a:r>
            <a:r>
              <a:rPr lang="en-US" b="1" dirty="0">
                <a:latin typeface="Corbel" panose="020B0503020204020204" pitchFamily="34" charset="0"/>
                <a:ea typeface="+mj-ea"/>
                <a:cs typeface="+mj-cs"/>
              </a:rPr>
              <a:t>Health &amp; Wellness Business </a:t>
            </a:r>
            <a:r>
              <a:rPr lang="en-US" dirty="0">
                <a:latin typeface="Corbel" panose="020B0503020204020204" pitchFamily="34" charset="0"/>
                <a:ea typeface="+mj-ea"/>
                <a:cs typeface="+mj-cs"/>
              </a:rPr>
              <a:t>operates within the </a:t>
            </a:r>
            <a:r>
              <a:rPr lang="en-US" b="1" dirty="0">
                <a:latin typeface="Corbel" panose="020B0503020204020204" pitchFamily="34" charset="0"/>
                <a:ea typeface="+mj-ea"/>
                <a:cs typeface="+mj-cs"/>
              </a:rPr>
              <a:t>Workplace Wellness, Preventative and Personalized Medicine, Public Health, Healthy Nutrition &amp; Weight Control </a:t>
            </a:r>
            <a:r>
              <a:rPr lang="en-US" dirty="0">
                <a:latin typeface="Corbel" panose="020B0503020204020204" pitchFamily="34" charset="0"/>
                <a:ea typeface="+mj-ea"/>
                <a:cs typeface="+mj-cs"/>
              </a:rPr>
              <a:t>sub-segments of the Global Wellness market. </a:t>
            </a:r>
          </a:p>
          <a:p>
            <a:pPr indent="0">
              <a:buNone/>
            </a:pPr>
            <a:endParaRPr lang="en-US" sz="400" dirty="0">
              <a:latin typeface="Corbel" panose="020B0503020204020204" pitchFamily="34" charset="0"/>
              <a:ea typeface="+mj-ea"/>
              <a:cs typeface="+mj-cs"/>
            </a:endParaRPr>
          </a:p>
          <a:p>
            <a:pPr lvl="0" indent="0">
              <a:buNone/>
            </a:pPr>
            <a:r>
              <a:rPr lang="en-US" dirty="0"/>
              <a:t>It </a:t>
            </a:r>
            <a:r>
              <a:rPr lang="en-US" dirty="0">
                <a:latin typeface="Corbel" panose="020B0503020204020204" pitchFamily="34" charset="0"/>
                <a:ea typeface="+mj-ea"/>
                <a:cs typeface="+mj-cs"/>
              </a:rPr>
              <a:t>is an innovative approach to creating a bouquet of wellness solutions within a one-stop-shop which is targeted at meeting the multi-faceted corporate and individual health needs. </a:t>
            </a:r>
          </a:p>
          <a:p>
            <a:pPr indent="0">
              <a:buNone/>
            </a:pPr>
            <a:endParaRPr lang="en-US" sz="100" dirty="0">
              <a:latin typeface="Corbel" panose="020B0503020204020204" pitchFamily="34" charset="0"/>
              <a:ea typeface="+mj-ea"/>
              <a:cs typeface="+mj-cs"/>
            </a:endParaRPr>
          </a:p>
          <a:p>
            <a:pPr indent="0">
              <a:buNone/>
            </a:pPr>
            <a:r>
              <a:rPr lang="en-US" dirty="0">
                <a:latin typeface="Corbel" panose="020B0503020204020204" pitchFamily="34" charset="0"/>
                <a:ea typeface="+mj-ea"/>
                <a:cs typeface="+mj-cs"/>
              </a:rPr>
              <a:t>The market opportunity stems from </a:t>
            </a:r>
          </a:p>
          <a:p>
            <a:pPr marL="342900" indent="-342900">
              <a:buAutoNum type="arabicPeriod"/>
            </a:pPr>
            <a:r>
              <a:rPr lang="en-US" dirty="0">
                <a:latin typeface="Corbel" panose="020B0503020204020204" pitchFamily="34" charset="0"/>
                <a:ea typeface="+mj-ea"/>
                <a:cs typeface="+mj-cs"/>
              </a:rPr>
              <a:t>Need for corporates to facilitate their compliance with international and local HSE and Quality standards</a:t>
            </a:r>
          </a:p>
          <a:p>
            <a:pPr marL="342900" indent="-342900">
              <a:buAutoNum type="arabicPeriod"/>
            </a:pPr>
            <a:r>
              <a:rPr lang="en-US" dirty="0">
                <a:latin typeface="Corbel" panose="020B0503020204020204" pitchFamily="34" charset="0"/>
                <a:ea typeface="+mj-ea"/>
                <a:cs typeface="+mj-cs"/>
              </a:rPr>
              <a:t>Need for delivery of No 1 above in remote/ difficult terrains and conditions</a:t>
            </a:r>
          </a:p>
          <a:p>
            <a:pPr marL="342900" indent="-342900">
              <a:buAutoNum type="arabicPeriod"/>
            </a:pPr>
            <a:r>
              <a:rPr lang="en-US" dirty="0">
                <a:latin typeface="Corbel" panose="020B0503020204020204" pitchFamily="34" charset="0"/>
                <a:ea typeface="+mj-ea"/>
                <a:cs typeface="+mj-cs"/>
              </a:rPr>
              <a:t>Need to facilitate be-spoke post-screening specialized medical evaluation and interventions for clients e.g. Weight control</a:t>
            </a:r>
            <a:endParaRPr lang="en-US" b="1" dirty="0">
              <a:latin typeface="Corbel" panose="020B0503020204020204" pitchFamily="34" charset="0"/>
              <a:ea typeface="+mj-ea"/>
              <a:cs typeface="+mj-cs"/>
            </a:endParaRPr>
          </a:p>
          <a:p>
            <a:pPr marL="342900" indent="-342900">
              <a:buAutoNum type="arabicPeriod"/>
            </a:pPr>
            <a:r>
              <a:rPr lang="en-US" dirty="0"/>
              <a:t>Need to solve customer experience and quality-related problems such as prolonged waiting time, TAT, medical errors, confidentiality and report delivery. </a:t>
            </a:r>
          </a:p>
          <a:p>
            <a:pPr marL="342900" indent="-342900">
              <a:buAutoNum type="arabicPeriod"/>
            </a:pPr>
            <a:r>
              <a:rPr lang="en-US" dirty="0"/>
              <a:t>Need for all-in-one wellness hub that connects wellness-seeking clients with wellness providers</a:t>
            </a:r>
          </a:p>
          <a:p>
            <a:pPr marL="342900" indent="-342900">
              <a:buAutoNum type="arabicPeriod"/>
            </a:pPr>
            <a:endParaRPr lang="en-US" sz="100" dirty="0"/>
          </a:p>
          <a:p>
            <a:pPr indent="0">
              <a:buNone/>
            </a:pPr>
            <a:endParaRPr lang="en-US" dirty="0">
              <a:solidFill>
                <a:srgbClr val="000000"/>
              </a:solidFill>
            </a:endParaRPr>
          </a:p>
          <a:p>
            <a:pPr indent="0">
              <a:buNone/>
            </a:pPr>
            <a:r>
              <a:rPr lang="en-US" dirty="0">
                <a:solidFill>
                  <a:srgbClr val="000000"/>
                </a:solidFill>
              </a:rPr>
              <a:t>Overall target are to</a:t>
            </a:r>
            <a:r>
              <a:rPr lang="en-US" sz="1800" dirty="0">
                <a:solidFill>
                  <a:srgbClr val="000000"/>
                </a:solidFill>
              </a:rPr>
              <a:t>:</a:t>
            </a:r>
          </a:p>
          <a:p>
            <a:pPr indent="0">
              <a:buNone/>
            </a:pPr>
            <a:r>
              <a:rPr lang="en-US" dirty="0">
                <a:solidFill>
                  <a:srgbClr val="000000"/>
                </a:solidFill>
              </a:rPr>
              <a:t>1. </a:t>
            </a:r>
            <a:r>
              <a:rPr lang="en-US" sz="1800" dirty="0">
                <a:effectLst/>
                <a:latin typeface="Aptos" panose="020B0004020202020204" pitchFamily="34" charset="0"/>
                <a:ea typeface="Aptos" panose="020B0004020202020204" pitchFamily="34" charset="0"/>
                <a:cs typeface="Times New Roman" panose="02020603050405020304" pitchFamily="18" charset="0"/>
              </a:rPr>
              <a:t>To build self-sustainable business units that drive </a:t>
            </a:r>
            <a:r>
              <a:rPr lang="en-US" sz="1800" dirty="0" err="1">
                <a:effectLst/>
                <a:latin typeface="Aptos" panose="020B0004020202020204" pitchFamily="34" charset="0"/>
                <a:ea typeface="Aptos" panose="020B0004020202020204" pitchFamily="34" charset="0"/>
                <a:cs typeface="Times New Roman" panose="02020603050405020304" pitchFamily="18" charset="0"/>
              </a:rPr>
              <a:t>Medbury's</a:t>
            </a:r>
            <a:r>
              <a:rPr lang="en-US" sz="1800" dirty="0">
                <a:effectLst/>
                <a:latin typeface="Aptos" panose="020B0004020202020204" pitchFamily="34" charset="0"/>
                <a:ea typeface="Aptos" panose="020B0004020202020204" pitchFamily="34" charset="0"/>
                <a:cs typeface="Times New Roman" panose="02020603050405020304" pitchFamily="18" charset="0"/>
              </a:rPr>
              <a:t> Corporate Health &amp; Wellness leadership position in the Nigerian healthcare industry within 6 months</a:t>
            </a:r>
            <a:endParaRPr lang="en-US" dirty="0">
              <a:solidFill>
                <a:srgbClr val="000000"/>
              </a:solidFill>
            </a:endParaRPr>
          </a:p>
          <a:p>
            <a:pPr indent="0">
              <a:buNone/>
            </a:pPr>
            <a:r>
              <a:rPr lang="en-US" dirty="0">
                <a:solidFill>
                  <a:srgbClr val="000000"/>
                </a:solidFill>
              </a:rPr>
              <a:t>2. To grow </a:t>
            </a:r>
            <a:r>
              <a:rPr lang="en-US" sz="1800" dirty="0">
                <a:solidFill>
                  <a:srgbClr val="000000"/>
                </a:solidFill>
              </a:rPr>
              <a:t>current portfolio by 50% and create new product lines to achieve 50% new customer acquisitions per year.</a:t>
            </a:r>
            <a:endParaRPr lang="en-US" sz="2000" dirty="0">
              <a:latin typeface="Corbel" panose="020B0503020204020204" pitchFamily="34" charset="0"/>
              <a:ea typeface="+mj-ea"/>
              <a:cs typeface="+mj-cs"/>
            </a:endParaRPr>
          </a:p>
        </p:txBody>
      </p:sp>
    </p:spTree>
    <p:extLst>
      <p:ext uri="{BB962C8B-B14F-4D97-AF65-F5344CB8AC3E}">
        <p14:creationId xmlns:p14="http://schemas.microsoft.com/office/powerpoint/2010/main" val="3879361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4C308-D800-D3A5-4B99-AF790491A9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D55F83-4082-4B1F-EADF-15DE87BDB577}"/>
              </a:ext>
            </a:extLst>
          </p:cNvPr>
          <p:cNvSpPr>
            <a:spLocks noGrp="1"/>
          </p:cNvSpPr>
          <p:nvPr>
            <p:ph type="sldNum" sz="quarter" idx="12"/>
          </p:nvPr>
        </p:nvSpPr>
        <p:spPr/>
        <p:txBody>
          <a:bodyPr/>
          <a:lstStyle/>
          <a:p>
            <a:fld id="{88DB5A6F-883B-4080-A811-FB5B8D05AFA3}" type="slidenum">
              <a:rPr lang="en-GB" smtClean="0"/>
              <a:pPr/>
              <a:t>3</a:t>
            </a:fld>
            <a:endParaRPr lang="en-GB"/>
          </a:p>
        </p:txBody>
      </p:sp>
      <p:sp>
        <p:nvSpPr>
          <p:cNvPr id="6" name="Title 1">
            <a:extLst>
              <a:ext uri="{FF2B5EF4-FFF2-40B4-BE49-F238E27FC236}">
                <a16:creationId xmlns:a16="http://schemas.microsoft.com/office/drawing/2014/main" id="{884CC341-3A84-E752-54BF-6A3F8C12955A}"/>
              </a:ext>
            </a:extLst>
          </p:cNvPr>
          <p:cNvSpPr txBox="1">
            <a:spLocks/>
          </p:cNvSpPr>
          <p:nvPr/>
        </p:nvSpPr>
        <p:spPr>
          <a:xfrm>
            <a:off x="0" y="293132"/>
            <a:ext cx="12147550" cy="539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r>
              <a:rPr lang="en-US" dirty="0"/>
              <a:t> Market Size, Segmentation &amp; Analysis-  </a:t>
            </a:r>
            <a:br>
              <a:rPr lang="en-US" dirty="0"/>
            </a:br>
            <a:r>
              <a:rPr lang="en-US" dirty="0"/>
              <a:t> </a:t>
            </a:r>
            <a:br>
              <a:rPr lang="en-US" i="1" dirty="0">
                <a:solidFill>
                  <a:srgbClr val="3C1FE9"/>
                </a:solidFill>
              </a:rPr>
            </a:br>
            <a:endParaRPr lang="aa-ET" i="1" dirty="0">
              <a:solidFill>
                <a:srgbClr val="3C1FE9"/>
              </a:solidFill>
            </a:endParaRPr>
          </a:p>
        </p:txBody>
      </p:sp>
      <p:sp>
        <p:nvSpPr>
          <p:cNvPr id="3" name="Content Placeholder 2">
            <a:extLst>
              <a:ext uri="{FF2B5EF4-FFF2-40B4-BE49-F238E27FC236}">
                <a16:creationId xmlns:a16="http://schemas.microsoft.com/office/drawing/2014/main" id="{FD41F3DB-6ADB-A5FE-3737-6F9BF6D9B39C}"/>
              </a:ext>
            </a:extLst>
          </p:cNvPr>
          <p:cNvSpPr>
            <a:spLocks noGrp="1"/>
          </p:cNvSpPr>
          <p:nvPr>
            <p:ph idx="1"/>
          </p:nvPr>
        </p:nvSpPr>
        <p:spPr>
          <a:xfrm>
            <a:off x="121920" y="487680"/>
            <a:ext cx="11856720" cy="6233794"/>
          </a:xfrm>
          <a:solidFill>
            <a:schemeClr val="bg1"/>
          </a:solidFill>
        </p:spPr>
        <p:txBody>
          <a:bodyPr>
            <a:normAutofit/>
          </a:bodyPr>
          <a:lstStyle/>
          <a:p>
            <a:r>
              <a:rPr lang="en-US" sz="1800" dirty="0"/>
              <a:t>The global corporate wellness solutions market estimated at $61.2 billion revenue in 2021</a:t>
            </a:r>
          </a:p>
          <a:p>
            <a:r>
              <a:rPr lang="en-US" sz="1800" dirty="0"/>
              <a:t>Is poised to reach $94.6 billion by 2026, growing at a CAGR of 9.1% from 2021 to 2026.</a:t>
            </a:r>
          </a:p>
          <a:p>
            <a:r>
              <a:rPr lang="en-US" sz="1800" dirty="0"/>
              <a:t>In a study of residents of  3 Nigerian states, 48.2% of those who had ever had a medical check-up did so frequently. </a:t>
            </a:r>
          </a:p>
          <a:p>
            <a:r>
              <a:rPr lang="en-US" sz="1800" dirty="0"/>
              <a:t>In a study of traders, 29.4% of males and 39.4% of females practiced periodic medical checkups. </a:t>
            </a:r>
          </a:p>
          <a:p>
            <a:pPr marL="0" indent="0">
              <a:buNone/>
            </a:pPr>
            <a:r>
              <a:rPr lang="en-US" sz="1800" dirty="0"/>
              <a:t> </a:t>
            </a:r>
          </a:p>
        </p:txBody>
      </p:sp>
      <p:pic>
        <p:nvPicPr>
          <p:cNvPr id="5" name="Content Placeholder 5">
            <a:extLst>
              <a:ext uri="{FF2B5EF4-FFF2-40B4-BE49-F238E27FC236}">
                <a16:creationId xmlns:a16="http://schemas.microsoft.com/office/drawing/2014/main" id="{403DCC18-9472-1E12-A98D-DC2D312951C6}"/>
              </a:ext>
            </a:extLst>
          </p:cNvPr>
          <p:cNvPicPr>
            <a:picLocks noChangeAspect="1"/>
          </p:cNvPicPr>
          <p:nvPr/>
        </p:nvPicPr>
        <p:blipFill>
          <a:blip r:embed="rId2"/>
          <a:stretch>
            <a:fillRect/>
          </a:stretch>
        </p:blipFill>
        <p:spPr>
          <a:xfrm>
            <a:off x="1065507" y="1924446"/>
            <a:ext cx="7906736" cy="4797028"/>
          </a:xfrm>
          <a:prstGeom prst="rect">
            <a:avLst/>
          </a:prstGeom>
        </p:spPr>
      </p:pic>
      <p:sp>
        <p:nvSpPr>
          <p:cNvPr id="7" name="Oval 6">
            <a:extLst>
              <a:ext uri="{FF2B5EF4-FFF2-40B4-BE49-F238E27FC236}">
                <a16:creationId xmlns:a16="http://schemas.microsoft.com/office/drawing/2014/main" id="{9DE5A69D-843F-6DFB-B431-AFA2B03B63CA}"/>
              </a:ext>
            </a:extLst>
          </p:cNvPr>
          <p:cNvSpPr/>
          <p:nvPr/>
        </p:nvSpPr>
        <p:spPr>
          <a:xfrm>
            <a:off x="1463040" y="3870960"/>
            <a:ext cx="1879600" cy="1770539"/>
          </a:xfrm>
          <a:prstGeom prst="ellipse">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94123F5-C148-BEFB-DA85-76CB425A7009}"/>
              </a:ext>
            </a:extLst>
          </p:cNvPr>
          <p:cNvSpPr/>
          <p:nvPr/>
        </p:nvSpPr>
        <p:spPr>
          <a:xfrm>
            <a:off x="4089835" y="4196080"/>
            <a:ext cx="869973" cy="778589"/>
          </a:xfrm>
          <a:prstGeom prst="ellipse">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9DCE0E3-2CDA-B771-6F47-70DE02AF6F4D}"/>
              </a:ext>
            </a:extLst>
          </p:cNvPr>
          <p:cNvSpPr/>
          <p:nvPr/>
        </p:nvSpPr>
        <p:spPr>
          <a:xfrm>
            <a:off x="2690341" y="4736947"/>
            <a:ext cx="2269467" cy="2098674"/>
          </a:xfrm>
          <a:prstGeom prst="ellipse">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743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95F36-3B64-0909-727B-AD65699E6E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FC11BD-AAFF-E20C-C4DB-5F300CB04242}"/>
              </a:ext>
            </a:extLst>
          </p:cNvPr>
          <p:cNvSpPr>
            <a:spLocks noGrp="1"/>
          </p:cNvSpPr>
          <p:nvPr>
            <p:ph type="sldNum" sz="quarter" idx="12"/>
          </p:nvPr>
        </p:nvSpPr>
        <p:spPr/>
        <p:txBody>
          <a:bodyPr/>
          <a:lstStyle/>
          <a:p>
            <a:fld id="{88DB5A6F-883B-4080-A811-FB5B8D05AFA3}" type="slidenum">
              <a:rPr lang="en-GB" smtClean="0"/>
              <a:pPr/>
              <a:t>4</a:t>
            </a:fld>
            <a:endParaRPr lang="en-GB"/>
          </a:p>
        </p:txBody>
      </p:sp>
      <p:sp>
        <p:nvSpPr>
          <p:cNvPr id="6" name="Title 1">
            <a:extLst>
              <a:ext uri="{FF2B5EF4-FFF2-40B4-BE49-F238E27FC236}">
                <a16:creationId xmlns:a16="http://schemas.microsoft.com/office/drawing/2014/main" id="{22C9D112-5480-D2F8-27E5-1297606EB84B}"/>
              </a:ext>
            </a:extLst>
          </p:cNvPr>
          <p:cNvSpPr txBox="1">
            <a:spLocks/>
          </p:cNvSpPr>
          <p:nvPr/>
        </p:nvSpPr>
        <p:spPr>
          <a:xfrm>
            <a:off x="0" y="293132"/>
            <a:ext cx="12147550" cy="539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r>
              <a:rPr lang="en-US" dirty="0"/>
              <a:t> Market Size, Segmentation &amp; Analysis-  </a:t>
            </a:r>
            <a:br>
              <a:rPr lang="en-US" dirty="0"/>
            </a:br>
            <a:r>
              <a:rPr lang="en-US" dirty="0"/>
              <a:t> </a:t>
            </a:r>
            <a:br>
              <a:rPr lang="en-US" i="1" dirty="0">
                <a:solidFill>
                  <a:srgbClr val="3C1FE9"/>
                </a:solidFill>
              </a:rPr>
            </a:br>
            <a:endParaRPr lang="aa-ET" i="1" dirty="0">
              <a:solidFill>
                <a:srgbClr val="3C1FE9"/>
              </a:solidFill>
            </a:endParaRPr>
          </a:p>
        </p:txBody>
      </p:sp>
      <p:sp>
        <p:nvSpPr>
          <p:cNvPr id="3" name="Content Placeholder 2">
            <a:extLst>
              <a:ext uri="{FF2B5EF4-FFF2-40B4-BE49-F238E27FC236}">
                <a16:creationId xmlns:a16="http://schemas.microsoft.com/office/drawing/2014/main" id="{E1173DEF-633E-592A-7183-9B8CC83A5116}"/>
              </a:ext>
            </a:extLst>
          </p:cNvPr>
          <p:cNvSpPr>
            <a:spLocks noGrp="1"/>
          </p:cNvSpPr>
          <p:nvPr>
            <p:ph idx="1"/>
          </p:nvPr>
        </p:nvSpPr>
        <p:spPr>
          <a:xfrm>
            <a:off x="111760" y="1071716"/>
            <a:ext cx="11968480" cy="5105247"/>
          </a:xfrm>
        </p:spPr>
        <p:txBody>
          <a:bodyPr>
            <a:normAutofit/>
          </a:bodyPr>
          <a:lstStyle/>
          <a:p>
            <a:pPr marL="0" indent="0">
              <a:buNone/>
            </a:pPr>
            <a:endParaRPr lang="en-US" sz="2000" dirty="0"/>
          </a:p>
        </p:txBody>
      </p:sp>
      <p:pic>
        <p:nvPicPr>
          <p:cNvPr id="8" name="Picture 7">
            <a:extLst>
              <a:ext uri="{FF2B5EF4-FFF2-40B4-BE49-F238E27FC236}">
                <a16:creationId xmlns:a16="http://schemas.microsoft.com/office/drawing/2014/main" id="{5AD6659A-AB76-CDAE-18CD-1D2D99B60DAE}"/>
              </a:ext>
            </a:extLst>
          </p:cNvPr>
          <p:cNvPicPr>
            <a:picLocks noChangeAspect="1"/>
          </p:cNvPicPr>
          <p:nvPr/>
        </p:nvPicPr>
        <p:blipFill>
          <a:blip r:embed="rId2"/>
          <a:stretch>
            <a:fillRect/>
          </a:stretch>
        </p:blipFill>
        <p:spPr>
          <a:xfrm>
            <a:off x="2997200" y="2151464"/>
            <a:ext cx="9083040" cy="4455830"/>
          </a:xfrm>
          <a:prstGeom prst="rect">
            <a:avLst/>
          </a:prstGeom>
        </p:spPr>
      </p:pic>
      <p:sp>
        <p:nvSpPr>
          <p:cNvPr id="13" name="TextBox 12">
            <a:extLst>
              <a:ext uri="{FF2B5EF4-FFF2-40B4-BE49-F238E27FC236}">
                <a16:creationId xmlns:a16="http://schemas.microsoft.com/office/drawing/2014/main" id="{6CEB75A2-563A-EA84-35D9-4A4D813D1350}"/>
              </a:ext>
            </a:extLst>
          </p:cNvPr>
          <p:cNvSpPr txBox="1"/>
          <p:nvPr/>
        </p:nvSpPr>
        <p:spPr>
          <a:xfrm>
            <a:off x="111760" y="2297946"/>
            <a:ext cx="2880913" cy="4021614"/>
          </a:xfrm>
          <a:prstGeom prst="rect">
            <a:avLst/>
          </a:prstGeom>
          <a:noFill/>
        </p:spPr>
        <p:txBody>
          <a:bodyPr wrap="square">
            <a:spAutoFit/>
          </a:bodyPr>
          <a:lstStyle/>
          <a:p>
            <a:pPr algn="l">
              <a:spcBef>
                <a:spcPts val="750"/>
              </a:spcBef>
              <a:spcAft>
                <a:spcPts val="750"/>
              </a:spcAft>
            </a:pPr>
            <a:r>
              <a:rPr lang="en-US" sz="1400" b="1" dirty="0">
                <a:latin typeface="Corbel" panose="020B0503020204020204" pitchFamily="34" charset="0"/>
              </a:rPr>
              <a:t>By Service Offering</a:t>
            </a:r>
          </a:p>
          <a:p>
            <a:pPr algn="l">
              <a:spcAft>
                <a:spcPts val="750"/>
              </a:spcAft>
              <a:buFont typeface="Arial" panose="020B0604020202020204" pitchFamily="34" charset="0"/>
              <a:buChar char="•"/>
            </a:pPr>
            <a:r>
              <a:rPr lang="en-US" sz="1400" dirty="0">
                <a:latin typeface="Corbel" panose="020B0503020204020204" pitchFamily="34" charset="0"/>
              </a:rPr>
              <a:t>Health Risk Assessment</a:t>
            </a:r>
          </a:p>
          <a:p>
            <a:pPr algn="l">
              <a:spcAft>
                <a:spcPts val="750"/>
              </a:spcAft>
              <a:buFont typeface="Arial" panose="020B0604020202020204" pitchFamily="34" charset="0"/>
              <a:buChar char="•"/>
            </a:pPr>
            <a:r>
              <a:rPr lang="en-US" sz="1400" dirty="0">
                <a:latin typeface="Corbel" panose="020B0503020204020204" pitchFamily="34" charset="0"/>
              </a:rPr>
              <a:t>Nutrition and Weight Management</a:t>
            </a:r>
          </a:p>
          <a:p>
            <a:pPr algn="l">
              <a:spcAft>
                <a:spcPts val="750"/>
              </a:spcAft>
              <a:buFont typeface="Arial" panose="020B0604020202020204" pitchFamily="34" charset="0"/>
              <a:buChar char="•"/>
            </a:pPr>
            <a:r>
              <a:rPr lang="en-US" sz="1400" dirty="0">
                <a:latin typeface="Corbel" panose="020B0503020204020204" pitchFamily="34" charset="0"/>
              </a:rPr>
              <a:t>Smoking Cessation</a:t>
            </a:r>
          </a:p>
          <a:p>
            <a:pPr algn="l">
              <a:spcAft>
                <a:spcPts val="750"/>
              </a:spcAft>
              <a:buFont typeface="Arial" panose="020B0604020202020204" pitchFamily="34" charset="0"/>
              <a:buChar char="•"/>
            </a:pPr>
            <a:r>
              <a:rPr lang="en-US" sz="1400" dirty="0">
                <a:latin typeface="Corbel" panose="020B0503020204020204" pitchFamily="34" charset="0"/>
              </a:rPr>
              <a:t>Fitness Services</a:t>
            </a:r>
          </a:p>
          <a:p>
            <a:pPr algn="l">
              <a:spcAft>
                <a:spcPts val="750"/>
              </a:spcAft>
              <a:buFont typeface="Arial" panose="020B0604020202020204" pitchFamily="34" charset="0"/>
              <a:buChar char="•"/>
            </a:pPr>
            <a:r>
              <a:rPr lang="en-US" sz="1400" dirty="0">
                <a:latin typeface="Corbel" panose="020B0503020204020204" pitchFamily="34" charset="0"/>
              </a:rPr>
              <a:t>Biometric Screening</a:t>
            </a:r>
          </a:p>
          <a:p>
            <a:pPr algn="l">
              <a:spcAft>
                <a:spcPts val="750"/>
              </a:spcAft>
              <a:buFont typeface="Arial" panose="020B0604020202020204" pitchFamily="34" charset="0"/>
              <a:buChar char="•"/>
            </a:pPr>
            <a:r>
              <a:rPr lang="en-US" sz="1400" dirty="0">
                <a:latin typeface="Corbel" panose="020B0503020204020204" pitchFamily="34" charset="0"/>
              </a:rPr>
              <a:t>Alcohol/Substance Abuse Services</a:t>
            </a:r>
          </a:p>
          <a:p>
            <a:pPr algn="l">
              <a:spcAft>
                <a:spcPts val="750"/>
              </a:spcAft>
              <a:buFont typeface="Arial" panose="020B0604020202020204" pitchFamily="34" charset="0"/>
              <a:buChar char="•"/>
            </a:pPr>
            <a:r>
              <a:rPr lang="en-US" sz="1400" dirty="0">
                <a:latin typeface="Corbel" panose="020B0503020204020204" pitchFamily="34" charset="0"/>
              </a:rPr>
              <a:t>Mental/Behavioral Health Management</a:t>
            </a:r>
          </a:p>
          <a:p>
            <a:pPr algn="l">
              <a:spcAft>
                <a:spcPts val="750"/>
              </a:spcAft>
              <a:buFont typeface="Arial" panose="020B0604020202020204" pitchFamily="34" charset="0"/>
              <a:buChar char="•"/>
            </a:pPr>
            <a:r>
              <a:rPr lang="en-US" sz="1400" dirty="0">
                <a:latin typeface="Corbel" panose="020B0503020204020204" pitchFamily="34" charset="0"/>
              </a:rPr>
              <a:t>Virtual consultation/Virtual care</a:t>
            </a:r>
          </a:p>
          <a:p>
            <a:pPr algn="l">
              <a:spcAft>
                <a:spcPts val="750"/>
              </a:spcAft>
              <a:buFont typeface="Arial" panose="020B0604020202020204" pitchFamily="34" charset="0"/>
              <a:buChar char="•"/>
            </a:pPr>
            <a:r>
              <a:rPr lang="en-US" sz="1400" dirty="0">
                <a:latin typeface="Corbel" panose="020B0503020204020204" pitchFamily="34" charset="0"/>
              </a:rPr>
              <a:t>Employee Assistance Programs</a:t>
            </a:r>
          </a:p>
          <a:p>
            <a:pPr algn="l">
              <a:spcAft>
                <a:spcPts val="750"/>
              </a:spcAft>
              <a:buFont typeface="Arial" panose="020B0604020202020204" pitchFamily="34" charset="0"/>
              <a:buChar char="•"/>
            </a:pPr>
            <a:r>
              <a:rPr lang="en-US" sz="1400" dirty="0">
                <a:latin typeface="Corbel" panose="020B0503020204020204" pitchFamily="34" charset="0"/>
              </a:rPr>
              <a:t>Health Benefit Programs</a:t>
            </a:r>
          </a:p>
          <a:p>
            <a:pPr algn="l">
              <a:spcAft>
                <a:spcPts val="750"/>
              </a:spcAft>
            </a:pPr>
            <a:endParaRPr lang="en-US" sz="1400" dirty="0">
              <a:latin typeface="Corbel" panose="020B0503020204020204" pitchFamily="34" charset="0"/>
            </a:endParaRPr>
          </a:p>
        </p:txBody>
      </p:sp>
    </p:spTree>
    <p:extLst>
      <p:ext uri="{BB962C8B-B14F-4D97-AF65-F5344CB8AC3E}">
        <p14:creationId xmlns:p14="http://schemas.microsoft.com/office/powerpoint/2010/main" val="3353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7B7D0-C94C-412F-7873-B7802A671B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CFE9B6-0F93-8F14-A7D2-2928940DA213}"/>
              </a:ext>
            </a:extLst>
          </p:cNvPr>
          <p:cNvSpPr>
            <a:spLocks noGrp="1"/>
          </p:cNvSpPr>
          <p:nvPr>
            <p:ph type="sldNum" sz="quarter" idx="12"/>
          </p:nvPr>
        </p:nvSpPr>
        <p:spPr/>
        <p:txBody>
          <a:bodyPr/>
          <a:lstStyle/>
          <a:p>
            <a:fld id="{88DB5A6F-883B-4080-A811-FB5B8D05AFA3}" type="slidenum">
              <a:rPr lang="en-GB" smtClean="0"/>
              <a:pPr/>
              <a:t>5</a:t>
            </a:fld>
            <a:endParaRPr lang="en-GB"/>
          </a:p>
        </p:txBody>
      </p:sp>
      <p:sp>
        <p:nvSpPr>
          <p:cNvPr id="6" name="Title 1">
            <a:extLst>
              <a:ext uri="{FF2B5EF4-FFF2-40B4-BE49-F238E27FC236}">
                <a16:creationId xmlns:a16="http://schemas.microsoft.com/office/drawing/2014/main" id="{1FE54307-9489-F6B1-5FFF-40D1CF2B5522}"/>
              </a:ext>
            </a:extLst>
          </p:cNvPr>
          <p:cNvSpPr txBox="1">
            <a:spLocks/>
          </p:cNvSpPr>
          <p:nvPr/>
        </p:nvSpPr>
        <p:spPr>
          <a:xfrm>
            <a:off x="0" y="293132"/>
            <a:ext cx="12147550" cy="539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r>
              <a:rPr lang="en-US" dirty="0"/>
              <a:t> Market Size, Segmentation &amp; Analysis-  </a:t>
            </a:r>
            <a:br>
              <a:rPr lang="en-US" dirty="0"/>
            </a:br>
            <a:r>
              <a:rPr lang="en-US" dirty="0"/>
              <a:t> </a:t>
            </a:r>
            <a:br>
              <a:rPr lang="en-US" i="1" dirty="0">
                <a:solidFill>
                  <a:srgbClr val="3C1FE9"/>
                </a:solidFill>
              </a:rPr>
            </a:br>
            <a:endParaRPr lang="aa-ET" i="1" dirty="0">
              <a:solidFill>
                <a:srgbClr val="3C1FE9"/>
              </a:solidFill>
            </a:endParaRPr>
          </a:p>
        </p:txBody>
      </p:sp>
      <p:sp>
        <p:nvSpPr>
          <p:cNvPr id="3" name="Content Placeholder 2">
            <a:extLst>
              <a:ext uri="{FF2B5EF4-FFF2-40B4-BE49-F238E27FC236}">
                <a16:creationId xmlns:a16="http://schemas.microsoft.com/office/drawing/2014/main" id="{837D3909-69D9-0762-5A0D-92CC15A6F260}"/>
              </a:ext>
            </a:extLst>
          </p:cNvPr>
          <p:cNvSpPr>
            <a:spLocks noGrp="1"/>
          </p:cNvSpPr>
          <p:nvPr>
            <p:ph idx="1"/>
          </p:nvPr>
        </p:nvSpPr>
        <p:spPr>
          <a:xfrm>
            <a:off x="177800" y="441796"/>
            <a:ext cx="11510806" cy="6279678"/>
          </a:xfrm>
          <a:solidFill>
            <a:schemeClr val="bg1"/>
          </a:solidFill>
        </p:spPr>
        <p:txBody>
          <a:bodyPr>
            <a:normAutofit/>
          </a:bodyPr>
          <a:lstStyle/>
          <a:p>
            <a:r>
              <a:rPr lang="en-US" sz="1800" b="0" i="0" dirty="0">
                <a:solidFill>
                  <a:srgbClr val="474747"/>
                </a:solidFill>
                <a:effectLst/>
                <a:latin typeface="Google Sans"/>
              </a:rPr>
              <a:t>The working population in Nigeria was projected at </a:t>
            </a:r>
            <a:r>
              <a:rPr lang="en-US" sz="1800" b="0" i="0" dirty="0">
                <a:solidFill>
                  <a:srgbClr val="040C28"/>
                </a:solidFill>
                <a:effectLst/>
                <a:latin typeface="Google Sans"/>
              </a:rPr>
              <a:t>over 69.54 million in 2022</a:t>
            </a:r>
          </a:p>
          <a:p>
            <a:endParaRPr lang="en-US" sz="1800" b="0" i="0" dirty="0">
              <a:solidFill>
                <a:srgbClr val="040C28"/>
              </a:solidFill>
              <a:effectLst/>
              <a:latin typeface="Google Sans"/>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pPr marL="285750" indent="-285750"/>
            <a:endParaRPr lang="en-US" sz="1800" dirty="0">
              <a:latin typeface="+mn-lt"/>
            </a:endParaRPr>
          </a:p>
          <a:p>
            <a:pPr marL="285750" indent="-285750"/>
            <a:endParaRPr lang="en-US" sz="1800" dirty="0">
              <a:latin typeface="+mn-lt"/>
            </a:endParaRPr>
          </a:p>
          <a:p>
            <a:pPr marL="285750" indent="-285750"/>
            <a:r>
              <a:rPr lang="en-US" sz="1800" dirty="0">
                <a:latin typeface="+mn-lt"/>
              </a:rPr>
              <a:t>Manufacturing sector employs over 2.9 million persons. F &amp; B accounts for 17% , </a:t>
            </a:r>
            <a:r>
              <a:rPr lang="en-US" sz="1800" dirty="0">
                <a:solidFill>
                  <a:srgbClr val="FF0000"/>
                </a:solidFill>
                <a:latin typeface="+mn-lt"/>
              </a:rPr>
              <a:t>Chemical &amp; Pharmaceuticals 46%  </a:t>
            </a:r>
            <a:r>
              <a:rPr lang="en-US" sz="1800" dirty="0">
                <a:latin typeface="+mn-lt"/>
              </a:rPr>
              <a:t>proportion</a:t>
            </a:r>
          </a:p>
          <a:p>
            <a:r>
              <a:rPr lang="en-US" sz="1800" b="1" i="0" u="none" strike="noStrike" dirty="0">
                <a:solidFill>
                  <a:srgbClr val="000000"/>
                </a:solidFill>
                <a:effectLst/>
                <a:latin typeface="Arial" panose="020B0604020202020204" pitchFamily="34" charset="0"/>
              </a:rPr>
              <a:t> </a:t>
            </a:r>
            <a:r>
              <a:rPr lang="en-US" sz="1800" dirty="0">
                <a:latin typeface="+mn-lt"/>
              </a:rPr>
              <a:t>Revenue from OH was about N1.3b in 2023</a:t>
            </a:r>
          </a:p>
        </p:txBody>
      </p:sp>
      <p:pic>
        <p:nvPicPr>
          <p:cNvPr id="11" name="Picture 10">
            <a:extLst>
              <a:ext uri="{FF2B5EF4-FFF2-40B4-BE49-F238E27FC236}">
                <a16:creationId xmlns:a16="http://schemas.microsoft.com/office/drawing/2014/main" id="{AD2C12C4-0640-9FFB-EFBD-96D31A7E9850}"/>
              </a:ext>
            </a:extLst>
          </p:cNvPr>
          <p:cNvPicPr>
            <a:picLocks noChangeAspect="1"/>
          </p:cNvPicPr>
          <p:nvPr/>
        </p:nvPicPr>
        <p:blipFill>
          <a:blip r:embed="rId2"/>
          <a:stretch>
            <a:fillRect/>
          </a:stretch>
        </p:blipFill>
        <p:spPr>
          <a:xfrm>
            <a:off x="503394" y="832958"/>
            <a:ext cx="6628926" cy="4743635"/>
          </a:xfrm>
          <a:prstGeom prst="rect">
            <a:avLst/>
          </a:prstGeom>
        </p:spPr>
      </p:pic>
    </p:spTree>
    <p:extLst>
      <p:ext uri="{BB962C8B-B14F-4D97-AF65-F5344CB8AC3E}">
        <p14:creationId xmlns:p14="http://schemas.microsoft.com/office/powerpoint/2010/main" val="3597634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8DCA-B216-5B37-92F3-9EDF7128CC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8D3664-9709-8FD3-88EE-69A6B878C52C}"/>
              </a:ext>
            </a:extLst>
          </p:cNvPr>
          <p:cNvSpPr>
            <a:spLocks noGrp="1"/>
          </p:cNvSpPr>
          <p:nvPr>
            <p:ph type="sldNum" sz="quarter" idx="12"/>
          </p:nvPr>
        </p:nvSpPr>
        <p:spPr/>
        <p:txBody>
          <a:bodyPr/>
          <a:lstStyle/>
          <a:p>
            <a:fld id="{88DB5A6F-883B-4080-A811-FB5B8D05AFA3}" type="slidenum">
              <a:rPr lang="en-GB" smtClean="0"/>
              <a:pPr/>
              <a:t>6</a:t>
            </a:fld>
            <a:endParaRPr lang="en-GB"/>
          </a:p>
        </p:txBody>
      </p:sp>
      <p:sp>
        <p:nvSpPr>
          <p:cNvPr id="6" name="Title 1">
            <a:extLst>
              <a:ext uri="{FF2B5EF4-FFF2-40B4-BE49-F238E27FC236}">
                <a16:creationId xmlns:a16="http://schemas.microsoft.com/office/drawing/2014/main" id="{216665D2-7E38-221B-7C44-6E69DC25A358}"/>
              </a:ext>
            </a:extLst>
          </p:cNvPr>
          <p:cNvSpPr txBox="1">
            <a:spLocks/>
          </p:cNvSpPr>
          <p:nvPr/>
        </p:nvSpPr>
        <p:spPr>
          <a:xfrm>
            <a:off x="0" y="293132"/>
            <a:ext cx="12147550" cy="5398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r>
              <a:rPr lang="en-US" dirty="0"/>
              <a:t> Market Size, Segmentation &amp; Analysis-  </a:t>
            </a:r>
            <a:br>
              <a:rPr lang="en-US" dirty="0"/>
            </a:br>
            <a:r>
              <a:rPr lang="en-US" dirty="0"/>
              <a:t> </a:t>
            </a:r>
            <a:br>
              <a:rPr lang="en-US" i="1" dirty="0">
                <a:solidFill>
                  <a:srgbClr val="3C1FE9"/>
                </a:solidFill>
              </a:rPr>
            </a:br>
            <a:endParaRPr lang="aa-ET" i="1" dirty="0">
              <a:solidFill>
                <a:srgbClr val="3C1FE9"/>
              </a:solidFill>
            </a:endParaRPr>
          </a:p>
        </p:txBody>
      </p:sp>
      <p:sp>
        <p:nvSpPr>
          <p:cNvPr id="3" name="Content Placeholder 2">
            <a:extLst>
              <a:ext uri="{FF2B5EF4-FFF2-40B4-BE49-F238E27FC236}">
                <a16:creationId xmlns:a16="http://schemas.microsoft.com/office/drawing/2014/main" id="{90BA0D9E-3530-D62E-4CCA-74C9C55D546C}"/>
              </a:ext>
            </a:extLst>
          </p:cNvPr>
          <p:cNvSpPr>
            <a:spLocks noGrp="1"/>
          </p:cNvSpPr>
          <p:nvPr>
            <p:ph idx="1"/>
          </p:nvPr>
        </p:nvSpPr>
        <p:spPr>
          <a:xfrm>
            <a:off x="177800" y="520618"/>
            <a:ext cx="11394440" cy="5816764"/>
          </a:xfrm>
          <a:solidFill>
            <a:schemeClr val="bg1"/>
          </a:solidFill>
        </p:spPr>
        <p:txBody>
          <a:bodyPr>
            <a:normAutofit/>
          </a:bodyPr>
          <a:lstStyle/>
          <a:p>
            <a:endParaRPr lang="en-US" sz="1800" b="0" i="0" dirty="0">
              <a:solidFill>
                <a:srgbClr val="040C28"/>
              </a:solidFill>
              <a:effectLst/>
              <a:latin typeface="Google Sans"/>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a:p>
            <a:endParaRPr lang="en-US" sz="1800" b="1" dirty="0">
              <a:solidFill>
                <a:srgbClr val="000000"/>
              </a:solidFill>
              <a:latin typeface="Arial" panose="020B0604020202020204" pitchFamily="34" charset="0"/>
            </a:endParaRPr>
          </a:p>
          <a:p>
            <a:endParaRPr lang="en-US" sz="1800" b="1" i="0" u="none" strike="noStrike" dirty="0">
              <a:solidFill>
                <a:srgbClr val="000000"/>
              </a:solidFill>
              <a:effectLst/>
              <a:latin typeface="Arial" panose="020B0604020202020204" pitchFamily="34" charset="0"/>
            </a:endParaRPr>
          </a:p>
        </p:txBody>
      </p:sp>
      <p:sp>
        <p:nvSpPr>
          <p:cNvPr id="5" name="TextBox 4">
            <a:extLst>
              <a:ext uri="{FF2B5EF4-FFF2-40B4-BE49-F238E27FC236}">
                <a16:creationId xmlns:a16="http://schemas.microsoft.com/office/drawing/2014/main" id="{12F9F39F-E197-3D47-3540-98FB6E94C0A5}"/>
              </a:ext>
            </a:extLst>
          </p:cNvPr>
          <p:cNvSpPr txBox="1"/>
          <p:nvPr/>
        </p:nvSpPr>
        <p:spPr>
          <a:xfrm>
            <a:off x="177800" y="563045"/>
            <a:ext cx="2585720" cy="3139321"/>
          </a:xfrm>
          <a:prstGeom prst="rect">
            <a:avLst/>
          </a:prstGeom>
          <a:noFill/>
          <a:ln>
            <a:solidFill>
              <a:schemeClr val="tx1"/>
            </a:solidFill>
          </a:ln>
        </p:spPr>
        <p:txBody>
          <a:bodyPr wrap="square" rtlCol="0">
            <a:spAutoFit/>
          </a:bodyPr>
          <a:lstStyle/>
          <a:p>
            <a:r>
              <a:rPr lang="en-US" b="1" dirty="0"/>
              <a:t>Top 10 Oil &amp; Gas Coys </a:t>
            </a:r>
          </a:p>
          <a:p>
            <a:pPr marL="285750" indent="-285750">
              <a:buFont typeface="Arial" panose="020B0604020202020204" pitchFamily="34" charset="0"/>
              <a:buChar char="•"/>
            </a:pPr>
            <a:r>
              <a:rPr lang="en-US" dirty="0" err="1"/>
              <a:t>Lekoil</a:t>
            </a:r>
            <a:r>
              <a:rPr lang="en-US" dirty="0"/>
              <a:t> Nig Ltd</a:t>
            </a:r>
          </a:p>
          <a:p>
            <a:pPr marL="285750" indent="-285750">
              <a:buFont typeface="Arial" panose="020B0604020202020204" pitchFamily="34" charset="0"/>
              <a:buChar char="•"/>
            </a:pPr>
            <a:r>
              <a:rPr lang="en-US" dirty="0"/>
              <a:t>Shell Nigeria</a:t>
            </a:r>
          </a:p>
          <a:p>
            <a:pPr marL="285750" indent="-285750">
              <a:buFont typeface="Arial" panose="020B0604020202020204" pitchFamily="34" charset="0"/>
              <a:buChar char="•"/>
            </a:pPr>
            <a:r>
              <a:rPr lang="en-US" dirty="0"/>
              <a:t>Chevron Nigeria</a:t>
            </a:r>
          </a:p>
          <a:p>
            <a:pPr marL="285750" indent="-285750">
              <a:buFont typeface="Arial" panose="020B0604020202020204" pitchFamily="34" charset="0"/>
              <a:buChar char="•"/>
            </a:pPr>
            <a:r>
              <a:rPr lang="en-US" dirty="0"/>
              <a:t>Exxon Mobil Nigeria</a:t>
            </a:r>
          </a:p>
          <a:p>
            <a:pPr marL="285750" indent="-285750">
              <a:buFont typeface="Arial" panose="020B0604020202020204" pitchFamily="34" charset="0"/>
              <a:buChar char="•"/>
            </a:pPr>
            <a:r>
              <a:rPr lang="en-US" dirty="0" err="1"/>
              <a:t>Ardova</a:t>
            </a:r>
            <a:r>
              <a:rPr lang="en-US" dirty="0"/>
              <a:t> Plc</a:t>
            </a:r>
          </a:p>
          <a:p>
            <a:pPr marL="285750" indent="-285750">
              <a:buFont typeface="Arial" panose="020B0604020202020204" pitchFamily="34" charset="0"/>
              <a:buChar char="•"/>
            </a:pPr>
            <a:r>
              <a:rPr lang="en-US" dirty="0"/>
              <a:t>Addax Petroleum</a:t>
            </a:r>
          </a:p>
          <a:p>
            <a:pPr marL="285750" indent="-285750">
              <a:buFont typeface="Arial" panose="020B0604020202020204" pitchFamily="34" charset="0"/>
              <a:buChar char="•"/>
            </a:pPr>
            <a:r>
              <a:rPr lang="en-US" dirty="0"/>
              <a:t>Oando Plc</a:t>
            </a:r>
          </a:p>
          <a:p>
            <a:pPr marL="285750" indent="-285750">
              <a:buFont typeface="Arial" panose="020B0604020202020204" pitchFamily="34" charset="0"/>
              <a:buChar char="•"/>
            </a:pPr>
            <a:r>
              <a:rPr lang="en-US" dirty="0"/>
              <a:t>Cambridge Plc</a:t>
            </a:r>
          </a:p>
          <a:p>
            <a:pPr marL="285750" indent="-285750">
              <a:buFont typeface="Arial" panose="020B0604020202020204" pitchFamily="34" charset="0"/>
              <a:buChar char="•"/>
            </a:pPr>
            <a:r>
              <a:rPr lang="en-US" dirty="0"/>
              <a:t>Frontier oil</a:t>
            </a:r>
          </a:p>
          <a:p>
            <a:pPr marL="285750" indent="-285750">
              <a:buFont typeface="Arial" panose="020B0604020202020204" pitchFamily="34" charset="0"/>
              <a:buChar char="•"/>
            </a:pPr>
            <a:r>
              <a:rPr lang="en-US" dirty="0"/>
              <a:t>Con Oil</a:t>
            </a:r>
          </a:p>
        </p:txBody>
      </p:sp>
      <p:sp>
        <p:nvSpPr>
          <p:cNvPr id="9" name="TextBox 8">
            <a:extLst>
              <a:ext uri="{FF2B5EF4-FFF2-40B4-BE49-F238E27FC236}">
                <a16:creationId xmlns:a16="http://schemas.microsoft.com/office/drawing/2014/main" id="{3FBB1862-33B5-DFFA-1B2C-AFB505CD3E9F}"/>
              </a:ext>
            </a:extLst>
          </p:cNvPr>
          <p:cNvSpPr txBox="1"/>
          <p:nvPr/>
        </p:nvSpPr>
        <p:spPr>
          <a:xfrm>
            <a:off x="2941320" y="555959"/>
            <a:ext cx="3398520" cy="3416320"/>
          </a:xfrm>
          <a:prstGeom prst="rect">
            <a:avLst/>
          </a:prstGeom>
          <a:noFill/>
          <a:ln>
            <a:solidFill>
              <a:schemeClr val="tx1"/>
            </a:solidFill>
          </a:ln>
        </p:spPr>
        <p:txBody>
          <a:bodyPr wrap="square" rtlCol="0">
            <a:spAutoFit/>
          </a:bodyPr>
          <a:lstStyle/>
          <a:p>
            <a:r>
              <a:rPr lang="en-US" b="1" dirty="0"/>
              <a:t>Top 10 Employers in Nigeria NBS for 2023</a:t>
            </a:r>
          </a:p>
          <a:p>
            <a:pPr marL="285750" indent="-285750">
              <a:buFont typeface="Arial" panose="020B0604020202020204" pitchFamily="34" charset="0"/>
              <a:buChar char="•"/>
            </a:pPr>
            <a:r>
              <a:rPr lang="en-US" dirty="0"/>
              <a:t>Dangote Cement Oil -19,073</a:t>
            </a:r>
          </a:p>
          <a:p>
            <a:pPr marL="285750" indent="-285750">
              <a:buFont typeface="Arial" panose="020B0604020202020204" pitchFamily="34" charset="0"/>
              <a:buChar char="•"/>
            </a:pPr>
            <a:r>
              <a:rPr lang="en-US" dirty="0"/>
              <a:t>UBA 10,007</a:t>
            </a:r>
          </a:p>
          <a:p>
            <a:pPr marL="285750" indent="-285750">
              <a:buFont typeface="Arial" panose="020B0604020202020204" pitchFamily="34" charset="0"/>
              <a:buChar char="•"/>
            </a:pPr>
            <a:r>
              <a:rPr lang="en-US" dirty="0"/>
              <a:t>FBN 8,773</a:t>
            </a:r>
          </a:p>
          <a:p>
            <a:pPr marL="285750" indent="-285750">
              <a:buFont typeface="Arial" panose="020B0604020202020204" pitchFamily="34" charset="0"/>
              <a:buChar char="•"/>
            </a:pPr>
            <a:r>
              <a:rPr lang="en-US" dirty="0"/>
              <a:t>Zenith 8,184</a:t>
            </a:r>
          </a:p>
          <a:p>
            <a:pPr marL="285750" indent="-285750">
              <a:buFont typeface="Arial" panose="020B0604020202020204" pitchFamily="34" charset="0"/>
              <a:buChar char="•"/>
            </a:pPr>
            <a:r>
              <a:rPr lang="en-US" dirty="0"/>
              <a:t>Access 7,334</a:t>
            </a:r>
          </a:p>
          <a:p>
            <a:pPr marL="285750" indent="-285750">
              <a:buFont typeface="Arial" panose="020B0604020202020204" pitchFamily="34" charset="0"/>
              <a:buChar char="•"/>
            </a:pPr>
            <a:r>
              <a:rPr lang="en-US" dirty="0" err="1"/>
              <a:t>Gtco</a:t>
            </a:r>
            <a:r>
              <a:rPr lang="en-US" dirty="0"/>
              <a:t>  5477</a:t>
            </a:r>
          </a:p>
          <a:p>
            <a:pPr marL="285750" indent="-285750">
              <a:buFont typeface="Arial" panose="020B0604020202020204" pitchFamily="34" charset="0"/>
              <a:buChar char="•"/>
            </a:pPr>
            <a:r>
              <a:rPr lang="en-US" dirty="0"/>
              <a:t>Flour Mills 5,404</a:t>
            </a:r>
          </a:p>
          <a:p>
            <a:pPr marL="285750" indent="-285750">
              <a:buFont typeface="Arial" panose="020B0604020202020204" pitchFamily="34" charset="0"/>
              <a:buChar char="•"/>
            </a:pPr>
            <a:r>
              <a:rPr lang="en-US" dirty="0"/>
              <a:t>FCMB  3,554</a:t>
            </a:r>
          </a:p>
          <a:p>
            <a:pPr marL="285750" indent="-285750">
              <a:buFont typeface="Arial" panose="020B0604020202020204" pitchFamily="34" charset="0"/>
              <a:buChar char="•"/>
            </a:pPr>
            <a:r>
              <a:rPr lang="en-US" dirty="0"/>
              <a:t>Fidelity Bank 3,063</a:t>
            </a:r>
          </a:p>
          <a:p>
            <a:pPr marL="285750" indent="-285750">
              <a:buFont typeface="Arial" panose="020B0604020202020204" pitchFamily="34" charset="0"/>
              <a:buChar char="•"/>
            </a:pPr>
            <a:r>
              <a:rPr lang="en-US" dirty="0"/>
              <a:t>Nestle 2,375</a:t>
            </a:r>
          </a:p>
        </p:txBody>
      </p:sp>
    </p:spTree>
    <p:extLst>
      <p:ext uri="{BB962C8B-B14F-4D97-AF65-F5344CB8AC3E}">
        <p14:creationId xmlns:p14="http://schemas.microsoft.com/office/powerpoint/2010/main" val="2630077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8DB5A6F-883B-4080-A811-FB5B8D05AFA3}" type="slidenum">
              <a:rPr lang="en-GB" smtClean="0"/>
              <a:pPr/>
              <a:t>7</a:t>
            </a:fld>
            <a:endParaRPr lang="en-GB"/>
          </a:p>
        </p:txBody>
      </p:sp>
      <p:sp>
        <p:nvSpPr>
          <p:cNvPr id="7" name="Title 6">
            <a:extLst>
              <a:ext uri="{FF2B5EF4-FFF2-40B4-BE49-F238E27FC236}">
                <a16:creationId xmlns:a16="http://schemas.microsoft.com/office/drawing/2014/main" id="{FCC92F29-CFFE-E8AD-4D69-4FDDAC2E4B38}"/>
              </a:ext>
            </a:extLst>
          </p:cNvPr>
          <p:cNvSpPr>
            <a:spLocks noGrp="1"/>
          </p:cNvSpPr>
          <p:nvPr>
            <p:ph type="title"/>
          </p:nvPr>
        </p:nvSpPr>
        <p:spPr/>
        <p:txBody>
          <a:bodyPr/>
          <a:lstStyle/>
          <a:p>
            <a:r>
              <a:rPr lang="en-US" dirty="0"/>
              <a:t>Most Valued Companies and Market Sector by Market Capitalization </a:t>
            </a:r>
          </a:p>
        </p:txBody>
      </p:sp>
      <p:pic>
        <p:nvPicPr>
          <p:cNvPr id="9218" name="Picture 2" descr="https://nairametrics.com/wp-content/uploads/2022/07/NGX-market.png?w=7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42" y="1101726"/>
            <a:ext cx="5277903" cy="28702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nvGraphicFramePr>
        <p:xfrm>
          <a:off x="5601098" y="1188495"/>
          <a:ext cx="6100364" cy="3571806"/>
        </p:xfrm>
        <a:graphic>
          <a:graphicData uri="http://schemas.openxmlformats.org/drawingml/2006/table">
            <a:tbl>
              <a:tblPr firstRow="1" bandRow="1">
                <a:tableStyleId>{5940675A-B579-460E-94D1-54222C63F5DA}</a:tableStyleId>
              </a:tblPr>
              <a:tblGrid>
                <a:gridCol w="502241">
                  <a:extLst>
                    <a:ext uri="{9D8B030D-6E8A-4147-A177-3AD203B41FA5}">
                      <a16:colId xmlns:a16="http://schemas.microsoft.com/office/drawing/2014/main" val="20000"/>
                    </a:ext>
                  </a:extLst>
                </a:gridCol>
                <a:gridCol w="1735964">
                  <a:extLst>
                    <a:ext uri="{9D8B030D-6E8A-4147-A177-3AD203B41FA5}">
                      <a16:colId xmlns:a16="http://schemas.microsoft.com/office/drawing/2014/main" val="20001"/>
                    </a:ext>
                  </a:extLst>
                </a:gridCol>
                <a:gridCol w="1367134">
                  <a:extLst>
                    <a:ext uri="{9D8B030D-6E8A-4147-A177-3AD203B41FA5}">
                      <a16:colId xmlns:a16="http://schemas.microsoft.com/office/drawing/2014/main" val="20002"/>
                    </a:ext>
                  </a:extLst>
                </a:gridCol>
                <a:gridCol w="2495025">
                  <a:extLst>
                    <a:ext uri="{9D8B030D-6E8A-4147-A177-3AD203B41FA5}">
                      <a16:colId xmlns:a16="http://schemas.microsoft.com/office/drawing/2014/main" val="20003"/>
                    </a:ext>
                  </a:extLst>
                </a:gridCol>
              </a:tblGrid>
              <a:tr h="255129">
                <a:tc>
                  <a:txBody>
                    <a:bodyPr/>
                    <a:lstStyle/>
                    <a:p>
                      <a:r>
                        <a:rPr lang="en-US" sz="1050" dirty="0"/>
                        <a:t>S/N </a:t>
                      </a:r>
                      <a:endParaRPr lang="en-GB" sz="1050" dirty="0"/>
                    </a:p>
                  </a:txBody>
                  <a:tcPr>
                    <a:solidFill>
                      <a:schemeClr val="accent1">
                        <a:lumMod val="20000"/>
                        <a:lumOff val="80000"/>
                      </a:schemeClr>
                    </a:solidFill>
                  </a:tcPr>
                </a:tc>
                <a:tc>
                  <a:txBody>
                    <a:bodyPr/>
                    <a:lstStyle/>
                    <a:p>
                      <a:r>
                        <a:rPr lang="en-US" sz="1050"/>
                        <a:t>COMPANY NAME</a:t>
                      </a:r>
                      <a:r>
                        <a:rPr lang="en-US" sz="1050" baseline="0"/>
                        <a:t> </a:t>
                      </a:r>
                      <a:endParaRPr lang="en-GB" sz="1050"/>
                    </a:p>
                  </a:txBody>
                  <a:tcPr>
                    <a:solidFill>
                      <a:schemeClr val="accent1">
                        <a:lumMod val="20000"/>
                        <a:lumOff val="80000"/>
                      </a:schemeClr>
                    </a:solidFill>
                  </a:tcPr>
                </a:tc>
                <a:tc>
                  <a:txBody>
                    <a:bodyPr/>
                    <a:lstStyle/>
                    <a:p>
                      <a:r>
                        <a:rPr lang="en-US" sz="1050" dirty="0"/>
                        <a:t>VALUE</a:t>
                      </a:r>
                      <a:r>
                        <a:rPr lang="en-US" sz="1050" baseline="0" dirty="0"/>
                        <a:t> – Nov 2022</a:t>
                      </a:r>
                      <a:endParaRPr lang="en-GB" sz="1050" dirty="0"/>
                    </a:p>
                  </a:txBody>
                  <a:tcPr>
                    <a:solidFill>
                      <a:schemeClr val="accent1">
                        <a:lumMod val="20000"/>
                        <a:lumOff val="80000"/>
                      </a:schemeClr>
                    </a:solidFill>
                  </a:tcPr>
                </a:tc>
                <a:tc>
                  <a:txBody>
                    <a:bodyPr/>
                    <a:lstStyle/>
                    <a:p>
                      <a:r>
                        <a:rPr lang="en-US" sz="1050" dirty="0"/>
                        <a:t>INDUSTRY</a:t>
                      </a:r>
                      <a:r>
                        <a:rPr lang="en-US" sz="1050" baseline="0" dirty="0"/>
                        <a:t> </a:t>
                      </a:r>
                      <a:endParaRPr lang="en-GB" sz="1050" dirty="0"/>
                    </a:p>
                  </a:txBody>
                  <a:tcPr>
                    <a:solidFill>
                      <a:schemeClr val="accent1">
                        <a:lumMod val="20000"/>
                        <a:lumOff val="80000"/>
                      </a:schemeClr>
                    </a:solidFill>
                  </a:tcPr>
                </a:tc>
                <a:extLst>
                  <a:ext uri="{0D108BD9-81ED-4DB2-BD59-A6C34878D82A}">
                    <a16:rowId xmlns:a16="http://schemas.microsoft.com/office/drawing/2014/main" val="10000"/>
                  </a:ext>
                </a:extLst>
              </a:tr>
              <a:tr h="255129">
                <a:tc>
                  <a:txBody>
                    <a:bodyPr/>
                    <a:lstStyle/>
                    <a:p>
                      <a:r>
                        <a:rPr lang="en-US" sz="1050" dirty="0"/>
                        <a:t>1</a:t>
                      </a:r>
                      <a:endParaRPr lang="en-GB" sz="1050" dirty="0"/>
                    </a:p>
                  </a:txBody>
                  <a:tcPr/>
                </a:tc>
                <a:tc>
                  <a:txBody>
                    <a:bodyPr/>
                    <a:lstStyle/>
                    <a:p>
                      <a:r>
                        <a:rPr lang="en-US" sz="1050"/>
                        <a:t>AIRTEL AFRICA </a:t>
                      </a:r>
                      <a:endParaRPr lang="en-GB" sz="1050"/>
                    </a:p>
                  </a:txBody>
                  <a:tcPr/>
                </a:tc>
                <a:tc>
                  <a:txBody>
                    <a:bodyPr/>
                    <a:lstStyle/>
                    <a:p>
                      <a:r>
                        <a:rPr lang="en-GB" sz="1050" dirty="0"/>
                        <a:t>N5.4 trillion</a:t>
                      </a:r>
                    </a:p>
                  </a:txBody>
                  <a:tcPr/>
                </a:tc>
                <a:tc>
                  <a:txBody>
                    <a:bodyPr/>
                    <a:lstStyle/>
                    <a:p>
                      <a:r>
                        <a:rPr lang="en-US" sz="1050" dirty="0"/>
                        <a:t>TELCO</a:t>
                      </a:r>
                      <a:endParaRPr lang="en-GB" sz="1050" dirty="0"/>
                    </a:p>
                  </a:txBody>
                  <a:tcPr/>
                </a:tc>
                <a:extLst>
                  <a:ext uri="{0D108BD9-81ED-4DB2-BD59-A6C34878D82A}">
                    <a16:rowId xmlns:a16="http://schemas.microsoft.com/office/drawing/2014/main" val="10001"/>
                  </a:ext>
                </a:extLst>
              </a:tr>
              <a:tr h="255129">
                <a:tc>
                  <a:txBody>
                    <a:bodyPr/>
                    <a:lstStyle/>
                    <a:p>
                      <a:r>
                        <a:rPr lang="en-US" sz="1050" dirty="0"/>
                        <a:t>2</a:t>
                      </a:r>
                      <a:endParaRPr lang="en-GB" sz="1050" dirty="0"/>
                    </a:p>
                  </a:txBody>
                  <a:tcPr/>
                </a:tc>
                <a:tc>
                  <a:txBody>
                    <a:bodyPr/>
                    <a:lstStyle/>
                    <a:p>
                      <a:r>
                        <a:rPr lang="en-GB" sz="1050" dirty="0"/>
                        <a:t>Dangote Cement </a:t>
                      </a:r>
                    </a:p>
                  </a:txBody>
                  <a:tcPr/>
                </a:tc>
                <a:tc>
                  <a:txBody>
                    <a:bodyPr/>
                    <a:lstStyle/>
                    <a:p>
                      <a:r>
                        <a:rPr lang="en-GB" sz="1050" dirty="0"/>
                        <a:t>N4.46 trillion</a:t>
                      </a:r>
                    </a:p>
                  </a:txBody>
                  <a:tcPr/>
                </a:tc>
                <a:tc>
                  <a:txBody>
                    <a:bodyPr/>
                    <a:lstStyle/>
                    <a:p>
                      <a:r>
                        <a:rPr lang="en-US" sz="1050" dirty="0"/>
                        <a:t>Manufacturing</a:t>
                      </a:r>
                      <a:r>
                        <a:rPr lang="en-US" sz="1050" baseline="0" dirty="0"/>
                        <a:t> – Cement </a:t>
                      </a:r>
                      <a:endParaRPr lang="en-GB" sz="1050" dirty="0"/>
                    </a:p>
                  </a:txBody>
                  <a:tcPr/>
                </a:tc>
                <a:extLst>
                  <a:ext uri="{0D108BD9-81ED-4DB2-BD59-A6C34878D82A}">
                    <a16:rowId xmlns:a16="http://schemas.microsoft.com/office/drawing/2014/main" val="10002"/>
                  </a:ext>
                </a:extLst>
              </a:tr>
              <a:tr h="255129">
                <a:tc>
                  <a:txBody>
                    <a:bodyPr/>
                    <a:lstStyle/>
                    <a:p>
                      <a:r>
                        <a:rPr lang="en-US" sz="1050" dirty="0"/>
                        <a:t>3</a:t>
                      </a:r>
                      <a:endParaRPr lang="en-GB" sz="1050" dirty="0"/>
                    </a:p>
                  </a:txBody>
                  <a:tcPr/>
                </a:tc>
                <a:tc>
                  <a:txBody>
                    <a:bodyPr/>
                    <a:lstStyle/>
                    <a:p>
                      <a:r>
                        <a:rPr lang="en-GB" sz="1050" dirty="0"/>
                        <a:t>MTN Nigeria </a:t>
                      </a:r>
                    </a:p>
                  </a:txBody>
                  <a:tcPr/>
                </a:tc>
                <a:tc>
                  <a:txBody>
                    <a:bodyPr/>
                    <a:lstStyle/>
                    <a:p>
                      <a:r>
                        <a:rPr lang="en-GB" sz="1050" dirty="0"/>
                        <a:t>N4.44 trillion</a:t>
                      </a:r>
                    </a:p>
                  </a:txBody>
                  <a:tcPr/>
                </a:tc>
                <a:tc>
                  <a:txBody>
                    <a:bodyPr/>
                    <a:lstStyle/>
                    <a:p>
                      <a:r>
                        <a:rPr lang="en-US" sz="1050" dirty="0"/>
                        <a:t>TELCO</a:t>
                      </a:r>
                      <a:endParaRPr lang="en-GB" sz="1050" dirty="0"/>
                    </a:p>
                  </a:txBody>
                  <a:tcPr/>
                </a:tc>
                <a:extLst>
                  <a:ext uri="{0D108BD9-81ED-4DB2-BD59-A6C34878D82A}">
                    <a16:rowId xmlns:a16="http://schemas.microsoft.com/office/drawing/2014/main" val="10003"/>
                  </a:ext>
                </a:extLst>
              </a:tr>
              <a:tr h="255129">
                <a:tc>
                  <a:txBody>
                    <a:bodyPr/>
                    <a:lstStyle/>
                    <a:p>
                      <a:r>
                        <a:rPr lang="en-US" sz="1050" dirty="0"/>
                        <a:t>4</a:t>
                      </a:r>
                      <a:endParaRPr lang="en-GB" sz="1050" dirty="0"/>
                    </a:p>
                  </a:txBody>
                  <a:tcPr/>
                </a:tc>
                <a:tc>
                  <a:txBody>
                    <a:bodyPr/>
                    <a:lstStyle/>
                    <a:p>
                      <a:r>
                        <a:rPr lang="en-US" sz="1050" dirty="0"/>
                        <a:t>BUA Cement </a:t>
                      </a:r>
                      <a:endParaRPr lang="en-GB" sz="1050" dirty="0"/>
                    </a:p>
                  </a:txBody>
                  <a:tcPr/>
                </a:tc>
                <a:tc>
                  <a:txBody>
                    <a:bodyPr/>
                    <a:lstStyle/>
                    <a:p>
                      <a:r>
                        <a:rPr lang="en-GB" sz="1050" dirty="0"/>
                        <a:t>N2.6 trillion</a:t>
                      </a:r>
                    </a:p>
                  </a:txBody>
                  <a:tcPr/>
                </a:tc>
                <a:tc>
                  <a:txBody>
                    <a:bodyPr/>
                    <a:lstStyle/>
                    <a:p>
                      <a:r>
                        <a:rPr lang="en-US" sz="1050" dirty="0"/>
                        <a:t>Manufacturing – Cement </a:t>
                      </a:r>
                      <a:endParaRPr lang="en-GB" sz="1050" dirty="0"/>
                    </a:p>
                  </a:txBody>
                  <a:tcPr/>
                </a:tc>
                <a:extLst>
                  <a:ext uri="{0D108BD9-81ED-4DB2-BD59-A6C34878D82A}">
                    <a16:rowId xmlns:a16="http://schemas.microsoft.com/office/drawing/2014/main" val="10004"/>
                  </a:ext>
                </a:extLst>
              </a:tr>
              <a:tr h="255129">
                <a:tc>
                  <a:txBody>
                    <a:bodyPr/>
                    <a:lstStyle/>
                    <a:p>
                      <a:r>
                        <a:rPr lang="en-US" sz="1050" dirty="0"/>
                        <a:t>5</a:t>
                      </a:r>
                      <a:endParaRPr lang="en-GB" sz="1050" dirty="0"/>
                    </a:p>
                  </a:txBody>
                  <a:tcPr/>
                </a:tc>
                <a:tc>
                  <a:txBody>
                    <a:bodyPr/>
                    <a:lstStyle/>
                    <a:p>
                      <a:r>
                        <a:rPr lang="en-US" sz="1050" dirty="0"/>
                        <a:t>Nestle </a:t>
                      </a:r>
                      <a:endParaRPr lang="en-GB" sz="1050" dirty="0"/>
                    </a:p>
                  </a:txBody>
                  <a:tcPr/>
                </a:tc>
                <a:tc>
                  <a:txBody>
                    <a:bodyPr/>
                    <a:lstStyle/>
                    <a:p>
                      <a:r>
                        <a:rPr lang="en-GB" sz="1050" dirty="0"/>
                        <a:t>$1.7 billion</a:t>
                      </a:r>
                    </a:p>
                  </a:txBody>
                  <a:tcPr/>
                </a:tc>
                <a:tc>
                  <a:txBody>
                    <a:bodyPr/>
                    <a:lstStyle/>
                    <a:p>
                      <a:r>
                        <a:rPr lang="en-US" sz="1050" dirty="0"/>
                        <a:t>Manufacturing – Food and Beverage</a:t>
                      </a:r>
                      <a:r>
                        <a:rPr lang="en-US" sz="1050" baseline="0" dirty="0"/>
                        <a:t> </a:t>
                      </a:r>
                      <a:endParaRPr lang="en-GB" sz="1050" dirty="0"/>
                    </a:p>
                  </a:txBody>
                  <a:tcPr/>
                </a:tc>
                <a:extLst>
                  <a:ext uri="{0D108BD9-81ED-4DB2-BD59-A6C34878D82A}">
                    <a16:rowId xmlns:a16="http://schemas.microsoft.com/office/drawing/2014/main" val="10005"/>
                  </a:ext>
                </a:extLst>
              </a:tr>
              <a:tr h="255129">
                <a:tc>
                  <a:txBody>
                    <a:bodyPr/>
                    <a:lstStyle/>
                    <a:p>
                      <a:r>
                        <a:rPr lang="en-US" sz="1050" dirty="0"/>
                        <a:t>6</a:t>
                      </a:r>
                      <a:endParaRPr lang="en-GB" sz="1050" dirty="0"/>
                    </a:p>
                  </a:txBody>
                  <a:tcPr/>
                </a:tc>
                <a:tc>
                  <a:txBody>
                    <a:bodyPr/>
                    <a:lstStyle/>
                    <a:p>
                      <a:r>
                        <a:rPr lang="en-GB" sz="1050" dirty="0"/>
                        <a:t>BUA Foods </a:t>
                      </a:r>
                    </a:p>
                  </a:txBody>
                  <a:tcPr/>
                </a:tc>
                <a:tc>
                  <a:txBody>
                    <a:bodyPr/>
                    <a:lstStyle/>
                    <a:p>
                      <a:r>
                        <a:rPr lang="en-GB" sz="1050" dirty="0"/>
                        <a:t>N1.1 trillion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Manufacturing – Food and </a:t>
                      </a:r>
                      <a:r>
                        <a:rPr lang="en-US" sz="1050"/>
                        <a:t>Beverage</a:t>
                      </a:r>
                      <a:r>
                        <a:rPr lang="en-US" sz="1050" baseline="0"/>
                        <a:t> </a:t>
                      </a:r>
                      <a:endParaRPr lang="en-GB" sz="1050"/>
                    </a:p>
                  </a:txBody>
                  <a:tcPr/>
                </a:tc>
                <a:extLst>
                  <a:ext uri="{0D108BD9-81ED-4DB2-BD59-A6C34878D82A}">
                    <a16:rowId xmlns:a16="http://schemas.microsoft.com/office/drawing/2014/main" val="10006"/>
                  </a:ext>
                </a:extLst>
              </a:tr>
              <a:tr h="255129">
                <a:tc>
                  <a:txBody>
                    <a:bodyPr/>
                    <a:lstStyle/>
                    <a:p>
                      <a:r>
                        <a:rPr lang="en-US" sz="1050" dirty="0"/>
                        <a:t>7</a:t>
                      </a:r>
                      <a:endParaRPr lang="en-GB" sz="1050" dirty="0"/>
                    </a:p>
                  </a:txBody>
                  <a:tcPr/>
                </a:tc>
                <a:tc>
                  <a:txBody>
                    <a:bodyPr/>
                    <a:lstStyle/>
                    <a:p>
                      <a:r>
                        <a:rPr lang="en-US" sz="1050" dirty="0" err="1"/>
                        <a:t>Seplat</a:t>
                      </a:r>
                      <a:r>
                        <a:rPr lang="en-US" sz="1050" dirty="0"/>
                        <a:t> Energy</a:t>
                      </a:r>
                      <a:r>
                        <a:rPr lang="en-US" sz="1050" baseline="0" dirty="0"/>
                        <a:t> </a:t>
                      </a:r>
                      <a:endParaRPr lang="en-GB" sz="1050" dirty="0"/>
                    </a:p>
                  </a:txBody>
                  <a:tcPr/>
                </a:tc>
                <a:tc>
                  <a:txBody>
                    <a:bodyPr/>
                    <a:lstStyle/>
                    <a:p>
                      <a:r>
                        <a:rPr lang="en-GB" sz="1050" dirty="0"/>
                        <a:t>$1.3 billion</a:t>
                      </a:r>
                    </a:p>
                  </a:txBody>
                  <a:tcPr/>
                </a:tc>
                <a:tc>
                  <a:txBody>
                    <a:bodyPr/>
                    <a:lstStyle/>
                    <a:p>
                      <a:r>
                        <a:rPr lang="en-US" sz="1050" dirty="0"/>
                        <a:t>Oil and Gas</a:t>
                      </a:r>
                      <a:endParaRPr lang="en-GB" sz="1050" dirty="0"/>
                    </a:p>
                  </a:txBody>
                  <a:tcPr/>
                </a:tc>
                <a:extLst>
                  <a:ext uri="{0D108BD9-81ED-4DB2-BD59-A6C34878D82A}">
                    <a16:rowId xmlns:a16="http://schemas.microsoft.com/office/drawing/2014/main" val="10007"/>
                  </a:ext>
                </a:extLst>
              </a:tr>
              <a:tr h="255129">
                <a:tc>
                  <a:txBody>
                    <a:bodyPr/>
                    <a:lstStyle/>
                    <a:p>
                      <a:r>
                        <a:rPr lang="en-US" sz="1050" dirty="0"/>
                        <a:t>8</a:t>
                      </a:r>
                      <a:endParaRPr lang="en-GB" sz="1050" dirty="0"/>
                    </a:p>
                  </a:txBody>
                  <a:tcPr/>
                </a:tc>
                <a:tc>
                  <a:txBody>
                    <a:bodyPr/>
                    <a:lstStyle/>
                    <a:p>
                      <a:r>
                        <a:rPr lang="en-US" sz="1050" dirty="0"/>
                        <a:t>Zenith Bank </a:t>
                      </a:r>
                      <a:endParaRPr lang="en-GB" sz="1050" dirty="0"/>
                    </a:p>
                  </a:txBody>
                  <a:tcPr/>
                </a:tc>
                <a:tc>
                  <a:txBody>
                    <a:bodyPr/>
                    <a:lstStyle/>
                    <a:p>
                      <a:r>
                        <a:rPr lang="en-GB" sz="1050" dirty="0"/>
                        <a:t>$1.5 billion </a:t>
                      </a:r>
                    </a:p>
                  </a:txBody>
                  <a:tcPr/>
                </a:tc>
                <a:tc>
                  <a:txBody>
                    <a:bodyPr/>
                    <a:lstStyle/>
                    <a:p>
                      <a:r>
                        <a:rPr lang="en-US" sz="1050" dirty="0"/>
                        <a:t>Banking and Finance</a:t>
                      </a:r>
                      <a:r>
                        <a:rPr lang="en-US" sz="1050" baseline="0" dirty="0"/>
                        <a:t> </a:t>
                      </a:r>
                      <a:endParaRPr lang="en-GB" sz="1050" dirty="0"/>
                    </a:p>
                  </a:txBody>
                  <a:tcPr/>
                </a:tc>
                <a:extLst>
                  <a:ext uri="{0D108BD9-81ED-4DB2-BD59-A6C34878D82A}">
                    <a16:rowId xmlns:a16="http://schemas.microsoft.com/office/drawing/2014/main" val="10008"/>
                  </a:ext>
                </a:extLst>
              </a:tr>
              <a:tr h="255129">
                <a:tc>
                  <a:txBody>
                    <a:bodyPr/>
                    <a:lstStyle/>
                    <a:p>
                      <a:r>
                        <a:rPr lang="en-US" sz="1050" dirty="0"/>
                        <a:t>9</a:t>
                      </a:r>
                      <a:endParaRPr lang="en-GB" sz="1050" dirty="0"/>
                    </a:p>
                  </a:txBody>
                  <a:tcPr/>
                </a:tc>
                <a:tc>
                  <a:txBody>
                    <a:bodyPr/>
                    <a:lstStyle/>
                    <a:p>
                      <a:r>
                        <a:rPr lang="en-US" sz="1050" dirty="0"/>
                        <a:t>GT Holdings</a:t>
                      </a:r>
                      <a:r>
                        <a:rPr lang="en-US" sz="1050" baseline="0" dirty="0"/>
                        <a:t> </a:t>
                      </a:r>
                      <a:endParaRPr lang="en-GB" sz="1050" dirty="0"/>
                    </a:p>
                  </a:txBody>
                  <a:tcPr/>
                </a:tc>
                <a:tc>
                  <a:txBody>
                    <a:bodyPr/>
                    <a:lstStyle/>
                    <a:p>
                      <a:r>
                        <a:rPr lang="en-GB" sz="1050" dirty="0"/>
                        <a:t>$1.3 billion</a:t>
                      </a:r>
                    </a:p>
                  </a:txBody>
                  <a:tcPr/>
                </a:tc>
                <a:tc>
                  <a:txBody>
                    <a:bodyPr/>
                    <a:lstStyle/>
                    <a:p>
                      <a:r>
                        <a:rPr lang="en-US" sz="1050" dirty="0"/>
                        <a:t>Banking and Finance</a:t>
                      </a:r>
                      <a:r>
                        <a:rPr lang="en-US" sz="1050" baseline="0" dirty="0"/>
                        <a:t> </a:t>
                      </a:r>
                      <a:endParaRPr lang="en-GB" sz="1050" dirty="0"/>
                    </a:p>
                  </a:txBody>
                  <a:tcPr/>
                </a:tc>
                <a:extLst>
                  <a:ext uri="{0D108BD9-81ED-4DB2-BD59-A6C34878D82A}">
                    <a16:rowId xmlns:a16="http://schemas.microsoft.com/office/drawing/2014/main" val="10009"/>
                  </a:ext>
                </a:extLst>
              </a:tr>
              <a:tr h="255129">
                <a:tc>
                  <a:txBody>
                    <a:bodyPr/>
                    <a:lstStyle/>
                    <a:p>
                      <a:r>
                        <a:rPr lang="en-US" sz="1050" dirty="0"/>
                        <a:t>10</a:t>
                      </a:r>
                      <a:endParaRPr lang="en-GB" sz="1050" dirty="0"/>
                    </a:p>
                  </a:txBody>
                  <a:tcPr/>
                </a:tc>
                <a:tc>
                  <a:txBody>
                    <a:bodyPr/>
                    <a:lstStyle/>
                    <a:p>
                      <a:r>
                        <a:rPr lang="en-US" sz="1050" dirty="0"/>
                        <a:t>Nigerian Breweries </a:t>
                      </a:r>
                      <a:endParaRPr lang="en-GB" sz="1050" dirty="0"/>
                    </a:p>
                  </a:txBody>
                  <a:tcPr/>
                </a:tc>
                <a:tc>
                  <a:txBody>
                    <a:bodyPr/>
                    <a:lstStyle/>
                    <a:p>
                      <a:r>
                        <a:rPr lang="en-GB" sz="1050" dirty="0"/>
                        <a:t>$775 million</a:t>
                      </a:r>
                    </a:p>
                  </a:txBody>
                  <a:tcPr/>
                </a:tc>
                <a:tc>
                  <a:txBody>
                    <a:bodyPr/>
                    <a:lstStyle/>
                    <a:p>
                      <a:r>
                        <a:rPr lang="en-US" sz="1050" dirty="0"/>
                        <a:t>Manufacturing – Brewery </a:t>
                      </a:r>
                      <a:endParaRPr lang="en-GB" sz="1050" dirty="0"/>
                    </a:p>
                  </a:txBody>
                  <a:tcPr/>
                </a:tc>
                <a:extLst>
                  <a:ext uri="{0D108BD9-81ED-4DB2-BD59-A6C34878D82A}">
                    <a16:rowId xmlns:a16="http://schemas.microsoft.com/office/drawing/2014/main" val="10010"/>
                  </a:ext>
                </a:extLst>
              </a:tr>
              <a:tr h="255129">
                <a:tc>
                  <a:txBody>
                    <a:bodyPr/>
                    <a:lstStyle/>
                    <a:p>
                      <a:r>
                        <a:rPr lang="en-US" sz="1050" dirty="0"/>
                        <a:t>11</a:t>
                      </a:r>
                      <a:endParaRPr lang="en-GB" sz="1050" dirty="0"/>
                    </a:p>
                  </a:txBody>
                  <a:tcPr/>
                </a:tc>
                <a:tc>
                  <a:txBody>
                    <a:bodyPr/>
                    <a:lstStyle/>
                    <a:p>
                      <a:r>
                        <a:rPr lang="en-US" sz="1050" dirty="0" err="1"/>
                        <a:t>Stanbic</a:t>
                      </a:r>
                      <a:r>
                        <a:rPr lang="en-US" sz="1050" baseline="0" dirty="0"/>
                        <a:t> IBTC</a:t>
                      </a:r>
                      <a:endParaRPr lang="en-GB" sz="1050" dirty="0"/>
                    </a:p>
                  </a:txBody>
                  <a:tcPr/>
                </a:tc>
                <a:tc>
                  <a:txBody>
                    <a:bodyPr/>
                    <a:lstStyle/>
                    <a:p>
                      <a:r>
                        <a:rPr lang="en-GB" sz="1050" dirty="0"/>
                        <a:t>$889 million</a:t>
                      </a:r>
                    </a:p>
                  </a:txBody>
                  <a:tcPr/>
                </a:tc>
                <a:tc>
                  <a:txBody>
                    <a:bodyPr/>
                    <a:lstStyle/>
                    <a:p>
                      <a:r>
                        <a:rPr lang="en-US" sz="1050" dirty="0"/>
                        <a:t>Banking and Finance </a:t>
                      </a:r>
                      <a:endParaRPr lang="en-GB" sz="1050" dirty="0"/>
                    </a:p>
                  </a:txBody>
                  <a:tcPr/>
                </a:tc>
                <a:extLst>
                  <a:ext uri="{0D108BD9-81ED-4DB2-BD59-A6C34878D82A}">
                    <a16:rowId xmlns:a16="http://schemas.microsoft.com/office/drawing/2014/main" val="10011"/>
                  </a:ext>
                </a:extLst>
              </a:tr>
              <a:tr h="255129">
                <a:tc>
                  <a:txBody>
                    <a:bodyPr/>
                    <a:lstStyle/>
                    <a:p>
                      <a:r>
                        <a:rPr lang="en-US" sz="1050" dirty="0"/>
                        <a:t>12</a:t>
                      </a:r>
                      <a:endParaRPr lang="en-GB" sz="1050" dirty="0"/>
                    </a:p>
                  </a:txBody>
                  <a:tcPr/>
                </a:tc>
                <a:tc>
                  <a:txBody>
                    <a:bodyPr/>
                    <a:lstStyle/>
                    <a:p>
                      <a:r>
                        <a:rPr lang="en-US" sz="1050" dirty="0" err="1"/>
                        <a:t>Geregu</a:t>
                      </a:r>
                      <a:r>
                        <a:rPr lang="en-US" sz="1050" baseline="0" dirty="0"/>
                        <a:t> Power</a:t>
                      </a:r>
                      <a:endParaRPr lang="en-GB" sz="1050" dirty="0"/>
                    </a:p>
                  </a:txBody>
                  <a:tcPr/>
                </a:tc>
                <a:tc>
                  <a:txBody>
                    <a:bodyPr/>
                    <a:lstStyle/>
                    <a:p>
                      <a:r>
                        <a:rPr lang="en-GB" sz="1050" dirty="0"/>
                        <a:t> $731 million</a:t>
                      </a:r>
                    </a:p>
                  </a:txBody>
                  <a:tcPr/>
                </a:tc>
                <a:tc>
                  <a:txBody>
                    <a:bodyPr/>
                    <a:lstStyle/>
                    <a:p>
                      <a:r>
                        <a:rPr lang="en-US" sz="1050" dirty="0"/>
                        <a:t>Power</a:t>
                      </a:r>
                      <a:r>
                        <a:rPr lang="en-US" sz="1050" baseline="0" dirty="0"/>
                        <a:t> </a:t>
                      </a:r>
                      <a:endParaRPr lang="en-GB" sz="1050" dirty="0"/>
                    </a:p>
                  </a:txBody>
                  <a:tcPr/>
                </a:tc>
                <a:extLst>
                  <a:ext uri="{0D108BD9-81ED-4DB2-BD59-A6C34878D82A}">
                    <a16:rowId xmlns:a16="http://schemas.microsoft.com/office/drawing/2014/main" val="10012"/>
                  </a:ext>
                </a:extLst>
              </a:tr>
              <a:tr h="255129">
                <a:tc>
                  <a:txBody>
                    <a:bodyPr/>
                    <a:lstStyle/>
                    <a:p>
                      <a:r>
                        <a:rPr lang="en-US" sz="1050" dirty="0"/>
                        <a:t>13</a:t>
                      </a:r>
                      <a:endParaRPr lang="en-GB" sz="1050" dirty="0"/>
                    </a:p>
                  </a:txBody>
                  <a:tcPr/>
                </a:tc>
                <a:tc>
                  <a:txBody>
                    <a:bodyPr/>
                    <a:lstStyle/>
                    <a:p>
                      <a:r>
                        <a:rPr lang="en-US" sz="1050" dirty="0" err="1"/>
                        <a:t>Jumia</a:t>
                      </a:r>
                      <a:r>
                        <a:rPr lang="en-US" sz="1050" dirty="0"/>
                        <a:t> </a:t>
                      </a:r>
                      <a:endParaRPr lang="en-GB" sz="1050" dirty="0"/>
                    </a:p>
                  </a:txBody>
                  <a:tcPr/>
                </a:tc>
                <a:tc>
                  <a:txBody>
                    <a:bodyPr/>
                    <a:lstStyle/>
                    <a:p>
                      <a:r>
                        <a:rPr lang="en-GB" sz="1050" dirty="0"/>
                        <a:t>$457 million</a:t>
                      </a:r>
                    </a:p>
                  </a:txBody>
                  <a:tcPr/>
                </a:tc>
                <a:tc>
                  <a:txBody>
                    <a:bodyPr/>
                    <a:lstStyle/>
                    <a:p>
                      <a:r>
                        <a:rPr lang="en-US" sz="1050" dirty="0"/>
                        <a:t>Trade </a:t>
                      </a:r>
                      <a:endParaRPr lang="en-GB" sz="1050" dirty="0"/>
                    </a:p>
                  </a:txBody>
                  <a:tcPr/>
                </a:tc>
                <a:extLst>
                  <a:ext uri="{0D108BD9-81ED-4DB2-BD59-A6C34878D82A}">
                    <a16:rowId xmlns:a16="http://schemas.microsoft.com/office/drawing/2014/main" val="10013"/>
                  </a:ext>
                </a:extLst>
              </a:tr>
            </a:tbl>
          </a:graphicData>
        </a:graphic>
      </p:graphicFrame>
      <p:graphicFrame>
        <p:nvGraphicFramePr>
          <p:cNvPr id="13" name="Table 12"/>
          <p:cNvGraphicFramePr>
            <a:graphicFrameLocks noGrp="1"/>
          </p:cNvGraphicFramePr>
          <p:nvPr/>
        </p:nvGraphicFramePr>
        <p:xfrm>
          <a:off x="181642" y="4184385"/>
          <a:ext cx="4876133" cy="2273463"/>
        </p:xfrm>
        <a:graphic>
          <a:graphicData uri="http://schemas.openxmlformats.org/drawingml/2006/table">
            <a:tbl>
              <a:tblPr firstRow="1" bandRow="1">
                <a:tableStyleId>{5940675A-B579-460E-94D1-54222C63F5DA}</a:tableStyleId>
              </a:tblPr>
              <a:tblGrid>
                <a:gridCol w="3859857">
                  <a:extLst>
                    <a:ext uri="{9D8B030D-6E8A-4147-A177-3AD203B41FA5}">
                      <a16:colId xmlns:a16="http://schemas.microsoft.com/office/drawing/2014/main" val="20000"/>
                    </a:ext>
                  </a:extLst>
                </a:gridCol>
                <a:gridCol w="1016276">
                  <a:extLst>
                    <a:ext uri="{9D8B030D-6E8A-4147-A177-3AD203B41FA5}">
                      <a16:colId xmlns:a16="http://schemas.microsoft.com/office/drawing/2014/main" val="20001"/>
                    </a:ext>
                  </a:extLst>
                </a:gridCol>
              </a:tblGrid>
              <a:tr h="252607">
                <a:tc>
                  <a:txBody>
                    <a:bodyPr/>
                    <a:lstStyle/>
                    <a:p>
                      <a:r>
                        <a:rPr lang="en-US" sz="1050" dirty="0"/>
                        <a:t>INDUSTRY</a:t>
                      </a:r>
                      <a:r>
                        <a:rPr lang="en-US" sz="1050" baseline="0" dirty="0"/>
                        <a:t> SECTOR </a:t>
                      </a:r>
                      <a:endParaRPr lang="en-GB" sz="1050" dirty="0"/>
                    </a:p>
                  </a:txBody>
                  <a:tcPr/>
                </a:tc>
                <a:tc>
                  <a:txBody>
                    <a:bodyPr/>
                    <a:lstStyle/>
                    <a:p>
                      <a:r>
                        <a:rPr lang="en-US" sz="1050"/>
                        <a:t>NO IN TOP13 </a:t>
                      </a:r>
                      <a:endParaRPr lang="en-GB" sz="1050"/>
                    </a:p>
                  </a:txBody>
                  <a:tcPr/>
                </a:tc>
                <a:extLst>
                  <a:ext uri="{0D108BD9-81ED-4DB2-BD59-A6C34878D82A}">
                    <a16:rowId xmlns:a16="http://schemas.microsoft.com/office/drawing/2014/main" val="10000"/>
                  </a:ext>
                </a:extLst>
              </a:tr>
              <a:tr h="252607">
                <a:tc>
                  <a:txBody>
                    <a:bodyPr/>
                    <a:lstStyle/>
                    <a:p>
                      <a:r>
                        <a:rPr lang="en-US" sz="1050" dirty="0">
                          <a:solidFill>
                            <a:srgbClr val="FF0000"/>
                          </a:solidFill>
                        </a:rPr>
                        <a:t>TELCO</a:t>
                      </a:r>
                      <a:endParaRPr lang="en-GB" sz="1050" dirty="0">
                        <a:solidFill>
                          <a:srgbClr val="FF0000"/>
                        </a:solidFill>
                      </a:endParaRPr>
                    </a:p>
                  </a:txBody>
                  <a:tcPr/>
                </a:tc>
                <a:tc>
                  <a:txBody>
                    <a:bodyPr/>
                    <a:lstStyle/>
                    <a:p>
                      <a:r>
                        <a:rPr lang="en-US" sz="1050" dirty="0"/>
                        <a:t>2</a:t>
                      </a:r>
                      <a:endParaRPr lang="en-GB" sz="1050" dirty="0"/>
                    </a:p>
                  </a:txBody>
                  <a:tcPr/>
                </a:tc>
                <a:extLst>
                  <a:ext uri="{0D108BD9-81ED-4DB2-BD59-A6C34878D82A}">
                    <a16:rowId xmlns:a16="http://schemas.microsoft.com/office/drawing/2014/main" val="10001"/>
                  </a:ext>
                </a:extLst>
              </a:tr>
              <a:tr h="252607">
                <a:tc>
                  <a:txBody>
                    <a:bodyPr/>
                    <a:lstStyle/>
                    <a:p>
                      <a:r>
                        <a:rPr lang="en-US" sz="1050">
                          <a:solidFill>
                            <a:srgbClr val="FF0000"/>
                          </a:solidFill>
                        </a:rPr>
                        <a:t>Manufacturing</a:t>
                      </a:r>
                      <a:r>
                        <a:rPr lang="en-US" sz="1050" baseline="0">
                          <a:solidFill>
                            <a:srgbClr val="FF0000"/>
                          </a:solidFill>
                        </a:rPr>
                        <a:t> – Cement </a:t>
                      </a:r>
                      <a:endParaRPr lang="en-GB" sz="1050">
                        <a:solidFill>
                          <a:srgbClr val="FF0000"/>
                        </a:solidFill>
                      </a:endParaRPr>
                    </a:p>
                  </a:txBody>
                  <a:tcPr/>
                </a:tc>
                <a:tc>
                  <a:txBody>
                    <a:bodyPr/>
                    <a:lstStyle/>
                    <a:p>
                      <a:r>
                        <a:rPr lang="en-US" sz="1050"/>
                        <a:t>2</a:t>
                      </a:r>
                      <a:endParaRPr lang="en-GB" sz="1050" dirty="0"/>
                    </a:p>
                  </a:txBody>
                  <a:tcPr/>
                </a:tc>
                <a:extLst>
                  <a:ext uri="{0D108BD9-81ED-4DB2-BD59-A6C34878D82A}">
                    <a16:rowId xmlns:a16="http://schemas.microsoft.com/office/drawing/2014/main" val="10002"/>
                  </a:ext>
                </a:extLst>
              </a:tr>
              <a:tr h="252607">
                <a:tc>
                  <a:txBody>
                    <a:bodyPr/>
                    <a:lstStyle/>
                    <a:p>
                      <a:r>
                        <a:rPr lang="en-US" sz="1050" dirty="0">
                          <a:solidFill>
                            <a:srgbClr val="FF0000"/>
                          </a:solidFill>
                        </a:rPr>
                        <a:t>Manufacturing</a:t>
                      </a:r>
                      <a:r>
                        <a:rPr lang="en-US" sz="1050" baseline="0" dirty="0">
                          <a:solidFill>
                            <a:srgbClr val="FF0000"/>
                          </a:solidFill>
                        </a:rPr>
                        <a:t> – Food and Beverage : FMCG</a:t>
                      </a:r>
                      <a:endParaRPr lang="en-GB" sz="1050">
                        <a:solidFill>
                          <a:srgbClr val="FF0000"/>
                        </a:solidFill>
                      </a:endParaRPr>
                    </a:p>
                  </a:txBody>
                  <a:tcPr/>
                </a:tc>
                <a:tc>
                  <a:txBody>
                    <a:bodyPr/>
                    <a:lstStyle/>
                    <a:p>
                      <a:r>
                        <a:rPr lang="en-US" sz="1050" dirty="0"/>
                        <a:t>2</a:t>
                      </a:r>
                      <a:endParaRPr lang="en-GB" sz="1050" dirty="0"/>
                    </a:p>
                  </a:txBody>
                  <a:tcPr/>
                </a:tc>
                <a:extLst>
                  <a:ext uri="{0D108BD9-81ED-4DB2-BD59-A6C34878D82A}">
                    <a16:rowId xmlns:a16="http://schemas.microsoft.com/office/drawing/2014/main" val="10003"/>
                  </a:ext>
                </a:extLst>
              </a:tr>
              <a:tr h="252607">
                <a:tc>
                  <a:txBody>
                    <a:bodyPr/>
                    <a:lstStyle/>
                    <a:p>
                      <a:r>
                        <a:rPr lang="en-US" sz="1050" dirty="0">
                          <a:solidFill>
                            <a:srgbClr val="FF0000"/>
                          </a:solidFill>
                        </a:rPr>
                        <a:t>Manufacturing – Brewery </a:t>
                      </a:r>
                      <a:endParaRPr lang="en-GB" sz="1050" dirty="0">
                        <a:solidFill>
                          <a:srgbClr val="FF0000"/>
                        </a:solidFill>
                      </a:endParaRPr>
                    </a:p>
                  </a:txBody>
                  <a:tcPr/>
                </a:tc>
                <a:tc>
                  <a:txBody>
                    <a:bodyPr/>
                    <a:lstStyle/>
                    <a:p>
                      <a:r>
                        <a:rPr lang="en-US" sz="1050"/>
                        <a:t>1</a:t>
                      </a:r>
                      <a:endParaRPr lang="en-GB" sz="1050" dirty="0"/>
                    </a:p>
                  </a:txBody>
                  <a:tcPr/>
                </a:tc>
                <a:extLst>
                  <a:ext uri="{0D108BD9-81ED-4DB2-BD59-A6C34878D82A}">
                    <a16:rowId xmlns:a16="http://schemas.microsoft.com/office/drawing/2014/main" val="10004"/>
                  </a:ext>
                </a:extLst>
              </a:tr>
              <a:tr h="252607">
                <a:tc>
                  <a:txBody>
                    <a:bodyPr/>
                    <a:lstStyle/>
                    <a:p>
                      <a:r>
                        <a:rPr lang="en-US" sz="1050"/>
                        <a:t>Oil and Gas </a:t>
                      </a:r>
                      <a:endParaRPr lang="en-GB" sz="1050"/>
                    </a:p>
                  </a:txBody>
                  <a:tcPr/>
                </a:tc>
                <a:tc>
                  <a:txBody>
                    <a:bodyPr/>
                    <a:lstStyle/>
                    <a:p>
                      <a:r>
                        <a:rPr lang="en-US" sz="1050"/>
                        <a:t>1</a:t>
                      </a:r>
                      <a:endParaRPr lang="en-GB" sz="1050" dirty="0"/>
                    </a:p>
                  </a:txBody>
                  <a:tcPr/>
                </a:tc>
                <a:extLst>
                  <a:ext uri="{0D108BD9-81ED-4DB2-BD59-A6C34878D82A}">
                    <a16:rowId xmlns:a16="http://schemas.microsoft.com/office/drawing/2014/main" val="10005"/>
                  </a:ext>
                </a:extLst>
              </a:tr>
              <a:tr h="252607">
                <a:tc>
                  <a:txBody>
                    <a:bodyPr/>
                    <a:lstStyle/>
                    <a:p>
                      <a:r>
                        <a:rPr lang="en-US" sz="1050" dirty="0">
                          <a:solidFill>
                            <a:srgbClr val="FF0000"/>
                          </a:solidFill>
                        </a:rPr>
                        <a:t>Banking and Finance</a:t>
                      </a:r>
                      <a:endParaRPr lang="en-GB" sz="1050" dirty="0">
                        <a:solidFill>
                          <a:srgbClr val="FF0000"/>
                        </a:solidFill>
                      </a:endParaRPr>
                    </a:p>
                  </a:txBody>
                  <a:tcPr/>
                </a:tc>
                <a:tc>
                  <a:txBody>
                    <a:bodyPr/>
                    <a:lstStyle/>
                    <a:p>
                      <a:r>
                        <a:rPr lang="en-US" sz="1050" dirty="0"/>
                        <a:t>3</a:t>
                      </a:r>
                      <a:endParaRPr lang="en-GB" sz="1050" dirty="0"/>
                    </a:p>
                  </a:txBody>
                  <a:tcPr/>
                </a:tc>
                <a:extLst>
                  <a:ext uri="{0D108BD9-81ED-4DB2-BD59-A6C34878D82A}">
                    <a16:rowId xmlns:a16="http://schemas.microsoft.com/office/drawing/2014/main" val="10006"/>
                  </a:ext>
                </a:extLst>
              </a:tr>
              <a:tr h="252607">
                <a:tc>
                  <a:txBody>
                    <a:bodyPr/>
                    <a:lstStyle/>
                    <a:p>
                      <a:r>
                        <a:rPr lang="en-US" sz="1050" dirty="0"/>
                        <a:t>Trade : Ecommerce</a:t>
                      </a:r>
                      <a:endParaRPr lang="en-GB" sz="1050"/>
                    </a:p>
                  </a:txBody>
                  <a:tcPr/>
                </a:tc>
                <a:tc>
                  <a:txBody>
                    <a:bodyPr/>
                    <a:lstStyle/>
                    <a:p>
                      <a:r>
                        <a:rPr lang="en-US" sz="1050" dirty="0"/>
                        <a:t>1</a:t>
                      </a:r>
                      <a:endParaRPr lang="en-GB" sz="1050" dirty="0"/>
                    </a:p>
                  </a:txBody>
                  <a:tcPr/>
                </a:tc>
                <a:extLst>
                  <a:ext uri="{0D108BD9-81ED-4DB2-BD59-A6C34878D82A}">
                    <a16:rowId xmlns:a16="http://schemas.microsoft.com/office/drawing/2014/main" val="10007"/>
                  </a:ext>
                </a:extLst>
              </a:tr>
              <a:tr h="252607">
                <a:tc>
                  <a:txBody>
                    <a:bodyPr/>
                    <a:lstStyle/>
                    <a:p>
                      <a:r>
                        <a:rPr lang="en-US" sz="1050"/>
                        <a:t>Power </a:t>
                      </a:r>
                      <a:endParaRPr lang="en-GB" sz="1050"/>
                    </a:p>
                  </a:txBody>
                  <a:tcPr/>
                </a:tc>
                <a:tc>
                  <a:txBody>
                    <a:bodyPr/>
                    <a:lstStyle/>
                    <a:p>
                      <a:r>
                        <a:rPr lang="en-US" sz="1050" dirty="0"/>
                        <a:t>1</a:t>
                      </a:r>
                      <a:endParaRPr lang="en-GB" sz="1050" dirty="0"/>
                    </a:p>
                  </a:txBody>
                  <a:tcPr/>
                </a:tc>
                <a:extLst>
                  <a:ext uri="{0D108BD9-81ED-4DB2-BD59-A6C34878D82A}">
                    <a16:rowId xmlns:a16="http://schemas.microsoft.com/office/drawing/2014/main" val="10008"/>
                  </a:ext>
                </a:extLst>
              </a:tr>
            </a:tbl>
          </a:graphicData>
        </a:graphic>
      </p:graphicFrame>
      <p:sp>
        <p:nvSpPr>
          <p:cNvPr id="14" name="TextBox 13"/>
          <p:cNvSpPr txBox="1"/>
          <p:nvPr/>
        </p:nvSpPr>
        <p:spPr>
          <a:xfrm>
            <a:off x="5937332" y="5241701"/>
            <a:ext cx="2871817" cy="369332"/>
          </a:xfrm>
          <a:prstGeom prst="rect">
            <a:avLst/>
          </a:prstGeom>
          <a:noFill/>
        </p:spPr>
        <p:txBody>
          <a:bodyPr wrap="square" rtlCol="0">
            <a:spAutoFit/>
          </a:bodyPr>
          <a:lstStyle/>
          <a:p>
            <a:r>
              <a:rPr lang="en-US"/>
              <a:t>Data at – Nov 22</a:t>
            </a:r>
            <a:endParaRPr lang="en-GB"/>
          </a:p>
        </p:txBody>
      </p:sp>
    </p:spTree>
    <p:extLst>
      <p:ext uri="{BB962C8B-B14F-4D97-AF65-F5344CB8AC3E}">
        <p14:creationId xmlns:p14="http://schemas.microsoft.com/office/powerpoint/2010/main" val="146518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36-4579-BF51-7040-072395A6AA26}"/>
              </a:ext>
            </a:extLst>
          </p:cNvPr>
          <p:cNvSpPr>
            <a:spLocks noGrp="1"/>
          </p:cNvSpPr>
          <p:nvPr>
            <p:ph type="title"/>
          </p:nvPr>
        </p:nvSpPr>
        <p:spPr/>
        <p:txBody>
          <a:bodyPr/>
          <a:lstStyle/>
          <a:p>
            <a:r>
              <a:rPr lang="en-GB" dirty="0"/>
              <a:t>Medbury Top Customers and Industry that accounts for 70% of Revenue</a:t>
            </a:r>
          </a:p>
        </p:txBody>
      </p:sp>
      <p:sp>
        <p:nvSpPr>
          <p:cNvPr id="4" name="Slide Number Placeholder 3">
            <a:extLst>
              <a:ext uri="{FF2B5EF4-FFF2-40B4-BE49-F238E27FC236}">
                <a16:creationId xmlns:a16="http://schemas.microsoft.com/office/drawing/2014/main" id="{6D048E01-F1B3-8950-5948-441373306FE9}"/>
              </a:ext>
            </a:extLst>
          </p:cNvPr>
          <p:cNvSpPr>
            <a:spLocks noGrp="1"/>
          </p:cNvSpPr>
          <p:nvPr>
            <p:ph type="sldNum" sz="quarter" idx="12"/>
          </p:nvPr>
        </p:nvSpPr>
        <p:spPr/>
        <p:txBody>
          <a:bodyPr/>
          <a:lstStyle/>
          <a:p>
            <a:fld id="{88DB5A6F-883B-4080-A811-FB5B8D05AFA3}" type="slidenum">
              <a:rPr lang="en-GB" smtClean="0"/>
              <a:pPr/>
              <a:t>8</a:t>
            </a:fld>
            <a:endParaRPr lang="en-GB"/>
          </a:p>
        </p:txBody>
      </p:sp>
      <p:graphicFrame>
        <p:nvGraphicFramePr>
          <p:cNvPr id="6" name="Content Placeholder 5"/>
          <p:cNvGraphicFramePr>
            <a:graphicFrameLocks noGrp="1"/>
          </p:cNvGraphicFramePr>
          <p:nvPr>
            <p:ph idx="1"/>
          </p:nvPr>
        </p:nvGraphicFramePr>
        <p:xfrm>
          <a:off x="747713" y="1069975"/>
          <a:ext cx="4495800" cy="2159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8200" y="3409683"/>
          <a:ext cx="4405313" cy="2205856"/>
        </p:xfrm>
        <a:graphic>
          <a:graphicData uri="http://schemas.openxmlformats.org/drawingml/2006/table">
            <a:tbl>
              <a:tblPr/>
              <a:tblGrid>
                <a:gridCol w="1365125">
                  <a:extLst>
                    <a:ext uri="{9D8B030D-6E8A-4147-A177-3AD203B41FA5}">
                      <a16:colId xmlns:a16="http://schemas.microsoft.com/office/drawing/2014/main" val="20000"/>
                    </a:ext>
                  </a:extLst>
                </a:gridCol>
                <a:gridCol w="640772">
                  <a:extLst>
                    <a:ext uri="{9D8B030D-6E8A-4147-A177-3AD203B41FA5}">
                      <a16:colId xmlns:a16="http://schemas.microsoft.com/office/drawing/2014/main" val="20001"/>
                    </a:ext>
                  </a:extLst>
                </a:gridCol>
                <a:gridCol w="1117870">
                  <a:extLst>
                    <a:ext uri="{9D8B030D-6E8A-4147-A177-3AD203B41FA5}">
                      <a16:colId xmlns:a16="http://schemas.microsoft.com/office/drawing/2014/main" val="20002"/>
                    </a:ext>
                  </a:extLst>
                </a:gridCol>
                <a:gridCol w="1281546">
                  <a:extLst>
                    <a:ext uri="{9D8B030D-6E8A-4147-A177-3AD203B41FA5}">
                      <a16:colId xmlns:a16="http://schemas.microsoft.com/office/drawing/2014/main" val="20003"/>
                    </a:ext>
                  </a:extLst>
                </a:gridCol>
              </a:tblGrid>
              <a:tr h="288621">
                <a:tc>
                  <a:txBody>
                    <a:bodyPr/>
                    <a:lstStyle/>
                    <a:p>
                      <a:pPr algn="l" fontAlgn="b"/>
                      <a:r>
                        <a:rPr lang="en-GB" sz="1200" b="1" i="0" u="none" strike="noStrike" dirty="0">
                          <a:solidFill>
                            <a:srgbClr val="000000"/>
                          </a:solidFill>
                          <a:effectLst/>
                          <a:latin typeface="Calibri" panose="020F0502020204030204" pitchFamily="34" charset="0"/>
                        </a:rPr>
                        <a:t>Industry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GB" sz="1200" b="1" i="0" u="none" strike="noStrike">
                          <a:solidFill>
                            <a:srgbClr val="000000"/>
                          </a:solidFill>
                          <a:effectLst/>
                          <a:latin typeface="Calibri" panose="020F0502020204030204" pitchFamily="34" charset="0"/>
                        </a:rPr>
                        <a:t>Number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r" fontAlgn="b"/>
                      <a:r>
                        <a:rPr lang="en-GB" sz="1200" b="1" i="0" u="none" strike="noStrike">
                          <a:solidFill>
                            <a:srgbClr val="000000"/>
                          </a:solidFill>
                          <a:effectLst/>
                          <a:latin typeface="Calibri" panose="020F0502020204030204" pitchFamily="34" charset="0"/>
                        </a:rPr>
                        <a:t>Amount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r" fontAlgn="b"/>
                      <a:r>
                        <a:rPr lang="en-GB" sz="1200" b="1" i="0" u="none" strike="noStrike" dirty="0">
                          <a:solidFill>
                            <a:srgbClr val="000000"/>
                          </a:solidFill>
                          <a:effectLst/>
                          <a:latin typeface="Calibri" panose="020F0502020204030204" pitchFamily="34" charset="0"/>
                        </a:rPr>
                        <a:t>Average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436517">
                <a:tc>
                  <a:txBody>
                    <a:bodyPr/>
                    <a:lstStyle/>
                    <a:p>
                      <a:pPr algn="l" fontAlgn="b"/>
                      <a:r>
                        <a:rPr lang="en-GB" sz="1200" b="0" i="0" u="none" strike="noStrike">
                          <a:solidFill>
                            <a:srgbClr val="000000"/>
                          </a:solidFill>
                          <a:effectLst/>
                          <a:latin typeface="Calibri" panose="020F0502020204030204" pitchFamily="34" charset="0"/>
                        </a:rPr>
                        <a:t>Food and Beverage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2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131,765,961.28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26,353,192.26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5873">
                <a:tc>
                  <a:txBody>
                    <a:bodyPr/>
                    <a:lstStyle/>
                    <a:p>
                      <a:pPr algn="l" fontAlgn="b"/>
                      <a:r>
                        <a:rPr lang="en-GB" sz="1200" b="0" i="0" u="none" strike="noStrike">
                          <a:solidFill>
                            <a:srgbClr val="000000"/>
                          </a:solidFill>
                          <a:effectLst/>
                          <a:latin typeface="Calibri" panose="020F0502020204030204" pitchFamily="34" charset="0"/>
                        </a:rPr>
                        <a:t>Logistics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2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40,578,223.82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20,289,111.91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6803">
                <a:tc>
                  <a:txBody>
                    <a:bodyPr/>
                    <a:lstStyle/>
                    <a:p>
                      <a:pPr algn="l" fontAlgn="b"/>
                      <a:r>
                        <a:rPr lang="en-GB" sz="1200" b="0" i="0" u="none" strike="noStrike">
                          <a:solidFill>
                            <a:srgbClr val="000000"/>
                          </a:solidFill>
                          <a:effectLst/>
                          <a:latin typeface="Calibri" panose="020F0502020204030204" pitchFamily="34" charset="0"/>
                        </a:rPr>
                        <a:t>Oiland Gas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2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88,756,667.49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6,827,435.96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0353">
                <a:tc>
                  <a:txBody>
                    <a:bodyPr/>
                    <a:lstStyle/>
                    <a:p>
                      <a:pPr algn="l" fontAlgn="b"/>
                      <a:r>
                        <a:rPr lang="en-GB" sz="1200" b="0" i="0" u="none" strike="noStrike">
                          <a:solidFill>
                            <a:srgbClr val="000000"/>
                          </a:solidFill>
                          <a:effectLst/>
                          <a:latin typeface="Calibri" panose="020F0502020204030204" pitchFamily="34" charset="0"/>
                        </a:rPr>
                        <a:t>Telco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2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9,197,259.34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9,197,259.34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4275">
                <a:tc>
                  <a:txBody>
                    <a:bodyPr/>
                    <a:lstStyle/>
                    <a:p>
                      <a:pPr algn="l" fontAlgn="b"/>
                      <a:r>
                        <a:rPr lang="en-GB" sz="1200" b="0" i="0" u="none" strike="noStrike" dirty="0">
                          <a:solidFill>
                            <a:srgbClr val="000000"/>
                          </a:solidFill>
                          <a:effectLst/>
                          <a:latin typeface="Calibri" panose="020F0502020204030204" pitchFamily="34" charset="0"/>
                        </a:rPr>
                        <a:t>Tobacco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12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a:solidFill>
                            <a:srgbClr val="000000"/>
                          </a:solidFill>
                          <a:effectLst/>
                          <a:latin typeface="Calibri" panose="020F0502020204030204" pitchFamily="34" charset="0"/>
                        </a:rPr>
                        <a:t>     42,784,781.14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GB" sz="1200" b="0" i="0" u="none" strike="noStrike" dirty="0">
                          <a:solidFill>
                            <a:srgbClr val="000000"/>
                          </a:solidFill>
                          <a:effectLst/>
                          <a:latin typeface="Calibri" panose="020F0502020204030204" pitchFamily="34" charset="0"/>
                        </a:rPr>
                        <a:t>          42,784,781.14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9" name="Picture 8"/>
          <p:cNvPicPr>
            <a:picLocks noChangeAspect="1"/>
          </p:cNvPicPr>
          <p:nvPr/>
        </p:nvPicPr>
        <p:blipFill>
          <a:blip r:embed="rId3"/>
          <a:stretch>
            <a:fillRect/>
          </a:stretch>
        </p:blipFill>
        <p:spPr>
          <a:xfrm>
            <a:off x="5647779" y="1238062"/>
            <a:ext cx="6053583" cy="4744748"/>
          </a:xfrm>
          <a:prstGeom prst="rect">
            <a:avLst/>
          </a:prstGeom>
        </p:spPr>
      </p:pic>
    </p:spTree>
    <p:extLst>
      <p:ext uri="{BB962C8B-B14F-4D97-AF65-F5344CB8AC3E}">
        <p14:creationId xmlns:p14="http://schemas.microsoft.com/office/powerpoint/2010/main" val="1947363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F3473-234A-71E4-520C-0EAC4000B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7ABE8-9394-60A7-C314-39FAB70B968E}"/>
              </a:ext>
            </a:extLst>
          </p:cNvPr>
          <p:cNvSpPr>
            <a:spLocks noGrp="1"/>
          </p:cNvSpPr>
          <p:nvPr>
            <p:ph type="title"/>
          </p:nvPr>
        </p:nvSpPr>
        <p:spPr/>
        <p:txBody>
          <a:bodyPr/>
          <a:lstStyle/>
          <a:p>
            <a:r>
              <a:rPr lang="en-GB" dirty="0"/>
              <a:t>Medbury Top Customers and Industry that accounts for highest Revenue</a:t>
            </a:r>
          </a:p>
        </p:txBody>
      </p:sp>
      <p:sp>
        <p:nvSpPr>
          <p:cNvPr id="4" name="Slide Number Placeholder 3">
            <a:extLst>
              <a:ext uri="{FF2B5EF4-FFF2-40B4-BE49-F238E27FC236}">
                <a16:creationId xmlns:a16="http://schemas.microsoft.com/office/drawing/2014/main" id="{6AA8E2C8-1FA1-F215-0BE7-C5C828788F3F}"/>
              </a:ext>
            </a:extLst>
          </p:cNvPr>
          <p:cNvSpPr>
            <a:spLocks noGrp="1"/>
          </p:cNvSpPr>
          <p:nvPr>
            <p:ph type="sldNum" sz="quarter" idx="12"/>
          </p:nvPr>
        </p:nvSpPr>
        <p:spPr/>
        <p:txBody>
          <a:bodyPr/>
          <a:lstStyle/>
          <a:p>
            <a:fld id="{88DB5A6F-883B-4080-A811-FB5B8D05AFA3}" type="slidenum">
              <a:rPr lang="en-GB" smtClean="0"/>
              <a:pPr/>
              <a:t>9</a:t>
            </a:fld>
            <a:endParaRPr lang="en-GB"/>
          </a:p>
        </p:txBody>
      </p:sp>
      <p:sp>
        <p:nvSpPr>
          <p:cNvPr id="7" name="TextBox 6">
            <a:extLst>
              <a:ext uri="{FF2B5EF4-FFF2-40B4-BE49-F238E27FC236}">
                <a16:creationId xmlns:a16="http://schemas.microsoft.com/office/drawing/2014/main" id="{0F88D766-F7B6-32A1-72BA-314F7B7A288E}"/>
              </a:ext>
            </a:extLst>
          </p:cNvPr>
          <p:cNvSpPr txBox="1"/>
          <p:nvPr/>
        </p:nvSpPr>
        <p:spPr>
          <a:xfrm>
            <a:off x="243840" y="1066800"/>
            <a:ext cx="10840720" cy="6186309"/>
          </a:xfrm>
          <a:prstGeom prst="rect">
            <a:avLst/>
          </a:prstGeom>
          <a:noFill/>
        </p:spPr>
        <p:txBody>
          <a:bodyPr wrap="square" rtlCol="0">
            <a:spAutoFit/>
          </a:bodyPr>
          <a:lstStyle/>
          <a:p>
            <a:pPr marL="285750" indent="-285750">
              <a:buFont typeface="Arial" panose="020B0604020202020204" pitchFamily="34" charset="0"/>
              <a:buChar char="•"/>
            </a:pPr>
            <a:r>
              <a:rPr lang="en-US" dirty="0"/>
              <a:t>OH recorded 1.32b in 2023 to 2024 June 2024</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PH contributes to 63%, Lekki makes 34% and Ikeja 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Walk-in revenue was less than 5% of the Total revenue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Warri </a:t>
            </a:r>
            <a:r>
              <a:rPr lang="en-US" dirty="0" err="1"/>
              <a:t>lifecheck</a:t>
            </a:r>
            <a:r>
              <a:rPr lang="en-US" dirty="0"/>
              <a:t> commissioned in September 2024</a:t>
            </a:r>
          </a:p>
          <a:p>
            <a:pPr marL="285750" indent="-285750">
              <a:buFont typeface="Arial" panose="020B0604020202020204" pitchFamily="34" charset="0"/>
              <a:buChar char="•"/>
            </a:pPr>
            <a:endParaRPr lang="en-US" dirty="0"/>
          </a:p>
          <a:p>
            <a:r>
              <a:rPr lang="en-US" dirty="0"/>
              <a:t>Top 5 products sold are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Med-supplies 42%</a:t>
            </a:r>
          </a:p>
          <a:p>
            <a:pPr marL="285750" indent="-285750">
              <a:buFont typeface="Arial" panose="020B0604020202020204" pitchFamily="34" charset="0"/>
              <a:buChar char="•"/>
            </a:pPr>
            <a:r>
              <a:rPr lang="en-US" dirty="0"/>
              <a:t>Periodic Medicals (Annual Medicals) 18%</a:t>
            </a:r>
          </a:p>
          <a:p>
            <a:pPr marL="285750" indent="-285750">
              <a:buFont typeface="Arial" panose="020B0604020202020204" pitchFamily="34" charset="0"/>
              <a:buChar char="•"/>
            </a:pPr>
            <a:r>
              <a:rPr lang="en-US" dirty="0"/>
              <a:t>Pre-employment 17%</a:t>
            </a:r>
          </a:p>
          <a:p>
            <a:pPr marL="285750" indent="-285750">
              <a:buFont typeface="Arial" panose="020B0604020202020204" pitchFamily="34" charset="0"/>
              <a:buChar char="•"/>
            </a:pPr>
            <a:r>
              <a:rPr lang="en-US" dirty="0"/>
              <a:t>Food handlers Medicals - 13%</a:t>
            </a:r>
          </a:p>
          <a:p>
            <a:pPr marL="285750" indent="-285750">
              <a:buFont typeface="Arial" panose="020B0604020202020204" pitchFamily="34" charset="0"/>
              <a:buChar char="•"/>
            </a:pPr>
            <a:r>
              <a:rPr lang="en-US" dirty="0"/>
              <a:t>Chevron FFD 10%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Hospital Mgt is the most emerging product with SPDC IA Hospital</a:t>
            </a:r>
          </a:p>
          <a:p>
            <a:pPr marL="285750" indent="-285750">
              <a:buFont typeface="Arial" panose="020B0604020202020204" pitchFamily="34" charset="0"/>
              <a:buChar char="•"/>
            </a:pPr>
            <a:r>
              <a:rPr lang="en-US" dirty="0"/>
              <a:t>Pipelines growing – Oando, </a:t>
            </a:r>
            <a:r>
              <a:rPr lang="en-US" dirty="0" err="1"/>
              <a:t>etc</a:t>
            </a:r>
            <a:endParaRPr lang="en-US" dirty="0"/>
          </a:p>
          <a:p>
            <a:pPr marL="285750" indent="-285750">
              <a:buFont typeface="Arial" panose="020B0604020202020204" pitchFamily="34" charset="0"/>
              <a:buChar char="•"/>
            </a:pPr>
            <a:endParaRPr lang="en-US" dirty="0"/>
          </a:p>
          <a:p>
            <a:pPr lvl="1"/>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7745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B2F67-1C62-4F96-4684-7FE99B336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AB431-2B4D-55DE-3CA8-9EF6382BCF1F}"/>
              </a:ext>
            </a:extLst>
          </p:cNvPr>
          <p:cNvSpPr>
            <a:spLocks noGrp="1"/>
          </p:cNvSpPr>
          <p:nvPr>
            <p:ph type="title"/>
          </p:nvPr>
        </p:nvSpPr>
        <p:spPr>
          <a:xfrm>
            <a:off x="213360" y="-147944"/>
            <a:ext cx="10055942" cy="568939"/>
          </a:xfrm>
        </p:spPr>
        <p:txBody>
          <a:bodyPr/>
          <a:lstStyle/>
          <a:p>
            <a:r>
              <a:rPr lang="en-GB" dirty="0"/>
              <a:t>Gap Analysis</a:t>
            </a:r>
          </a:p>
        </p:txBody>
      </p:sp>
      <p:sp>
        <p:nvSpPr>
          <p:cNvPr id="4" name="Slide Number Placeholder 3">
            <a:extLst>
              <a:ext uri="{FF2B5EF4-FFF2-40B4-BE49-F238E27FC236}">
                <a16:creationId xmlns:a16="http://schemas.microsoft.com/office/drawing/2014/main" id="{483390F4-FBEC-AF31-7D7E-5E7AA6FA16C9}"/>
              </a:ext>
            </a:extLst>
          </p:cNvPr>
          <p:cNvSpPr>
            <a:spLocks noGrp="1"/>
          </p:cNvSpPr>
          <p:nvPr>
            <p:ph type="sldNum" sz="quarter" idx="12"/>
          </p:nvPr>
        </p:nvSpPr>
        <p:spPr/>
        <p:txBody>
          <a:bodyPr/>
          <a:lstStyle/>
          <a:p>
            <a:fld id="{88DB5A6F-883B-4080-A811-FB5B8D05AFA3}" type="slidenum">
              <a:rPr lang="en-GB" smtClean="0"/>
              <a:pPr/>
              <a:t>10</a:t>
            </a:fld>
            <a:endParaRPr lang="en-GB"/>
          </a:p>
        </p:txBody>
      </p:sp>
      <p:sp>
        <p:nvSpPr>
          <p:cNvPr id="3" name="Title 1">
            <a:extLst>
              <a:ext uri="{FF2B5EF4-FFF2-40B4-BE49-F238E27FC236}">
                <a16:creationId xmlns:a16="http://schemas.microsoft.com/office/drawing/2014/main" id="{076CE32E-6A9B-8CFE-1B91-781CB4EF6A9F}"/>
              </a:ext>
            </a:extLst>
          </p:cNvPr>
          <p:cNvSpPr txBox="1">
            <a:spLocks/>
          </p:cNvSpPr>
          <p:nvPr/>
        </p:nvSpPr>
        <p:spPr>
          <a:xfrm>
            <a:off x="213360" y="447040"/>
            <a:ext cx="11775440" cy="6410960"/>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pPr marL="457200" indent="-457200">
              <a:buAutoNum type="arabicPeriod"/>
            </a:pPr>
            <a:r>
              <a:rPr lang="en-GB" sz="1800" dirty="0">
                <a:solidFill>
                  <a:schemeClr val="tx1"/>
                </a:solidFill>
              </a:rPr>
              <a:t>EMR is not “yet” </a:t>
            </a:r>
            <a:r>
              <a:rPr lang="en-GB" sz="1800" dirty="0" err="1">
                <a:solidFill>
                  <a:schemeClr val="tx1"/>
                </a:solidFill>
              </a:rPr>
              <a:t>EMRing</a:t>
            </a:r>
            <a:r>
              <a:rPr lang="en-GB" sz="1800" dirty="0">
                <a:solidFill>
                  <a:schemeClr val="tx1"/>
                </a:solidFill>
              </a:rPr>
              <a:t> ! </a:t>
            </a:r>
          </a:p>
          <a:p>
            <a:pPr marL="342900" indent="-342900">
              <a:buFont typeface="Arial" panose="020B0604020202020204" pitchFamily="34" charset="0"/>
              <a:buChar char="•"/>
            </a:pPr>
            <a:r>
              <a:rPr lang="en-GB" sz="1800" b="0" dirty="0">
                <a:solidFill>
                  <a:schemeClr val="tx1"/>
                </a:solidFill>
              </a:rPr>
              <a:t>Not built to produce reports on frequency of purchase per product, only bundles.</a:t>
            </a:r>
          </a:p>
          <a:p>
            <a:pPr marL="342900" indent="-342900">
              <a:buFont typeface="Arial" panose="020B0604020202020204" pitchFamily="34" charset="0"/>
              <a:buChar char="•"/>
            </a:pPr>
            <a:r>
              <a:rPr lang="en-GB" sz="1800" b="0" dirty="0">
                <a:solidFill>
                  <a:schemeClr val="tx1"/>
                </a:solidFill>
              </a:rPr>
              <a:t>Not built to run data analytics by charts etc</a:t>
            </a:r>
          </a:p>
          <a:p>
            <a:pPr marL="342900" indent="-342900">
              <a:buFont typeface="Arial" panose="020B0604020202020204" pitchFamily="34" charset="0"/>
              <a:buChar char="•"/>
            </a:pPr>
            <a:r>
              <a:rPr lang="en-GB" sz="1800" b="0" dirty="0">
                <a:solidFill>
                  <a:schemeClr val="tx1"/>
                </a:solidFill>
              </a:rPr>
              <a:t>Dates formats are not flexible, combined day and date</a:t>
            </a:r>
          </a:p>
          <a:p>
            <a:pPr marL="342900" indent="-342900">
              <a:buFont typeface="Arial" panose="020B0604020202020204" pitchFamily="34" charset="0"/>
              <a:buChar char="•"/>
            </a:pPr>
            <a:r>
              <a:rPr lang="en-GB" sz="1800" b="0" dirty="0">
                <a:solidFill>
                  <a:schemeClr val="tx1"/>
                </a:solidFill>
              </a:rPr>
              <a:t>Difficult to integrate with other systems</a:t>
            </a:r>
          </a:p>
          <a:p>
            <a:pPr marL="342900" indent="-342900">
              <a:buFont typeface="Arial" panose="020B0604020202020204" pitchFamily="34" charset="0"/>
              <a:buChar char="•"/>
            </a:pPr>
            <a:r>
              <a:rPr lang="en-GB" sz="1800" b="0" dirty="0">
                <a:solidFill>
                  <a:schemeClr val="tx1"/>
                </a:solidFill>
              </a:rPr>
              <a:t>Admin end is not user friendly</a:t>
            </a:r>
          </a:p>
          <a:p>
            <a:pPr marL="342900" indent="-342900">
              <a:buFont typeface="Arial" panose="020B0604020202020204" pitchFamily="34" charset="0"/>
              <a:buChar char="•"/>
            </a:pPr>
            <a:r>
              <a:rPr lang="en-GB" sz="1800" b="0" dirty="0">
                <a:solidFill>
                  <a:schemeClr val="tx1"/>
                </a:solidFill>
              </a:rPr>
              <a:t>Manuals for operation not provided </a:t>
            </a:r>
          </a:p>
          <a:p>
            <a:pPr marL="457200" indent="-457200">
              <a:buAutoNum type="arabicPeriod"/>
            </a:pPr>
            <a:endParaRPr lang="en-GB" sz="1800" dirty="0">
              <a:solidFill>
                <a:schemeClr val="tx1"/>
              </a:solidFill>
            </a:endParaRPr>
          </a:p>
          <a:p>
            <a:r>
              <a:rPr lang="en-GB" sz="1800" dirty="0">
                <a:solidFill>
                  <a:schemeClr val="tx1"/>
                </a:solidFill>
              </a:rPr>
              <a:t>2.    Multiple Price points to several clients manage orders, making bid response tedious and manual</a:t>
            </a:r>
          </a:p>
          <a:p>
            <a:endParaRPr lang="en-GB" sz="1800" dirty="0">
              <a:solidFill>
                <a:schemeClr val="tx1"/>
              </a:solidFill>
            </a:endParaRPr>
          </a:p>
          <a:p>
            <a:pPr marL="457200" indent="-457200">
              <a:buAutoNum type="arabicPeriod" startAt="3"/>
            </a:pPr>
            <a:r>
              <a:rPr lang="en-GB" sz="1800" dirty="0">
                <a:solidFill>
                  <a:schemeClr val="tx1"/>
                </a:solidFill>
              </a:rPr>
              <a:t>Limited no of persons with basic knowledge and skill set occupational and travel health</a:t>
            </a:r>
          </a:p>
          <a:p>
            <a:pPr marL="457200" indent="-457200">
              <a:buAutoNum type="arabicPeriod" startAt="3"/>
            </a:pPr>
            <a:endParaRPr lang="en-GB" sz="1800" dirty="0">
              <a:solidFill>
                <a:schemeClr val="tx1"/>
              </a:solidFill>
            </a:endParaRPr>
          </a:p>
          <a:p>
            <a:pPr marL="457200" indent="-457200">
              <a:buAutoNum type="arabicPeriod" startAt="3"/>
            </a:pPr>
            <a:r>
              <a:rPr lang="en-GB" sz="1800" dirty="0">
                <a:solidFill>
                  <a:schemeClr val="tx1"/>
                </a:solidFill>
              </a:rPr>
              <a:t>Limited competence in procurement, supply-chain and bid management </a:t>
            </a:r>
          </a:p>
          <a:p>
            <a:pPr marL="457200" indent="-457200">
              <a:buAutoNum type="arabicPeriod" startAt="3"/>
            </a:pPr>
            <a:endParaRPr lang="en-GB" sz="1800" dirty="0">
              <a:solidFill>
                <a:schemeClr val="tx1"/>
              </a:solidFill>
            </a:endParaRPr>
          </a:p>
          <a:p>
            <a:pPr marL="457200" indent="-457200">
              <a:buAutoNum type="arabicPeriod" startAt="3"/>
            </a:pPr>
            <a:r>
              <a:rPr lang="en-GB" sz="1800" dirty="0">
                <a:solidFill>
                  <a:schemeClr val="tx1"/>
                </a:solidFill>
              </a:rPr>
              <a:t>Gap with Business Intelligence for product development and pricing</a:t>
            </a:r>
          </a:p>
          <a:p>
            <a:pPr marL="457200" indent="-457200">
              <a:buAutoNum type="arabicPeriod" startAt="3"/>
            </a:pPr>
            <a:endParaRPr lang="en-GB" sz="1800" dirty="0">
              <a:solidFill>
                <a:schemeClr val="tx1"/>
              </a:solidFill>
            </a:endParaRPr>
          </a:p>
          <a:p>
            <a:pPr marL="457200" indent="-457200">
              <a:buAutoNum type="arabicPeriod" startAt="3"/>
            </a:pPr>
            <a:r>
              <a:rPr lang="en-GB" sz="1800" dirty="0">
                <a:solidFill>
                  <a:schemeClr val="tx1"/>
                </a:solidFill>
              </a:rPr>
              <a:t>Multiple meetings impacting on productivity and effectiveness</a:t>
            </a:r>
          </a:p>
          <a:p>
            <a:endParaRPr lang="en-GB" sz="1800" dirty="0">
              <a:solidFill>
                <a:schemeClr val="tx1"/>
              </a:solidFill>
            </a:endParaRPr>
          </a:p>
          <a:p>
            <a:pPr marL="457200" indent="-457200">
              <a:buAutoNum type="arabicPeriod" startAt="6"/>
            </a:pPr>
            <a:r>
              <a:rPr lang="en-GB" sz="1800" dirty="0">
                <a:solidFill>
                  <a:schemeClr val="tx1"/>
                </a:solidFill>
              </a:rPr>
              <a:t>Staff morale due to limitations in staff working conditions- Office space </a:t>
            </a:r>
          </a:p>
          <a:p>
            <a:pPr marL="457200" indent="-457200">
              <a:buAutoNum type="arabicPeriod" startAt="6"/>
            </a:pPr>
            <a:endParaRPr lang="en-GB" sz="1800" dirty="0">
              <a:solidFill>
                <a:schemeClr val="tx1"/>
              </a:solidFill>
            </a:endParaRPr>
          </a:p>
          <a:p>
            <a:pPr marL="457200" indent="-457200">
              <a:buAutoNum type="arabicPeriod" startAt="6"/>
            </a:pPr>
            <a:r>
              <a:rPr lang="en-GB" sz="1800" dirty="0">
                <a:solidFill>
                  <a:schemeClr val="tx1"/>
                </a:solidFill>
              </a:rPr>
              <a:t>QA gaps-Processes and procedures not followed leading to multiple errors and missed opportunities-</a:t>
            </a:r>
          </a:p>
          <a:p>
            <a:pPr marL="457200" indent="-457200">
              <a:buAutoNum type="arabicPeriod" startAt="6"/>
            </a:pPr>
            <a:endParaRPr lang="en-GB" sz="1800" dirty="0">
              <a:solidFill>
                <a:schemeClr val="tx1"/>
              </a:solidFill>
            </a:endParaRPr>
          </a:p>
          <a:p>
            <a:pPr marL="457200" indent="-457200">
              <a:buAutoNum type="arabicPeriod" startAt="6"/>
            </a:pPr>
            <a:r>
              <a:rPr lang="en-GB" sz="1800" dirty="0">
                <a:solidFill>
                  <a:schemeClr val="tx1"/>
                </a:solidFill>
              </a:rPr>
              <a:t>KPIs of first line managers not strong on P and L monitoring contributions</a:t>
            </a:r>
          </a:p>
          <a:p>
            <a:pPr marL="457200" indent="-457200">
              <a:buAutoNum type="arabicPeriod" startAt="6"/>
            </a:pPr>
            <a:r>
              <a:rPr lang="en-GB" sz="1800" dirty="0">
                <a:solidFill>
                  <a:schemeClr val="tx1"/>
                </a:solidFill>
              </a:rPr>
              <a:t>Gaps with soft skills among staff</a:t>
            </a:r>
          </a:p>
          <a:p>
            <a:pPr marL="457200" indent="-457200">
              <a:buAutoNum type="arabicPeriod" startAt="3"/>
            </a:pPr>
            <a:endParaRPr lang="en-GB" dirty="0">
              <a:solidFill>
                <a:schemeClr val="tx1"/>
              </a:solidFill>
            </a:endParaRPr>
          </a:p>
        </p:txBody>
      </p:sp>
    </p:spTree>
    <p:extLst>
      <p:ext uri="{BB962C8B-B14F-4D97-AF65-F5344CB8AC3E}">
        <p14:creationId xmlns:p14="http://schemas.microsoft.com/office/powerpoint/2010/main" val="320749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0F5A-1C2F-0384-EB47-CDEC4D4E6FB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EE6C80-5476-8EF0-ACB3-DB5E1D2CF042}"/>
              </a:ext>
            </a:extLst>
          </p:cNvPr>
          <p:cNvGrpSpPr/>
          <p:nvPr/>
        </p:nvGrpSpPr>
        <p:grpSpPr>
          <a:xfrm>
            <a:off x="6522251" y="204755"/>
            <a:ext cx="4145749" cy="6858000"/>
            <a:chOff x="0" y="0"/>
            <a:chExt cx="25258471" cy="41783190"/>
          </a:xfrm>
        </p:grpSpPr>
        <p:sp>
          <p:nvSpPr>
            <p:cNvPr id="3" name="Freeform 3">
              <a:extLst>
                <a:ext uri="{FF2B5EF4-FFF2-40B4-BE49-F238E27FC236}">
                  <a16:creationId xmlns:a16="http://schemas.microsoft.com/office/drawing/2014/main" id="{92835F37-C03A-670D-7C0C-E18376475DFF}"/>
                </a:ext>
              </a:extLst>
            </p:cNvPr>
            <p:cNvSpPr/>
            <p:nvPr/>
          </p:nvSpPr>
          <p:spPr>
            <a:xfrm>
              <a:off x="0" y="0"/>
              <a:ext cx="25258522" cy="41783127"/>
            </a:xfrm>
            <a:custGeom>
              <a:avLst/>
              <a:gdLst/>
              <a:ahLst/>
              <a:cxnLst/>
              <a:rect l="l" t="t" r="r" b="b"/>
              <a:pathLst>
                <a:path w="25258522" h="41783127">
                  <a:moveTo>
                    <a:pt x="23252430" y="0"/>
                  </a:moveTo>
                  <a:cubicBezTo>
                    <a:pt x="22955377" y="0"/>
                    <a:pt x="22650577" y="67437"/>
                    <a:pt x="22357080" y="213995"/>
                  </a:cubicBezTo>
                  <a:lnTo>
                    <a:pt x="431419" y="11168888"/>
                  </a:lnTo>
                  <a:cubicBezTo>
                    <a:pt x="155194" y="11444986"/>
                    <a:pt x="0" y="11819509"/>
                    <a:pt x="0" y="12210161"/>
                  </a:cubicBezTo>
                  <a:lnTo>
                    <a:pt x="0" y="21077555"/>
                  </a:lnTo>
                  <a:lnTo>
                    <a:pt x="0" y="22150578"/>
                  </a:lnTo>
                  <a:lnTo>
                    <a:pt x="0" y="29573094"/>
                  </a:lnTo>
                  <a:cubicBezTo>
                    <a:pt x="0" y="29963746"/>
                    <a:pt x="155194" y="30338269"/>
                    <a:pt x="431419" y="30614367"/>
                  </a:cubicBezTo>
                  <a:lnTo>
                    <a:pt x="22357080" y="41569131"/>
                  </a:lnTo>
                  <a:cubicBezTo>
                    <a:pt x="22650577" y="41715817"/>
                    <a:pt x="22955504" y="41783127"/>
                    <a:pt x="23252557" y="41783127"/>
                  </a:cubicBezTo>
                  <a:cubicBezTo>
                    <a:pt x="24304752" y="41783127"/>
                    <a:pt x="25258522" y="40937687"/>
                    <a:pt x="25258522" y="39775383"/>
                  </a:cubicBezTo>
                  <a:lnTo>
                    <a:pt x="25258522" y="22150451"/>
                  </a:lnTo>
                  <a:lnTo>
                    <a:pt x="25258522" y="21077428"/>
                  </a:lnTo>
                  <a:lnTo>
                    <a:pt x="25258522" y="2007743"/>
                  </a:lnTo>
                  <a:cubicBezTo>
                    <a:pt x="25258522" y="845439"/>
                    <a:pt x="24304752" y="0"/>
                    <a:pt x="23252557" y="0"/>
                  </a:cubicBezTo>
                  <a:cubicBezTo>
                    <a:pt x="23252557" y="0"/>
                    <a:pt x="23252430" y="0"/>
                    <a:pt x="23252430" y="0"/>
                  </a:cubicBezTo>
                  <a:close/>
                </a:path>
              </a:pathLst>
            </a:custGeom>
            <a:blipFill>
              <a:blip r:embed="rId2"/>
              <a:stretch>
                <a:fillRect l="-74144" r="-74144"/>
              </a:stretch>
            </a:blipFill>
          </p:spPr>
          <p:txBody>
            <a:bodyPr/>
            <a:lstStyle/>
            <a:p>
              <a:endParaRPr lang="en-US" sz="1688"/>
            </a:p>
          </p:txBody>
        </p:sp>
      </p:grpSp>
      <p:grpSp>
        <p:nvGrpSpPr>
          <p:cNvPr id="4" name="Group 4">
            <a:extLst>
              <a:ext uri="{FF2B5EF4-FFF2-40B4-BE49-F238E27FC236}">
                <a16:creationId xmlns:a16="http://schemas.microsoft.com/office/drawing/2014/main" id="{531B0C3A-DFCF-09D2-3A36-922D5397FC7E}"/>
              </a:ext>
            </a:extLst>
          </p:cNvPr>
          <p:cNvGrpSpPr/>
          <p:nvPr/>
        </p:nvGrpSpPr>
        <p:grpSpPr>
          <a:xfrm rot="-8918894">
            <a:off x="5684386" y="1411964"/>
            <a:ext cx="1675733" cy="1466267"/>
            <a:chOff x="0" y="0"/>
            <a:chExt cx="812800" cy="711200"/>
          </a:xfrm>
        </p:grpSpPr>
        <p:sp>
          <p:nvSpPr>
            <p:cNvPr id="5" name="Freeform 5">
              <a:extLst>
                <a:ext uri="{FF2B5EF4-FFF2-40B4-BE49-F238E27FC236}">
                  <a16:creationId xmlns:a16="http://schemas.microsoft.com/office/drawing/2014/main" id="{A1DB7DD6-84E2-3427-4B8F-65E5AA2039F4}"/>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E8223B"/>
            </a:solidFill>
          </p:spPr>
          <p:txBody>
            <a:bodyPr/>
            <a:lstStyle/>
            <a:p>
              <a:endParaRPr lang="en-US" sz="1688"/>
            </a:p>
          </p:txBody>
        </p:sp>
        <p:sp>
          <p:nvSpPr>
            <p:cNvPr id="6" name="TextBox 6">
              <a:extLst>
                <a:ext uri="{FF2B5EF4-FFF2-40B4-BE49-F238E27FC236}">
                  <a16:creationId xmlns:a16="http://schemas.microsoft.com/office/drawing/2014/main" id="{B1B44D35-9179-9002-7E3C-F557B2AC029B}"/>
                </a:ext>
              </a:extLst>
            </p:cNvPr>
            <p:cNvSpPr txBox="1"/>
            <p:nvPr/>
          </p:nvSpPr>
          <p:spPr>
            <a:xfrm>
              <a:off x="127000" y="311150"/>
              <a:ext cx="558800" cy="349250"/>
            </a:xfrm>
            <a:prstGeom prst="rect">
              <a:avLst/>
            </a:prstGeom>
          </p:spPr>
          <p:txBody>
            <a:bodyPr lIns="27584" tIns="27584" rIns="27584" bIns="27584" rtlCol="0" anchor="ctr"/>
            <a:lstStyle/>
            <a:p>
              <a:pPr algn="ctr">
                <a:lnSpc>
                  <a:spcPts val="1444"/>
                </a:lnSpc>
              </a:pPr>
              <a:endParaRPr sz="1688"/>
            </a:p>
          </p:txBody>
        </p:sp>
      </p:grpSp>
      <p:grpSp>
        <p:nvGrpSpPr>
          <p:cNvPr id="7" name="Group 7">
            <a:extLst>
              <a:ext uri="{FF2B5EF4-FFF2-40B4-BE49-F238E27FC236}">
                <a16:creationId xmlns:a16="http://schemas.microsoft.com/office/drawing/2014/main" id="{F2EC1E5E-DC33-206E-06CA-C8982BCD453D}"/>
              </a:ext>
            </a:extLst>
          </p:cNvPr>
          <p:cNvGrpSpPr/>
          <p:nvPr/>
        </p:nvGrpSpPr>
        <p:grpSpPr>
          <a:xfrm rot="-5245158">
            <a:off x="6881833" y="5108970"/>
            <a:ext cx="1474782" cy="1290434"/>
            <a:chOff x="0" y="0"/>
            <a:chExt cx="812800" cy="711200"/>
          </a:xfrm>
        </p:grpSpPr>
        <p:sp>
          <p:nvSpPr>
            <p:cNvPr id="8" name="Freeform 8">
              <a:extLst>
                <a:ext uri="{FF2B5EF4-FFF2-40B4-BE49-F238E27FC236}">
                  <a16:creationId xmlns:a16="http://schemas.microsoft.com/office/drawing/2014/main" id="{53B13C8F-1D69-53BD-1691-3170E6E5A3CD}"/>
                </a:ext>
              </a:extLst>
            </p:cNvPr>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E8223B"/>
            </a:solidFill>
          </p:spPr>
          <p:txBody>
            <a:bodyPr/>
            <a:lstStyle/>
            <a:p>
              <a:endParaRPr lang="en-US" sz="1688"/>
            </a:p>
          </p:txBody>
        </p:sp>
        <p:sp>
          <p:nvSpPr>
            <p:cNvPr id="9" name="TextBox 9">
              <a:extLst>
                <a:ext uri="{FF2B5EF4-FFF2-40B4-BE49-F238E27FC236}">
                  <a16:creationId xmlns:a16="http://schemas.microsoft.com/office/drawing/2014/main" id="{873B3B8A-E3B5-821A-FDF7-1837BF3B5FBD}"/>
                </a:ext>
              </a:extLst>
            </p:cNvPr>
            <p:cNvSpPr txBox="1"/>
            <p:nvPr/>
          </p:nvSpPr>
          <p:spPr>
            <a:xfrm>
              <a:off x="127000" y="311150"/>
              <a:ext cx="558800" cy="349250"/>
            </a:xfrm>
            <a:prstGeom prst="rect">
              <a:avLst/>
            </a:prstGeom>
          </p:spPr>
          <p:txBody>
            <a:bodyPr lIns="27584" tIns="27584" rIns="27584" bIns="27584" rtlCol="0" anchor="ctr"/>
            <a:lstStyle/>
            <a:p>
              <a:pPr algn="ctr">
                <a:lnSpc>
                  <a:spcPts val="1444"/>
                </a:lnSpc>
              </a:pPr>
              <a:endParaRPr sz="1688"/>
            </a:p>
          </p:txBody>
        </p:sp>
      </p:grpSp>
      <p:sp>
        <p:nvSpPr>
          <p:cNvPr id="10" name="Freeform 10">
            <a:extLst>
              <a:ext uri="{FF2B5EF4-FFF2-40B4-BE49-F238E27FC236}">
                <a16:creationId xmlns:a16="http://schemas.microsoft.com/office/drawing/2014/main" id="{B44F52CC-A75D-DE8D-9C16-68A2F10A2083}"/>
              </a:ext>
            </a:extLst>
          </p:cNvPr>
          <p:cNvSpPr/>
          <p:nvPr/>
        </p:nvSpPr>
        <p:spPr>
          <a:xfrm rot="-2070354">
            <a:off x="5371861" y="1952738"/>
            <a:ext cx="1356147" cy="1174763"/>
          </a:xfrm>
          <a:custGeom>
            <a:avLst/>
            <a:gdLst/>
            <a:ahLst/>
            <a:cxnLst/>
            <a:rect l="l" t="t" r="r" b="b"/>
            <a:pathLst>
              <a:path w="1446557" h="1253080">
                <a:moveTo>
                  <a:pt x="0" y="0"/>
                </a:moveTo>
                <a:lnTo>
                  <a:pt x="1446557" y="0"/>
                </a:lnTo>
                <a:lnTo>
                  <a:pt x="1446557" y="1253081"/>
                </a:lnTo>
                <a:lnTo>
                  <a:pt x="0" y="12530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688"/>
          </a:p>
        </p:txBody>
      </p:sp>
      <p:sp>
        <p:nvSpPr>
          <p:cNvPr id="11" name="Freeform 11">
            <a:extLst>
              <a:ext uri="{FF2B5EF4-FFF2-40B4-BE49-F238E27FC236}">
                <a16:creationId xmlns:a16="http://schemas.microsoft.com/office/drawing/2014/main" id="{87B82A70-9FB4-4AA8-A234-262A747CBD00}"/>
              </a:ext>
            </a:extLst>
          </p:cNvPr>
          <p:cNvSpPr/>
          <p:nvPr/>
        </p:nvSpPr>
        <p:spPr>
          <a:xfrm rot="1943381">
            <a:off x="6465581" y="5073273"/>
            <a:ext cx="1356147" cy="1174763"/>
          </a:xfrm>
          <a:custGeom>
            <a:avLst/>
            <a:gdLst/>
            <a:ahLst/>
            <a:cxnLst/>
            <a:rect l="l" t="t" r="r" b="b"/>
            <a:pathLst>
              <a:path w="1446557" h="1253080">
                <a:moveTo>
                  <a:pt x="0" y="0"/>
                </a:moveTo>
                <a:lnTo>
                  <a:pt x="1446557" y="0"/>
                </a:lnTo>
                <a:lnTo>
                  <a:pt x="1446557" y="1253081"/>
                </a:lnTo>
                <a:lnTo>
                  <a:pt x="0" y="12530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688"/>
          </a:p>
        </p:txBody>
      </p:sp>
      <p:sp>
        <p:nvSpPr>
          <p:cNvPr id="12" name="TextBox 12">
            <a:extLst>
              <a:ext uri="{FF2B5EF4-FFF2-40B4-BE49-F238E27FC236}">
                <a16:creationId xmlns:a16="http://schemas.microsoft.com/office/drawing/2014/main" id="{DB305424-1F8E-F62B-3824-D62CC97C3B7B}"/>
              </a:ext>
            </a:extLst>
          </p:cNvPr>
          <p:cNvSpPr txBox="1"/>
          <p:nvPr/>
        </p:nvSpPr>
        <p:spPr>
          <a:xfrm>
            <a:off x="1678903" y="389113"/>
            <a:ext cx="3899759" cy="5546839"/>
          </a:xfrm>
          <a:prstGeom prst="rect">
            <a:avLst/>
          </a:prstGeom>
        </p:spPr>
        <p:txBody>
          <a:bodyPr wrap="square" lIns="0" tIns="0" rIns="0" bIns="0" rtlCol="0" anchor="t">
            <a:spAutoFit/>
          </a:bodyPr>
          <a:lstStyle/>
          <a:p>
            <a:pPr algn="just">
              <a:lnSpc>
                <a:spcPts val="2943"/>
              </a:lnSpc>
            </a:pPr>
            <a:endParaRPr sz="1688" dirty="0"/>
          </a:p>
          <a:p>
            <a:pPr algn="just">
              <a:lnSpc>
                <a:spcPts val="2943"/>
              </a:lnSpc>
            </a:pPr>
            <a:endParaRPr sz="1688" dirty="0"/>
          </a:p>
          <a:p>
            <a:pPr algn="just">
              <a:lnSpc>
                <a:spcPts val="2943"/>
              </a:lnSpc>
            </a:pPr>
            <a:r>
              <a:rPr lang="en-US" sz="2102" b="1" dirty="0">
                <a:solidFill>
                  <a:srgbClr val="E8223B"/>
                </a:solidFill>
                <a:latin typeface="Canva Sans 2 Bold"/>
              </a:rPr>
              <a:t>Our Vision</a:t>
            </a:r>
          </a:p>
          <a:p>
            <a:pPr algn="just">
              <a:lnSpc>
                <a:spcPts val="2943"/>
              </a:lnSpc>
            </a:pPr>
            <a:r>
              <a:rPr lang="en-US" sz="2102" dirty="0">
                <a:solidFill>
                  <a:srgbClr val="E8223B"/>
                </a:solidFill>
                <a:latin typeface="Canva Sans 2 Bold"/>
              </a:rPr>
              <a:t>To become the first choice of holistic “wellness” care delivery in Nigeria. </a:t>
            </a:r>
          </a:p>
          <a:p>
            <a:pPr algn="just">
              <a:lnSpc>
                <a:spcPts val="2943"/>
              </a:lnSpc>
            </a:pPr>
            <a:endParaRPr lang="en-US" sz="2102" dirty="0">
              <a:solidFill>
                <a:srgbClr val="E8223B"/>
              </a:solidFill>
              <a:latin typeface="Canva Sans 2 Bold"/>
            </a:endParaRPr>
          </a:p>
          <a:p>
            <a:pPr algn="just">
              <a:lnSpc>
                <a:spcPts val="2943"/>
              </a:lnSpc>
            </a:pPr>
            <a:r>
              <a:rPr lang="en-US" sz="2102" b="1" dirty="0">
                <a:solidFill>
                  <a:srgbClr val="E8223B"/>
                </a:solidFill>
                <a:latin typeface="Canva Sans 2 Bold"/>
              </a:rPr>
              <a:t>Our Mission</a:t>
            </a:r>
          </a:p>
          <a:p>
            <a:pPr algn="just">
              <a:lnSpc>
                <a:spcPts val="2943"/>
              </a:lnSpc>
            </a:pPr>
            <a:r>
              <a:rPr lang="en-US" sz="2102" dirty="0">
                <a:solidFill>
                  <a:srgbClr val="E8223B"/>
                </a:solidFill>
                <a:latin typeface="Canva Sans 2 Bold"/>
              </a:rPr>
              <a:t>To bring best-fit wellness solutions  to individuals and corporates at their best time, in the best quality, and in the most profitable way.</a:t>
            </a:r>
            <a:endParaRPr lang="en-US" sz="2102" dirty="0">
              <a:solidFill>
                <a:srgbClr val="000000"/>
              </a:solidFill>
              <a:latin typeface="Canva Sans 2"/>
            </a:endParaRPr>
          </a:p>
          <a:p>
            <a:pPr algn="just">
              <a:lnSpc>
                <a:spcPts val="2943"/>
              </a:lnSpc>
            </a:pPr>
            <a:endParaRPr lang="en-US" sz="2102" dirty="0">
              <a:solidFill>
                <a:srgbClr val="000000"/>
              </a:solidFill>
              <a:latin typeface="Canva Sans 2"/>
            </a:endParaRPr>
          </a:p>
          <a:p>
            <a:pPr algn="just">
              <a:lnSpc>
                <a:spcPts val="2943"/>
              </a:lnSpc>
            </a:pPr>
            <a:endParaRPr lang="en-US" sz="2102" dirty="0">
              <a:solidFill>
                <a:srgbClr val="000000"/>
              </a:solidFill>
              <a:latin typeface="Canva Sans 2"/>
            </a:endParaRPr>
          </a:p>
        </p:txBody>
      </p:sp>
      <p:grpSp>
        <p:nvGrpSpPr>
          <p:cNvPr id="13" name="Group 13">
            <a:extLst>
              <a:ext uri="{FF2B5EF4-FFF2-40B4-BE49-F238E27FC236}">
                <a16:creationId xmlns:a16="http://schemas.microsoft.com/office/drawing/2014/main" id="{08B1AF01-E459-B346-0622-E9D641371D66}"/>
              </a:ext>
            </a:extLst>
          </p:cNvPr>
          <p:cNvGrpSpPr/>
          <p:nvPr/>
        </p:nvGrpSpPr>
        <p:grpSpPr>
          <a:xfrm>
            <a:off x="1524000" y="-24252"/>
            <a:ext cx="9144000" cy="492980"/>
            <a:chOff x="0" y="0"/>
            <a:chExt cx="5144367" cy="275443"/>
          </a:xfrm>
        </p:grpSpPr>
        <p:sp>
          <p:nvSpPr>
            <p:cNvPr id="14" name="Freeform 14">
              <a:extLst>
                <a:ext uri="{FF2B5EF4-FFF2-40B4-BE49-F238E27FC236}">
                  <a16:creationId xmlns:a16="http://schemas.microsoft.com/office/drawing/2014/main" id="{78BF37CE-27FD-D571-3CBA-505C643019CB}"/>
                </a:ext>
              </a:extLst>
            </p:cNvPr>
            <p:cNvSpPr/>
            <p:nvPr/>
          </p:nvSpPr>
          <p:spPr>
            <a:xfrm>
              <a:off x="0" y="0"/>
              <a:ext cx="5144367" cy="275443"/>
            </a:xfrm>
            <a:custGeom>
              <a:avLst/>
              <a:gdLst/>
              <a:ahLst/>
              <a:cxnLst/>
              <a:rect l="l" t="t" r="r" b="b"/>
              <a:pathLst>
                <a:path w="5144367" h="275443">
                  <a:moveTo>
                    <a:pt x="0" y="0"/>
                  </a:moveTo>
                  <a:lnTo>
                    <a:pt x="5144367" y="0"/>
                  </a:lnTo>
                  <a:lnTo>
                    <a:pt x="5144367" y="275443"/>
                  </a:lnTo>
                  <a:lnTo>
                    <a:pt x="0" y="275443"/>
                  </a:lnTo>
                  <a:close/>
                </a:path>
              </a:pathLst>
            </a:custGeom>
            <a:solidFill>
              <a:srgbClr val="E8223B"/>
            </a:solidFill>
          </p:spPr>
          <p:txBody>
            <a:bodyPr/>
            <a:lstStyle/>
            <a:p>
              <a:endParaRPr lang="en-US" sz="1688"/>
            </a:p>
          </p:txBody>
        </p:sp>
        <p:sp>
          <p:nvSpPr>
            <p:cNvPr id="15" name="TextBox 15">
              <a:extLst>
                <a:ext uri="{FF2B5EF4-FFF2-40B4-BE49-F238E27FC236}">
                  <a16:creationId xmlns:a16="http://schemas.microsoft.com/office/drawing/2014/main" id="{89AA844F-7E19-C3FE-8304-AFDF1D9B9AA8}"/>
                </a:ext>
              </a:extLst>
            </p:cNvPr>
            <p:cNvSpPr txBox="1"/>
            <p:nvPr/>
          </p:nvSpPr>
          <p:spPr>
            <a:xfrm>
              <a:off x="0" y="-9525"/>
              <a:ext cx="5144367" cy="284968"/>
            </a:xfrm>
            <a:prstGeom prst="rect">
              <a:avLst/>
            </a:prstGeom>
          </p:spPr>
          <p:txBody>
            <a:bodyPr lIns="32584" tIns="32584" rIns="32584" bIns="32584" rtlCol="0" anchor="ctr"/>
            <a:lstStyle/>
            <a:p>
              <a:pPr algn="ctr">
                <a:lnSpc>
                  <a:spcPts val="1023"/>
                </a:lnSpc>
              </a:pPr>
              <a:endParaRPr sz="1688"/>
            </a:p>
          </p:txBody>
        </p:sp>
      </p:grpSp>
      <p:sp>
        <p:nvSpPr>
          <p:cNvPr id="16" name="TextBox 16">
            <a:extLst>
              <a:ext uri="{FF2B5EF4-FFF2-40B4-BE49-F238E27FC236}">
                <a16:creationId xmlns:a16="http://schemas.microsoft.com/office/drawing/2014/main" id="{5CFD871E-64FE-DEFE-CDFE-FE78A4D730AE}"/>
              </a:ext>
            </a:extLst>
          </p:cNvPr>
          <p:cNvSpPr txBox="1"/>
          <p:nvPr/>
        </p:nvSpPr>
        <p:spPr>
          <a:xfrm>
            <a:off x="1893567" y="11467"/>
            <a:ext cx="6923843" cy="423193"/>
          </a:xfrm>
          <a:prstGeom prst="rect">
            <a:avLst/>
          </a:prstGeom>
        </p:spPr>
        <p:txBody>
          <a:bodyPr lIns="0" tIns="0" rIns="0" bIns="0" rtlCol="0" anchor="t">
            <a:spAutoFit/>
          </a:bodyPr>
          <a:lstStyle/>
          <a:p>
            <a:pPr algn="just">
              <a:lnSpc>
                <a:spcPts val="3319"/>
              </a:lnSpc>
              <a:spcBef>
                <a:spcPct val="0"/>
              </a:spcBef>
            </a:pPr>
            <a:r>
              <a:rPr lang="en-US" sz="3469" b="1" dirty="0">
                <a:solidFill>
                  <a:schemeClr val="bg1"/>
                </a:solidFill>
                <a:latin typeface="Canva Sans 2"/>
              </a:rPr>
              <a:t>ABOUT US </a:t>
            </a:r>
          </a:p>
        </p:txBody>
      </p:sp>
    </p:spTree>
    <p:extLst>
      <p:ext uri="{BB962C8B-B14F-4D97-AF65-F5344CB8AC3E}">
        <p14:creationId xmlns:p14="http://schemas.microsoft.com/office/powerpoint/2010/main" val="349435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CC613-A7D2-3338-AB5F-07912B722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2F2C-C1BD-D484-A262-DE9E03FA025E}"/>
              </a:ext>
            </a:extLst>
          </p:cNvPr>
          <p:cNvSpPr>
            <a:spLocks noGrp="1"/>
          </p:cNvSpPr>
          <p:nvPr>
            <p:ph type="title"/>
          </p:nvPr>
        </p:nvSpPr>
        <p:spPr>
          <a:xfrm>
            <a:off x="127000" y="0"/>
            <a:ext cx="10055942" cy="568939"/>
          </a:xfrm>
        </p:spPr>
        <p:txBody>
          <a:bodyPr/>
          <a:lstStyle/>
          <a:p>
            <a:r>
              <a:rPr lang="en-GB" dirty="0"/>
              <a:t>Corporate Health &amp; Wellness Sub-Business Units</a:t>
            </a:r>
          </a:p>
        </p:txBody>
      </p:sp>
      <p:sp>
        <p:nvSpPr>
          <p:cNvPr id="4" name="Slide Number Placeholder 3">
            <a:extLst>
              <a:ext uri="{FF2B5EF4-FFF2-40B4-BE49-F238E27FC236}">
                <a16:creationId xmlns:a16="http://schemas.microsoft.com/office/drawing/2014/main" id="{77EBDA6C-9D98-2A42-5116-7B5239D0AFEF}"/>
              </a:ext>
            </a:extLst>
          </p:cNvPr>
          <p:cNvSpPr>
            <a:spLocks noGrp="1"/>
          </p:cNvSpPr>
          <p:nvPr>
            <p:ph type="sldNum" sz="quarter" idx="12"/>
          </p:nvPr>
        </p:nvSpPr>
        <p:spPr/>
        <p:txBody>
          <a:bodyPr/>
          <a:lstStyle/>
          <a:p>
            <a:fld id="{88DB5A6F-883B-4080-A811-FB5B8D05AFA3}" type="slidenum">
              <a:rPr lang="en-GB" smtClean="0"/>
              <a:pPr/>
              <a:t>12</a:t>
            </a:fld>
            <a:endParaRPr lang="en-GB"/>
          </a:p>
        </p:txBody>
      </p:sp>
      <p:pic>
        <p:nvPicPr>
          <p:cNvPr id="5" name="Picture 4">
            <a:extLst>
              <a:ext uri="{FF2B5EF4-FFF2-40B4-BE49-F238E27FC236}">
                <a16:creationId xmlns:a16="http://schemas.microsoft.com/office/drawing/2014/main" id="{ED2A0722-04FD-4BE9-1F12-64A10CAB24B5}"/>
              </a:ext>
            </a:extLst>
          </p:cNvPr>
          <p:cNvPicPr>
            <a:picLocks noChangeAspect="1"/>
          </p:cNvPicPr>
          <p:nvPr/>
        </p:nvPicPr>
        <p:blipFill>
          <a:blip r:embed="rId2"/>
          <a:srcRect t="8809"/>
          <a:stretch/>
        </p:blipFill>
        <p:spPr>
          <a:xfrm>
            <a:off x="218440" y="393589"/>
            <a:ext cx="9179560" cy="6145322"/>
          </a:xfrm>
          <a:prstGeom prst="rect">
            <a:avLst/>
          </a:prstGeom>
        </p:spPr>
      </p:pic>
    </p:spTree>
    <p:extLst>
      <p:ext uri="{BB962C8B-B14F-4D97-AF65-F5344CB8AC3E}">
        <p14:creationId xmlns:p14="http://schemas.microsoft.com/office/powerpoint/2010/main" val="3650231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8C7D2-8B91-B9A3-9462-9D7A2ABCF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CB45F-078C-68EC-BFC4-1CFDA62F7748}"/>
              </a:ext>
            </a:extLst>
          </p:cNvPr>
          <p:cNvSpPr>
            <a:spLocks noGrp="1"/>
          </p:cNvSpPr>
          <p:nvPr>
            <p:ph type="title"/>
          </p:nvPr>
        </p:nvSpPr>
        <p:spPr/>
        <p:txBody>
          <a:bodyPr/>
          <a:lstStyle/>
          <a:p>
            <a:r>
              <a:rPr lang="en-GB" dirty="0"/>
              <a:t>Corporate Health &amp; Wellness Sub-Business Units</a:t>
            </a:r>
          </a:p>
        </p:txBody>
      </p:sp>
      <p:sp>
        <p:nvSpPr>
          <p:cNvPr id="4" name="Slide Number Placeholder 3">
            <a:extLst>
              <a:ext uri="{FF2B5EF4-FFF2-40B4-BE49-F238E27FC236}">
                <a16:creationId xmlns:a16="http://schemas.microsoft.com/office/drawing/2014/main" id="{22F8CB4B-D848-0A64-2BB0-90AB82DC9AD5}"/>
              </a:ext>
            </a:extLst>
          </p:cNvPr>
          <p:cNvSpPr>
            <a:spLocks noGrp="1"/>
          </p:cNvSpPr>
          <p:nvPr>
            <p:ph type="sldNum" sz="quarter" idx="12"/>
          </p:nvPr>
        </p:nvSpPr>
        <p:spPr/>
        <p:txBody>
          <a:bodyPr/>
          <a:lstStyle/>
          <a:p>
            <a:fld id="{88DB5A6F-883B-4080-A811-FB5B8D05AFA3}" type="slidenum">
              <a:rPr lang="en-GB" smtClean="0"/>
              <a:pPr/>
              <a:t>13</a:t>
            </a:fld>
            <a:endParaRPr lang="en-GB"/>
          </a:p>
        </p:txBody>
      </p:sp>
      <p:sp>
        <p:nvSpPr>
          <p:cNvPr id="7" name="TextBox 6">
            <a:extLst>
              <a:ext uri="{FF2B5EF4-FFF2-40B4-BE49-F238E27FC236}">
                <a16:creationId xmlns:a16="http://schemas.microsoft.com/office/drawing/2014/main" id="{35A90713-7AB2-E4B1-500F-904421CC2936}"/>
              </a:ext>
            </a:extLst>
          </p:cNvPr>
          <p:cNvSpPr txBox="1"/>
          <p:nvPr/>
        </p:nvSpPr>
        <p:spPr>
          <a:xfrm>
            <a:off x="243840" y="1066800"/>
            <a:ext cx="11582400" cy="6186309"/>
          </a:xfrm>
          <a:prstGeom prst="rect">
            <a:avLst/>
          </a:prstGeom>
          <a:noFill/>
        </p:spPr>
        <p:txBody>
          <a:bodyPr wrap="square" rtlCol="0">
            <a:spAutoFit/>
          </a:bodyPr>
          <a:lstStyle/>
          <a:p>
            <a:pPr marL="285750" indent="-285750">
              <a:buFont typeface="Arial" panose="020B0604020202020204" pitchFamily="34" charset="0"/>
              <a:buChar char="•"/>
            </a:pPr>
            <a:r>
              <a:rPr lang="en-US" dirty="0"/>
              <a:t>Lifecheck Wellness Centers-</a:t>
            </a:r>
          </a:p>
          <a:p>
            <a:pPr marL="285750" indent="-285750">
              <a:buFont typeface="Wingdings" panose="05000000000000000000" pitchFamily="2" charset="2"/>
              <a:buChar char="ü"/>
            </a:pPr>
            <a:r>
              <a:rPr lang="en-US" dirty="0" err="1"/>
              <a:t>Medfit</a:t>
            </a:r>
            <a:r>
              <a:rPr lang="en-US" dirty="0"/>
              <a:t> (Occupational Heath Clinic)</a:t>
            </a:r>
          </a:p>
          <a:p>
            <a:pPr marL="285750" indent="-285750">
              <a:buFont typeface="Wingdings" panose="05000000000000000000" pitchFamily="2" charset="2"/>
              <a:buChar char="ü"/>
            </a:pPr>
            <a:r>
              <a:rPr lang="en-US" dirty="0"/>
              <a:t>Travel Clinic </a:t>
            </a:r>
          </a:p>
          <a:p>
            <a:pPr marL="285750" indent="-285750">
              <a:buFont typeface="Wingdings" panose="05000000000000000000" pitchFamily="2" charset="2"/>
              <a:buChar char="ü"/>
            </a:pPr>
            <a:r>
              <a:rPr lang="en-US" dirty="0"/>
              <a:t>Wellness Clinic</a:t>
            </a:r>
          </a:p>
          <a:p>
            <a:pPr marL="285750" indent="-285750">
              <a:buFont typeface="Wingdings" panose="05000000000000000000" pitchFamily="2" charset="2"/>
              <a:buChar char="ü"/>
            </a:pPr>
            <a:r>
              <a:rPr lang="en-US" dirty="0" err="1"/>
              <a:t>Medprojects</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OHP, Med-advisory and Industrial Hygiene Product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Valuefit</a:t>
            </a:r>
            <a:r>
              <a:rPr lang="en-US" dirty="0"/>
              <a:t> Safety Ltd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Med-supplies &amp; CSR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Service Provider:</a:t>
            </a:r>
          </a:p>
          <a:p>
            <a:pPr marL="285750" indent="-285750">
              <a:buFont typeface="Arial" panose="020B0604020202020204" pitchFamily="34" charset="0"/>
              <a:buChar char="•"/>
            </a:pPr>
            <a:r>
              <a:rPr lang="en-US" dirty="0"/>
              <a:t>Med-Diagnostics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lvl="1"/>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96995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4622-B5FC-C93A-FE8E-6BA20092A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7B3EC-FF99-32D1-0FE7-22E361C4760C}"/>
              </a:ext>
            </a:extLst>
          </p:cNvPr>
          <p:cNvSpPr>
            <a:spLocks noGrp="1"/>
          </p:cNvSpPr>
          <p:nvPr>
            <p:ph type="title"/>
          </p:nvPr>
        </p:nvSpPr>
        <p:spPr>
          <a:xfrm>
            <a:off x="0" y="1"/>
            <a:ext cx="10055942" cy="426720"/>
          </a:xfrm>
        </p:spPr>
        <p:txBody>
          <a:bodyPr/>
          <a:lstStyle/>
          <a:p>
            <a:r>
              <a:rPr lang="en-GB" dirty="0"/>
              <a:t>PRODUCT RANGE</a:t>
            </a:r>
            <a:endParaRPr lang="aa-ET" dirty="0"/>
          </a:p>
        </p:txBody>
      </p:sp>
      <p:sp>
        <p:nvSpPr>
          <p:cNvPr id="4" name="Slide Number Placeholder 3">
            <a:extLst>
              <a:ext uri="{FF2B5EF4-FFF2-40B4-BE49-F238E27FC236}">
                <a16:creationId xmlns:a16="http://schemas.microsoft.com/office/drawing/2014/main" id="{65743C79-2A6E-351A-E215-8CCB0E8437D4}"/>
              </a:ext>
            </a:extLst>
          </p:cNvPr>
          <p:cNvSpPr>
            <a:spLocks noGrp="1"/>
          </p:cNvSpPr>
          <p:nvPr>
            <p:ph type="sldNum" sz="quarter" idx="12"/>
          </p:nvPr>
        </p:nvSpPr>
        <p:spPr/>
        <p:txBody>
          <a:bodyPr/>
          <a:lstStyle/>
          <a:p>
            <a:fld id="{88DB5A6F-883B-4080-A811-FB5B8D05AFA3}" type="slidenum">
              <a:rPr lang="en-GB" smtClean="0"/>
              <a:pPr/>
              <a:t>14</a:t>
            </a:fld>
            <a:endParaRPr lang="en-GB"/>
          </a:p>
        </p:txBody>
      </p:sp>
      <p:sp>
        <p:nvSpPr>
          <p:cNvPr id="13" name="TextBox 12">
            <a:extLst>
              <a:ext uri="{FF2B5EF4-FFF2-40B4-BE49-F238E27FC236}">
                <a16:creationId xmlns:a16="http://schemas.microsoft.com/office/drawing/2014/main" id="{18549240-1CE6-D3F8-5A76-34255ACA1BB2}"/>
              </a:ext>
            </a:extLst>
          </p:cNvPr>
          <p:cNvSpPr txBox="1"/>
          <p:nvPr/>
        </p:nvSpPr>
        <p:spPr>
          <a:xfrm>
            <a:off x="5288280" y="345993"/>
            <a:ext cx="1615440" cy="246221"/>
          </a:xfrm>
          <a:prstGeom prst="rect">
            <a:avLst/>
          </a:prstGeom>
          <a:solidFill>
            <a:schemeClr val="bg1"/>
          </a:solidFill>
        </p:spPr>
        <p:txBody>
          <a:bodyPr wrap="square" rtlCol="0">
            <a:spAutoFit/>
          </a:bodyPr>
          <a:lstStyle/>
          <a:p>
            <a:r>
              <a:rPr lang="en-US" sz="1000" b="1" dirty="0"/>
              <a:t>Hospital/ Clinic Mgt</a:t>
            </a:r>
          </a:p>
        </p:txBody>
      </p:sp>
      <p:grpSp>
        <p:nvGrpSpPr>
          <p:cNvPr id="17" name="Group 16">
            <a:extLst>
              <a:ext uri="{FF2B5EF4-FFF2-40B4-BE49-F238E27FC236}">
                <a16:creationId xmlns:a16="http://schemas.microsoft.com/office/drawing/2014/main" id="{1616DFDC-1E1A-DE03-4BE4-55B3716B7BB2}"/>
              </a:ext>
            </a:extLst>
          </p:cNvPr>
          <p:cNvGrpSpPr/>
          <p:nvPr/>
        </p:nvGrpSpPr>
        <p:grpSpPr>
          <a:xfrm>
            <a:off x="95675" y="284479"/>
            <a:ext cx="12140775" cy="6573521"/>
            <a:chOff x="95675" y="284479"/>
            <a:chExt cx="12140775" cy="6573521"/>
          </a:xfrm>
        </p:grpSpPr>
        <p:pic>
          <p:nvPicPr>
            <p:cNvPr id="6" name="Picture 5">
              <a:extLst>
                <a:ext uri="{FF2B5EF4-FFF2-40B4-BE49-F238E27FC236}">
                  <a16:creationId xmlns:a16="http://schemas.microsoft.com/office/drawing/2014/main" id="{C89A1B33-E1FC-5339-3FD0-CABFDF2D675F}"/>
                </a:ext>
              </a:extLst>
            </p:cNvPr>
            <p:cNvPicPr>
              <a:picLocks noChangeAspect="1"/>
            </p:cNvPicPr>
            <p:nvPr/>
          </p:nvPicPr>
          <p:blipFill>
            <a:blip r:embed="rId2"/>
            <a:srcRect t="4148" r="14023"/>
            <a:stretch/>
          </p:blipFill>
          <p:spPr>
            <a:xfrm>
              <a:off x="95675" y="284479"/>
              <a:ext cx="8845125" cy="6573521"/>
            </a:xfrm>
            <a:prstGeom prst="rect">
              <a:avLst/>
            </a:prstGeom>
          </p:spPr>
        </p:pic>
        <p:pic>
          <p:nvPicPr>
            <p:cNvPr id="16" name="Picture 15">
              <a:extLst>
                <a:ext uri="{FF2B5EF4-FFF2-40B4-BE49-F238E27FC236}">
                  <a16:creationId xmlns:a16="http://schemas.microsoft.com/office/drawing/2014/main" id="{24EB7391-20B4-849D-E8A3-8B0055B22190}"/>
                </a:ext>
              </a:extLst>
            </p:cNvPr>
            <p:cNvPicPr>
              <a:picLocks noChangeAspect="1"/>
            </p:cNvPicPr>
            <p:nvPr/>
          </p:nvPicPr>
          <p:blipFill>
            <a:blip r:embed="rId3"/>
            <a:stretch>
              <a:fillRect/>
            </a:stretch>
          </p:blipFill>
          <p:spPr>
            <a:xfrm>
              <a:off x="8940800" y="304799"/>
              <a:ext cx="3295650" cy="3530600"/>
            </a:xfrm>
            <a:prstGeom prst="rect">
              <a:avLst/>
            </a:prstGeom>
          </p:spPr>
        </p:pic>
      </p:grpSp>
    </p:spTree>
    <p:extLst>
      <p:ext uri="{BB962C8B-B14F-4D97-AF65-F5344CB8AC3E}">
        <p14:creationId xmlns:p14="http://schemas.microsoft.com/office/powerpoint/2010/main" val="4134543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789F-376B-D6AD-32B6-DA482D2A9CAD}"/>
              </a:ext>
            </a:extLst>
          </p:cNvPr>
          <p:cNvSpPr>
            <a:spLocks noGrp="1"/>
          </p:cNvSpPr>
          <p:nvPr>
            <p:ph type="title"/>
          </p:nvPr>
        </p:nvSpPr>
        <p:spPr/>
        <p:txBody>
          <a:bodyPr/>
          <a:lstStyle/>
          <a:p>
            <a:r>
              <a:rPr lang="en-US" dirty="0"/>
              <a:t>MEDFIT (OH Clinics) </a:t>
            </a:r>
            <a:endParaRPr lang="aa-ET" dirty="0"/>
          </a:p>
        </p:txBody>
      </p:sp>
      <p:graphicFrame>
        <p:nvGraphicFramePr>
          <p:cNvPr id="6" name="Table 6">
            <a:extLst>
              <a:ext uri="{FF2B5EF4-FFF2-40B4-BE49-F238E27FC236}">
                <a16:creationId xmlns:a16="http://schemas.microsoft.com/office/drawing/2014/main" id="{F825E510-7E84-744B-6F06-5EA96DC42E2F}"/>
              </a:ext>
            </a:extLst>
          </p:cNvPr>
          <p:cNvGraphicFramePr>
            <a:graphicFrameLocks noGrp="1"/>
          </p:cNvGraphicFramePr>
          <p:nvPr>
            <p:ph idx="1"/>
            <p:extLst>
              <p:ext uri="{D42A27DB-BD31-4B8C-83A1-F6EECF244321}">
                <p14:modId xmlns:p14="http://schemas.microsoft.com/office/powerpoint/2010/main" val="3028847497"/>
              </p:ext>
            </p:extLst>
          </p:nvPr>
        </p:nvGraphicFramePr>
        <p:xfrm>
          <a:off x="618186" y="1374734"/>
          <a:ext cx="10895526" cy="4736951"/>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Pre employment Medicals, Annual</a:t>
                      </a:r>
                      <a:r>
                        <a:rPr lang="en-US" sz="1600" baseline="0" dirty="0">
                          <a:solidFill>
                            <a:schemeClr val="tx1"/>
                          </a:solidFill>
                        </a:rPr>
                        <a:t> Medicals, Audiometry, Spirometry, Drug &amp; Alcohol Testing &amp; MRO Services</a:t>
                      </a:r>
                    </a:p>
                    <a:p>
                      <a:pPr algn="l"/>
                      <a:endParaRPr lang="en-GB" sz="1600" dirty="0">
                        <a:solidFill>
                          <a:schemeClr val="tx1"/>
                        </a:solidFill>
                      </a:endParaRPr>
                    </a:p>
                  </a:txBody>
                  <a:tcPr anchor="ctr"/>
                </a:tc>
                <a:tc>
                  <a:txBody>
                    <a:bodyPr/>
                    <a:lstStyle/>
                    <a:p>
                      <a:pPr algn="l"/>
                      <a:r>
                        <a:rPr lang="en-US" sz="1600" dirty="0">
                          <a:solidFill>
                            <a:schemeClr val="tx1"/>
                          </a:solidFill>
                          <a:latin typeface="Corbel" panose="020B0503020204020204" pitchFamily="34" charset="0"/>
                        </a:rPr>
                        <a:t>All</a:t>
                      </a:r>
                      <a:r>
                        <a:rPr lang="en-US" sz="1600" baseline="0" dirty="0">
                          <a:solidFill>
                            <a:schemeClr val="tx1"/>
                          </a:solidFill>
                          <a:latin typeface="Corbel" panose="020B0503020204020204" pitchFamily="34" charset="0"/>
                        </a:rPr>
                        <a:t> corporate organizations, Oil and Gas, Banking and Finance, Manufacturing companies, Telcom companies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algn="l"/>
                      <a:r>
                        <a:rPr lang="en-US" sz="1600" dirty="0">
                          <a:solidFill>
                            <a:schemeClr val="tx1"/>
                          </a:solidFill>
                        </a:rPr>
                        <a:t>Offshore</a:t>
                      </a:r>
                      <a:r>
                        <a:rPr lang="en-US" sz="1600" baseline="0" dirty="0">
                          <a:solidFill>
                            <a:schemeClr val="tx1"/>
                          </a:solidFill>
                        </a:rPr>
                        <a:t> Medicals OEUK, Oil and Gas Company Medicals</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Oil and</a:t>
                      </a:r>
                      <a:r>
                        <a:rPr lang="en-US" sz="1600" baseline="0" dirty="0">
                          <a:solidFill>
                            <a:schemeClr val="tx1"/>
                          </a:solidFill>
                          <a:latin typeface="Corbel" panose="020B0503020204020204" pitchFamily="34" charset="0"/>
                        </a:rPr>
                        <a:t> gas Companies, EPCI (</a:t>
                      </a:r>
                      <a:r>
                        <a:rPr lang="en-US" sz="1600" kern="1200" baseline="0" dirty="0">
                          <a:solidFill>
                            <a:schemeClr val="tx1"/>
                          </a:solidFill>
                          <a:latin typeface="Corbel" panose="020B0503020204020204" pitchFamily="34" charset="0"/>
                          <a:ea typeface="+mn-ea"/>
                          <a:cs typeface="+mn-cs"/>
                        </a:rPr>
                        <a:t>Engineering, Procurement, Construction, and Installation) , Drilling, Construction</a:t>
                      </a:r>
                      <a:r>
                        <a:rPr lang="en-US" sz="1600" baseline="0" dirty="0">
                          <a:solidFill>
                            <a:schemeClr val="tx1"/>
                          </a:solidFill>
                          <a:latin typeface="Corbel" panose="020B0503020204020204" pitchFamily="34" charset="0"/>
                        </a:rPr>
                        <a:t>, Engineering, Logistics &amp; Transport</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baseline="0" dirty="0">
                          <a:solidFill>
                            <a:schemeClr val="tx1"/>
                          </a:solidFill>
                        </a:rPr>
                        <a:t>Food handlers Medicals, domestic Staff Medical</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Food and Beverage</a:t>
                      </a:r>
                      <a:r>
                        <a:rPr lang="en-US" sz="1600" baseline="0" dirty="0">
                          <a:solidFill>
                            <a:schemeClr val="tx1"/>
                          </a:solidFill>
                          <a:latin typeface="Corbel" panose="020B0503020204020204" pitchFamily="34" charset="0"/>
                        </a:rPr>
                        <a:t> Companies,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417343489"/>
                  </a:ext>
                </a:extLst>
              </a:tr>
              <a:tr h="856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Corporate &amp; Individual Annual Wellness Packages</a:t>
                      </a:r>
                      <a:r>
                        <a:rPr lang="en-US" sz="1600" baseline="0" dirty="0">
                          <a:latin typeface="Corbel" panose="020B0503020204020204" pitchFamily="34" charset="0"/>
                        </a:rPr>
                        <a:t>, Pathology &amp; Radiology</a:t>
                      </a:r>
                      <a:r>
                        <a:rPr lang="en-US" sz="1600" baseline="0" dirty="0">
                          <a:solidFill>
                            <a:schemeClr val="tx1"/>
                          </a:solidFill>
                        </a:rPr>
                        <a:t> Walk-in/ Retail Wellness Packages</a:t>
                      </a:r>
                    </a:p>
                    <a:p>
                      <a:pPr algn="l"/>
                      <a:endParaRPr lang="en-US"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HNW</a:t>
                      </a:r>
                      <a:r>
                        <a:rPr lang="en-US" sz="1600" baseline="0" dirty="0">
                          <a:solidFill>
                            <a:schemeClr val="tx1"/>
                          </a:solidFill>
                          <a:latin typeface="Corbel" panose="020B0503020204020204" pitchFamily="34" charset="0"/>
                        </a:rPr>
                        <a:t> Individuals, Corporate Clients, Hospital/Doctor Referrals</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056027693"/>
                  </a:ext>
                </a:extLst>
              </a:tr>
              <a:tr h="856577">
                <a:tc>
                  <a:txBody>
                    <a:bodyPr/>
                    <a:lstStyle/>
                    <a:p>
                      <a:pPr algn="l"/>
                      <a:r>
                        <a:rPr lang="en-US" sz="1600" baseline="0" dirty="0">
                          <a:solidFill>
                            <a:schemeClr val="tx1"/>
                          </a:solidFill>
                        </a:rPr>
                        <a:t>Respiratory Fit testing, Work at height, Chemical Handlers </a:t>
                      </a:r>
                      <a:endParaRPr lang="en-US"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Specialized job roles from</a:t>
                      </a:r>
                      <a:r>
                        <a:rPr lang="en-US" sz="1600" baseline="0" dirty="0">
                          <a:solidFill>
                            <a:schemeClr val="tx1"/>
                          </a:solidFill>
                          <a:latin typeface="Corbel" panose="020B0503020204020204" pitchFamily="34" charset="0"/>
                        </a:rPr>
                        <a:t> Manufacturing, Oil and Gas companies </a:t>
                      </a:r>
                      <a:r>
                        <a:rPr lang="en-US" sz="1600" dirty="0">
                          <a:solidFill>
                            <a:schemeClr val="tx1"/>
                          </a:solidFill>
                          <a:latin typeface="Corbel" panose="020B0503020204020204" pitchFamily="34" charset="0"/>
                        </a:rPr>
                        <a:t>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0C7C3906-3B6C-FAF5-4E79-A460C372297F}"/>
              </a:ext>
            </a:extLst>
          </p:cNvPr>
          <p:cNvSpPr>
            <a:spLocks noGrp="1"/>
          </p:cNvSpPr>
          <p:nvPr>
            <p:ph type="sldNum" sz="quarter" idx="12"/>
          </p:nvPr>
        </p:nvSpPr>
        <p:spPr/>
        <p:txBody>
          <a:bodyPr/>
          <a:lstStyle/>
          <a:p>
            <a:fld id="{88DB5A6F-883B-4080-A811-FB5B8D05AFA3}" type="slidenum">
              <a:rPr lang="en-GB" smtClean="0"/>
              <a:pPr/>
              <a:t>15</a:t>
            </a:fld>
            <a:endParaRPr lang="en-GB"/>
          </a:p>
        </p:txBody>
      </p:sp>
    </p:spTree>
    <p:extLst>
      <p:ext uri="{BB962C8B-B14F-4D97-AF65-F5344CB8AC3E}">
        <p14:creationId xmlns:p14="http://schemas.microsoft.com/office/powerpoint/2010/main" val="2676365692"/>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789F-376B-D6AD-32B6-DA482D2A9CAD}"/>
              </a:ext>
            </a:extLst>
          </p:cNvPr>
          <p:cNvSpPr>
            <a:spLocks noGrp="1"/>
          </p:cNvSpPr>
          <p:nvPr>
            <p:ph type="title"/>
          </p:nvPr>
        </p:nvSpPr>
        <p:spPr/>
        <p:txBody>
          <a:bodyPr/>
          <a:lstStyle/>
          <a:p>
            <a:r>
              <a:rPr lang="en-US" dirty="0"/>
              <a:t>HOSPITAL/ CLINIC MANAGEMENT  -MEDSTAFFING</a:t>
            </a:r>
            <a:endParaRPr lang="aa-ET" dirty="0"/>
          </a:p>
        </p:txBody>
      </p:sp>
      <p:graphicFrame>
        <p:nvGraphicFramePr>
          <p:cNvPr id="6" name="Table 6">
            <a:extLst>
              <a:ext uri="{FF2B5EF4-FFF2-40B4-BE49-F238E27FC236}">
                <a16:creationId xmlns:a16="http://schemas.microsoft.com/office/drawing/2014/main" id="{F825E510-7E84-744B-6F06-5EA96DC42E2F}"/>
              </a:ext>
            </a:extLst>
          </p:cNvPr>
          <p:cNvGraphicFramePr>
            <a:graphicFrameLocks noGrp="1"/>
          </p:cNvGraphicFramePr>
          <p:nvPr>
            <p:ph idx="1"/>
            <p:extLst>
              <p:ext uri="{D42A27DB-BD31-4B8C-83A1-F6EECF244321}">
                <p14:modId xmlns:p14="http://schemas.microsoft.com/office/powerpoint/2010/main" val="1040224355"/>
              </p:ext>
            </p:extLst>
          </p:nvPr>
        </p:nvGraphicFramePr>
        <p:xfrm>
          <a:off x="618186" y="1374734"/>
          <a:ext cx="10895526" cy="4736951"/>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Occupational</a:t>
                      </a:r>
                      <a:r>
                        <a:rPr lang="en-US" sz="1600" baseline="0" dirty="0">
                          <a:solidFill>
                            <a:schemeClr val="tx1"/>
                          </a:solidFill>
                        </a:rPr>
                        <a:t> Health Nurse , Occupational Health Doctor Outsourcing </a:t>
                      </a:r>
                      <a:endParaRPr lang="en-GB" sz="1600" dirty="0">
                        <a:solidFill>
                          <a:schemeClr val="tx1"/>
                        </a:solidFill>
                      </a:endParaRPr>
                    </a:p>
                  </a:txBody>
                  <a:tcPr anchor="ctr"/>
                </a:tc>
                <a:tc>
                  <a:txBody>
                    <a:bodyPr/>
                    <a:lstStyle/>
                    <a:p>
                      <a:pPr algn="l"/>
                      <a:r>
                        <a:rPr lang="en-US" sz="1600" dirty="0">
                          <a:latin typeface="Corbel" panose="020B0503020204020204" pitchFamily="34" charset="0"/>
                        </a:rPr>
                        <a:t>Large Manufacturing</a:t>
                      </a:r>
                      <a:r>
                        <a:rPr lang="en-US" sz="1600" baseline="0" dirty="0">
                          <a:latin typeface="Corbel" panose="020B0503020204020204" pitchFamily="34" charset="0"/>
                        </a:rPr>
                        <a:t> sites, Food and Beverage companies, Ports , Cement manufacturing </a:t>
                      </a:r>
                      <a:endParaRPr lang="aa-ET" sz="1600" dirty="0">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Offshore</a:t>
                      </a:r>
                      <a:r>
                        <a:rPr lang="en-US" sz="1600" baseline="0" dirty="0">
                          <a:latin typeface="Corbel" panose="020B0503020204020204" pitchFamily="34" charset="0"/>
                        </a:rPr>
                        <a:t> Medic Doctor, Offshore Medic Nurse, HSE Doctor </a:t>
                      </a:r>
                      <a:r>
                        <a:rPr lang="en-US" sz="1600" baseline="0" dirty="0">
                          <a:solidFill>
                            <a:schemeClr val="tx1"/>
                          </a:solidFill>
                        </a:rPr>
                        <a:t>Outsourcing </a:t>
                      </a:r>
                      <a:endParaRPr lang="en-GB" sz="1600" dirty="0">
                        <a:solidFill>
                          <a:schemeClr val="tx1"/>
                        </a:solidFill>
                      </a:endParaRPr>
                    </a:p>
                  </a:txBody>
                  <a:tcPr anchor="ctr"/>
                </a:tc>
                <a:tc>
                  <a:txBody>
                    <a:bodyPr/>
                    <a:lstStyle/>
                    <a:p>
                      <a:pPr algn="l"/>
                      <a:r>
                        <a:rPr lang="en-US" sz="1600" dirty="0">
                          <a:latin typeface="Corbel" panose="020B0503020204020204" pitchFamily="34" charset="0"/>
                        </a:rPr>
                        <a:t>Oil and Gas FPSO companies, Drilling</a:t>
                      </a:r>
                      <a:r>
                        <a:rPr lang="en-US" sz="1600" baseline="0" dirty="0">
                          <a:latin typeface="Corbel" panose="020B0503020204020204" pitchFamily="34" charset="0"/>
                        </a:rPr>
                        <a:t> Companies </a:t>
                      </a:r>
                      <a:endParaRPr lang="aa-ET" sz="1600" dirty="0">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dirty="0">
                          <a:latin typeface="Corbel" panose="020B0503020204020204" pitchFamily="34" charset="0"/>
                        </a:rPr>
                        <a:t>Medical</a:t>
                      </a:r>
                      <a:r>
                        <a:rPr lang="en-US" sz="1600" baseline="0" dirty="0">
                          <a:latin typeface="Corbel" panose="020B0503020204020204" pitchFamily="34" charset="0"/>
                        </a:rPr>
                        <a:t> Consultants Outsourcing </a:t>
                      </a:r>
                      <a:endParaRPr lang="aa-ET" sz="1600" dirty="0">
                        <a:latin typeface="Corbel" panose="020B0503020204020204" pitchFamily="34" charset="0"/>
                      </a:endParaRPr>
                    </a:p>
                  </a:txBody>
                  <a:tcPr anchor="ctr"/>
                </a:tc>
                <a:tc>
                  <a:txBody>
                    <a:bodyPr/>
                    <a:lstStyle/>
                    <a:p>
                      <a:pPr algn="l"/>
                      <a:r>
                        <a:rPr lang="en-US" sz="1600" dirty="0">
                          <a:latin typeface="Corbel" panose="020B0503020204020204" pitchFamily="34" charset="0"/>
                        </a:rPr>
                        <a:t>IOC :  Oil and</a:t>
                      </a:r>
                      <a:r>
                        <a:rPr lang="en-US" sz="1600" baseline="0" dirty="0">
                          <a:latin typeface="Corbel" panose="020B0503020204020204" pitchFamily="34" charset="0"/>
                        </a:rPr>
                        <a:t> Gas companies </a:t>
                      </a:r>
                      <a:endParaRPr lang="aa-ET" sz="1600" dirty="0">
                        <a:latin typeface="Corbel" panose="020B0503020204020204" pitchFamily="34" charset="0"/>
                      </a:endParaRPr>
                    </a:p>
                  </a:txBody>
                  <a:tcPr anchor="ctr"/>
                </a:tc>
                <a:extLst>
                  <a:ext uri="{0D108BD9-81ED-4DB2-BD59-A6C34878D82A}">
                    <a16:rowId xmlns:a16="http://schemas.microsoft.com/office/drawing/2014/main" val="1417343489"/>
                  </a:ext>
                </a:extLst>
              </a:tr>
              <a:tr h="856577">
                <a:tc>
                  <a:txBody>
                    <a:bodyPr/>
                    <a:lstStyle/>
                    <a:p>
                      <a:pPr algn="l"/>
                      <a:r>
                        <a:rPr lang="en-US" sz="1600" dirty="0">
                          <a:latin typeface="Corbel" panose="020B0503020204020204" pitchFamily="34" charset="0"/>
                        </a:rPr>
                        <a:t>Clinic Staff Training</a:t>
                      </a:r>
                      <a:r>
                        <a:rPr lang="en-US" sz="1600" baseline="0" dirty="0">
                          <a:latin typeface="Corbel" panose="020B0503020204020204" pitchFamily="34" charset="0"/>
                        </a:rPr>
                        <a:t> </a:t>
                      </a:r>
                      <a:endParaRPr lang="en-US" sz="1600" dirty="0">
                        <a:latin typeface="Corbel" panose="020B05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Large Manufacturing</a:t>
                      </a:r>
                      <a:r>
                        <a:rPr lang="en-US" sz="1600" baseline="0" dirty="0">
                          <a:latin typeface="Corbel" panose="020B0503020204020204" pitchFamily="34" charset="0"/>
                        </a:rPr>
                        <a:t> sites, Food and Beverage companies, Ports , Construction sites </a:t>
                      </a:r>
                      <a:endParaRPr lang="aa-ET" sz="1600" dirty="0">
                        <a:latin typeface="Corbel" panose="020B0503020204020204" pitchFamily="34" charset="0"/>
                      </a:endParaRPr>
                    </a:p>
                  </a:txBody>
                  <a:tcPr anchor="ctr"/>
                </a:tc>
                <a:extLst>
                  <a:ext uri="{0D108BD9-81ED-4DB2-BD59-A6C34878D82A}">
                    <a16:rowId xmlns:a16="http://schemas.microsoft.com/office/drawing/2014/main" val="1056027693"/>
                  </a:ext>
                </a:extLst>
              </a:tr>
              <a:tr h="856577">
                <a:tc>
                  <a:txBody>
                    <a:bodyPr/>
                    <a:lstStyle/>
                    <a:p>
                      <a:pPr algn="l"/>
                      <a:endParaRPr lang="en-US" sz="1600" dirty="0">
                        <a:latin typeface="Corbel" panose="020B0503020204020204" pitchFamily="34" charset="0"/>
                      </a:endParaRPr>
                    </a:p>
                  </a:txBody>
                  <a:tcPr anchor="ctr"/>
                </a:tc>
                <a:tc>
                  <a:txBody>
                    <a:bodyPr/>
                    <a:lstStyle/>
                    <a:p>
                      <a:pPr algn="l"/>
                      <a:endParaRPr lang="aa-ET" sz="1600" dirty="0">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0C7C3906-3B6C-FAF5-4E79-A460C372297F}"/>
              </a:ext>
            </a:extLst>
          </p:cNvPr>
          <p:cNvSpPr>
            <a:spLocks noGrp="1"/>
          </p:cNvSpPr>
          <p:nvPr>
            <p:ph type="sldNum" sz="quarter" idx="12"/>
          </p:nvPr>
        </p:nvSpPr>
        <p:spPr/>
        <p:txBody>
          <a:bodyPr/>
          <a:lstStyle/>
          <a:p>
            <a:fld id="{88DB5A6F-883B-4080-A811-FB5B8D05AFA3}" type="slidenum">
              <a:rPr lang="en-GB" smtClean="0"/>
              <a:pPr/>
              <a:t>16</a:t>
            </a:fld>
            <a:endParaRPr lang="en-GB"/>
          </a:p>
        </p:txBody>
      </p:sp>
    </p:spTree>
    <p:extLst>
      <p:ext uri="{BB962C8B-B14F-4D97-AF65-F5344CB8AC3E}">
        <p14:creationId xmlns:p14="http://schemas.microsoft.com/office/powerpoint/2010/main" val="2272256388"/>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61B80-EBD3-CEBD-34DB-791331292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0CC95-1923-FDD3-EDF2-0156BD2A7B50}"/>
              </a:ext>
            </a:extLst>
          </p:cNvPr>
          <p:cNvSpPr>
            <a:spLocks noGrp="1"/>
          </p:cNvSpPr>
          <p:nvPr>
            <p:ph type="title"/>
          </p:nvPr>
        </p:nvSpPr>
        <p:spPr/>
        <p:txBody>
          <a:bodyPr/>
          <a:lstStyle/>
          <a:p>
            <a:r>
              <a:rPr lang="en-US" dirty="0"/>
              <a:t>HOSPITAL/ CLINIC MANAGEMENT- FULL MGT </a:t>
            </a:r>
            <a:endParaRPr lang="aa-ET" dirty="0"/>
          </a:p>
        </p:txBody>
      </p:sp>
      <p:graphicFrame>
        <p:nvGraphicFramePr>
          <p:cNvPr id="6" name="Table 6">
            <a:extLst>
              <a:ext uri="{FF2B5EF4-FFF2-40B4-BE49-F238E27FC236}">
                <a16:creationId xmlns:a16="http://schemas.microsoft.com/office/drawing/2014/main" id="{CABA74D3-AA73-F3FB-4EA7-A0E5B2B2953C}"/>
              </a:ext>
            </a:extLst>
          </p:cNvPr>
          <p:cNvGraphicFramePr>
            <a:graphicFrameLocks noGrp="1"/>
          </p:cNvGraphicFramePr>
          <p:nvPr>
            <p:ph idx="1"/>
            <p:extLst>
              <p:ext uri="{D42A27DB-BD31-4B8C-83A1-F6EECF244321}">
                <p14:modId xmlns:p14="http://schemas.microsoft.com/office/powerpoint/2010/main" val="4094683946"/>
              </p:ext>
            </p:extLst>
          </p:nvPr>
        </p:nvGraphicFramePr>
        <p:xfrm>
          <a:off x="618186" y="1374734"/>
          <a:ext cx="10895526" cy="3023797"/>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latin typeface="Corbel" panose="020B0503020204020204" pitchFamily="34" charset="0"/>
                        </a:rPr>
                        <a:t>Clinic Setup and</a:t>
                      </a:r>
                      <a:r>
                        <a:rPr lang="en-US" sz="1600" baseline="0" dirty="0">
                          <a:latin typeface="Corbel" panose="020B0503020204020204" pitchFamily="34" charset="0"/>
                        </a:rPr>
                        <a:t> Management,  Inventory Managing </a:t>
                      </a:r>
                      <a:endParaRPr lang="en-US" sz="1600" dirty="0">
                        <a:latin typeface="Corbel" panose="020B05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Oil &amp; Gas Staff hospitals/ Clinics, Large Manufacturing</a:t>
                      </a:r>
                      <a:r>
                        <a:rPr lang="en-US" sz="1600" baseline="0" dirty="0">
                          <a:latin typeface="Corbel" panose="020B0503020204020204" pitchFamily="34" charset="0"/>
                        </a:rPr>
                        <a:t> sites, Food and Beverage companies, Ports , Construction sites </a:t>
                      </a:r>
                      <a:endParaRPr lang="aa-ET" sz="1600" dirty="0">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tx1"/>
                          </a:solidFill>
                        </a:rPr>
                        <a:t>Hospital operations and management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Oil &amp; Gas Staff hospitals/ Clinics, Large Manufacturing</a:t>
                      </a:r>
                      <a:r>
                        <a:rPr lang="en-US" sz="1600" baseline="0" dirty="0">
                          <a:latin typeface="Corbel" panose="020B0503020204020204" pitchFamily="34" charset="0"/>
                        </a:rPr>
                        <a:t> sites, Food and Beverage companies, Ports </a:t>
                      </a:r>
                      <a:endParaRPr lang="aa-ET" sz="1600" dirty="0">
                        <a:latin typeface="Corbel" panose="020B0503020204020204" pitchFamily="34" charset="0"/>
                      </a:endParaRPr>
                    </a:p>
                    <a:p>
                      <a:pPr algn="l"/>
                      <a:endParaRPr lang="aa-ET" sz="1600" dirty="0">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dirty="0">
                          <a:latin typeface="Corbel" panose="020B0503020204020204" pitchFamily="34" charset="0"/>
                        </a:rPr>
                        <a:t>EMR Services</a:t>
                      </a:r>
                    </a:p>
                  </a:txBody>
                  <a:tcPr anchor="ctr"/>
                </a:tc>
                <a:tc>
                  <a:txBody>
                    <a:bodyPr/>
                    <a:lstStyle/>
                    <a:p>
                      <a:pPr algn="l"/>
                      <a:r>
                        <a:rPr lang="en-US" sz="1600" dirty="0">
                          <a:latin typeface="Corbel" panose="020B0503020204020204" pitchFamily="34" charset="0"/>
                        </a:rPr>
                        <a:t>Corporate clinics, Hospitals</a:t>
                      </a:r>
                      <a:endParaRPr lang="aa-ET" sz="1600" dirty="0">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048A997C-BF38-42BB-B9CA-6A863946B285}"/>
              </a:ext>
            </a:extLst>
          </p:cNvPr>
          <p:cNvSpPr>
            <a:spLocks noGrp="1"/>
          </p:cNvSpPr>
          <p:nvPr>
            <p:ph type="sldNum" sz="quarter" idx="12"/>
          </p:nvPr>
        </p:nvSpPr>
        <p:spPr/>
        <p:txBody>
          <a:bodyPr/>
          <a:lstStyle/>
          <a:p>
            <a:fld id="{88DB5A6F-883B-4080-A811-FB5B8D05AFA3}" type="slidenum">
              <a:rPr lang="en-GB" smtClean="0"/>
              <a:pPr/>
              <a:t>17</a:t>
            </a:fld>
            <a:endParaRPr lang="en-GB"/>
          </a:p>
        </p:txBody>
      </p:sp>
    </p:spTree>
    <p:extLst>
      <p:ext uri="{BB962C8B-B14F-4D97-AF65-F5344CB8AC3E}">
        <p14:creationId xmlns:p14="http://schemas.microsoft.com/office/powerpoint/2010/main" val="1952853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7EF4-CD41-82E7-23E4-1D0F65EDB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E16DA-0BE6-EA6E-C893-2A6734FF097A}"/>
              </a:ext>
            </a:extLst>
          </p:cNvPr>
          <p:cNvSpPr>
            <a:spLocks noGrp="1"/>
          </p:cNvSpPr>
          <p:nvPr>
            <p:ph type="title"/>
          </p:nvPr>
        </p:nvSpPr>
        <p:spPr/>
        <p:txBody>
          <a:bodyPr/>
          <a:lstStyle/>
          <a:p>
            <a:r>
              <a:rPr lang="en-US" dirty="0"/>
              <a:t>MEDFIT </a:t>
            </a:r>
            <a:endParaRPr lang="aa-ET" dirty="0"/>
          </a:p>
        </p:txBody>
      </p:sp>
      <p:graphicFrame>
        <p:nvGraphicFramePr>
          <p:cNvPr id="6" name="Table 6">
            <a:extLst>
              <a:ext uri="{FF2B5EF4-FFF2-40B4-BE49-F238E27FC236}">
                <a16:creationId xmlns:a16="http://schemas.microsoft.com/office/drawing/2014/main" id="{D6F72C62-9414-DB11-1570-C0905920BCC3}"/>
              </a:ext>
            </a:extLst>
          </p:cNvPr>
          <p:cNvGraphicFramePr>
            <a:graphicFrameLocks noGrp="1"/>
          </p:cNvGraphicFramePr>
          <p:nvPr>
            <p:ph idx="1"/>
          </p:nvPr>
        </p:nvGraphicFramePr>
        <p:xfrm>
          <a:off x="618186" y="1374734"/>
          <a:ext cx="10895526" cy="4736951"/>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Pre employment Medicals, Annual</a:t>
                      </a:r>
                      <a:r>
                        <a:rPr lang="en-US" sz="1600" baseline="0" dirty="0">
                          <a:solidFill>
                            <a:schemeClr val="tx1"/>
                          </a:solidFill>
                        </a:rPr>
                        <a:t> Medicals, Audiometry, Spirometry, Drug &amp; Alcohol Testing &amp; MRO Services</a:t>
                      </a:r>
                    </a:p>
                    <a:p>
                      <a:pPr algn="l"/>
                      <a:endParaRPr lang="en-GB" sz="1600" dirty="0">
                        <a:solidFill>
                          <a:schemeClr val="tx1"/>
                        </a:solidFill>
                      </a:endParaRPr>
                    </a:p>
                  </a:txBody>
                  <a:tcPr anchor="ctr"/>
                </a:tc>
                <a:tc>
                  <a:txBody>
                    <a:bodyPr/>
                    <a:lstStyle/>
                    <a:p>
                      <a:pPr algn="l"/>
                      <a:r>
                        <a:rPr lang="en-US" sz="1600" dirty="0">
                          <a:solidFill>
                            <a:schemeClr val="tx1"/>
                          </a:solidFill>
                          <a:latin typeface="Corbel" panose="020B0503020204020204" pitchFamily="34" charset="0"/>
                        </a:rPr>
                        <a:t>All</a:t>
                      </a:r>
                      <a:r>
                        <a:rPr lang="en-US" sz="1600" baseline="0" dirty="0">
                          <a:solidFill>
                            <a:schemeClr val="tx1"/>
                          </a:solidFill>
                          <a:latin typeface="Corbel" panose="020B0503020204020204" pitchFamily="34" charset="0"/>
                        </a:rPr>
                        <a:t> corporate organizations, Oil and Gas, Banking and Finance, Manufacturing companies, Telcom companies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algn="l"/>
                      <a:r>
                        <a:rPr lang="en-US" sz="1600" dirty="0">
                          <a:solidFill>
                            <a:schemeClr val="tx1"/>
                          </a:solidFill>
                        </a:rPr>
                        <a:t>Offshore</a:t>
                      </a:r>
                      <a:r>
                        <a:rPr lang="en-US" sz="1600" baseline="0" dirty="0">
                          <a:solidFill>
                            <a:schemeClr val="tx1"/>
                          </a:solidFill>
                        </a:rPr>
                        <a:t> Medicals OEUK, Oil and Gas Company Medicals</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Oil and</a:t>
                      </a:r>
                      <a:r>
                        <a:rPr lang="en-US" sz="1600" baseline="0" dirty="0">
                          <a:solidFill>
                            <a:schemeClr val="tx1"/>
                          </a:solidFill>
                          <a:latin typeface="Corbel" panose="020B0503020204020204" pitchFamily="34" charset="0"/>
                        </a:rPr>
                        <a:t> gas Companies, EPCI (</a:t>
                      </a:r>
                      <a:r>
                        <a:rPr lang="en-US" sz="1600" kern="1200" baseline="0" dirty="0">
                          <a:solidFill>
                            <a:schemeClr val="tx1"/>
                          </a:solidFill>
                          <a:latin typeface="Corbel" panose="020B0503020204020204" pitchFamily="34" charset="0"/>
                          <a:ea typeface="+mn-ea"/>
                          <a:cs typeface="+mn-cs"/>
                        </a:rPr>
                        <a:t>Engineering, Procurement, Construction, and Installation) , Drilling, Construction</a:t>
                      </a:r>
                      <a:r>
                        <a:rPr lang="en-US" sz="1600" baseline="0" dirty="0">
                          <a:solidFill>
                            <a:schemeClr val="tx1"/>
                          </a:solidFill>
                          <a:latin typeface="Corbel" panose="020B0503020204020204" pitchFamily="34" charset="0"/>
                        </a:rPr>
                        <a:t>, Engineering, Logistics &amp; Transport</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baseline="0" dirty="0">
                          <a:solidFill>
                            <a:schemeClr val="tx1"/>
                          </a:solidFill>
                        </a:rPr>
                        <a:t>Food handlers Medicals, domestic Staff Medical</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Food and Beverage</a:t>
                      </a:r>
                      <a:r>
                        <a:rPr lang="en-US" sz="1600" baseline="0" dirty="0">
                          <a:solidFill>
                            <a:schemeClr val="tx1"/>
                          </a:solidFill>
                          <a:latin typeface="Corbel" panose="020B0503020204020204" pitchFamily="34" charset="0"/>
                        </a:rPr>
                        <a:t> Companies,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417343489"/>
                  </a:ext>
                </a:extLst>
              </a:tr>
              <a:tr h="856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Corporate &amp; Individual Annual Wellness Packages</a:t>
                      </a:r>
                      <a:r>
                        <a:rPr lang="en-US" sz="1600" baseline="0" dirty="0">
                          <a:latin typeface="Corbel" panose="020B0503020204020204" pitchFamily="34" charset="0"/>
                        </a:rPr>
                        <a:t>, Pathology &amp; Radiology</a:t>
                      </a:r>
                      <a:r>
                        <a:rPr lang="en-US" sz="1600" baseline="0" dirty="0">
                          <a:solidFill>
                            <a:schemeClr val="tx1"/>
                          </a:solidFill>
                        </a:rPr>
                        <a:t> Walk-in/ Retail Wellness Packages</a:t>
                      </a:r>
                    </a:p>
                    <a:p>
                      <a:pPr algn="l"/>
                      <a:endParaRPr lang="en-US"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HNW</a:t>
                      </a:r>
                      <a:r>
                        <a:rPr lang="en-US" sz="1600" baseline="0" dirty="0">
                          <a:solidFill>
                            <a:schemeClr val="tx1"/>
                          </a:solidFill>
                          <a:latin typeface="Corbel" panose="020B0503020204020204" pitchFamily="34" charset="0"/>
                        </a:rPr>
                        <a:t> Individuals, Corporate Clients, Hospital/Doctor Referrals</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056027693"/>
                  </a:ext>
                </a:extLst>
              </a:tr>
              <a:tr h="856577">
                <a:tc>
                  <a:txBody>
                    <a:bodyPr/>
                    <a:lstStyle/>
                    <a:p>
                      <a:pPr algn="l"/>
                      <a:r>
                        <a:rPr lang="en-US" sz="1600" baseline="0" dirty="0">
                          <a:solidFill>
                            <a:schemeClr val="tx1"/>
                          </a:solidFill>
                        </a:rPr>
                        <a:t>Respiratory Fit testing, Work at height, Chemical Handlers </a:t>
                      </a:r>
                      <a:endParaRPr lang="en-US"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Specialized job roles from</a:t>
                      </a:r>
                      <a:r>
                        <a:rPr lang="en-US" sz="1600" baseline="0" dirty="0">
                          <a:solidFill>
                            <a:schemeClr val="tx1"/>
                          </a:solidFill>
                          <a:latin typeface="Corbel" panose="020B0503020204020204" pitchFamily="34" charset="0"/>
                        </a:rPr>
                        <a:t> Manufacturing, Oil and Gas companies </a:t>
                      </a:r>
                      <a:r>
                        <a:rPr lang="en-US" sz="1600" dirty="0">
                          <a:solidFill>
                            <a:schemeClr val="tx1"/>
                          </a:solidFill>
                          <a:latin typeface="Corbel" panose="020B0503020204020204" pitchFamily="34" charset="0"/>
                        </a:rPr>
                        <a:t>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F552D1BE-C54D-9E02-EFC5-FAFCD5E46A48}"/>
              </a:ext>
            </a:extLst>
          </p:cNvPr>
          <p:cNvSpPr>
            <a:spLocks noGrp="1"/>
          </p:cNvSpPr>
          <p:nvPr>
            <p:ph type="sldNum" sz="quarter" idx="12"/>
          </p:nvPr>
        </p:nvSpPr>
        <p:spPr/>
        <p:txBody>
          <a:bodyPr/>
          <a:lstStyle/>
          <a:p>
            <a:fld id="{88DB5A6F-883B-4080-A811-FB5B8D05AFA3}" type="slidenum">
              <a:rPr lang="en-GB" smtClean="0"/>
              <a:pPr/>
              <a:t>18</a:t>
            </a:fld>
            <a:endParaRPr lang="en-GB"/>
          </a:p>
        </p:txBody>
      </p:sp>
    </p:spTree>
    <p:extLst>
      <p:ext uri="{BB962C8B-B14F-4D97-AF65-F5344CB8AC3E}">
        <p14:creationId xmlns:p14="http://schemas.microsoft.com/office/powerpoint/2010/main" val="2232713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789F-376B-D6AD-32B6-DA482D2A9CAD}"/>
              </a:ext>
            </a:extLst>
          </p:cNvPr>
          <p:cNvSpPr>
            <a:spLocks noGrp="1"/>
          </p:cNvSpPr>
          <p:nvPr>
            <p:ph type="title"/>
          </p:nvPr>
        </p:nvSpPr>
        <p:spPr/>
        <p:txBody>
          <a:bodyPr/>
          <a:lstStyle/>
          <a:p>
            <a:r>
              <a:rPr lang="en-US" dirty="0"/>
              <a:t>OHP, INDUSTRIAL HYGIENE, MEDADVISORY SERVICES</a:t>
            </a:r>
            <a:endParaRPr lang="aa-ET" dirty="0"/>
          </a:p>
        </p:txBody>
      </p:sp>
      <p:graphicFrame>
        <p:nvGraphicFramePr>
          <p:cNvPr id="6" name="Table 6">
            <a:extLst>
              <a:ext uri="{FF2B5EF4-FFF2-40B4-BE49-F238E27FC236}">
                <a16:creationId xmlns:a16="http://schemas.microsoft.com/office/drawing/2014/main" id="{F825E510-7E84-744B-6F06-5EA96DC42E2F}"/>
              </a:ext>
            </a:extLst>
          </p:cNvPr>
          <p:cNvGraphicFramePr>
            <a:graphicFrameLocks noGrp="1"/>
          </p:cNvGraphicFramePr>
          <p:nvPr>
            <p:ph idx="1"/>
            <p:extLst>
              <p:ext uri="{D42A27DB-BD31-4B8C-83A1-F6EECF244321}">
                <p14:modId xmlns:p14="http://schemas.microsoft.com/office/powerpoint/2010/main" val="4186003157"/>
              </p:ext>
            </p:extLst>
          </p:nvPr>
        </p:nvGraphicFramePr>
        <p:xfrm>
          <a:off x="618186" y="1374734"/>
          <a:ext cx="10895526" cy="4736951"/>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Needs Assessment, Preventative Health programs</a:t>
                      </a:r>
                      <a:endParaRPr lang="en-GB" sz="1600" dirty="0">
                        <a:solidFill>
                          <a:schemeClr val="tx1"/>
                        </a:solidFill>
                      </a:endParaRPr>
                    </a:p>
                  </a:txBody>
                  <a:tcPr anchor="ctr"/>
                </a:tc>
                <a:tc>
                  <a:txBody>
                    <a:bodyPr/>
                    <a:lstStyle/>
                    <a:p>
                      <a:pPr algn="l"/>
                      <a:r>
                        <a:rPr lang="en-US" sz="1600" dirty="0">
                          <a:solidFill>
                            <a:schemeClr val="tx1"/>
                          </a:solidFill>
                          <a:latin typeface="Corbel" panose="020B0503020204020204" pitchFamily="34" charset="0"/>
                        </a:rPr>
                        <a:t>All</a:t>
                      </a:r>
                      <a:r>
                        <a:rPr lang="en-US" sz="1600" baseline="0" dirty="0">
                          <a:solidFill>
                            <a:schemeClr val="tx1"/>
                          </a:solidFill>
                          <a:latin typeface="Corbel" panose="020B0503020204020204" pitchFamily="34" charset="0"/>
                        </a:rPr>
                        <a:t> HNW Corporate organizations – Banks, Oil &amp; Gas, Food &amp; Beverage, Manufacturing</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algn="l"/>
                      <a:r>
                        <a:rPr lang="en-US" sz="1600" baseline="0" dirty="0">
                          <a:latin typeface="Corbel" panose="020B0503020204020204" pitchFamily="34" charset="0"/>
                        </a:rPr>
                        <a:t>Ergonomic Survey </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All</a:t>
                      </a:r>
                      <a:r>
                        <a:rPr lang="en-US" sz="1600" baseline="0" dirty="0">
                          <a:solidFill>
                            <a:schemeClr val="tx1"/>
                          </a:solidFill>
                          <a:latin typeface="Corbel" panose="020B0503020204020204" pitchFamily="34" charset="0"/>
                        </a:rPr>
                        <a:t> HNW Corporate organizations – Banks, Oil &amp; Gas, Food &amp; Beverage, Manufacturing,</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dirty="0">
                          <a:latin typeface="Corbel" panose="020B0503020204020204" pitchFamily="34" charset="0"/>
                        </a:rPr>
                        <a:t>Air Quality Testing </a:t>
                      </a:r>
                      <a:endParaRPr lang="aa-ET" sz="1600" dirty="0">
                        <a:latin typeface="Corbel" panose="020B0503020204020204" pitchFamily="34" charset="0"/>
                      </a:endParaRPr>
                    </a:p>
                  </a:txBody>
                  <a:tcPr anchor="ctr"/>
                </a:tc>
                <a:tc>
                  <a:txBody>
                    <a:bodyPr/>
                    <a:lstStyle/>
                    <a:p>
                      <a:pPr algn="l"/>
                      <a:r>
                        <a:rPr lang="en-US" sz="1600" dirty="0">
                          <a:solidFill>
                            <a:schemeClr val="tx1"/>
                          </a:solidFill>
                          <a:latin typeface="Corbel" panose="020B0503020204020204" pitchFamily="34" charset="0"/>
                        </a:rPr>
                        <a:t>Manufacturing,</a:t>
                      </a:r>
                      <a:r>
                        <a:rPr lang="en-US" sz="1600" baseline="0" dirty="0">
                          <a:solidFill>
                            <a:schemeClr val="tx1"/>
                          </a:solidFill>
                          <a:latin typeface="Corbel" panose="020B0503020204020204" pitchFamily="34" charset="0"/>
                        </a:rPr>
                        <a:t> Construction companies, Oil and Gas </a:t>
                      </a:r>
                      <a:endParaRPr lang="aa-ET" sz="1600" dirty="0">
                        <a:solidFill>
                          <a:schemeClr val="tx1"/>
                        </a:solidFill>
                        <a:latin typeface="Corbel" panose="020B0503020204020204" pitchFamily="34" charset="0"/>
                      </a:endParaRPr>
                    </a:p>
                  </a:txBody>
                  <a:tcPr anchor="ctr"/>
                </a:tc>
                <a:extLst>
                  <a:ext uri="{0D108BD9-81ED-4DB2-BD59-A6C34878D82A}">
                    <a16:rowId xmlns:a16="http://schemas.microsoft.com/office/drawing/2014/main" val="1417343489"/>
                  </a:ext>
                </a:extLst>
              </a:tr>
              <a:tr h="856577">
                <a:tc>
                  <a:txBody>
                    <a:bodyPr/>
                    <a:lstStyle/>
                    <a:p>
                      <a:pPr algn="l"/>
                      <a:r>
                        <a:rPr lang="en-US" sz="1600" dirty="0">
                          <a:latin typeface="Corbel" panose="020B0503020204020204" pitchFamily="34" charset="0"/>
                        </a:rPr>
                        <a:t>Noise</a:t>
                      </a:r>
                      <a:r>
                        <a:rPr lang="en-US" sz="1600" baseline="0" dirty="0">
                          <a:latin typeface="Corbel" panose="020B0503020204020204" pitchFamily="34" charset="0"/>
                        </a:rPr>
                        <a:t> Mapping and Survey </a:t>
                      </a:r>
                      <a:endParaRPr lang="en-US" sz="1600" dirty="0">
                        <a:latin typeface="Corbel" panose="020B0503020204020204" pitchFamily="34" charset="0"/>
                      </a:endParaRPr>
                    </a:p>
                  </a:txBody>
                  <a:tcPr anchor="ctr"/>
                </a:tc>
                <a:tc>
                  <a:txBody>
                    <a:bodyPr/>
                    <a:lstStyle/>
                    <a:p>
                      <a:pPr algn="l"/>
                      <a:r>
                        <a:rPr lang="en-US" sz="1600" dirty="0">
                          <a:latin typeface="Corbel" panose="020B0503020204020204" pitchFamily="34" charset="0"/>
                        </a:rPr>
                        <a:t>High Noise Frequency</a:t>
                      </a:r>
                      <a:r>
                        <a:rPr lang="en-US" sz="1600" baseline="0" dirty="0">
                          <a:latin typeface="Corbel" panose="020B0503020204020204" pitchFamily="34" charset="0"/>
                        </a:rPr>
                        <a:t> Generating companies – Manufacturing, Oil and Gas Food and Beverage Factory/Production sites</a:t>
                      </a:r>
                      <a:endParaRPr lang="aa-ET" sz="1600" dirty="0">
                        <a:latin typeface="Corbel" panose="020B0503020204020204" pitchFamily="34" charset="0"/>
                      </a:endParaRPr>
                    </a:p>
                  </a:txBody>
                  <a:tcPr anchor="ctr"/>
                </a:tc>
                <a:extLst>
                  <a:ext uri="{0D108BD9-81ED-4DB2-BD59-A6C34878D82A}">
                    <a16:rowId xmlns:a16="http://schemas.microsoft.com/office/drawing/2014/main" val="1056027693"/>
                  </a:ext>
                </a:extLst>
              </a:tr>
              <a:tr h="856577">
                <a:tc>
                  <a:txBody>
                    <a:bodyPr/>
                    <a:lstStyle/>
                    <a:p>
                      <a:pPr algn="l"/>
                      <a:r>
                        <a:rPr lang="en-US" sz="1600" dirty="0">
                          <a:latin typeface="Corbel" panose="020B0503020204020204" pitchFamily="34" charset="0"/>
                        </a:rPr>
                        <a:t>Health Risk Assessment, Microbiological Audit</a:t>
                      </a:r>
                    </a:p>
                  </a:txBody>
                  <a:tcPr anchor="ctr"/>
                </a:tc>
                <a:tc>
                  <a:txBody>
                    <a:bodyPr/>
                    <a:lstStyle/>
                    <a:p>
                      <a:pPr algn="l"/>
                      <a:r>
                        <a:rPr lang="en-US" sz="1600" dirty="0">
                          <a:latin typeface="Corbel" panose="020B0503020204020204" pitchFamily="34" charset="0"/>
                        </a:rPr>
                        <a:t>Oil</a:t>
                      </a:r>
                      <a:r>
                        <a:rPr lang="en-US" sz="1600" baseline="0" dirty="0">
                          <a:latin typeface="Corbel" panose="020B0503020204020204" pitchFamily="34" charset="0"/>
                        </a:rPr>
                        <a:t> Mining Onshore and Offshore Sites – Oil </a:t>
                      </a:r>
                      <a:endParaRPr lang="aa-ET" sz="1600" dirty="0">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0C7C3906-3B6C-FAF5-4E79-A460C372297F}"/>
              </a:ext>
            </a:extLst>
          </p:cNvPr>
          <p:cNvSpPr>
            <a:spLocks noGrp="1"/>
          </p:cNvSpPr>
          <p:nvPr>
            <p:ph type="sldNum" sz="quarter" idx="12"/>
          </p:nvPr>
        </p:nvSpPr>
        <p:spPr/>
        <p:txBody>
          <a:bodyPr/>
          <a:lstStyle/>
          <a:p>
            <a:fld id="{88DB5A6F-883B-4080-A811-FB5B8D05AFA3}" type="slidenum">
              <a:rPr lang="en-GB" smtClean="0"/>
              <a:pPr/>
              <a:t>19</a:t>
            </a:fld>
            <a:endParaRPr lang="en-GB"/>
          </a:p>
        </p:txBody>
      </p:sp>
    </p:spTree>
    <p:extLst>
      <p:ext uri="{BB962C8B-B14F-4D97-AF65-F5344CB8AC3E}">
        <p14:creationId xmlns:p14="http://schemas.microsoft.com/office/powerpoint/2010/main" val="1373288650"/>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789F-376B-D6AD-32B6-DA482D2A9CAD}"/>
              </a:ext>
            </a:extLst>
          </p:cNvPr>
          <p:cNvSpPr>
            <a:spLocks noGrp="1"/>
          </p:cNvSpPr>
          <p:nvPr>
            <p:ph type="title"/>
          </p:nvPr>
        </p:nvSpPr>
        <p:spPr/>
        <p:txBody>
          <a:bodyPr/>
          <a:lstStyle/>
          <a:p>
            <a:r>
              <a:rPr lang="en-US" dirty="0"/>
              <a:t>Occupational Health Service Line : MEDSUSTAIN / CSR  </a:t>
            </a:r>
            <a:endParaRPr lang="aa-ET" dirty="0"/>
          </a:p>
        </p:txBody>
      </p:sp>
      <p:graphicFrame>
        <p:nvGraphicFramePr>
          <p:cNvPr id="6" name="Table 6">
            <a:extLst>
              <a:ext uri="{FF2B5EF4-FFF2-40B4-BE49-F238E27FC236}">
                <a16:creationId xmlns:a16="http://schemas.microsoft.com/office/drawing/2014/main" id="{F825E510-7E84-744B-6F06-5EA96DC42E2F}"/>
              </a:ext>
            </a:extLst>
          </p:cNvPr>
          <p:cNvGraphicFramePr>
            <a:graphicFrameLocks noGrp="1"/>
          </p:cNvGraphicFramePr>
          <p:nvPr>
            <p:ph idx="1"/>
            <p:extLst>
              <p:ext uri="{D42A27DB-BD31-4B8C-83A1-F6EECF244321}">
                <p14:modId xmlns:p14="http://schemas.microsoft.com/office/powerpoint/2010/main" val="3670969045"/>
              </p:ext>
            </p:extLst>
          </p:nvPr>
        </p:nvGraphicFramePr>
        <p:xfrm>
          <a:off x="618186" y="1374734"/>
          <a:ext cx="10895526" cy="2804163"/>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Awareness Campaig</a:t>
                      </a:r>
                      <a:r>
                        <a:rPr lang="en-US" sz="1600" baseline="0" dirty="0">
                          <a:solidFill>
                            <a:schemeClr val="tx1"/>
                          </a:solidFill>
                        </a:rPr>
                        <a:t>n and testing : Malaria, HIV , Mental Health </a:t>
                      </a:r>
                      <a:endParaRPr lang="en-GB" sz="1600" dirty="0">
                        <a:solidFill>
                          <a:schemeClr val="tx1"/>
                        </a:solidFill>
                      </a:endParaRPr>
                    </a:p>
                  </a:txBody>
                  <a:tcPr anchor="ctr"/>
                </a:tc>
                <a:tc>
                  <a:txBody>
                    <a:bodyPr/>
                    <a:lstStyle/>
                    <a:p>
                      <a:pPr algn="l"/>
                      <a:r>
                        <a:rPr lang="en-US" sz="1600" dirty="0">
                          <a:latin typeface="Corbel" panose="020B0503020204020204" pitchFamily="34" charset="0"/>
                        </a:rPr>
                        <a:t>Large</a:t>
                      </a:r>
                      <a:r>
                        <a:rPr lang="en-US" sz="1600" baseline="0" dirty="0">
                          <a:latin typeface="Corbel" panose="020B0503020204020204" pitchFamily="34" charset="0"/>
                        </a:rPr>
                        <a:t> Oil and Gas Companies , </a:t>
                      </a:r>
                      <a:r>
                        <a:rPr lang="en-US" sz="1600" dirty="0">
                          <a:latin typeface="Corbel" panose="020B0503020204020204" pitchFamily="34" charset="0"/>
                        </a:rPr>
                        <a:t>Manufacturing</a:t>
                      </a:r>
                      <a:r>
                        <a:rPr lang="en-US" sz="1600" baseline="0" dirty="0">
                          <a:latin typeface="Corbel" panose="020B0503020204020204" pitchFamily="34" charset="0"/>
                        </a:rPr>
                        <a:t> Companies , Telco,  Tier 1 and 2  Banks </a:t>
                      </a:r>
                      <a:endParaRPr lang="aa-ET" sz="1600" dirty="0">
                        <a:latin typeface="Corbel" panose="020B0503020204020204" pitchFamily="34" charset="0"/>
                      </a:endParaRPr>
                    </a:p>
                  </a:txBody>
                  <a:tcPr anchor="ctr"/>
                </a:tc>
                <a:extLst>
                  <a:ext uri="{0D108BD9-81ED-4DB2-BD59-A6C34878D82A}">
                    <a16:rowId xmlns:a16="http://schemas.microsoft.com/office/drawing/2014/main" val="3171936344"/>
                  </a:ext>
                </a:extLst>
              </a:tr>
              <a:tr h="285526">
                <a:tc>
                  <a:txBody>
                    <a:bodyPr/>
                    <a:lstStyle/>
                    <a:p>
                      <a:pPr algn="l"/>
                      <a:r>
                        <a:rPr lang="en-US" sz="1600" dirty="0">
                          <a:latin typeface="Corbel" panose="020B0503020204020204" pitchFamily="34" charset="0"/>
                        </a:rPr>
                        <a:t>Preventive</a:t>
                      </a:r>
                      <a:r>
                        <a:rPr lang="en-US" sz="1600" baseline="0" dirty="0">
                          <a:latin typeface="Corbel" panose="020B0503020204020204" pitchFamily="34" charset="0"/>
                        </a:rPr>
                        <a:t> interventions : Malaria Fumigation , Cervical Cancer Screening</a:t>
                      </a:r>
                      <a:endParaRPr lang="aa-ET" sz="1600" dirty="0">
                        <a:latin typeface="Corbel" panose="020B0503020204020204" pitchFamily="34" charset="0"/>
                      </a:endParaRPr>
                    </a:p>
                  </a:txBody>
                  <a:tcPr anchor="ctr"/>
                </a:tc>
                <a:tc>
                  <a:txBody>
                    <a:bodyPr/>
                    <a:lstStyle/>
                    <a:p>
                      <a:pPr algn="l"/>
                      <a:r>
                        <a:rPr lang="en-US" sz="1600" dirty="0">
                          <a:latin typeface="Corbel" panose="020B0503020204020204" pitchFamily="34" charset="0"/>
                        </a:rPr>
                        <a:t>Large</a:t>
                      </a:r>
                      <a:r>
                        <a:rPr lang="en-US" sz="1600" baseline="0" dirty="0">
                          <a:latin typeface="Corbel" panose="020B0503020204020204" pitchFamily="34" charset="0"/>
                        </a:rPr>
                        <a:t> Oil and Gas Companies , </a:t>
                      </a:r>
                      <a:r>
                        <a:rPr lang="en-US" sz="1600" dirty="0">
                          <a:latin typeface="Corbel" panose="020B0503020204020204" pitchFamily="34" charset="0"/>
                        </a:rPr>
                        <a:t>Manufacturing</a:t>
                      </a:r>
                      <a:r>
                        <a:rPr lang="en-US" sz="1600" baseline="0" dirty="0">
                          <a:latin typeface="Corbel" panose="020B0503020204020204" pitchFamily="34" charset="0"/>
                        </a:rPr>
                        <a:t> Companies , Telco, Tier 1 and 2 Banks </a:t>
                      </a:r>
                      <a:endParaRPr lang="aa-ET" sz="1600" dirty="0">
                        <a:latin typeface="Corbel" panose="020B0503020204020204" pitchFamily="34" charset="0"/>
                      </a:endParaRPr>
                    </a:p>
                  </a:txBody>
                  <a:tcPr anchor="ctr"/>
                </a:tc>
                <a:extLst>
                  <a:ext uri="{0D108BD9-81ED-4DB2-BD59-A6C34878D82A}">
                    <a16:rowId xmlns:a16="http://schemas.microsoft.com/office/drawing/2014/main" val="2222975282"/>
                  </a:ext>
                </a:extLst>
              </a:tr>
              <a:tr h="293594">
                <a:tc>
                  <a:txBody>
                    <a:bodyPr/>
                    <a:lstStyle/>
                    <a:p>
                      <a:pPr algn="l"/>
                      <a:r>
                        <a:rPr lang="en-US" sz="1600" dirty="0" err="1">
                          <a:latin typeface="Corbel" panose="020B0503020204020204" pitchFamily="34" charset="0"/>
                        </a:rPr>
                        <a:t>Behavioural</a:t>
                      </a:r>
                      <a:r>
                        <a:rPr lang="en-US" sz="1600" dirty="0">
                          <a:latin typeface="Corbel" panose="020B0503020204020204" pitchFamily="34" charset="0"/>
                        </a:rPr>
                        <a:t> change campaigns, Advocacy, Policy formulation</a:t>
                      </a:r>
                      <a:endParaRPr lang="aa-ET" sz="1600" dirty="0">
                        <a:latin typeface="Corbel" panose="020B0503020204020204" pitchFamily="34" charset="0"/>
                      </a:endParaRPr>
                    </a:p>
                  </a:txBody>
                  <a:tcPr anchor="ctr"/>
                </a:tc>
                <a:tc>
                  <a:txBody>
                    <a:bodyPr/>
                    <a:lstStyle/>
                    <a:p>
                      <a:pPr algn="l"/>
                      <a:r>
                        <a:rPr lang="en-US" sz="1600" dirty="0">
                          <a:latin typeface="Corbel" panose="020B0503020204020204" pitchFamily="34" charset="0"/>
                        </a:rPr>
                        <a:t>NGOs, PPPs, Corporates</a:t>
                      </a:r>
                      <a:endParaRPr lang="aa-ET" sz="1600" dirty="0">
                        <a:latin typeface="Corbel" panose="020B0503020204020204" pitchFamily="34" charset="0"/>
                      </a:endParaRPr>
                    </a:p>
                  </a:txBody>
                  <a:tcPr anchor="ctr"/>
                </a:tc>
                <a:extLst>
                  <a:ext uri="{0D108BD9-81ED-4DB2-BD59-A6C34878D82A}">
                    <a16:rowId xmlns:a16="http://schemas.microsoft.com/office/drawing/2014/main" val="2387377165"/>
                  </a:ext>
                </a:extLst>
              </a:tr>
              <a:tr h="285526">
                <a:tc>
                  <a:txBody>
                    <a:bodyPr/>
                    <a:lstStyle/>
                    <a:p>
                      <a:pPr algn="l"/>
                      <a:endParaRPr lang="aa-ET" sz="1600" dirty="0">
                        <a:latin typeface="Corbel" panose="020B0503020204020204" pitchFamily="34" charset="0"/>
                      </a:endParaRPr>
                    </a:p>
                  </a:txBody>
                  <a:tcPr anchor="ctr"/>
                </a:tc>
                <a:tc>
                  <a:txBody>
                    <a:bodyPr/>
                    <a:lstStyle/>
                    <a:p>
                      <a:pPr algn="l"/>
                      <a:endParaRPr lang="aa-ET" sz="1600" dirty="0">
                        <a:latin typeface="Corbel" panose="020B0503020204020204" pitchFamily="34" charset="0"/>
                      </a:endParaRPr>
                    </a:p>
                  </a:txBody>
                  <a:tcPr anchor="ctr"/>
                </a:tc>
                <a:extLst>
                  <a:ext uri="{0D108BD9-81ED-4DB2-BD59-A6C34878D82A}">
                    <a16:rowId xmlns:a16="http://schemas.microsoft.com/office/drawing/2014/main" val="1117941494"/>
                  </a:ext>
                </a:extLst>
              </a:tr>
            </a:tbl>
          </a:graphicData>
        </a:graphic>
      </p:graphicFrame>
      <p:sp>
        <p:nvSpPr>
          <p:cNvPr id="4" name="Slide Number Placeholder 3">
            <a:extLst>
              <a:ext uri="{FF2B5EF4-FFF2-40B4-BE49-F238E27FC236}">
                <a16:creationId xmlns:a16="http://schemas.microsoft.com/office/drawing/2014/main" id="{0C7C3906-3B6C-FAF5-4E79-A460C372297F}"/>
              </a:ext>
            </a:extLst>
          </p:cNvPr>
          <p:cNvSpPr>
            <a:spLocks noGrp="1"/>
          </p:cNvSpPr>
          <p:nvPr>
            <p:ph type="sldNum" sz="quarter" idx="12"/>
          </p:nvPr>
        </p:nvSpPr>
        <p:spPr/>
        <p:txBody>
          <a:bodyPr/>
          <a:lstStyle/>
          <a:p>
            <a:fld id="{88DB5A6F-883B-4080-A811-FB5B8D05AFA3}" type="slidenum">
              <a:rPr lang="en-GB" smtClean="0"/>
              <a:pPr/>
              <a:t>20</a:t>
            </a:fld>
            <a:endParaRPr lang="en-GB"/>
          </a:p>
        </p:txBody>
      </p:sp>
    </p:spTree>
    <p:extLst>
      <p:ext uri="{BB962C8B-B14F-4D97-AF65-F5344CB8AC3E}">
        <p14:creationId xmlns:p14="http://schemas.microsoft.com/office/powerpoint/2010/main" val="3257640623"/>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789F-376B-D6AD-32B6-DA482D2A9CAD}"/>
              </a:ext>
            </a:extLst>
          </p:cNvPr>
          <p:cNvSpPr>
            <a:spLocks noGrp="1"/>
          </p:cNvSpPr>
          <p:nvPr>
            <p:ph type="title"/>
          </p:nvPr>
        </p:nvSpPr>
        <p:spPr/>
        <p:txBody>
          <a:bodyPr/>
          <a:lstStyle/>
          <a:p>
            <a:r>
              <a:rPr lang="en-US" dirty="0"/>
              <a:t>WELLNESS PRODUCTS</a:t>
            </a:r>
            <a:endParaRPr lang="aa-ET" dirty="0"/>
          </a:p>
        </p:txBody>
      </p:sp>
      <p:graphicFrame>
        <p:nvGraphicFramePr>
          <p:cNvPr id="6" name="Table 6">
            <a:extLst>
              <a:ext uri="{FF2B5EF4-FFF2-40B4-BE49-F238E27FC236}">
                <a16:creationId xmlns:a16="http://schemas.microsoft.com/office/drawing/2014/main" id="{F825E510-7E84-744B-6F06-5EA96DC42E2F}"/>
              </a:ext>
            </a:extLst>
          </p:cNvPr>
          <p:cNvGraphicFramePr>
            <a:graphicFrameLocks noGrp="1"/>
          </p:cNvGraphicFramePr>
          <p:nvPr>
            <p:ph idx="1"/>
            <p:extLst>
              <p:ext uri="{D42A27DB-BD31-4B8C-83A1-F6EECF244321}">
                <p14:modId xmlns:p14="http://schemas.microsoft.com/office/powerpoint/2010/main" val="3596336853"/>
              </p:ext>
            </p:extLst>
          </p:nvPr>
        </p:nvGraphicFramePr>
        <p:xfrm>
          <a:off x="618186" y="1374734"/>
          <a:ext cx="10895526" cy="4736951"/>
        </p:xfrm>
        <a:graphic>
          <a:graphicData uri="http://schemas.openxmlformats.org/drawingml/2006/table">
            <a:tbl>
              <a:tblPr firstRow="1" bandRow="1">
                <a:tableStyleId>{8A107856-5554-42FB-B03E-39F5DBC370BA}</a:tableStyleId>
              </a:tblPr>
              <a:tblGrid>
                <a:gridCol w="5009882">
                  <a:extLst>
                    <a:ext uri="{9D8B030D-6E8A-4147-A177-3AD203B41FA5}">
                      <a16:colId xmlns:a16="http://schemas.microsoft.com/office/drawing/2014/main" val="468224344"/>
                    </a:ext>
                  </a:extLst>
                </a:gridCol>
                <a:gridCol w="5885644">
                  <a:extLst>
                    <a:ext uri="{9D8B030D-6E8A-4147-A177-3AD203B41FA5}">
                      <a16:colId xmlns:a16="http://schemas.microsoft.com/office/drawing/2014/main" val="1457704704"/>
                    </a:ext>
                  </a:extLst>
                </a:gridCol>
              </a:tblGrid>
              <a:tr h="454066">
                <a:tc>
                  <a:txBody>
                    <a:bodyPr/>
                    <a:lstStyle/>
                    <a:p>
                      <a:pPr algn="ctr"/>
                      <a:r>
                        <a:rPr lang="en-US" sz="1600" dirty="0">
                          <a:latin typeface="Corbel" panose="020B0503020204020204" pitchFamily="34" charset="0"/>
                        </a:rPr>
                        <a:t>Product Range</a:t>
                      </a:r>
                      <a:endParaRPr lang="aa-ET" sz="1600" dirty="0">
                        <a:latin typeface="Corbel" panose="020B0503020204020204" pitchFamily="34" charset="0"/>
                      </a:endParaRPr>
                    </a:p>
                  </a:txBody>
                  <a:tcPr anchor="ctr"/>
                </a:tc>
                <a:tc>
                  <a:txBody>
                    <a:bodyPr/>
                    <a:lstStyle/>
                    <a:p>
                      <a:pPr algn="ctr"/>
                      <a:r>
                        <a:rPr lang="en-US" sz="1600">
                          <a:latin typeface="Corbel" panose="020B0503020204020204" pitchFamily="34" charset="0"/>
                        </a:rPr>
                        <a:t>Target Market</a:t>
                      </a:r>
                      <a:endParaRPr lang="aa-ET" sz="1600" dirty="0">
                        <a:latin typeface="Corbel" panose="020B0503020204020204" pitchFamily="34" charset="0"/>
                      </a:endParaRPr>
                    </a:p>
                  </a:txBody>
                  <a:tcPr anchor="ctr"/>
                </a:tc>
                <a:extLst>
                  <a:ext uri="{0D108BD9-81ED-4DB2-BD59-A6C34878D82A}">
                    <a16:rowId xmlns:a16="http://schemas.microsoft.com/office/drawing/2014/main" val="55575879"/>
                  </a:ext>
                </a:extLst>
              </a:tr>
              <a:tr h="856577">
                <a:tc>
                  <a:txBody>
                    <a:bodyPr/>
                    <a:lstStyle/>
                    <a:p>
                      <a:pPr algn="l"/>
                      <a:r>
                        <a:rPr lang="en-US" sz="1600" dirty="0">
                          <a:solidFill>
                            <a:schemeClr val="tx1"/>
                          </a:solidFill>
                        </a:rPr>
                        <a:t>Comprehensive Health Assessments, fertility tests, Pre-marital health screening, </a:t>
                      </a:r>
                      <a:endParaRPr lang="en-GB" sz="1600" dirty="0">
                        <a:solidFill>
                          <a:schemeClr val="tx1"/>
                        </a:solidFill>
                      </a:endParaRPr>
                    </a:p>
                  </a:txBody>
                  <a:tcPr anchor="ctr"/>
                </a:tc>
                <a:tc>
                  <a:txBody>
                    <a:bodyPr/>
                    <a:lstStyle/>
                    <a:p>
                      <a:pPr algn="l"/>
                      <a:r>
                        <a:rPr lang="en-US" sz="1600" dirty="0">
                          <a:latin typeface="Corbel" panose="020B0503020204020204" pitchFamily="34" charset="0"/>
                        </a:rPr>
                        <a:t>Corporates, HNWs, Individuals, Women, Domestic Workers, New Couples </a:t>
                      </a:r>
                      <a:r>
                        <a:rPr lang="en-US" sz="1600" dirty="0" err="1">
                          <a:latin typeface="Corbel" panose="020B0503020204020204" pitchFamily="34" charset="0"/>
                        </a:rPr>
                        <a:t>etc</a:t>
                      </a:r>
                      <a:endParaRPr lang="aa-ET" sz="1600" dirty="0">
                        <a:latin typeface="Corbel" panose="020B0503020204020204" pitchFamily="34" charset="0"/>
                      </a:endParaRPr>
                    </a:p>
                  </a:txBody>
                  <a:tcPr anchor="ctr"/>
                </a:tc>
                <a:extLst>
                  <a:ext uri="{0D108BD9-81ED-4DB2-BD59-A6C34878D82A}">
                    <a16:rowId xmlns:a16="http://schemas.microsoft.com/office/drawing/2014/main" val="3171936344"/>
                  </a:ext>
                </a:extLst>
              </a:tr>
              <a:tr h="856577">
                <a:tc>
                  <a:txBody>
                    <a:bodyPr/>
                    <a:lstStyle/>
                    <a:p>
                      <a:pPr algn="l"/>
                      <a:r>
                        <a:rPr lang="en-US" sz="1600" dirty="0">
                          <a:latin typeface="Corbel" panose="020B0503020204020204" pitchFamily="34" charset="0"/>
                        </a:rPr>
                        <a:t>IV Micronutrient therapy for general wellness (recovery, immune boosters, skin, nails, hair hydration </a:t>
                      </a:r>
                      <a:r>
                        <a:rPr lang="en-US" sz="1600" dirty="0" err="1">
                          <a:latin typeface="Corbel" panose="020B0503020204020204" pitchFamily="34" charset="0"/>
                        </a:rPr>
                        <a:t>etc</a:t>
                      </a:r>
                      <a:r>
                        <a:rPr lang="en-US" sz="1600" dirty="0">
                          <a:latin typeface="Corbel" panose="020B0503020204020204" pitchFamily="34" charset="0"/>
                        </a:rPr>
                        <a:t>)  </a:t>
                      </a:r>
                      <a:endParaRPr lang="aa-ET" sz="1600" dirty="0">
                        <a:latin typeface="Corbel" panose="020B0503020204020204" pitchFamily="34" charset="0"/>
                      </a:endParaRPr>
                    </a:p>
                  </a:txBody>
                  <a:tcPr anchor="ctr"/>
                </a:tc>
                <a:tc>
                  <a:txBody>
                    <a:bodyPr/>
                    <a:lstStyle/>
                    <a:p>
                      <a:pPr algn="l"/>
                      <a:r>
                        <a:rPr lang="en-US" sz="1600" dirty="0">
                          <a:latin typeface="Corbel" panose="020B0503020204020204" pitchFamily="34" charset="0"/>
                        </a:rPr>
                        <a:t>Celebrities, HNWs, Beauty enthusiasts, Beauticians , influencers</a:t>
                      </a:r>
                      <a:endParaRPr lang="aa-ET" sz="1600" dirty="0">
                        <a:latin typeface="Corbel" panose="020B0503020204020204" pitchFamily="34" charset="0"/>
                      </a:endParaRPr>
                    </a:p>
                  </a:txBody>
                  <a:tcPr anchor="ctr"/>
                </a:tc>
                <a:extLst>
                  <a:ext uri="{0D108BD9-81ED-4DB2-BD59-A6C34878D82A}">
                    <a16:rowId xmlns:a16="http://schemas.microsoft.com/office/drawing/2014/main" val="2222975282"/>
                  </a:ext>
                </a:extLst>
              </a:tr>
              <a:tr h="856577">
                <a:tc>
                  <a:txBody>
                    <a:bodyPr/>
                    <a:lstStyle/>
                    <a:p>
                      <a:pPr algn="l"/>
                      <a:r>
                        <a:rPr lang="en-US" sz="1600" dirty="0">
                          <a:latin typeface="Corbel" panose="020B0503020204020204" pitchFamily="34" charset="0"/>
                        </a:rPr>
                        <a:t>IV Micronutrient therapy for Weight loss e.g. </a:t>
                      </a:r>
                      <a:r>
                        <a:rPr lang="en-US" sz="1600" dirty="0" err="1">
                          <a:latin typeface="Corbel" panose="020B0503020204020204" pitchFamily="34" charset="0"/>
                        </a:rPr>
                        <a:t>Slimboosts</a:t>
                      </a:r>
                      <a:r>
                        <a:rPr lang="en-US" sz="1600" dirty="0">
                          <a:latin typeface="Corbel" panose="020B0503020204020204" pitchFamily="34" charset="0"/>
                        </a:rPr>
                        <a:t> 10 sessions to loose 8 to 10kg. L Carnitine, MIC &amp; </a:t>
                      </a:r>
                      <a:r>
                        <a:rPr lang="en-US" sz="1600" dirty="0" err="1">
                          <a:latin typeface="Corbel" panose="020B0503020204020204" pitchFamily="34" charset="0"/>
                        </a:rPr>
                        <a:t>Cynanocobalamin</a:t>
                      </a:r>
                      <a:r>
                        <a:rPr lang="en-US" sz="1600" dirty="0">
                          <a:latin typeface="Corbel" panose="020B0503020204020204" pitchFamily="34" charset="0"/>
                        </a:rPr>
                        <a:t> (Vit B12) , Pre-Detox </a:t>
                      </a:r>
                      <a:endParaRPr lang="aa-ET" sz="1600" dirty="0">
                        <a:latin typeface="Corbel" panose="020B05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Celebrities, HNWs, Beauty enthusiasts, Beauticians . influencers</a:t>
                      </a:r>
                      <a:endParaRPr lang="aa-ET" sz="16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aa-ET" sz="1600" dirty="0">
                        <a:latin typeface="Corbel" panose="020B0503020204020204" pitchFamily="34" charset="0"/>
                      </a:endParaRPr>
                    </a:p>
                  </a:txBody>
                  <a:tcPr anchor="ctr"/>
                </a:tc>
                <a:extLst>
                  <a:ext uri="{0D108BD9-81ED-4DB2-BD59-A6C34878D82A}">
                    <a16:rowId xmlns:a16="http://schemas.microsoft.com/office/drawing/2014/main" val="1417343489"/>
                  </a:ext>
                </a:extLst>
              </a:tr>
              <a:tr h="856577">
                <a:tc>
                  <a:txBody>
                    <a:bodyPr/>
                    <a:lstStyle/>
                    <a:p>
                      <a:pPr algn="l"/>
                      <a:r>
                        <a:rPr lang="en-US" sz="1600" dirty="0">
                          <a:latin typeface="Corbel" panose="020B0503020204020204" pitchFamily="34" charset="0"/>
                        </a:rPr>
                        <a:t>Diet Meal plans, Weight loss pharmacological interventions </a:t>
                      </a:r>
                      <a:r>
                        <a:rPr lang="en-US" sz="1600" dirty="0" err="1">
                          <a:latin typeface="Corbel" panose="020B0503020204020204" pitchFamily="34" charset="0"/>
                        </a:rPr>
                        <a:t>eg</a:t>
                      </a:r>
                      <a:r>
                        <a:rPr lang="en-US" sz="1600" dirty="0">
                          <a:latin typeface="Corbel" panose="020B0503020204020204" pitchFamily="34" charset="0"/>
                        </a:rPr>
                        <a:t> </a:t>
                      </a:r>
                      <a:r>
                        <a:rPr lang="en-US" sz="1600" dirty="0" err="1">
                          <a:latin typeface="Corbel" panose="020B0503020204020204" pitchFamily="34" charset="0"/>
                        </a:rPr>
                        <a:t>Mounjaro</a:t>
                      </a:r>
                      <a:endParaRPr lang="en-US" sz="1600" dirty="0">
                        <a:latin typeface="Corbel" panose="020B05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Chronic illness patients, Obese patients, Dieticians, Hospitals, Beauticians, Celebrities, HNWs, Beauty enthusiasts, Beauticians </a:t>
                      </a:r>
                      <a:endParaRPr lang="aa-ET" sz="1600" dirty="0">
                        <a:latin typeface="Corbel" panose="020B0503020204020204" pitchFamily="34" charset="0"/>
                      </a:endParaRPr>
                    </a:p>
                    <a:p>
                      <a:pPr algn="l"/>
                      <a:endParaRPr lang="aa-ET" sz="1600" dirty="0">
                        <a:latin typeface="Corbel" panose="020B0503020204020204" pitchFamily="34" charset="0"/>
                      </a:endParaRPr>
                    </a:p>
                  </a:txBody>
                  <a:tcPr anchor="ctr"/>
                </a:tc>
                <a:extLst>
                  <a:ext uri="{0D108BD9-81ED-4DB2-BD59-A6C34878D82A}">
                    <a16:rowId xmlns:a16="http://schemas.microsoft.com/office/drawing/2014/main" val="1056027693"/>
                  </a:ext>
                </a:extLst>
              </a:tr>
              <a:tr h="856577">
                <a:tc>
                  <a:txBody>
                    <a:bodyPr/>
                    <a:lstStyle/>
                    <a:p>
                      <a:pPr algn="l"/>
                      <a:r>
                        <a:rPr lang="en-US" sz="1600" dirty="0">
                          <a:latin typeface="Corbel" panose="020B0503020204020204" pitchFamily="34" charset="0"/>
                        </a:rPr>
                        <a:t>Non-invasive liposuction services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orbel" panose="020B0503020204020204" pitchFamily="34" charset="0"/>
                        </a:rPr>
                        <a:t>Celebrities, HNWs, Beauty enthusiasts, Beauticians . influencers</a:t>
                      </a:r>
                      <a:endParaRPr lang="aa-ET" sz="1600" dirty="0">
                        <a:latin typeface="Corbel" panose="020B0503020204020204" pitchFamily="34" charset="0"/>
                      </a:endParaRPr>
                    </a:p>
                    <a:p>
                      <a:pPr algn="l"/>
                      <a:endParaRPr lang="aa-ET" sz="1600" dirty="0">
                        <a:latin typeface="Corbel" panose="020B0503020204020204" pitchFamily="34" charset="0"/>
                      </a:endParaRPr>
                    </a:p>
                  </a:txBody>
                  <a:tcPr anchor="ctr"/>
                </a:tc>
                <a:extLst>
                  <a:ext uri="{0D108BD9-81ED-4DB2-BD59-A6C34878D82A}">
                    <a16:rowId xmlns:a16="http://schemas.microsoft.com/office/drawing/2014/main" val="10005"/>
                  </a:ext>
                </a:extLst>
              </a:tr>
            </a:tbl>
          </a:graphicData>
        </a:graphic>
      </p:graphicFrame>
      <p:sp>
        <p:nvSpPr>
          <p:cNvPr id="4" name="Slide Number Placeholder 3">
            <a:extLst>
              <a:ext uri="{FF2B5EF4-FFF2-40B4-BE49-F238E27FC236}">
                <a16:creationId xmlns:a16="http://schemas.microsoft.com/office/drawing/2014/main" id="{0C7C3906-3B6C-FAF5-4E79-A460C372297F}"/>
              </a:ext>
            </a:extLst>
          </p:cNvPr>
          <p:cNvSpPr>
            <a:spLocks noGrp="1"/>
          </p:cNvSpPr>
          <p:nvPr>
            <p:ph type="sldNum" sz="quarter" idx="12"/>
          </p:nvPr>
        </p:nvSpPr>
        <p:spPr/>
        <p:txBody>
          <a:bodyPr/>
          <a:lstStyle/>
          <a:p>
            <a:fld id="{88DB5A6F-883B-4080-A811-FB5B8D05AFA3}" type="slidenum">
              <a:rPr lang="en-GB" smtClean="0"/>
              <a:pPr/>
              <a:t>21</a:t>
            </a:fld>
            <a:endParaRPr lang="en-GB"/>
          </a:p>
        </p:txBody>
      </p:sp>
    </p:spTree>
    <p:extLst>
      <p:ext uri="{BB962C8B-B14F-4D97-AF65-F5344CB8AC3E}">
        <p14:creationId xmlns:p14="http://schemas.microsoft.com/office/powerpoint/2010/main" val="56922298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12AC-0BAE-77A1-ACAD-A0A7AF591FCD}"/>
              </a:ext>
            </a:extLst>
          </p:cNvPr>
          <p:cNvSpPr>
            <a:spLocks noGrp="1"/>
          </p:cNvSpPr>
          <p:nvPr>
            <p:ph type="title"/>
          </p:nvPr>
        </p:nvSpPr>
        <p:spPr>
          <a:xfrm>
            <a:off x="756431" y="109121"/>
            <a:ext cx="10104784" cy="568939"/>
          </a:xfrm>
        </p:spPr>
        <p:txBody>
          <a:bodyPr/>
          <a:lstStyle/>
          <a:p>
            <a:r>
              <a:rPr lang="en-US" dirty="0"/>
              <a:t>Five Forces Analysis : MEDFIT </a:t>
            </a:r>
            <a:endParaRPr lang="aa-ET" dirty="0"/>
          </a:p>
        </p:txBody>
      </p:sp>
      <p:sp>
        <p:nvSpPr>
          <p:cNvPr id="4" name="Slide Number Placeholder 3">
            <a:extLst>
              <a:ext uri="{FF2B5EF4-FFF2-40B4-BE49-F238E27FC236}">
                <a16:creationId xmlns:a16="http://schemas.microsoft.com/office/drawing/2014/main" id="{D93718C8-8A93-9CC0-F927-9BAF7A1C48BA}"/>
              </a:ext>
            </a:extLst>
          </p:cNvPr>
          <p:cNvSpPr>
            <a:spLocks noGrp="1"/>
          </p:cNvSpPr>
          <p:nvPr>
            <p:ph type="sldNum" sz="quarter" idx="12"/>
          </p:nvPr>
        </p:nvSpPr>
        <p:spPr/>
        <p:txBody>
          <a:bodyPr/>
          <a:lstStyle/>
          <a:p>
            <a:fld id="{88DB5A6F-883B-4080-A811-FB5B8D05AFA3}" type="slidenum">
              <a:rPr lang="en-GB" smtClean="0"/>
              <a:pPr/>
              <a:t>22</a:t>
            </a:fld>
            <a:endParaRPr lang="en-GB"/>
          </a:p>
        </p:txBody>
      </p:sp>
      <p:grpSp>
        <p:nvGrpSpPr>
          <p:cNvPr id="51" name="Group 50">
            <a:extLst>
              <a:ext uri="{FF2B5EF4-FFF2-40B4-BE49-F238E27FC236}">
                <a16:creationId xmlns:a16="http://schemas.microsoft.com/office/drawing/2014/main" id="{F637EF9B-8601-3D75-BCE5-07D21F1EFC43}"/>
              </a:ext>
            </a:extLst>
          </p:cNvPr>
          <p:cNvGrpSpPr/>
          <p:nvPr/>
        </p:nvGrpSpPr>
        <p:grpSpPr>
          <a:xfrm>
            <a:off x="356258" y="836370"/>
            <a:ext cx="11529392" cy="5519979"/>
            <a:chOff x="1182701" y="2317980"/>
            <a:chExt cx="10638685" cy="6147568"/>
          </a:xfrm>
        </p:grpSpPr>
        <p:sp>
          <p:nvSpPr>
            <p:cNvPr id="53" name="Rounded Rectangle">
              <a:extLst>
                <a:ext uri="{FF2B5EF4-FFF2-40B4-BE49-F238E27FC236}">
                  <a16:creationId xmlns:a16="http://schemas.microsoft.com/office/drawing/2014/main" id="{99DA1830-6529-17B1-375F-059EF6524FD8}"/>
                </a:ext>
              </a:extLst>
            </p:cNvPr>
            <p:cNvSpPr/>
            <p:nvPr/>
          </p:nvSpPr>
          <p:spPr>
            <a:xfrm>
              <a:off x="1182701" y="3394671"/>
              <a:ext cx="2050097" cy="5070877"/>
            </a:xfrm>
            <a:prstGeom prst="roundRect">
              <a:avLst>
                <a:gd name="adj" fmla="val 5220"/>
              </a:avLst>
            </a:prstGeom>
            <a:solidFill>
              <a:schemeClr val="accent2"/>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4" name="New Entry">
              <a:extLst>
                <a:ext uri="{FF2B5EF4-FFF2-40B4-BE49-F238E27FC236}">
                  <a16:creationId xmlns:a16="http://schemas.microsoft.com/office/drawing/2014/main" id="{F4C31876-B62D-CA44-15C9-1AD0FEC3D4FA}"/>
                </a:ext>
              </a:extLst>
            </p:cNvPr>
            <p:cNvSpPr txBox="1"/>
            <p:nvPr/>
          </p:nvSpPr>
          <p:spPr>
            <a:xfrm>
              <a:off x="1574985" y="4144998"/>
              <a:ext cx="1265529"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New Entry</a:t>
              </a:r>
            </a:p>
          </p:txBody>
        </p:sp>
        <p:sp>
          <p:nvSpPr>
            <p:cNvPr id="55" name="Lorem ipsum dolor sit amet, consectetur adipiscing elit, sed do eiusmod tempor incididunt ut labore">
              <a:extLst>
                <a:ext uri="{FF2B5EF4-FFF2-40B4-BE49-F238E27FC236}">
                  <a16:creationId xmlns:a16="http://schemas.microsoft.com/office/drawing/2014/main" id="{6CF994BC-10DA-DB5D-91F7-74746BEA3111}"/>
                </a:ext>
              </a:extLst>
            </p:cNvPr>
            <p:cNvSpPr txBox="1"/>
            <p:nvPr/>
          </p:nvSpPr>
          <p:spPr>
            <a:xfrm>
              <a:off x="1222168" y="4551174"/>
              <a:ext cx="1951004" cy="31801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Three major factors cause the barrier of entry:</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a:p>
              <a:pPr marL="342900" marR="0" lvl="0" indent="-342900" defTabSz="325120" eaLnBrk="1" fontAlgn="auto" latinLnBrk="0" hangingPunct="0">
                <a:lnSpc>
                  <a:spcPct val="100000"/>
                </a:lnSpc>
                <a:spcBef>
                  <a:spcPts val="0"/>
                </a:spcBef>
                <a:spcAft>
                  <a:spcPts val="0"/>
                </a:spcAft>
                <a:buClrTx/>
                <a:buSzTx/>
                <a:buFontTx/>
                <a:buAutoNum type="arabicPeriod"/>
                <a:tabLst/>
                <a:defRPr/>
              </a:pPr>
              <a:r>
                <a:rPr lang="en-US" sz="1300" b="1" kern="0" dirty="0">
                  <a:solidFill>
                    <a:schemeClr val="tx1"/>
                  </a:solidFill>
                  <a:latin typeface="Corbel" panose="020B0503020204020204" pitchFamily="34" charset="0"/>
                </a:rPr>
                <a:t>Policies and regulations from both the government and the health regulatory agencies</a:t>
              </a: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a:t>
              </a:r>
            </a:p>
            <a:p>
              <a:pPr marL="342900" marR="0" lvl="0" indent="-342900" defTabSz="325120" eaLnBrk="1" fontAlgn="auto" latinLnBrk="0" hangingPunct="0">
                <a:lnSpc>
                  <a:spcPct val="100000"/>
                </a:lnSpc>
                <a:spcBef>
                  <a:spcPts val="0"/>
                </a:spcBef>
                <a:spcAft>
                  <a:spcPts val="0"/>
                </a:spcAft>
                <a:buClrTx/>
                <a:buSzTx/>
                <a:buFontTx/>
                <a:buAutoNum type="arabicPeriod"/>
                <a:tabLst/>
                <a:defRPr/>
              </a:pPr>
              <a:r>
                <a:rPr lang="en-US" sz="1300" b="1" kern="0" dirty="0">
                  <a:solidFill>
                    <a:schemeClr val="tx1"/>
                  </a:solidFill>
                  <a:latin typeface="Corbel" panose="020B0503020204020204" pitchFamily="34" charset="0"/>
                </a:rPr>
                <a:t>The high cost of establishing the new clinic.</a:t>
              </a:r>
            </a:p>
            <a:p>
              <a:pPr marL="342900" marR="0" lvl="0" indent="-342900" defTabSz="325120" eaLnBrk="1" fontAlgn="auto" latinLnBrk="0" hangingPunct="0">
                <a:lnSpc>
                  <a:spcPct val="100000"/>
                </a:lnSpc>
                <a:spcBef>
                  <a:spcPts val="0"/>
                </a:spcBef>
                <a:spcAft>
                  <a:spcPts val="0"/>
                </a:spcAft>
                <a:buClrTx/>
                <a:buSzTx/>
                <a:buFontTx/>
                <a:buAutoNum type="arabicPeriod"/>
                <a:tabLst/>
                <a:defRPr/>
              </a:pPr>
              <a:r>
                <a:rPr lang="en-US" sz="1300" b="1" kern="0" dirty="0">
                  <a:solidFill>
                    <a:schemeClr val="tx1"/>
                  </a:solidFill>
                  <a:latin typeface="Corbel" panose="020B0503020204020204" pitchFamily="34" charset="0"/>
                </a:rPr>
                <a:t>Absence of economies of scale of the existing industry players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6" name="Rounded Rectangle">
              <a:extLst>
                <a:ext uri="{FF2B5EF4-FFF2-40B4-BE49-F238E27FC236}">
                  <a16:creationId xmlns:a16="http://schemas.microsoft.com/office/drawing/2014/main" id="{7F6EC221-DD0D-1A9F-9D62-A618D2519E90}"/>
                </a:ext>
              </a:extLst>
            </p:cNvPr>
            <p:cNvSpPr/>
            <p:nvPr/>
          </p:nvSpPr>
          <p:spPr>
            <a:xfrm>
              <a:off x="3329848" y="3394671"/>
              <a:ext cx="2050097" cy="5070877"/>
            </a:xfrm>
            <a:prstGeom prst="roundRect">
              <a:avLst>
                <a:gd name="adj" fmla="val 5220"/>
              </a:avLst>
            </a:prstGeom>
            <a:solidFill>
              <a:srgbClr val="00B05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7" name="Substitution">
              <a:extLst>
                <a:ext uri="{FF2B5EF4-FFF2-40B4-BE49-F238E27FC236}">
                  <a16:creationId xmlns:a16="http://schemas.microsoft.com/office/drawing/2014/main" id="{E51182B8-F125-795C-6300-AEBAC3AFF10F}"/>
                </a:ext>
              </a:extLst>
            </p:cNvPr>
            <p:cNvSpPr txBox="1"/>
            <p:nvPr/>
          </p:nvSpPr>
          <p:spPr>
            <a:xfrm>
              <a:off x="3539889" y="4149967"/>
              <a:ext cx="1700334"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Substitution</a:t>
              </a:r>
            </a:p>
          </p:txBody>
        </p:sp>
        <p:sp>
          <p:nvSpPr>
            <p:cNvPr id="58"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3378006" y="4540369"/>
              <a:ext cx="1979671" cy="22889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products exist and are in demand to the degree to which customers are aware of them.</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Substitute Products to Medical Fitness Assessment is Laboratory testing and Doctor Consultation used to Medical Fitness</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9" name="Rounded Rectangle">
              <a:extLst>
                <a:ext uri="{FF2B5EF4-FFF2-40B4-BE49-F238E27FC236}">
                  <a16:creationId xmlns:a16="http://schemas.microsoft.com/office/drawing/2014/main" id="{B37E9B60-4A44-587E-51F2-195B100CE2A9}"/>
                </a:ext>
              </a:extLst>
            </p:cNvPr>
            <p:cNvSpPr/>
            <p:nvPr/>
          </p:nvSpPr>
          <p:spPr>
            <a:xfrm>
              <a:off x="5476994" y="3394671"/>
              <a:ext cx="2050097" cy="5070877"/>
            </a:xfrm>
            <a:prstGeom prst="roundRect">
              <a:avLst>
                <a:gd name="adj" fmla="val 5220"/>
              </a:avLst>
            </a:prstGeom>
            <a:solidFill>
              <a:srgbClr val="FF000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0" name="Supplier">
              <a:extLst>
                <a:ext uri="{FF2B5EF4-FFF2-40B4-BE49-F238E27FC236}">
                  <a16:creationId xmlns:a16="http://schemas.microsoft.com/office/drawing/2014/main" id="{4C9C476D-7564-A4E3-0CC4-A8063BE3A7A8}"/>
                </a:ext>
              </a:extLst>
            </p:cNvPr>
            <p:cNvSpPr txBox="1"/>
            <p:nvPr/>
          </p:nvSpPr>
          <p:spPr>
            <a:xfrm>
              <a:off x="5869279" y="4138331"/>
              <a:ext cx="1265530"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FEFFFE"/>
                  </a:solidFill>
                  <a:effectLst/>
                  <a:uLnTx/>
                  <a:uFillTx/>
                  <a:latin typeface="Corbel" panose="020B0503020204020204" pitchFamily="34" charset="0"/>
                  <a:sym typeface="DM Sans Medium"/>
                </a:rPr>
                <a:t>Supplier</a:t>
              </a:r>
            </a:p>
          </p:txBody>
        </p:sp>
        <p:sp>
          <p:nvSpPr>
            <p:cNvPr id="61" name="Lorem ipsum dolor sit amet, consectetur adipiscing elit, sed do eiusmod tempor incididunt ut labore">
              <a:extLst>
                <a:ext uri="{FF2B5EF4-FFF2-40B4-BE49-F238E27FC236}">
                  <a16:creationId xmlns:a16="http://schemas.microsoft.com/office/drawing/2014/main" id="{1C02A085-9B2B-7502-44B1-32F56795B685}"/>
                </a:ext>
              </a:extLst>
            </p:cNvPr>
            <p:cNvSpPr txBox="1"/>
            <p:nvPr/>
          </p:nvSpPr>
          <p:spPr>
            <a:xfrm>
              <a:off x="5635776" y="4551174"/>
              <a:ext cx="1686481" cy="17062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Suppliers’ power is high due to the current high Dollar to Naira exchange rate.</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This will impact on the cost of our products and services </a:t>
              </a: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2" name="Rounded Rectangle">
              <a:extLst>
                <a:ext uri="{FF2B5EF4-FFF2-40B4-BE49-F238E27FC236}">
                  <a16:creationId xmlns:a16="http://schemas.microsoft.com/office/drawing/2014/main" id="{4252DCB7-B0FC-5B1A-91A8-E7493E3271FD}"/>
                </a:ext>
              </a:extLst>
            </p:cNvPr>
            <p:cNvSpPr/>
            <p:nvPr/>
          </p:nvSpPr>
          <p:spPr>
            <a:xfrm>
              <a:off x="7624141" y="3394672"/>
              <a:ext cx="2050097" cy="5070876"/>
            </a:xfrm>
            <a:prstGeom prst="roundRect">
              <a:avLst>
                <a:gd name="adj" fmla="val 5220"/>
              </a:avLst>
            </a:prstGeom>
            <a:solidFill>
              <a:schemeClr val="accent4">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3" name="Buyer">
              <a:extLst>
                <a:ext uri="{FF2B5EF4-FFF2-40B4-BE49-F238E27FC236}">
                  <a16:creationId xmlns:a16="http://schemas.microsoft.com/office/drawing/2014/main" id="{F327F29B-48B6-247B-55FC-173361A3AAAF}"/>
                </a:ext>
              </a:extLst>
            </p:cNvPr>
            <p:cNvSpPr txBox="1"/>
            <p:nvPr/>
          </p:nvSpPr>
          <p:spPr>
            <a:xfrm>
              <a:off x="8048381" y="4082447"/>
              <a:ext cx="1265529" cy="3516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Buyer</a:t>
              </a:r>
            </a:p>
          </p:txBody>
        </p:sp>
        <p:sp>
          <p:nvSpPr>
            <p:cNvPr id="64"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7837905" y="4558535"/>
              <a:ext cx="1686480" cy="252887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Buyers are more sophisticated</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and need demand higher quality of service. They are also more </a:t>
              </a:r>
              <a:r>
                <a:rPr lang="en-US" sz="1200" b="1" kern="0" dirty="0">
                  <a:solidFill>
                    <a:schemeClr val="tx1"/>
                  </a:solidFill>
                  <a:latin typeface="Corbel" panose="020B0503020204020204" pitchFamily="34" charset="0"/>
                </a:rPr>
                <a:t>willing to  pay premium prices for excellent services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Providing High Quality services at premium prices will generate better revenue </a:t>
              </a: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5" name="Rounded Rectangle">
              <a:extLst>
                <a:ext uri="{FF2B5EF4-FFF2-40B4-BE49-F238E27FC236}">
                  <a16:creationId xmlns:a16="http://schemas.microsoft.com/office/drawing/2014/main" id="{B24BB561-ED09-A5B8-CEC9-BC8ECBD46888}"/>
                </a:ext>
              </a:extLst>
            </p:cNvPr>
            <p:cNvSpPr/>
            <p:nvPr/>
          </p:nvSpPr>
          <p:spPr>
            <a:xfrm>
              <a:off x="9771289" y="3394672"/>
              <a:ext cx="2050097" cy="5070876"/>
            </a:xfrm>
            <a:prstGeom prst="roundRect">
              <a:avLst>
                <a:gd name="adj" fmla="val 5220"/>
              </a:avLst>
            </a:prstGeom>
            <a:solidFill>
              <a:schemeClr val="accent5">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6" name="Competitive Rivalry">
              <a:extLst>
                <a:ext uri="{FF2B5EF4-FFF2-40B4-BE49-F238E27FC236}">
                  <a16:creationId xmlns:a16="http://schemas.microsoft.com/office/drawing/2014/main" id="{6C710A2A-C663-1C08-CA9D-7F6C798AF672}"/>
                </a:ext>
              </a:extLst>
            </p:cNvPr>
            <p:cNvSpPr txBox="1"/>
            <p:nvPr/>
          </p:nvSpPr>
          <p:spPr>
            <a:xfrm>
              <a:off x="9959869" y="4133334"/>
              <a:ext cx="1686481"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Competitive Rivalry</a:t>
              </a:r>
            </a:p>
          </p:txBody>
        </p:sp>
        <p:sp>
          <p:nvSpPr>
            <p:cNvPr id="67" name="Lorem ipsum dolor sit amet, consectetur adipiscing elit, sed do eiusmod tempor incididunt ut labore">
              <a:extLst>
                <a:ext uri="{FF2B5EF4-FFF2-40B4-BE49-F238E27FC236}">
                  <a16:creationId xmlns:a16="http://schemas.microsoft.com/office/drawing/2014/main" id="{ECDA6428-5302-76DA-63DF-901B5BD05513}"/>
                </a:ext>
              </a:extLst>
            </p:cNvPr>
            <p:cNvSpPr txBox="1"/>
            <p:nvPr/>
          </p:nvSpPr>
          <p:spPr>
            <a:xfrm>
              <a:off x="9844699" y="4802167"/>
              <a:ext cx="1916818" cy="27345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After the success </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a:t>
              </a:r>
              <a:r>
                <a:rPr lang="en-US" sz="1300" b="1" kern="0" dirty="0">
                  <a:solidFill>
                    <a:schemeClr val="tx1"/>
                  </a:solidFill>
                  <a:latin typeface="Corbel" panose="020B0503020204020204" pitchFamily="34" charset="0"/>
                </a:rPr>
                <a:t>with </a:t>
              </a:r>
              <a:r>
                <a:rPr lang="en-US" sz="1300" b="1" kern="0" dirty="0" err="1">
                  <a:solidFill>
                    <a:schemeClr val="tx1"/>
                  </a:solidFill>
                  <a:latin typeface="Corbel" panose="020B0503020204020204" pitchFamily="34" charset="0"/>
                </a:rPr>
                <a:t>Covid</a:t>
              </a:r>
              <a:r>
                <a:rPr lang="en-US" sz="1300" b="1" kern="0" dirty="0">
                  <a:solidFill>
                    <a:schemeClr val="tx1"/>
                  </a:solidFill>
                  <a:latin typeface="Corbel" panose="020B0503020204020204" pitchFamily="34" charset="0"/>
                </a:rPr>
                <a:t> testing , </a:t>
              </a:r>
              <a:r>
                <a:rPr lang="en-US" sz="1300" b="1" kern="0" dirty="0" err="1">
                  <a:solidFill>
                    <a:schemeClr val="tx1"/>
                  </a:solidFill>
                  <a:latin typeface="Corbel" panose="020B0503020204020204" pitchFamily="34" charset="0"/>
                </a:rPr>
                <a:t>Medbury</a:t>
              </a:r>
              <a:r>
                <a:rPr lang="en-US" sz="1300" b="1" kern="0" dirty="0">
                  <a:solidFill>
                    <a:schemeClr val="tx1"/>
                  </a:solidFill>
                  <a:latin typeface="Corbel" panose="020B0503020204020204" pitchFamily="34" charset="0"/>
                </a:rPr>
                <a:t> has attracted a lot of rivalry.</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The rivalry is driven</a:t>
              </a: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 by price competition, advertising battles</a:t>
              </a:r>
              <a:r>
                <a:rPr lang="en-US" sz="1300" b="1" kern="0" dirty="0">
                  <a:solidFill>
                    <a:schemeClr val="tx1"/>
                  </a:solidFill>
                  <a:latin typeface="Corbel" panose="020B0503020204020204" pitchFamily="34" charset="0"/>
                </a:rPr>
                <a:t>.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err="1">
                  <a:solidFill>
                    <a:schemeClr val="tx1"/>
                  </a:solidFill>
                  <a:latin typeface="Corbel" panose="020B0503020204020204" pitchFamily="34" charset="0"/>
                </a:rPr>
                <a:t>Medbury</a:t>
              </a:r>
              <a:r>
                <a:rPr lang="en-US" sz="1300" b="1" kern="0" dirty="0">
                  <a:solidFill>
                    <a:schemeClr val="tx1"/>
                  </a:solidFill>
                  <a:latin typeface="Corbel" panose="020B0503020204020204" pitchFamily="34" charset="0"/>
                </a:rPr>
                <a:t> need to focus on excellent KAM to retain market share and grow client base.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8" name="Shape">
              <a:extLst>
                <a:ext uri="{FF2B5EF4-FFF2-40B4-BE49-F238E27FC236}">
                  <a16:creationId xmlns:a16="http://schemas.microsoft.com/office/drawing/2014/main" id="{99CB78E1-FE90-4A54-CAA7-CFFE6709F798}"/>
                </a:ext>
              </a:extLst>
            </p:cNvPr>
            <p:cNvSpPr/>
            <p:nvPr/>
          </p:nvSpPr>
          <p:spPr>
            <a:xfrm>
              <a:off x="8464219" y="3513418"/>
              <a:ext cx="552148" cy="514226"/>
            </a:xfrm>
            <a:custGeom>
              <a:avLst/>
              <a:gdLst/>
              <a:ahLst/>
              <a:cxnLst>
                <a:cxn ang="0">
                  <a:pos x="wd2" y="hd2"/>
                </a:cxn>
                <a:cxn ang="5400000">
                  <a:pos x="wd2" y="hd2"/>
                </a:cxn>
                <a:cxn ang="10800000">
                  <a:pos x="wd2" y="hd2"/>
                </a:cxn>
                <a:cxn ang="16200000">
                  <a:pos x="wd2" y="hd2"/>
                </a:cxn>
              </a:cxnLst>
              <a:rect l="0" t="0" r="r" b="b"/>
              <a:pathLst>
                <a:path w="21600" h="21570" extrusionOk="0">
                  <a:moveTo>
                    <a:pt x="10835" y="0"/>
                  </a:moveTo>
                  <a:cubicBezTo>
                    <a:pt x="10498" y="0"/>
                    <a:pt x="10225" y="292"/>
                    <a:pt x="10225" y="653"/>
                  </a:cubicBezTo>
                  <a:lnTo>
                    <a:pt x="10225" y="2711"/>
                  </a:lnTo>
                  <a:cubicBezTo>
                    <a:pt x="10225" y="3072"/>
                    <a:pt x="10498" y="3365"/>
                    <a:pt x="10835" y="3365"/>
                  </a:cubicBezTo>
                  <a:cubicBezTo>
                    <a:pt x="11171" y="3365"/>
                    <a:pt x="11444" y="3072"/>
                    <a:pt x="11444" y="2711"/>
                  </a:cubicBezTo>
                  <a:lnTo>
                    <a:pt x="11444" y="653"/>
                  </a:lnTo>
                  <a:cubicBezTo>
                    <a:pt x="11444" y="292"/>
                    <a:pt x="11171" y="0"/>
                    <a:pt x="10835" y="0"/>
                  </a:cubicBezTo>
                  <a:close/>
                  <a:moveTo>
                    <a:pt x="15869" y="2711"/>
                  </a:moveTo>
                  <a:cubicBezTo>
                    <a:pt x="15713" y="2711"/>
                    <a:pt x="15557" y="2775"/>
                    <a:pt x="15438" y="2902"/>
                  </a:cubicBezTo>
                  <a:lnTo>
                    <a:pt x="14157" y="4276"/>
                  </a:lnTo>
                  <a:cubicBezTo>
                    <a:pt x="13919" y="4531"/>
                    <a:pt x="13919" y="4945"/>
                    <a:pt x="14157" y="5200"/>
                  </a:cubicBezTo>
                  <a:cubicBezTo>
                    <a:pt x="14395" y="5455"/>
                    <a:pt x="14781" y="5455"/>
                    <a:pt x="15019" y="5200"/>
                  </a:cubicBezTo>
                  <a:lnTo>
                    <a:pt x="16300" y="3826"/>
                  </a:lnTo>
                  <a:cubicBezTo>
                    <a:pt x="16538" y="3570"/>
                    <a:pt x="16538" y="3158"/>
                    <a:pt x="16300" y="2902"/>
                  </a:cubicBezTo>
                  <a:cubicBezTo>
                    <a:pt x="16181" y="2775"/>
                    <a:pt x="16024" y="2711"/>
                    <a:pt x="15869" y="2711"/>
                  </a:cubicBezTo>
                  <a:close/>
                  <a:moveTo>
                    <a:pt x="5750" y="2778"/>
                  </a:moveTo>
                  <a:cubicBezTo>
                    <a:pt x="5594" y="2778"/>
                    <a:pt x="5438" y="2842"/>
                    <a:pt x="5319" y="2970"/>
                  </a:cubicBezTo>
                  <a:cubicBezTo>
                    <a:pt x="5081" y="3225"/>
                    <a:pt x="5081" y="3638"/>
                    <a:pt x="5319" y="3893"/>
                  </a:cubicBezTo>
                  <a:lnTo>
                    <a:pt x="6600" y="5267"/>
                  </a:lnTo>
                  <a:cubicBezTo>
                    <a:pt x="6838" y="5523"/>
                    <a:pt x="7223" y="5523"/>
                    <a:pt x="7461" y="5267"/>
                  </a:cubicBezTo>
                  <a:cubicBezTo>
                    <a:pt x="7699" y="5012"/>
                    <a:pt x="7699" y="4598"/>
                    <a:pt x="7461" y="4343"/>
                  </a:cubicBezTo>
                  <a:lnTo>
                    <a:pt x="6180" y="2970"/>
                  </a:lnTo>
                  <a:cubicBezTo>
                    <a:pt x="6061" y="2842"/>
                    <a:pt x="5906" y="2778"/>
                    <a:pt x="5750" y="2778"/>
                  </a:cubicBezTo>
                  <a:close/>
                  <a:moveTo>
                    <a:pt x="7845" y="6794"/>
                  </a:moveTo>
                  <a:cubicBezTo>
                    <a:pt x="7471" y="6799"/>
                    <a:pt x="7107" y="6917"/>
                    <a:pt x="6793" y="7134"/>
                  </a:cubicBezTo>
                  <a:cubicBezTo>
                    <a:pt x="6520" y="7322"/>
                    <a:pt x="6295" y="7579"/>
                    <a:pt x="6136" y="7883"/>
                  </a:cubicBezTo>
                  <a:lnTo>
                    <a:pt x="5520" y="9164"/>
                  </a:lnTo>
                  <a:cubicBezTo>
                    <a:pt x="5451" y="9272"/>
                    <a:pt x="5360" y="9362"/>
                    <a:pt x="5255" y="9427"/>
                  </a:cubicBezTo>
                  <a:cubicBezTo>
                    <a:pt x="5133" y="9503"/>
                    <a:pt x="4996" y="9544"/>
                    <a:pt x="4855" y="9546"/>
                  </a:cubicBezTo>
                  <a:lnTo>
                    <a:pt x="3844" y="9546"/>
                  </a:lnTo>
                  <a:lnTo>
                    <a:pt x="3814" y="19022"/>
                  </a:lnTo>
                  <a:lnTo>
                    <a:pt x="6722" y="19022"/>
                  </a:lnTo>
                  <a:lnTo>
                    <a:pt x="8565" y="21055"/>
                  </a:lnTo>
                  <a:cubicBezTo>
                    <a:pt x="8769" y="21249"/>
                    <a:pt x="9010" y="21395"/>
                    <a:pt x="9270" y="21481"/>
                  </a:cubicBezTo>
                  <a:cubicBezTo>
                    <a:pt x="9629" y="21598"/>
                    <a:pt x="10011" y="21600"/>
                    <a:pt x="10371" y="21486"/>
                  </a:cubicBezTo>
                  <a:lnTo>
                    <a:pt x="16077" y="19530"/>
                  </a:lnTo>
                  <a:cubicBezTo>
                    <a:pt x="16210" y="19487"/>
                    <a:pt x="16333" y="19417"/>
                    <a:pt x="16442" y="19326"/>
                  </a:cubicBezTo>
                  <a:cubicBezTo>
                    <a:pt x="16527" y="19255"/>
                    <a:pt x="16601" y="19172"/>
                    <a:pt x="16664" y="19079"/>
                  </a:cubicBezTo>
                  <a:lnTo>
                    <a:pt x="12170" y="14325"/>
                  </a:lnTo>
                  <a:lnTo>
                    <a:pt x="11730" y="14325"/>
                  </a:lnTo>
                  <a:cubicBezTo>
                    <a:pt x="11355" y="15204"/>
                    <a:pt x="10698" y="15909"/>
                    <a:pt x="9878" y="16312"/>
                  </a:cubicBezTo>
                  <a:cubicBezTo>
                    <a:pt x="8999" y="16745"/>
                    <a:pt x="7998" y="16800"/>
                    <a:pt x="7082" y="16465"/>
                  </a:cubicBezTo>
                  <a:lnTo>
                    <a:pt x="6167" y="16096"/>
                  </a:lnTo>
                  <a:cubicBezTo>
                    <a:pt x="5956" y="15989"/>
                    <a:pt x="5808" y="15778"/>
                    <a:pt x="5770" y="15531"/>
                  </a:cubicBezTo>
                  <a:cubicBezTo>
                    <a:pt x="5743" y="15349"/>
                    <a:pt x="5780" y="15162"/>
                    <a:pt x="5872" y="15007"/>
                  </a:cubicBezTo>
                  <a:lnTo>
                    <a:pt x="8176" y="10163"/>
                  </a:lnTo>
                  <a:cubicBezTo>
                    <a:pt x="8397" y="9732"/>
                    <a:pt x="8734" y="9381"/>
                    <a:pt x="9142" y="9156"/>
                  </a:cubicBezTo>
                  <a:cubicBezTo>
                    <a:pt x="9437" y="8994"/>
                    <a:pt x="9761" y="8903"/>
                    <a:pt x="10092" y="8888"/>
                  </a:cubicBezTo>
                  <a:lnTo>
                    <a:pt x="13081" y="8888"/>
                  </a:lnTo>
                  <a:cubicBezTo>
                    <a:pt x="13322" y="8472"/>
                    <a:pt x="13661" y="7410"/>
                    <a:pt x="13026" y="6962"/>
                  </a:cubicBezTo>
                  <a:cubicBezTo>
                    <a:pt x="12869" y="6852"/>
                    <a:pt x="12685" y="6793"/>
                    <a:pt x="12498" y="6794"/>
                  </a:cubicBezTo>
                  <a:lnTo>
                    <a:pt x="7845" y="6794"/>
                  </a:lnTo>
                  <a:close/>
                  <a:moveTo>
                    <a:pt x="1008" y="9498"/>
                  </a:moveTo>
                  <a:cubicBezTo>
                    <a:pt x="718" y="9498"/>
                    <a:pt x="572" y="9499"/>
                    <a:pt x="417" y="9551"/>
                  </a:cubicBezTo>
                  <a:cubicBezTo>
                    <a:pt x="246" y="9618"/>
                    <a:pt x="112" y="9762"/>
                    <a:pt x="50" y="9945"/>
                  </a:cubicBezTo>
                  <a:cubicBezTo>
                    <a:pt x="1" y="10112"/>
                    <a:pt x="0" y="10269"/>
                    <a:pt x="0" y="10579"/>
                  </a:cubicBezTo>
                  <a:lnTo>
                    <a:pt x="0" y="17922"/>
                  </a:lnTo>
                  <a:cubicBezTo>
                    <a:pt x="0" y="18237"/>
                    <a:pt x="1" y="18394"/>
                    <a:pt x="50" y="18561"/>
                  </a:cubicBezTo>
                  <a:cubicBezTo>
                    <a:pt x="112" y="18744"/>
                    <a:pt x="246" y="18888"/>
                    <a:pt x="417" y="18955"/>
                  </a:cubicBezTo>
                  <a:cubicBezTo>
                    <a:pt x="573" y="19008"/>
                    <a:pt x="719" y="19007"/>
                    <a:pt x="1008" y="19007"/>
                  </a:cubicBezTo>
                  <a:lnTo>
                    <a:pt x="2519" y="19007"/>
                  </a:lnTo>
                  <a:lnTo>
                    <a:pt x="2519" y="9498"/>
                  </a:lnTo>
                  <a:lnTo>
                    <a:pt x="1012" y="9498"/>
                  </a:lnTo>
                  <a:lnTo>
                    <a:pt x="1008" y="9498"/>
                  </a:lnTo>
                  <a:close/>
                  <a:moveTo>
                    <a:pt x="19026" y="9521"/>
                  </a:moveTo>
                  <a:lnTo>
                    <a:pt x="19026" y="19029"/>
                  </a:lnTo>
                  <a:lnTo>
                    <a:pt x="20589" y="19029"/>
                  </a:lnTo>
                  <a:cubicBezTo>
                    <a:pt x="20882" y="19029"/>
                    <a:pt x="21028" y="19030"/>
                    <a:pt x="21184" y="18977"/>
                  </a:cubicBezTo>
                  <a:cubicBezTo>
                    <a:pt x="21354" y="18910"/>
                    <a:pt x="21489" y="18766"/>
                    <a:pt x="21551" y="18583"/>
                  </a:cubicBezTo>
                  <a:cubicBezTo>
                    <a:pt x="21600" y="18416"/>
                    <a:pt x="21600" y="18259"/>
                    <a:pt x="21600" y="17949"/>
                  </a:cubicBezTo>
                  <a:lnTo>
                    <a:pt x="21600" y="10605"/>
                  </a:lnTo>
                  <a:cubicBezTo>
                    <a:pt x="21600" y="10291"/>
                    <a:pt x="21600" y="10134"/>
                    <a:pt x="21551" y="9967"/>
                  </a:cubicBezTo>
                  <a:cubicBezTo>
                    <a:pt x="21489" y="9784"/>
                    <a:pt x="21354" y="9640"/>
                    <a:pt x="21184" y="9574"/>
                  </a:cubicBezTo>
                  <a:cubicBezTo>
                    <a:pt x="21028" y="9521"/>
                    <a:pt x="20881" y="9521"/>
                    <a:pt x="20592" y="9521"/>
                  </a:cubicBezTo>
                  <a:lnTo>
                    <a:pt x="19026" y="9521"/>
                  </a:lnTo>
                  <a:close/>
                  <a:moveTo>
                    <a:pt x="10221" y="10214"/>
                  </a:moveTo>
                  <a:cubicBezTo>
                    <a:pt x="10027" y="10227"/>
                    <a:pt x="9839" y="10291"/>
                    <a:pt x="9673" y="10398"/>
                  </a:cubicBezTo>
                  <a:cubicBezTo>
                    <a:pt x="9482" y="10521"/>
                    <a:pt x="9327" y="10699"/>
                    <a:pt x="9224" y="10911"/>
                  </a:cubicBezTo>
                  <a:lnTo>
                    <a:pt x="7288" y="15038"/>
                  </a:lnTo>
                  <a:cubicBezTo>
                    <a:pt x="7791" y="15310"/>
                    <a:pt x="8368" y="15380"/>
                    <a:pt x="8914" y="15234"/>
                  </a:cubicBezTo>
                  <a:cubicBezTo>
                    <a:pt x="9494" y="15080"/>
                    <a:pt x="9998" y="14695"/>
                    <a:pt x="10323" y="14157"/>
                  </a:cubicBezTo>
                  <a:lnTo>
                    <a:pt x="10972" y="12900"/>
                  </a:lnTo>
                  <a:lnTo>
                    <a:pt x="12168" y="12894"/>
                  </a:lnTo>
                  <a:cubicBezTo>
                    <a:pt x="12346" y="12901"/>
                    <a:pt x="12521" y="12942"/>
                    <a:pt x="12684" y="13015"/>
                  </a:cubicBezTo>
                  <a:cubicBezTo>
                    <a:pt x="12838" y="13085"/>
                    <a:pt x="12980" y="13182"/>
                    <a:pt x="13104" y="13302"/>
                  </a:cubicBezTo>
                  <a:lnTo>
                    <a:pt x="17781" y="18390"/>
                  </a:lnTo>
                  <a:lnTo>
                    <a:pt x="17787" y="10214"/>
                  </a:lnTo>
                  <a:lnTo>
                    <a:pt x="10221" y="1021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9" name="Shape">
              <a:extLst>
                <a:ext uri="{FF2B5EF4-FFF2-40B4-BE49-F238E27FC236}">
                  <a16:creationId xmlns:a16="http://schemas.microsoft.com/office/drawing/2014/main" id="{1311A6DB-A00D-C757-546F-7E19B2D11BED}"/>
                </a:ext>
              </a:extLst>
            </p:cNvPr>
            <p:cNvSpPr/>
            <p:nvPr/>
          </p:nvSpPr>
          <p:spPr>
            <a:xfrm>
              <a:off x="10552403" y="3632097"/>
              <a:ext cx="487864" cy="487789"/>
            </a:xfrm>
            <a:custGeom>
              <a:avLst/>
              <a:gdLst/>
              <a:ahLst/>
              <a:cxnLst>
                <a:cxn ang="0">
                  <a:pos x="wd2" y="hd2"/>
                </a:cxn>
                <a:cxn ang="5400000">
                  <a:pos x="wd2" y="hd2"/>
                </a:cxn>
                <a:cxn ang="10800000">
                  <a:pos x="wd2" y="hd2"/>
                </a:cxn>
                <a:cxn ang="16200000">
                  <a:pos x="wd2" y="hd2"/>
                </a:cxn>
              </a:cxnLst>
              <a:rect l="0" t="0" r="r" b="b"/>
              <a:pathLst>
                <a:path w="21508" h="21457" extrusionOk="0">
                  <a:moveTo>
                    <a:pt x="8861" y="0"/>
                  </a:moveTo>
                  <a:cubicBezTo>
                    <a:pt x="8468" y="0"/>
                    <a:pt x="8072" y="0"/>
                    <a:pt x="7714" y="83"/>
                  </a:cubicBezTo>
                  <a:cubicBezTo>
                    <a:pt x="7074" y="246"/>
                    <a:pt x="6574" y="744"/>
                    <a:pt x="6410" y="1382"/>
                  </a:cubicBezTo>
                  <a:cubicBezTo>
                    <a:pt x="6328" y="1740"/>
                    <a:pt x="6328" y="2135"/>
                    <a:pt x="6328" y="2528"/>
                  </a:cubicBezTo>
                  <a:cubicBezTo>
                    <a:pt x="6328" y="2921"/>
                    <a:pt x="6328" y="3316"/>
                    <a:pt x="6410" y="3674"/>
                  </a:cubicBezTo>
                  <a:cubicBezTo>
                    <a:pt x="6574" y="4312"/>
                    <a:pt x="7074" y="4810"/>
                    <a:pt x="7714" y="4973"/>
                  </a:cubicBezTo>
                  <a:cubicBezTo>
                    <a:pt x="8072" y="5056"/>
                    <a:pt x="8468" y="5056"/>
                    <a:pt x="8861" y="5056"/>
                  </a:cubicBezTo>
                  <a:lnTo>
                    <a:pt x="10423" y="5056"/>
                  </a:lnTo>
                  <a:lnTo>
                    <a:pt x="12864" y="7359"/>
                  </a:lnTo>
                  <a:cubicBezTo>
                    <a:pt x="13044" y="7535"/>
                    <a:pt x="13310" y="7590"/>
                    <a:pt x="13545" y="7500"/>
                  </a:cubicBezTo>
                  <a:cubicBezTo>
                    <a:pt x="13798" y="7403"/>
                    <a:pt x="13964" y="7159"/>
                    <a:pt x="13961" y="6888"/>
                  </a:cubicBezTo>
                  <a:lnTo>
                    <a:pt x="13967" y="4924"/>
                  </a:lnTo>
                  <a:cubicBezTo>
                    <a:pt x="14533" y="4725"/>
                    <a:pt x="14970" y="4260"/>
                    <a:pt x="15121" y="3674"/>
                  </a:cubicBezTo>
                  <a:cubicBezTo>
                    <a:pt x="15204" y="3316"/>
                    <a:pt x="15203" y="2921"/>
                    <a:pt x="15203" y="2528"/>
                  </a:cubicBezTo>
                  <a:cubicBezTo>
                    <a:pt x="15203" y="2135"/>
                    <a:pt x="15204" y="1740"/>
                    <a:pt x="15121" y="1382"/>
                  </a:cubicBezTo>
                  <a:cubicBezTo>
                    <a:pt x="14957" y="744"/>
                    <a:pt x="14457" y="246"/>
                    <a:pt x="13817" y="83"/>
                  </a:cubicBezTo>
                  <a:cubicBezTo>
                    <a:pt x="13459" y="0"/>
                    <a:pt x="13064" y="0"/>
                    <a:pt x="12670" y="0"/>
                  </a:cubicBezTo>
                  <a:lnTo>
                    <a:pt x="8861" y="0"/>
                  </a:lnTo>
                  <a:close/>
                  <a:moveTo>
                    <a:pt x="3798" y="3201"/>
                  </a:moveTo>
                  <a:cubicBezTo>
                    <a:pt x="3312" y="3201"/>
                    <a:pt x="2826" y="3386"/>
                    <a:pt x="2456" y="3755"/>
                  </a:cubicBezTo>
                  <a:cubicBezTo>
                    <a:pt x="1715" y="4494"/>
                    <a:pt x="1715" y="5693"/>
                    <a:pt x="2456" y="6432"/>
                  </a:cubicBezTo>
                  <a:cubicBezTo>
                    <a:pt x="3197" y="7172"/>
                    <a:pt x="4398" y="7172"/>
                    <a:pt x="5139" y="6432"/>
                  </a:cubicBezTo>
                  <a:cubicBezTo>
                    <a:pt x="5880" y="5693"/>
                    <a:pt x="5880" y="4494"/>
                    <a:pt x="5139" y="3755"/>
                  </a:cubicBezTo>
                  <a:cubicBezTo>
                    <a:pt x="4769" y="3386"/>
                    <a:pt x="4283" y="3201"/>
                    <a:pt x="3798" y="3201"/>
                  </a:cubicBezTo>
                  <a:close/>
                  <a:moveTo>
                    <a:pt x="17710" y="3201"/>
                  </a:moveTo>
                  <a:cubicBezTo>
                    <a:pt x="17225" y="3201"/>
                    <a:pt x="16739" y="3386"/>
                    <a:pt x="16369" y="3755"/>
                  </a:cubicBezTo>
                  <a:cubicBezTo>
                    <a:pt x="15628" y="4494"/>
                    <a:pt x="15628" y="5693"/>
                    <a:pt x="16369" y="6432"/>
                  </a:cubicBezTo>
                  <a:cubicBezTo>
                    <a:pt x="17110" y="7172"/>
                    <a:pt x="18311" y="7172"/>
                    <a:pt x="19052" y="6432"/>
                  </a:cubicBezTo>
                  <a:cubicBezTo>
                    <a:pt x="19793" y="5693"/>
                    <a:pt x="19793" y="4494"/>
                    <a:pt x="19052" y="3755"/>
                  </a:cubicBezTo>
                  <a:cubicBezTo>
                    <a:pt x="18681" y="3386"/>
                    <a:pt x="18196" y="3201"/>
                    <a:pt x="17710" y="3201"/>
                  </a:cubicBezTo>
                  <a:close/>
                  <a:moveTo>
                    <a:pt x="2578" y="7598"/>
                  </a:moveTo>
                  <a:cubicBezTo>
                    <a:pt x="2512" y="7594"/>
                    <a:pt x="2447" y="7596"/>
                    <a:pt x="2380" y="7603"/>
                  </a:cubicBezTo>
                  <a:cubicBezTo>
                    <a:pt x="1875" y="7655"/>
                    <a:pt x="1450" y="8004"/>
                    <a:pt x="1302" y="8488"/>
                  </a:cubicBezTo>
                  <a:lnTo>
                    <a:pt x="56" y="14249"/>
                  </a:lnTo>
                  <a:cubicBezTo>
                    <a:pt x="-35" y="14616"/>
                    <a:pt x="53" y="15004"/>
                    <a:pt x="294" y="15296"/>
                  </a:cubicBezTo>
                  <a:cubicBezTo>
                    <a:pt x="525" y="15576"/>
                    <a:pt x="871" y="15736"/>
                    <a:pt x="1234" y="15731"/>
                  </a:cubicBezTo>
                  <a:lnTo>
                    <a:pt x="1280" y="15731"/>
                  </a:lnTo>
                  <a:lnTo>
                    <a:pt x="24" y="20706"/>
                  </a:lnTo>
                  <a:cubicBezTo>
                    <a:pt x="-46" y="20940"/>
                    <a:pt x="40" y="21193"/>
                    <a:pt x="238" y="21337"/>
                  </a:cubicBezTo>
                  <a:cubicBezTo>
                    <a:pt x="603" y="21600"/>
                    <a:pt x="1119" y="21412"/>
                    <a:pt x="1228" y="20976"/>
                  </a:cubicBezTo>
                  <a:lnTo>
                    <a:pt x="1739" y="18941"/>
                  </a:lnTo>
                  <a:lnTo>
                    <a:pt x="7077" y="18941"/>
                  </a:lnTo>
                  <a:lnTo>
                    <a:pt x="7673" y="20692"/>
                  </a:lnTo>
                  <a:cubicBezTo>
                    <a:pt x="7931" y="21284"/>
                    <a:pt x="8596" y="21585"/>
                    <a:pt x="9212" y="21388"/>
                  </a:cubicBezTo>
                  <a:cubicBezTo>
                    <a:pt x="9851" y="21183"/>
                    <a:pt x="10219" y="20515"/>
                    <a:pt x="10049" y="19867"/>
                  </a:cubicBezTo>
                  <a:lnTo>
                    <a:pt x="8096" y="14045"/>
                  </a:lnTo>
                  <a:cubicBezTo>
                    <a:pt x="8019" y="13815"/>
                    <a:pt x="7874" y="13613"/>
                    <a:pt x="7680" y="13468"/>
                  </a:cubicBezTo>
                  <a:cubicBezTo>
                    <a:pt x="7475" y="13313"/>
                    <a:pt x="7225" y="13229"/>
                    <a:pt x="6968" y="13228"/>
                  </a:cubicBezTo>
                  <a:lnTo>
                    <a:pt x="5595" y="13228"/>
                  </a:lnTo>
                  <a:cubicBezTo>
                    <a:pt x="5279" y="13199"/>
                    <a:pt x="5033" y="12941"/>
                    <a:pt x="5021" y="12625"/>
                  </a:cubicBezTo>
                  <a:cubicBezTo>
                    <a:pt x="5008" y="12289"/>
                    <a:pt x="5260" y="12002"/>
                    <a:pt x="5595" y="11970"/>
                  </a:cubicBezTo>
                  <a:lnTo>
                    <a:pt x="7507" y="11970"/>
                  </a:lnTo>
                  <a:cubicBezTo>
                    <a:pt x="8212" y="12000"/>
                    <a:pt x="8804" y="11445"/>
                    <a:pt x="8817" y="10741"/>
                  </a:cubicBezTo>
                  <a:cubicBezTo>
                    <a:pt x="8831" y="10017"/>
                    <a:pt x="8232" y="9431"/>
                    <a:pt x="7507" y="9458"/>
                  </a:cubicBezTo>
                  <a:lnTo>
                    <a:pt x="4076" y="9458"/>
                  </a:lnTo>
                  <a:lnTo>
                    <a:pt x="3655" y="8314"/>
                  </a:lnTo>
                  <a:cubicBezTo>
                    <a:pt x="3452" y="7893"/>
                    <a:pt x="3035" y="7622"/>
                    <a:pt x="2578" y="7598"/>
                  </a:cubicBezTo>
                  <a:close/>
                  <a:moveTo>
                    <a:pt x="18930" y="7598"/>
                  </a:moveTo>
                  <a:cubicBezTo>
                    <a:pt x="18473" y="7622"/>
                    <a:pt x="18056" y="7893"/>
                    <a:pt x="17853" y="8314"/>
                  </a:cubicBezTo>
                  <a:lnTo>
                    <a:pt x="17432" y="9458"/>
                  </a:lnTo>
                  <a:lnTo>
                    <a:pt x="14001" y="9458"/>
                  </a:lnTo>
                  <a:cubicBezTo>
                    <a:pt x="13276" y="9431"/>
                    <a:pt x="12677" y="10017"/>
                    <a:pt x="12691" y="10741"/>
                  </a:cubicBezTo>
                  <a:cubicBezTo>
                    <a:pt x="12704" y="11445"/>
                    <a:pt x="13296" y="12000"/>
                    <a:pt x="14001" y="11970"/>
                  </a:cubicBezTo>
                  <a:lnTo>
                    <a:pt x="15913" y="11970"/>
                  </a:lnTo>
                  <a:cubicBezTo>
                    <a:pt x="16248" y="12002"/>
                    <a:pt x="16500" y="12289"/>
                    <a:pt x="16487" y="12625"/>
                  </a:cubicBezTo>
                  <a:cubicBezTo>
                    <a:pt x="16475" y="12941"/>
                    <a:pt x="16229" y="13199"/>
                    <a:pt x="15913" y="13228"/>
                  </a:cubicBezTo>
                  <a:lnTo>
                    <a:pt x="14540" y="13228"/>
                  </a:lnTo>
                  <a:cubicBezTo>
                    <a:pt x="14283" y="13229"/>
                    <a:pt x="14033" y="13313"/>
                    <a:pt x="13828" y="13468"/>
                  </a:cubicBezTo>
                  <a:cubicBezTo>
                    <a:pt x="13634" y="13613"/>
                    <a:pt x="13489" y="13815"/>
                    <a:pt x="13412" y="14045"/>
                  </a:cubicBezTo>
                  <a:lnTo>
                    <a:pt x="11459" y="19867"/>
                  </a:lnTo>
                  <a:cubicBezTo>
                    <a:pt x="11289" y="20515"/>
                    <a:pt x="11657" y="21183"/>
                    <a:pt x="12296" y="21388"/>
                  </a:cubicBezTo>
                  <a:cubicBezTo>
                    <a:pt x="12912" y="21585"/>
                    <a:pt x="13577" y="21284"/>
                    <a:pt x="13835" y="20692"/>
                  </a:cubicBezTo>
                  <a:lnTo>
                    <a:pt x="14431" y="18941"/>
                  </a:lnTo>
                  <a:lnTo>
                    <a:pt x="19769" y="18941"/>
                  </a:lnTo>
                  <a:lnTo>
                    <a:pt x="20280" y="20976"/>
                  </a:lnTo>
                  <a:cubicBezTo>
                    <a:pt x="20389" y="21412"/>
                    <a:pt x="20905" y="21600"/>
                    <a:pt x="21270" y="21337"/>
                  </a:cubicBezTo>
                  <a:cubicBezTo>
                    <a:pt x="21468" y="21193"/>
                    <a:pt x="21554" y="20940"/>
                    <a:pt x="21484" y="20706"/>
                  </a:cubicBezTo>
                  <a:lnTo>
                    <a:pt x="20228" y="15731"/>
                  </a:lnTo>
                  <a:lnTo>
                    <a:pt x="20274" y="15731"/>
                  </a:lnTo>
                  <a:cubicBezTo>
                    <a:pt x="20637" y="15736"/>
                    <a:pt x="20983" y="15576"/>
                    <a:pt x="21214" y="15296"/>
                  </a:cubicBezTo>
                  <a:cubicBezTo>
                    <a:pt x="21455" y="15004"/>
                    <a:pt x="21543" y="14616"/>
                    <a:pt x="21452" y="14249"/>
                  </a:cubicBezTo>
                  <a:lnTo>
                    <a:pt x="20206" y="8488"/>
                  </a:lnTo>
                  <a:cubicBezTo>
                    <a:pt x="20058" y="8004"/>
                    <a:pt x="19633" y="7655"/>
                    <a:pt x="19128" y="7603"/>
                  </a:cubicBezTo>
                  <a:cubicBezTo>
                    <a:pt x="19061" y="7596"/>
                    <a:pt x="18996" y="7594"/>
                    <a:pt x="18930" y="7598"/>
                  </a:cubicBezTo>
                  <a:close/>
                  <a:moveTo>
                    <a:pt x="2544" y="15731"/>
                  </a:moveTo>
                  <a:lnTo>
                    <a:pt x="5985" y="15731"/>
                  </a:lnTo>
                  <a:lnTo>
                    <a:pt x="6653" y="17696"/>
                  </a:lnTo>
                  <a:lnTo>
                    <a:pt x="2051" y="17696"/>
                  </a:lnTo>
                  <a:lnTo>
                    <a:pt x="2544" y="15731"/>
                  </a:lnTo>
                  <a:close/>
                  <a:moveTo>
                    <a:pt x="15523" y="15731"/>
                  </a:moveTo>
                  <a:lnTo>
                    <a:pt x="18964" y="15731"/>
                  </a:lnTo>
                  <a:lnTo>
                    <a:pt x="19457" y="17696"/>
                  </a:lnTo>
                  <a:lnTo>
                    <a:pt x="14855" y="17696"/>
                  </a:lnTo>
                  <a:lnTo>
                    <a:pt x="15523" y="15731"/>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0" name="Shape">
              <a:extLst>
                <a:ext uri="{FF2B5EF4-FFF2-40B4-BE49-F238E27FC236}">
                  <a16:creationId xmlns:a16="http://schemas.microsoft.com/office/drawing/2014/main" id="{B05A3137-8906-587E-2C1D-EA8AC054C02D}"/>
                </a:ext>
              </a:extLst>
            </p:cNvPr>
            <p:cNvSpPr/>
            <p:nvPr/>
          </p:nvSpPr>
          <p:spPr>
            <a:xfrm>
              <a:off x="1933579" y="3584887"/>
              <a:ext cx="561887" cy="560110"/>
            </a:xfrm>
            <a:custGeom>
              <a:avLst/>
              <a:gdLst/>
              <a:ahLst/>
              <a:cxnLst>
                <a:cxn ang="0">
                  <a:pos x="wd2" y="hd2"/>
                </a:cxn>
                <a:cxn ang="5400000">
                  <a:pos x="wd2" y="hd2"/>
                </a:cxn>
                <a:cxn ang="10800000">
                  <a:pos x="wd2" y="hd2"/>
                </a:cxn>
                <a:cxn ang="16200000">
                  <a:pos x="wd2" y="hd2"/>
                </a:cxn>
              </a:cxnLst>
              <a:rect l="0" t="0" r="r" b="b"/>
              <a:pathLst>
                <a:path w="21583" h="21600" extrusionOk="0">
                  <a:moveTo>
                    <a:pt x="15250" y="0"/>
                  </a:moveTo>
                  <a:cubicBezTo>
                    <a:pt x="14566" y="0"/>
                    <a:pt x="14010" y="677"/>
                    <a:pt x="14010" y="1512"/>
                  </a:cubicBezTo>
                  <a:lnTo>
                    <a:pt x="14010" y="16988"/>
                  </a:lnTo>
                  <a:cubicBezTo>
                    <a:pt x="14010" y="17824"/>
                    <a:pt x="14566" y="18501"/>
                    <a:pt x="15250" y="18501"/>
                  </a:cubicBezTo>
                  <a:cubicBezTo>
                    <a:pt x="15934" y="18501"/>
                    <a:pt x="16489" y="17824"/>
                    <a:pt x="16489" y="16988"/>
                  </a:cubicBezTo>
                  <a:lnTo>
                    <a:pt x="16489" y="1512"/>
                  </a:lnTo>
                  <a:cubicBezTo>
                    <a:pt x="16489" y="677"/>
                    <a:pt x="15934" y="0"/>
                    <a:pt x="15250" y="0"/>
                  </a:cubicBezTo>
                  <a:close/>
                  <a:moveTo>
                    <a:pt x="12700" y="2003"/>
                  </a:moveTo>
                  <a:cubicBezTo>
                    <a:pt x="12247" y="2644"/>
                    <a:pt x="11708" y="3186"/>
                    <a:pt x="11105" y="3604"/>
                  </a:cubicBezTo>
                  <a:cubicBezTo>
                    <a:pt x="10421" y="4079"/>
                    <a:pt x="9669" y="4386"/>
                    <a:pt x="8889" y="4510"/>
                  </a:cubicBezTo>
                  <a:lnTo>
                    <a:pt x="8889" y="13916"/>
                  </a:lnTo>
                  <a:cubicBezTo>
                    <a:pt x="9656" y="14057"/>
                    <a:pt x="10395" y="14376"/>
                    <a:pt x="11065" y="14853"/>
                  </a:cubicBezTo>
                  <a:cubicBezTo>
                    <a:pt x="11688" y="15298"/>
                    <a:pt x="12241" y="15872"/>
                    <a:pt x="12700" y="16552"/>
                  </a:cubicBezTo>
                  <a:lnTo>
                    <a:pt x="12700" y="2003"/>
                  </a:lnTo>
                  <a:close/>
                  <a:moveTo>
                    <a:pt x="4474" y="4577"/>
                  </a:moveTo>
                  <a:cubicBezTo>
                    <a:pt x="4007" y="4587"/>
                    <a:pt x="3558" y="4796"/>
                    <a:pt x="3203" y="5166"/>
                  </a:cubicBezTo>
                  <a:cubicBezTo>
                    <a:pt x="2953" y="5427"/>
                    <a:pt x="2760" y="5760"/>
                    <a:pt x="2641" y="6135"/>
                  </a:cubicBezTo>
                  <a:cubicBezTo>
                    <a:pt x="1191" y="6055"/>
                    <a:pt x="-17" y="7479"/>
                    <a:pt x="0" y="9251"/>
                  </a:cubicBezTo>
                  <a:cubicBezTo>
                    <a:pt x="17" y="10993"/>
                    <a:pt x="1215" y="12371"/>
                    <a:pt x="2641" y="12287"/>
                  </a:cubicBezTo>
                  <a:cubicBezTo>
                    <a:pt x="2775" y="12669"/>
                    <a:pt x="2981" y="13007"/>
                    <a:pt x="3243" y="13274"/>
                  </a:cubicBezTo>
                  <a:cubicBezTo>
                    <a:pt x="3591" y="13629"/>
                    <a:pt x="4022" y="13842"/>
                    <a:pt x="4475" y="13883"/>
                  </a:cubicBezTo>
                  <a:lnTo>
                    <a:pt x="7624" y="13883"/>
                  </a:lnTo>
                  <a:lnTo>
                    <a:pt x="7611" y="4581"/>
                  </a:lnTo>
                  <a:lnTo>
                    <a:pt x="4474" y="4577"/>
                  </a:lnTo>
                  <a:close/>
                  <a:moveTo>
                    <a:pt x="19616" y="4598"/>
                  </a:moveTo>
                  <a:cubicBezTo>
                    <a:pt x="19453" y="4598"/>
                    <a:pt x="19291" y="4674"/>
                    <a:pt x="19166" y="4826"/>
                  </a:cubicBezTo>
                  <a:lnTo>
                    <a:pt x="17911" y="6357"/>
                  </a:lnTo>
                  <a:cubicBezTo>
                    <a:pt x="17662" y="6661"/>
                    <a:pt x="17662" y="7153"/>
                    <a:pt x="17911" y="7457"/>
                  </a:cubicBezTo>
                  <a:cubicBezTo>
                    <a:pt x="18160" y="7761"/>
                    <a:pt x="18563" y="7761"/>
                    <a:pt x="18812" y="7457"/>
                  </a:cubicBezTo>
                  <a:lnTo>
                    <a:pt x="20068" y="5926"/>
                  </a:lnTo>
                  <a:cubicBezTo>
                    <a:pt x="20316" y="5622"/>
                    <a:pt x="20316" y="5130"/>
                    <a:pt x="20068" y="4826"/>
                  </a:cubicBezTo>
                  <a:cubicBezTo>
                    <a:pt x="19943" y="4674"/>
                    <a:pt x="19780" y="4598"/>
                    <a:pt x="19616" y="4598"/>
                  </a:cubicBezTo>
                  <a:close/>
                  <a:moveTo>
                    <a:pt x="18990" y="9204"/>
                  </a:moveTo>
                  <a:cubicBezTo>
                    <a:pt x="18638" y="9204"/>
                    <a:pt x="18353" y="9552"/>
                    <a:pt x="18353" y="9982"/>
                  </a:cubicBezTo>
                  <a:cubicBezTo>
                    <a:pt x="18353" y="10411"/>
                    <a:pt x="18638" y="10759"/>
                    <a:pt x="18990" y="10759"/>
                  </a:cubicBezTo>
                  <a:lnTo>
                    <a:pt x="20946" y="10759"/>
                  </a:lnTo>
                  <a:cubicBezTo>
                    <a:pt x="21298" y="10759"/>
                    <a:pt x="21583" y="10411"/>
                    <a:pt x="21583" y="9982"/>
                  </a:cubicBezTo>
                  <a:cubicBezTo>
                    <a:pt x="21583" y="9552"/>
                    <a:pt x="21298" y="9204"/>
                    <a:pt x="20946" y="9204"/>
                  </a:cubicBezTo>
                  <a:lnTo>
                    <a:pt x="18990" y="9204"/>
                  </a:lnTo>
                  <a:close/>
                  <a:moveTo>
                    <a:pt x="18362" y="12331"/>
                  </a:moveTo>
                  <a:cubicBezTo>
                    <a:pt x="18199" y="12331"/>
                    <a:pt x="18035" y="12408"/>
                    <a:pt x="17911" y="12560"/>
                  </a:cubicBezTo>
                  <a:cubicBezTo>
                    <a:pt x="17662" y="12863"/>
                    <a:pt x="17662" y="13356"/>
                    <a:pt x="17911" y="13660"/>
                  </a:cubicBezTo>
                  <a:lnTo>
                    <a:pt x="19166" y="15192"/>
                  </a:lnTo>
                  <a:cubicBezTo>
                    <a:pt x="19415" y="15496"/>
                    <a:pt x="19819" y="15496"/>
                    <a:pt x="20068" y="15192"/>
                  </a:cubicBezTo>
                  <a:cubicBezTo>
                    <a:pt x="20316" y="14888"/>
                    <a:pt x="20316" y="14396"/>
                    <a:pt x="20068" y="14092"/>
                  </a:cubicBezTo>
                  <a:lnTo>
                    <a:pt x="18812" y="12560"/>
                  </a:lnTo>
                  <a:cubicBezTo>
                    <a:pt x="18688" y="12408"/>
                    <a:pt x="18525" y="12331"/>
                    <a:pt x="18362" y="12331"/>
                  </a:cubicBezTo>
                  <a:close/>
                  <a:moveTo>
                    <a:pt x="3877" y="15427"/>
                  </a:moveTo>
                  <a:lnTo>
                    <a:pt x="3877" y="19341"/>
                  </a:lnTo>
                  <a:cubicBezTo>
                    <a:pt x="3877" y="20589"/>
                    <a:pt x="4705" y="21600"/>
                    <a:pt x="5728" y="21600"/>
                  </a:cubicBezTo>
                  <a:cubicBezTo>
                    <a:pt x="6751" y="21600"/>
                    <a:pt x="7580" y="20589"/>
                    <a:pt x="7580" y="19341"/>
                  </a:cubicBezTo>
                  <a:lnTo>
                    <a:pt x="7580" y="15427"/>
                  </a:lnTo>
                  <a:lnTo>
                    <a:pt x="3877" y="15427"/>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1" name="Shape">
              <a:extLst>
                <a:ext uri="{FF2B5EF4-FFF2-40B4-BE49-F238E27FC236}">
                  <a16:creationId xmlns:a16="http://schemas.microsoft.com/office/drawing/2014/main" id="{1C964634-5C70-0C79-7DC8-60DAE6725176}"/>
                </a:ext>
              </a:extLst>
            </p:cNvPr>
            <p:cNvSpPr/>
            <p:nvPr/>
          </p:nvSpPr>
          <p:spPr>
            <a:xfrm>
              <a:off x="4069272" y="3590810"/>
              <a:ext cx="555158" cy="555583"/>
            </a:xfrm>
            <a:custGeom>
              <a:avLst/>
              <a:gdLst/>
              <a:ahLst/>
              <a:cxnLst>
                <a:cxn ang="0">
                  <a:pos x="wd2" y="hd2"/>
                </a:cxn>
                <a:cxn ang="5400000">
                  <a:pos x="wd2" y="hd2"/>
                </a:cxn>
                <a:cxn ang="10800000">
                  <a:pos x="wd2" y="hd2"/>
                </a:cxn>
                <a:cxn ang="16200000">
                  <a:pos x="wd2" y="hd2"/>
                </a:cxn>
              </a:cxnLst>
              <a:rect l="0" t="0" r="r" b="b"/>
              <a:pathLst>
                <a:path w="21557" h="21511" extrusionOk="0">
                  <a:moveTo>
                    <a:pt x="10570" y="8"/>
                  </a:moveTo>
                  <a:cubicBezTo>
                    <a:pt x="10076" y="53"/>
                    <a:pt x="9620" y="287"/>
                    <a:pt x="9294" y="660"/>
                  </a:cubicBezTo>
                  <a:lnTo>
                    <a:pt x="5398" y="4530"/>
                  </a:lnTo>
                  <a:lnTo>
                    <a:pt x="7680" y="6811"/>
                  </a:lnTo>
                  <a:cubicBezTo>
                    <a:pt x="7816" y="6946"/>
                    <a:pt x="7882" y="7136"/>
                    <a:pt x="7861" y="7326"/>
                  </a:cubicBezTo>
                  <a:cubicBezTo>
                    <a:pt x="7844" y="7479"/>
                    <a:pt x="7771" y="7621"/>
                    <a:pt x="7655" y="7723"/>
                  </a:cubicBezTo>
                  <a:lnTo>
                    <a:pt x="6722" y="8596"/>
                  </a:lnTo>
                  <a:cubicBezTo>
                    <a:pt x="6434" y="8853"/>
                    <a:pt x="6444" y="9305"/>
                    <a:pt x="6741" y="9551"/>
                  </a:cubicBezTo>
                  <a:cubicBezTo>
                    <a:pt x="6967" y="9736"/>
                    <a:pt x="7293" y="9734"/>
                    <a:pt x="7517" y="9545"/>
                  </a:cubicBezTo>
                  <a:lnTo>
                    <a:pt x="8515" y="8583"/>
                  </a:lnTo>
                  <a:cubicBezTo>
                    <a:pt x="8638" y="8453"/>
                    <a:pt x="8809" y="8380"/>
                    <a:pt x="8988" y="8379"/>
                  </a:cubicBezTo>
                  <a:cubicBezTo>
                    <a:pt x="9156" y="8379"/>
                    <a:pt x="9319" y="8443"/>
                    <a:pt x="9440" y="8559"/>
                  </a:cubicBezTo>
                  <a:lnTo>
                    <a:pt x="10769" y="9879"/>
                  </a:lnTo>
                  <a:lnTo>
                    <a:pt x="11684" y="9023"/>
                  </a:lnTo>
                  <a:lnTo>
                    <a:pt x="11031" y="8337"/>
                  </a:lnTo>
                  <a:cubicBezTo>
                    <a:pt x="10468" y="7583"/>
                    <a:pt x="10548" y="6530"/>
                    <a:pt x="11219" y="5870"/>
                  </a:cubicBezTo>
                  <a:cubicBezTo>
                    <a:pt x="11890" y="5210"/>
                    <a:pt x="12947" y="5144"/>
                    <a:pt x="13695" y="5715"/>
                  </a:cubicBezTo>
                  <a:lnTo>
                    <a:pt x="14366" y="6326"/>
                  </a:lnTo>
                  <a:lnTo>
                    <a:pt x="16166" y="4556"/>
                  </a:lnTo>
                  <a:lnTo>
                    <a:pt x="12037" y="490"/>
                  </a:lnTo>
                  <a:cubicBezTo>
                    <a:pt x="11636" y="134"/>
                    <a:pt x="11105" y="-41"/>
                    <a:pt x="10570" y="8"/>
                  </a:cubicBezTo>
                  <a:close/>
                  <a:moveTo>
                    <a:pt x="17038" y="5435"/>
                  </a:moveTo>
                  <a:lnTo>
                    <a:pt x="14848" y="7675"/>
                  </a:lnTo>
                  <a:cubicBezTo>
                    <a:pt x="14687" y="7799"/>
                    <a:pt x="14483" y="7853"/>
                    <a:pt x="14282" y="7825"/>
                  </a:cubicBezTo>
                  <a:cubicBezTo>
                    <a:pt x="14113" y="7800"/>
                    <a:pt x="13956" y="7719"/>
                    <a:pt x="13840" y="7593"/>
                  </a:cubicBezTo>
                  <a:lnTo>
                    <a:pt x="12928" y="6690"/>
                  </a:lnTo>
                  <a:cubicBezTo>
                    <a:pt x="12661" y="6476"/>
                    <a:pt x="12271" y="6516"/>
                    <a:pt x="12054" y="6779"/>
                  </a:cubicBezTo>
                  <a:cubicBezTo>
                    <a:pt x="11856" y="7019"/>
                    <a:pt x="11869" y="7368"/>
                    <a:pt x="12083" y="7593"/>
                  </a:cubicBezTo>
                  <a:lnTo>
                    <a:pt x="13060" y="8559"/>
                  </a:lnTo>
                  <a:cubicBezTo>
                    <a:pt x="13158" y="8688"/>
                    <a:pt x="13209" y="8846"/>
                    <a:pt x="13203" y="9008"/>
                  </a:cubicBezTo>
                  <a:cubicBezTo>
                    <a:pt x="13198" y="9170"/>
                    <a:pt x="13137" y="9326"/>
                    <a:pt x="13029" y="9448"/>
                  </a:cubicBezTo>
                  <a:lnTo>
                    <a:pt x="11704" y="10753"/>
                  </a:lnTo>
                  <a:lnTo>
                    <a:pt x="12590" y="11632"/>
                  </a:lnTo>
                  <a:lnTo>
                    <a:pt x="13193" y="11080"/>
                  </a:lnTo>
                  <a:cubicBezTo>
                    <a:pt x="14035" y="10432"/>
                    <a:pt x="15246" y="10590"/>
                    <a:pt x="15893" y="11432"/>
                  </a:cubicBezTo>
                  <a:cubicBezTo>
                    <a:pt x="16418" y="12115"/>
                    <a:pt x="16405" y="13067"/>
                    <a:pt x="15861" y="13735"/>
                  </a:cubicBezTo>
                  <a:lnTo>
                    <a:pt x="15264" y="14350"/>
                  </a:lnTo>
                  <a:lnTo>
                    <a:pt x="17051" y="16130"/>
                  </a:lnTo>
                  <a:lnTo>
                    <a:pt x="21106" y="12043"/>
                  </a:lnTo>
                  <a:cubicBezTo>
                    <a:pt x="21422" y="11660"/>
                    <a:pt x="21581" y="11173"/>
                    <a:pt x="21555" y="10679"/>
                  </a:cubicBezTo>
                  <a:cubicBezTo>
                    <a:pt x="21530" y="10213"/>
                    <a:pt x="21341" y="9770"/>
                    <a:pt x="21022" y="9430"/>
                  </a:cubicBezTo>
                  <a:lnTo>
                    <a:pt x="17038" y="5435"/>
                  </a:lnTo>
                  <a:close/>
                  <a:moveTo>
                    <a:pt x="4507" y="5457"/>
                  </a:moveTo>
                  <a:lnTo>
                    <a:pt x="604" y="9338"/>
                  </a:lnTo>
                  <a:cubicBezTo>
                    <a:pt x="200" y="9740"/>
                    <a:pt x="-19" y="10291"/>
                    <a:pt x="1" y="10860"/>
                  </a:cubicBezTo>
                  <a:cubicBezTo>
                    <a:pt x="22" y="11445"/>
                    <a:pt x="294" y="11993"/>
                    <a:pt x="746" y="12367"/>
                  </a:cubicBezTo>
                  <a:lnTo>
                    <a:pt x="4493" y="16128"/>
                  </a:lnTo>
                  <a:lnTo>
                    <a:pt x="6778" y="13888"/>
                  </a:lnTo>
                  <a:cubicBezTo>
                    <a:pt x="6903" y="13776"/>
                    <a:pt x="7067" y="13718"/>
                    <a:pt x="7235" y="13728"/>
                  </a:cubicBezTo>
                  <a:cubicBezTo>
                    <a:pt x="7400" y="13739"/>
                    <a:pt x="7555" y="13814"/>
                    <a:pt x="7664" y="13937"/>
                  </a:cubicBezTo>
                  <a:lnTo>
                    <a:pt x="8644" y="14862"/>
                  </a:lnTo>
                  <a:cubicBezTo>
                    <a:pt x="8877" y="15063"/>
                    <a:pt x="9225" y="15053"/>
                    <a:pt x="9446" y="14838"/>
                  </a:cubicBezTo>
                  <a:cubicBezTo>
                    <a:pt x="9690" y="14600"/>
                    <a:pt x="9687" y="14206"/>
                    <a:pt x="9438" y="13972"/>
                  </a:cubicBezTo>
                  <a:lnTo>
                    <a:pt x="8554" y="13029"/>
                  </a:lnTo>
                  <a:cubicBezTo>
                    <a:pt x="8434" y="12908"/>
                    <a:pt x="8365" y="12746"/>
                    <a:pt x="8363" y="12576"/>
                  </a:cubicBezTo>
                  <a:cubicBezTo>
                    <a:pt x="8361" y="12371"/>
                    <a:pt x="8453" y="12176"/>
                    <a:pt x="8614" y="12048"/>
                  </a:cubicBezTo>
                  <a:lnTo>
                    <a:pt x="9881" y="10785"/>
                  </a:lnTo>
                  <a:lnTo>
                    <a:pt x="8997" y="9925"/>
                  </a:lnTo>
                  <a:lnTo>
                    <a:pt x="8351" y="10534"/>
                  </a:lnTo>
                  <a:cubicBezTo>
                    <a:pt x="7605" y="11094"/>
                    <a:pt x="6562" y="11037"/>
                    <a:pt x="5882" y="10400"/>
                  </a:cubicBezTo>
                  <a:cubicBezTo>
                    <a:pt x="5150" y="9714"/>
                    <a:pt x="5063" y="8584"/>
                    <a:pt x="5683" y="7796"/>
                  </a:cubicBezTo>
                  <a:lnTo>
                    <a:pt x="6272" y="7209"/>
                  </a:lnTo>
                  <a:lnTo>
                    <a:pt x="4507" y="5457"/>
                  </a:lnTo>
                  <a:close/>
                  <a:moveTo>
                    <a:pt x="10793" y="11704"/>
                  </a:moveTo>
                  <a:lnTo>
                    <a:pt x="9936" y="12532"/>
                  </a:lnTo>
                  <a:lnTo>
                    <a:pt x="10498" y="13151"/>
                  </a:lnTo>
                  <a:cubicBezTo>
                    <a:pt x="11130" y="13920"/>
                    <a:pt x="11071" y="15043"/>
                    <a:pt x="10362" y="15742"/>
                  </a:cubicBezTo>
                  <a:cubicBezTo>
                    <a:pt x="9661" y="16434"/>
                    <a:pt x="8549" y="16487"/>
                    <a:pt x="7784" y="15865"/>
                  </a:cubicBezTo>
                  <a:lnTo>
                    <a:pt x="7229" y="15319"/>
                  </a:lnTo>
                  <a:lnTo>
                    <a:pt x="5405" y="17070"/>
                  </a:lnTo>
                  <a:lnTo>
                    <a:pt x="9310" y="20919"/>
                  </a:lnTo>
                  <a:cubicBezTo>
                    <a:pt x="9649" y="21246"/>
                    <a:pt x="10089" y="21451"/>
                    <a:pt x="10558" y="21499"/>
                  </a:cubicBezTo>
                  <a:cubicBezTo>
                    <a:pt x="11139" y="21559"/>
                    <a:pt x="11719" y="21378"/>
                    <a:pt x="12162" y="20998"/>
                  </a:cubicBezTo>
                  <a:lnTo>
                    <a:pt x="16138" y="17036"/>
                  </a:lnTo>
                  <a:lnTo>
                    <a:pt x="13876" y="14785"/>
                  </a:lnTo>
                  <a:cubicBezTo>
                    <a:pt x="13778" y="14673"/>
                    <a:pt x="13723" y="14529"/>
                    <a:pt x="13723" y="14381"/>
                  </a:cubicBezTo>
                  <a:cubicBezTo>
                    <a:pt x="13722" y="14206"/>
                    <a:pt x="13795" y="14039"/>
                    <a:pt x="13923" y="13920"/>
                  </a:cubicBezTo>
                  <a:lnTo>
                    <a:pt x="14878" y="12930"/>
                  </a:lnTo>
                  <a:cubicBezTo>
                    <a:pt x="15094" y="12692"/>
                    <a:pt x="15081" y="12325"/>
                    <a:pt x="14848" y="12102"/>
                  </a:cubicBezTo>
                  <a:cubicBezTo>
                    <a:pt x="14589" y="11856"/>
                    <a:pt x="14172" y="11885"/>
                    <a:pt x="13951" y="12165"/>
                  </a:cubicBezTo>
                  <a:lnTo>
                    <a:pt x="13210" y="12894"/>
                  </a:lnTo>
                  <a:cubicBezTo>
                    <a:pt x="13058" y="13083"/>
                    <a:pt x="12829" y="13193"/>
                    <a:pt x="12586" y="13195"/>
                  </a:cubicBezTo>
                  <a:cubicBezTo>
                    <a:pt x="12377" y="13197"/>
                    <a:pt x="12176" y="13118"/>
                    <a:pt x="12025" y="12974"/>
                  </a:cubicBezTo>
                  <a:lnTo>
                    <a:pt x="10793" y="1170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2" name="Shape">
              <a:extLst>
                <a:ext uri="{FF2B5EF4-FFF2-40B4-BE49-F238E27FC236}">
                  <a16:creationId xmlns:a16="http://schemas.microsoft.com/office/drawing/2014/main" id="{BF47C4CC-A7D8-DD24-3375-2D43FF73A885}"/>
                </a:ext>
              </a:extLst>
            </p:cNvPr>
            <p:cNvSpPr/>
            <p:nvPr/>
          </p:nvSpPr>
          <p:spPr>
            <a:xfrm>
              <a:off x="6244112" y="3584886"/>
              <a:ext cx="515862" cy="500916"/>
            </a:xfrm>
            <a:custGeom>
              <a:avLst/>
              <a:gdLst/>
              <a:ahLst/>
              <a:cxnLst>
                <a:cxn ang="0">
                  <a:pos x="wd2" y="hd2"/>
                </a:cxn>
                <a:cxn ang="5400000">
                  <a:pos x="wd2" y="hd2"/>
                </a:cxn>
                <a:cxn ang="10800000">
                  <a:pos x="wd2" y="hd2"/>
                </a:cxn>
                <a:cxn ang="16200000">
                  <a:pos x="wd2" y="hd2"/>
                </a:cxn>
              </a:cxnLst>
              <a:rect l="0" t="0" r="r" b="b"/>
              <a:pathLst>
                <a:path w="21594" h="21583" extrusionOk="0">
                  <a:moveTo>
                    <a:pt x="10789" y="0"/>
                  </a:moveTo>
                  <a:cubicBezTo>
                    <a:pt x="10150" y="0"/>
                    <a:pt x="9511" y="244"/>
                    <a:pt x="9023" y="734"/>
                  </a:cubicBezTo>
                  <a:cubicBezTo>
                    <a:pt x="8047" y="1712"/>
                    <a:pt x="8047" y="3301"/>
                    <a:pt x="9023" y="4279"/>
                  </a:cubicBezTo>
                  <a:cubicBezTo>
                    <a:pt x="9999" y="5258"/>
                    <a:pt x="11581" y="5258"/>
                    <a:pt x="12557" y="4279"/>
                  </a:cubicBezTo>
                  <a:cubicBezTo>
                    <a:pt x="13533" y="3301"/>
                    <a:pt x="13533" y="1712"/>
                    <a:pt x="12557" y="734"/>
                  </a:cubicBezTo>
                  <a:cubicBezTo>
                    <a:pt x="12069" y="244"/>
                    <a:pt x="11429" y="0"/>
                    <a:pt x="10789" y="0"/>
                  </a:cubicBezTo>
                  <a:close/>
                  <a:moveTo>
                    <a:pt x="7803" y="4886"/>
                  </a:moveTo>
                  <a:cubicBezTo>
                    <a:pt x="7363" y="5315"/>
                    <a:pt x="7009" y="5823"/>
                    <a:pt x="6758" y="6385"/>
                  </a:cubicBezTo>
                  <a:cubicBezTo>
                    <a:pt x="6491" y="6983"/>
                    <a:pt x="6347" y="7630"/>
                    <a:pt x="6335" y="8285"/>
                  </a:cubicBezTo>
                  <a:lnTo>
                    <a:pt x="6335" y="9595"/>
                  </a:lnTo>
                  <a:cubicBezTo>
                    <a:pt x="6335" y="9719"/>
                    <a:pt x="6374" y="9838"/>
                    <a:pt x="6446" y="9938"/>
                  </a:cubicBezTo>
                  <a:cubicBezTo>
                    <a:pt x="6556" y="10090"/>
                    <a:pt x="6730" y="10182"/>
                    <a:pt x="6918" y="10185"/>
                  </a:cubicBezTo>
                  <a:lnTo>
                    <a:pt x="14591" y="10185"/>
                  </a:lnTo>
                  <a:cubicBezTo>
                    <a:pt x="14794" y="10204"/>
                    <a:pt x="14992" y="10119"/>
                    <a:pt x="15117" y="9958"/>
                  </a:cubicBezTo>
                  <a:cubicBezTo>
                    <a:pt x="15203" y="9847"/>
                    <a:pt x="15246" y="9709"/>
                    <a:pt x="15239" y="9569"/>
                  </a:cubicBezTo>
                  <a:lnTo>
                    <a:pt x="15239" y="8392"/>
                  </a:lnTo>
                  <a:cubicBezTo>
                    <a:pt x="15239" y="7679"/>
                    <a:pt x="15081" y="6975"/>
                    <a:pt x="14778" y="6330"/>
                  </a:cubicBezTo>
                  <a:cubicBezTo>
                    <a:pt x="14524" y="5788"/>
                    <a:pt x="14171" y="5299"/>
                    <a:pt x="13739" y="4886"/>
                  </a:cubicBezTo>
                  <a:cubicBezTo>
                    <a:pt x="13007" y="5851"/>
                    <a:pt x="11856" y="6400"/>
                    <a:pt x="10648" y="6361"/>
                  </a:cubicBezTo>
                  <a:cubicBezTo>
                    <a:pt x="9527" y="6325"/>
                    <a:pt x="8481" y="5783"/>
                    <a:pt x="7803" y="4886"/>
                  </a:cubicBezTo>
                  <a:close/>
                  <a:moveTo>
                    <a:pt x="4455" y="11396"/>
                  </a:moveTo>
                  <a:cubicBezTo>
                    <a:pt x="3815" y="11396"/>
                    <a:pt x="3176" y="11640"/>
                    <a:pt x="2688" y="12129"/>
                  </a:cubicBezTo>
                  <a:cubicBezTo>
                    <a:pt x="1713" y="13108"/>
                    <a:pt x="1713" y="14696"/>
                    <a:pt x="2688" y="15675"/>
                  </a:cubicBezTo>
                  <a:cubicBezTo>
                    <a:pt x="3664" y="16654"/>
                    <a:pt x="5246" y="16654"/>
                    <a:pt x="6222" y="15675"/>
                  </a:cubicBezTo>
                  <a:cubicBezTo>
                    <a:pt x="7198" y="14696"/>
                    <a:pt x="7198" y="13108"/>
                    <a:pt x="6222" y="12129"/>
                  </a:cubicBezTo>
                  <a:cubicBezTo>
                    <a:pt x="5734" y="11640"/>
                    <a:pt x="5094" y="11396"/>
                    <a:pt x="4455" y="11396"/>
                  </a:cubicBezTo>
                  <a:close/>
                  <a:moveTo>
                    <a:pt x="17143" y="11396"/>
                  </a:moveTo>
                  <a:cubicBezTo>
                    <a:pt x="16504" y="11396"/>
                    <a:pt x="15865" y="11640"/>
                    <a:pt x="15377" y="12129"/>
                  </a:cubicBezTo>
                  <a:cubicBezTo>
                    <a:pt x="14401" y="13108"/>
                    <a:pt x="14401" y="14696"/>
                    <a:pt x="15377" y="15675"/>
                  </a:cubicBezTo>
                  <a:cubicBezTo>
                    <a:pt x="16353" y="16654"/>
                    <a:pt x="17935" y="16654"/>
                    <a:pt x="18911" y="15675"/>
                  </a:cubicBezTo>
                  <a:cubicBezTo>
                    <a:pt x="19886" y="14696"/>
                    <a:pt x="19886" y="13108"/>
                    <a:pt x="18911" y="12129"/>
                  </a:cubicBezTo>
                  <a:cubicBezTo>
                    <a:pt x="18423" y="11640"/>
                    <a:pt x="17783" y="11396"/>
                    <a:pt x="17143" y="11396"/>
                  </a:cubicBezTo>
                  <a:close/>
                  <a:moveTo>
                    <a:pt x="11396" y="11455"/>
                  </a:moveTo>
                  <a:lnTo>
                    <a:pt x="10155" y="11466"/>
                  </a:lnTo>
                  <a:lnTo>
                    <a:pt x="10160" y="13083"/>
                  </a:lnTo>
                  <a:lnTo>
                    <a:pt x="8028" y="15209"/>
                  </a:lnTo>
                  <a:lnTo>
                    <a:pt x="8835" y="16104"/>
                  </a:lnTo>
                  <a:lnTo>
                    <a:pt x="10807" y="14204"/>
                  </a:lnTo>
                  <a:lnTo>
                    <a:pt x="12709" y="16105"/>
                  </a:lnTo>
                  <a:lnTo>
                    <a:pt x="13581" y="15208"/>
                  </a:lnTo>
                  <a:lnTo>
                    <a:pt x="11396" y="13048"/>
                  </a:lnTo>
                  <a:lnTo>
                    <a:pt x="11396" y="11455"/>
                  </a:lnTo>
                  <a:close/>
                  <a:moveTo>
                    <a:pt x="1469" y="16281"/>
                  </a:moveTo>
                  <a:cubicBezTo>
                    <a:pt x="1028" y="16710"/>
                    <a:pt x="674" y="17219"/>
                    <a:pt x="423" y="17781"/>
                  </a:cubicBezTo>
                  <a:cubicBezTo>
                    <a:pt x="156" y="18379"/>
                    <a:pt x="12" y="19025"/>
                    <a:pt x="0" y="19681"/>
                  </a:cubicBezTo>
                  <a:lnTo>
                    <a:pt x="0" y="20991"/>
                  </a:lnTo>
                  <a:cubicBezTo>
                    <a:pt x="0" y="21114"/>
                    <a:pt x="39" y="21234"/>
                    <a:pt x="111" y="21333"/>
                  </a:cubicBezTo>
                  <a:cubicBezTo>
                    <a:pt x="221" y="21486"/>
                    <a:pt x="396" y="21578"/>
                    <a:pt x="583" y="21581"/>
                  </a:cubicBezTo>
                  <a:lnTo>
                    <a:pt x="8256" y="21581"/>
                  </a:lnTo>
                  <a:cubicBezTo>
                    <a:pt x="8459" y="21600"/>
                    <a:pt x="8657" y="21514"/>
                    <a:pt x="8783" y="21354"/>
                  </a:cubicBezTo>
                  <a:cubicBezTo>
                    <a:pt x="8869" y="21243"/>
                    <a:pt x="8912" y="21105"/>
                    <a:pt x="8905" y="20965"/>
                  </a:cubicBezTo>
                  <a:lnTo>
                    <a:pt x="8905" y="19788"/>
                  </a:lnTo>
                  <a:cubicBezTo>
                    <a:pt x="8904" y="19075"/>
                    <a:pt x="8746" y="18371"/>
                    <a:pt x="8444" y="17726"/>
                  </a:cubicBezTo>
                  <a:cubicBezTo>
                    <a:pt x="8189" y="17184"/>
                    <a:pt x="7837" y="16694"/>
                    <a:pt x="7404" y="16281"/>
                  </a:cubicBezTo>
                  <a:cubicBezTo>
                    <a:pt x="6673" y="17246"/>
                    <a:pt x="5522" y="17796"/>
                    <a:pt x="4314" y="17757"/>
                  </a:cubicBezTo>
                  <a:cubicBezTo>
                    <a:pt x="3192" y="17721"/>
                    <a:pt x="2146" y="17179"/>
                    <a:pt x="1469" y="16281"/>
                  </a:cubicBezTo>
                  <a:close/>
                  <a:moveTo>
                    <a:pt x="14157" y="16281"/>
                  </a:moveTo>
                  <a:cubicBezTo>
                    <a:pt x="13717" y="16710"/>
                    <a:pt x="13363" y="17219"/>
                    <a:pt x="13112" y="17781"/>
                  </a:cubicBezTo>
                  <a:cubicBezTo>
                    <a:pt x="12845" y="18379"/>
                    <a:pt x="12700" y="19025"/>
                    <a:pt x="12688" y="19681"/>
                  </a:cubicBezTo>
                  <a:lnTo>
                    <a:pt x="12688" y="20991"/>
                  </a:lnTo>
                  <a:cubicBezTo>
                    <a:pt x="12689" y="21114"/>
                    <a:pt x="12728" y="21234"/>
                    <a:pt x="12800" y="21333"/>
                  </a:cubicBezTo>
                  <a:cubicBezTo>
                    <a:pt x="12910" y="21486"/>
                    <a:pt x="13084" y="21578"/>
                    <a:pt x="13272" y="21581"/>
                  </a:cubicBezTo>
                  <a:lnTo>
                    <a:pt x="20945" y="21581"/>
                  </a:lnTo>
                  <a:cubicBezTo>
                    <a:pt x="21147" y="21600"/>
                    <a:pt x="21346" y="21514"/>
                    <a:pt x="21471" y="21354"/>
                  </a:cubicBezTo>
                  <a:cubicBezTo>
                    <a:pt x="21557" y="21243"/>
                    <a:pt x="21600" y="21105"/>
                    <a:pt x="21593" y="20965"/>
                  </a:cubicBezTo>
                  <a:lnTo>
                    <a:pt x="21593" y="19788"/>
                  </a:lnTo>
                  <a:cubicBezTo>
                    <a:pt x="21592" y="19075"/>
                    <a:pt x="21435" y="18371"/>
                    <a:pt x="21132" y="17726"/>
                  </a:cubicBezTo>
                  <a:cubicBezTo>
                    <a:pt x="20878" y="17184"/>
                    <a:pt x="20525" y="16694"/>
                    <a:pt x="20092" y="16281"/>
                  </a:cubicBezTo>
                  <a:cubicBezTo>
                    <a:pt x="19361" y="17246"/>
                    <a:pt x="18210" y="17796"/>
                    <a:pt x="17002" y="17757"/>
                  </a:cubicBezTo>
                  <a:cubicBezTo>
                    <a:pt x="15880" y="17721"/>
                    <a:pt x="14834" y="17179"/>
                    <a:pt x="14157" y="16281"/>
                  </a:cubicBez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06CBC8BF-ED3D-1E88-CA62-B19F30148EE5}"/>
                </a:ext>
              </a:extLst>
            </p:cNvPr>
            <p:cNvSpPr txBox="1"/>
            <p:nvPr/>
          </p:nvSpPr>
          <p:spPr>
            <a:xfrm>
              <a:off x="1741120" y="2317980"/>
              <a:ext cx="9535392" cy="31566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64798C"/>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516B7E"/>
                </a:solidFill>
                <a:effectLst/>
                <a:uLnTx/>
                <a:uFillTx/>
                <a:latin typeface="Corbel" panose="020B0503020204020204" pitchFamily="34" charset="0"/>
                <a:sym typeface="DM Sans Regular"/>
              </a:endParaRPr>
            </a:p>
          </p:txBody>
        </p:sp>
      </p:grpSp>
      <p:sp>
        <p:nvSpPr>
          <p:cNvPr id="5" name="TextBox 4">
            <a:extLst>
              <a:ext uri="{FF2B5EF4-FFF2-40B4-BE49-F238E27FC236}">
                <a16:creationId xmlns:a16="http://schemas.microsoft.com/office/drawing/2014/main" id="{A6D81A5F-8E0D-2A26-881A-4D2EA90AB9CB}"/>
              </a:ext>
            </a:extLst>
          </p:cNvPr>
          <p:cNvSpPr txBox="1"/>
          <p:nvPr/>
        </p:nvSpPr>
        <p:spPr>
          <a:xfrm>
            <a:off x="756431" y="963302"/>
            <a:ext cx="10914574" cy="338554"/>
          </a:xfrm>
          <a:prstGeom prst="rect">
            <a:avLst/>
          </a:prstGeom>
          <a:noFill/>
        </p:spPr>
        <p:txBody>
          <a:bodyPr wrap="square">
            <a:spAutoFit/>
          </a:bodyPr>
          <a:lstStyle/>
          <a:p>
            <a:endParaRPr lang="aa-ET" sz="1600" dirty="0">
              <a:latin typeface="Corbel" panose="020B0503020204020204" pitchFamily="34" charset="0"/>
            </a:endParaRPr>
          </a:p>
        </p:txBody>
      </p:sp>
    </p:spTree>
    <p:extLst>
      <p:ext uri="{BB962C8B-B14F-4D97-AF65-F5344CB8AC3E}">
        <p14:creationId xmlns:p14="http://schemas.microsoft.com/office/powerpoint/2010/main" val="3254335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12AC-0BAE-77A1-ACAD-A0A7AF591FCD}"/>
              </a:ext>
            </a:extLst>
          </p:cNvPr>
          <p:cNvSpPr>
            <a:spLocks noGrp="1"/>
          </p:cNvSpPr>
          <p:nvPr>
            <p:ph type="title"/>
          </p:nvPr>
        </p:nvSpPr>
        <p:spPr>
          <a:xfrm>
            <a:off x="756431" y="70484"/>
            <a:ext cx="10104784" cy="568939"/>
          </a:xfrm>
        </p:spPr>
        <p:txBody>
          <a:bodyPr/>
          <a:lstStyle/>
          <a:p>
            <a:r>
              <a:rPr lang="en-US" dirty="0"/>
              <a:t>Five Forces Analysis : HOSPITAL/ CLINIC MGT </a:t>
            </a:r>
            <a:endParaRPr lang="aa-ET" dirty="0"/>
          </a:p>
        </p:txBody>
      </p:sp>
      <p:sp>
        <p:nvSpPr>
          <p:cNvPr id="4" name="Slide Number Placeholder 3">
            <a:extLst>
              <a:ext uri="{FF2B5EF4-FFF2-40B4-BE49-F238E27FC236}">
                <a16:creationId xmlns:a16="http://schemas.microsoft.com/office/drawing/2014/main" id="{D93718C8-8A93-9CC0-F927-9BAF7A1C48BA}"/>
              </a:ext>
            </a:extLst>
          </p:cNvPr>
          <p:cNvSpPr>
            <a:spLocks noGrp="1"/>
          </p:cNvSpPr>
          <p:nvPr>
            <p:ph type="sldNum" sz="quarter" idx="12"/>
          </p:nvPr>
        </p:nvSpPr>
        <p:spPr/>
        <p:txBody>
          <a:bodyPr/>
          <a:lstStyle/>
          <a:p>
            <a:fld id="{88DB5A6F-883B-4080-A811-FB5B8D05AFA3}" type="slidenum">
              <a:rPr lang="en-GB" smtClean="0"/>
              <a:pPr/>
              <a:t>23</a:t>
            </a:fld>
            <a:endParaRPr lang="en-GB"/>
          </a:p>
        </p:txBody>
      </p:sp>
      <p:grpSp>
        <p:nvGrpSpPr>
          <p:cNvPr id="51" name="Group 50">
            <a:extLst>
              <a:ext uri="{FF2B5EF4-FFF2-40B4-BE49-F238E27FC236}">
                <a16:creationId xmlns:a16="http://schemas.microsoft.com/office/drawing/2014/main" id="{F637EF9B-8601-3D75-BCE5-07D21F1EFC43}"/>
              </a:ext>
            </a:extLst>
          </p:cNvPr>
          <p:cNvGrpSpPr/>
          <p:nvPr/>
        </p:nvGrpSpPr>
        <p:grpSpPr>
          <a:xfrm>
            <a:off x="356258" y="836370"/>
            <a:ext cx="11536729" cy="5519979"/>
            <a:chOff x="1182701" y="2317980"/>
            <a:chExt cx="10645455" cy="6147568"/>
          </a:xfrm>
        </p:grpSpPr>
        <p:sp>
          <p:nvSpPr>
            <p:cNvPr id="53" name="Rounded Rectangle">
              <a:extLst>
                <a:ext uri="{FF2B5EF4-FFF2-40B4-BE49-F238E27FC236}">
                  <a16:creationId xmlns:a16="http://schemas.microsoft.com/office/drawing/2014/main" id="{99DA1830-6529-17B1-375F-059EF6524FD8}"/>
                </a:ext>
              </a:extLst>
            </p:cNvPr>
            <p:cNvSpPr/>
            <p:nvPr/>
          </p:nvSpPr>
          <p:spPr>
            <a:xfrm>
              <a:off x="1182701" y="3394671"/>
              <a:ext cx="2050097" cy="5070877"/>
            </a:xfrm>
            <a:prstGeom prst="roundRect">
              <a:avLst>
                <a:gd name="adj" fmla="val 5220"/>
              </a:avLst>
            </a:prstGeom>
            <a:solidFill>
              <a:schemeClr val="accent2"/>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4" name="New Entry">
              <a:extLst>
                <a:ext uri="{FF2B5EF4-FFF2-40B4-BE49-F238E27FC236}">
                  <a16:creationId xmlns:a16="http://schemas.microsoft.com/office/drawing/2014/main" id="{F4C31876-B62D-CA44-15C9-1AD0FEC3D4FA}"/>
                </a:ext>
              </a:extLst>
            </p:cNvPr>
            <p:cNvSpPr txBox="1"/>
            <p:nvPr/>
          </p:nvSpPr>
          <p:spPr>
            <a:xfrm>
              <a:off x="1574985" y="4144998"/>
              <a:ext cx="1265529"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New Entry</a:t>
              </a:r>
            </a:p>
          </p:txBody>
        </p:sp>
        <p:sp>
          <p:nvSpPr>
            <p:cNvPr id="55" name="Lorem ipsum dolor sit amet, consectetur adipiscing elit, sed do eiusmod tempor incididunt ut labore">
              <a:extLst>
                <a:ext uri="{FF2B5EF4-FFF2-40B4-BE49-F238E27FC236}">
                  <a16:creationId xmlns:a16="http://schemas.microsoft.com/office/drawing/2014/main" id="{6CF994BC-10DA-DB5D-91F7-74746BEA3111}"/>
                </a:ext>
              </a:extLst>
            </p:cNvPr>
            <p:cNvSpPr txBox="1"/>
            <p:nvPr/>
          </p:nvSpPr>
          <p:spPr>
            <a:xfrm>
              <a:off x="1295515" y="4540369"/>
              <a:ext cx="1829499" cy="376284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Three major factors cause the barrier of entry:</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R="0" lvl="0" defTabSz="325120" eaLnBrk="1" fontAlgn="auto" latinLnBrk="0" hangingPunct="0">
                <a:lnSpc>
                  <a:spcPct val="100000"/>
                </a:lnSpc>
                <a:spcBef>
                  <a:spcPts val="0"/>
                </a:spcBef>
                <a:spcAft>
                  <a:spcPts val="0"/>
                </a:spcAft>
                <a:buClrTx/>
                <a:buSzTx/>
                <a:tabLst/>
                <a:defRPr/>
              </a:pPr>
              <a:r>
                <a:rPr lang="en-US" sz="1200" b="1" kern="0" dirty="0">
                  <a:solidFill>
                    <a:schemeClr val="tx1"/>
                  </a:solidFill>
                  <a:latin typeface="Corbel" panose="020B0503020204020204" pitchFamily="34" charset="0"/>
                </a:rPr>
                <a:t>Moderate barrier of entry into Medical Staff Outsourcing. </a:t>
              </a:r>
            </a:p>
            <a:p>
              <a:pPr marR="0" lvl="0" defTabSz="325120" eaLnBrk="1" fontAlgn="auto" latinLnBrk="0" hangingPunct="0">
                <a:lnSpc>
                  <a:spcPct val="100000"/>
                </a:lnSpc>
                <a:spcBef>
                  <a:spcPts val="0"/>
                </a:spcBef>
                <a:spcAft>
                  <a:spcPts val="0"/>
                </a:spcAft>
                <a:buClrTx/>
                <a:buSzTx/>
                <a:tabLst/>
                <a:defRPr/>
              </a:pPr>
              <a:endParaRPr lang="en-US" sz="1200" b="1" kern="0" dirty="0">
                <a:solidFill>
                  <a:schemeClr val="tx1"/>
                </a:solidFill>
                <a:latin typeface="Corbel" panose="020B0503020204020204" pitchFamily="34" charset="0"/>
              </a:endParaRPr>
            </a:p>
            <a:p>
              <a:pPr marR="0" lvl="0" defTabSz="325120" eaLnBrk="1" fontAlgn="auto" latinLnBrk="0" hangingPunct="0">
                <a:lnSpc>
                  <a:spcPct val="100000"/>
                </a:lnSpc>
                <a:spcBef>
                  <a:spcPts val="0"/>
                </a:spcBef>
                <a:spcAft>
                  <a:spcPts val="0"/>
                </a:spcAft>
                <a:buClrTx/>
                <a:buSzTx/>
                <a:tabLst/>
                <a:defRPr/>
              </a:pPr>
              <a:r>
                <a:rPr lang="en-US" sz="1200" b="1" kern="0" dirty="0">
                  <a:solidFill>
                    <a:schemeClr val="tx1"/>
                  </a:solidFill>
                  <a:latin typeface="Corbel" panose="020B0503020204020204" pitchFamily="34" charset="0"/>
                </a:rPr>
                <a:t>There is not special requirement apart from registration as a healthcare facility , qualification of medical personnel  to enter market, registration will DPR and </a:t>
              </a:r>
              <a:r>
                <a:rPr lang="en-US" sz="1200" b="1" kern="0" dirty="0" err="1">
                  <a:solidFill>
                    <a:schemeClr val="tx1"/>
                  </a:solidFill>
                  <a:latin typeface="Corbel" panose="020B0503020204020204" pitchFamily="34" charset="0"/>
                </a:rPr>
                <a:t>Nipex</a:t>
              </a:r>
              <a:r>
                <a:rPr lang="en-US" sz="1200" b="1" kern="0" dirty="0">
                  <a:solidFill>
                    <a:schemeClr val="tx1"/>
                  </a:solidFill>
                  <a:latin typeface="Corbel" panose="020B0503020204020204" pitchFamily="34" charset="0"/>
                </a:rPr>
                <a:t> </a:t>
              </a:r>
            </a:p>
            <a:p>
              <a:pPr marR="0" lvl="0" defTabSz="325120" eaLnBrk="1" fontAlgn="auto" latinLnBrk="0" hangingPunct="0">
                <a:lnSpc>
                  <a:spcPct val="100000"/>
                </a:lnSpc>
                <a:spcBef>
                  <a:spcPts val="0"/>
                </a:spcBef>
                <a:spcAft>
                  <a:spcPts val="0"/>
                </a:spcAft>
                <a:buClrTx/>
                <a:buSzTx/>
                <a:tabLst/>
                <a:defRPr/>
              </a:pPr>
              <a:endParaRPr lang="en-US" sz="1200" b="1" kern="0" dirty="0">
                <a:solidFill>
                  <a:schemeClr val="tx1"/>
                </a:solidFill>
                <a:latin typeface="Corbel" panose="020B0503020204020204" pitchFamily="34" charset="0"/>
              </a:endParaRPr>
            </a:p>
            <a:p>
              <a:pPr marR="0" lvl="0" defTabSz="325120" eaLnBrk="1" fontAlgn="auto" latinLnBrk="0" hangingPunct="0">
                <a:lnSpc>
                  <a:spcPct val="100000"/>
                </a:lnSpc>
                <a:spcBef>
                  <a:spcPts val="0"/>
                </a:spcBef>
                <a:spcAft>
                  <a:spcPts val="0"/>
                </a:spcAft>
                <a:buClrTx/>
                <a:buSzTx/>
                <a:tabLst/>
                <a:defRPr/>
              </a:pPr>
              <a:r>
                <a:rPr lang="en-US" sz="1200" b="1" kern="0" dirty="0">
                  <a:solidFill>
                    <a:schemeClr val="tx1"/>
                  </a:solidFill>
                  <a:latin typeface="Corbel" panose="020B0503020204020204" pitchFamily="34" charset="0"/>
                </a:rPr>
                <a:t>Strong regulations and policy will create higher barrier of entry                                                                                                                                                                                                                                                                                                                                                                                </a:t>
              </a: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6" name="Rounded Rectangle">
              <a:extLst>
                <a:ext uri="{FF2B5EF4-FFF2-40B4-BE49-F238E27FC236}">
                  <a16:creationId xmlns:a16="http://schemas.microsoft.com/office/drawing/2014/main" id="{7F6EC221-DD0D-1A9F-9D62-A618D2519E90}"/>
                </a:ext>
              </a:extLst>
            </p:cNvPr>
            <p:cNvSpPr/>
            <p:nvPr/>
          </p:nvSpPr>
          <p:spPr>
            <a:xfrm>
              <a:off x="3329848" y="3394671"/>
              <a:ext cx="2050097" cy="5070877"/>
            </a:xfrm>
            <a:prstGeom prst="roundRect">
              <a:avLst>
                <a:gd name="adj" fmla="val 5220"/>
              </a:avLst>
            </a:prstGeom>
            <a:solidFill>
              <a:srgbClr val="00B05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7" name="Substitution">
              <a:extLst>
                <a:ext uri="{FF2B5EF4-FFF2-40B4-BE49-F238E27FC236}">
                  <a16:creationId xmlns:a16="http://schemas.microsoft.com/office/drawing/2014/main" id="{E51182B8-F125-795C-6300-AEBAC3AFF10F}"/>
                </a:ext>
              </a:extLst>
            </p:cNvPr>
            <p:cNvSpPr txBox="1"/>
            <p:nvPr/>
          </p:nvSpPr>
          <p:spPr>
            <a:xfrm>
              <a:off x="3539889" y="4149967"/>
              <a:ext cx="1700334"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Substitution</a:t>
              </a:r>
            </a:p>
          </p:txBody>
        </p:sp>
        <p:sp>
          <p:nvSpPr>
            <p:cNvPr id="58"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3378006" y="4540369"/>
              <a:ext cx="1979671" cy="252887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products exist and are in demand to the degree to which customers are aware of them.</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products</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is direct recruitment by companies </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Medbury</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has to provide more value in clinical and operational governance to encourage adoption instead of direct hire </a:t>
              </a: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9" name="Rounded Rectangle">
              <a:extLst>
                <a:ext uri="{FF2B5EF4-FFF2-40B4-BE49-F238E27FC236}">
                  <a16:creationId xmlns:a16="http://schemas.microsoft.com/office/drawing/2014/main" id="{B37E9B60-4A44-587E-51F2-195B100CE2A9}"/>
                </a:ext>
              </a:extLst>
            </p:cNvPr>
            <p:cNvSpPr/>
            <p:nvPr/>
          </p:nvSpPr>
          <p:spPr>
            <a:xfrm>
              <a:off x="5476994" y="3394671"/>
              <a:ext cx="2050097" cy="5070877"/>
            </a:xfrm>
            <a:prstGeom prst="roundRect">
              <a:avLst>
                <a:gd name="adj" fmla="val 5220"/>
              </a:avLst>
            </a:prstGeom>
            <a:solidFill>
              <a:srgbClr val="FF000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0" name="Supplier">
              <a:extLst>
                <a:ext uri="{FF2B5EF4-FFF2-40B4-BE49-F238E27FC236}">
                  <a16:creationId xmlns:a16="http://schemas.microsoft.com/office/drawing/2014/main" id="{4C9C476D-7564-A4E3-0CC4-A8063BE3A7A8}"/>
                </a:ext>
              </a:extLst>
            </p:cNvPr>
            <p:cNvSpPr txBox="1"/>
            <p:nvPr/>
          </p:nvSpPr>
          <p:spPr>
            <a:xfrm>
              <a:off x="5869279" y="4138331"/>
              <a:ext cx="1265530"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FEFFFE"/>
                  </a:solidFill>
                  <a:effectLst/>
                  <a:uLnTx/>
                  <a:uFillTx/>
                  <a:latin typeface="Corbel" panose="020B0503020204020204" pitchFamily="34" charset="0"/>
                  <a:sym typeface="DM Sans Medium"/>
                </a:rPr>
                <a:t>Supplier</a:t>
              </a:r>
            </a:p>
          </p:txBody>
        </p:sp>
        <p:sp>
          <p:nvSpPr>
            <p:cNvPr id="61" name="Lorem ipsum dolor sit amet, consectetur adipiscing elit, sed do eiusmod tempor incididunt ut labore">
              <a:extLst>
                <a:ext uri="{FF2B5EF4-FFF2-40B4-BE49-F238E27FC236}">
                  <a16:creationId xmlns:a16="http://schemas.microsoft.com/office/drawing/2014/main" id="{1C02A085-9B2B-7502-44B1-32F56795B685}"/>
                </a:ext>
              </a:extLst>
            </p:cNvPr>
            <p:cNvSpPr txBox="1"/>
            <p:nvPr/>
          </p:nvSpPr>
          <p:spPr>
            <a:xfrm>
              <a:off x="5635776" y="4551174"/>
              <a:ext cx="1686481" cy="314585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Supplier are Doctors and Nurses engaged to provide these services .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High rate of immigration to other countries has made them scarce and therefore more expensive to engage.</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This high cost of medical personnel will impact on profit margin and prices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2" name="Rounded Rectangle">
              <a:extLst>
                <a:ext uri="{FF2B5EF4-FFF2-40B4-BE49-F238E27FC236}">
                  <a16:creationId xmlns:a16="http://schemas.microsoft.com/office/drawing/2014/main" id="{4252DCB7-B0FC-5B1A-91A8-E7493E3271FD}"/>
                </a:ext>
              </a:extLst>
            </p:cNvPr>
            <p:cNvSpPr/>
            <p:nvPr/>
          </p:nvSpPr>
          <p:spPr>
            <a:xfrm>
              <a:off x="7624141" y="3394672"/>
              <a:ext cx="2050097" cy="5070876"/>
            </a:xfrm>
            <a:prstGeom prst="roundRect">
              <a:avLst>
                <a:gd name="adj" fmla="val 5220"/>
              </a:avLst>
            </a:prstGeom>
            <a:solidFill>
              <a:schemeClr val="accent4">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3" name="Buyer">
              <a:extLst>
                <a:ext uri="{FF2B5EF4-FFF2-40B4-BE49-F238E27FC236}">
                  <a16:creationId xmlns:a16="http://schemas.microsoft.com/office/drawing/2014/main" id="{F327F29B-48B6-247B-55FC-173361A3AAAF}"/>
                </a:ext>
              </a:extLst>
            </p:cNvPr>
            <p:cNvSpPr txBox="1"/>
            <p:nvPr/>
          </p:nvSpPr>
          <p:spPr>
            <a:xfrm>
              <a:off x="8048381" y="4082447"/>
              <a:ext cx="1265529" cy="3516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Buyer</a:t>
              </a:r>
            </a:p>
          </p:txBody>
        </p:sp>
        <p:sp>
          <p:nvSpPr>
            <p:cNvPr id="64"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7685873" y="4540369"/>
              <a:ext cx="1838512" cy="129490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The buyers are clients who are</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usually Tier 1 Large manufacturing companies and Oil and gas companies </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5" name="Rounded Rectangle">
              <a:extLst>
                <a:ext uri="{FF2B5EF4-FFF2-40B4-BE49-F238E27FC236}">
                  <a16:creationId xmlns:a16="http://schemas.microsoft.com/office/drawing/2014/main" id="{B24BB561-ED09-A5B8-CEC9-BC8ECBD46888}"/>
                </a:ext>
              </a:extLst>
            </p:cNvPr>
            <p:cNvSpPr/>
            <p:nvPr/>
          </p:nvSpPr>
          <p:spPr>
            <a:xfrm>
              <a:off x="9778059" y="3299835"/>
              <a:ext cx="2050097" cy="5070876"/>
            </a:xfrm>
            <a:prstGeom prst="roundRect">
              <a:avLst>
                <a:gd name="adj" fmla="val 5220"/>
              </a:avLst>
            </a:prstGeom>
            <a:solidFill>
              <a:schemeClr val="accent5">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6" name="Competitive Rivalry">
              <a:extLst>
                <a:ext uri="{FF2B5EF4-FFF2-40B4-BE49-F238E27FC236}">
                  <a16:creationId xmlns:a16="http://schemas.microsoft.com/office/drawing/2014/main" id="{6C710A2A-C663-1C08-CA9D-7F6C798AF672}"/>
                </a:ext>
              </a:extLst>
            </p:cNvPr>
            <p:cNvSpPr txBox="1"/>
            <p:nvPr/>
          </p:nvSpPr>
          <p:spPr>
            <a:xfrm>
              <a:off x="9959869" y="4133334"/>
              <a:ext cx="1686481"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Competitive Rivalry</a:t>
              </a:r>
            </a:p>
          </p:txBody>
        </p:sp>
        <p:sp>
          <p:nvSpPr>
            <p:cNvPr id="67" name="Lorem ipsum dolor sit amet, consectetur adipiscing elit, sed do eiusmod tempor incididunt ut labore">
              <a:extLst>
                <a:ext uri="{FF2B5EF4-FFF2-40B4-BE49-F238E27FC236}">
                  <a16:creationId xmlns:a16="http://schemas.microsoft.com/office/drawing/2014/main" id="{ECDA6428-5302-76DA-63DF-901B5BD05513}"/>
                </a:ext>
              </a:extLst>
            </p:cNvPr>
            <p:cNvSpPr txBox="1"/>
            <p:nvPr/>
          </p:nvSpPr>
          <p:spPr>
            <a:xfrm>
              <a:off x="9844699" y="4540369"/>
              <a:ext cx="1916818" cy="6607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8" name="Shape">
              <a:extLst>
                <a:ext uri="{FF2B5EF4-FFF2-40B4-BE49-F238E27FC236}">
                  <a16:creationId xmlns:a16="http://schemas.microsoft.com/office/drawing/2014/main" id="{99CB78E1-FE90-4A54-CAA7-CFFE6709F798}"/>
                </a:ext>
              </a:extLst>
            </p:cNvPr>
            <p:cNvSpPr/>
            <p:nvPr/>
          </p:nvSpPr>
          <p:spPr>
            <a:xfrm>
              <a:off x="8464219" y="3513418"/>
              <a:ext cx="552148" cy="514226"/>
            </a:xfrm>
            <a:custGeom>
              <a:avLst/>
              <a:gdLst/>
              <a:ahLst/>
              <a:cxnLst>
                <a:cxn ang="0">
                  <a:pos x="wd2" y="hd2"/>
                </a:cxn>
                <a:cxn ang="5400000">
                  <a:pos x="wd2" y="hd2"/>
                </a:cxn>
                <a:cxn ang="10800000">
                  <a:pos x="wd2" y="hd2"/>
                </a:cxn>
                <a:cxn ang="16200000">
                  <a:pos x="wd2" y="hd2"/>
                </a:cxn>
              </a:cxnLst>
              <a:rect l="0" t="0" r="r" b="b"/>
              <a:pathLst>
                <a:path w="21600" h="21570" extrusionOk="0">
                  <a:moveTo>
                    <a:pt x="10835" y="0"/>
                  </a:moveTo>
                  <a:cubicBezTo>
                    <a:pt x="10498" y="0"/>
                    <a:pt x="10225" y="292"/>
                    <a:pt x="10225" y="653"/>
                  </a:cubicBezTo>
                  <a:lnTo>
                    <a:pt x="10225" y="2711"/>
                  </a:lnTo>
                  <a:cubicBezTo>
                    <a:pt x="10225" y="3072"/>
                    <a:pt x="10498" y="3365"/>
                    <a:pt x="10835" y="3365"/>
                  </a:cubicBezTo>
                  <a:cubicBezTo>
                    <a:pt x="11171" y="3365"/>
                    <a:pt x="11444" y="3072"/>
                    <a:pt x="11444" y="2711"/>
                  </a:cubicBezTo>
                  <a:lnTo>
                    <a:pt x="11444" y="653"/>
                  </a:lnTo>
                  <a:cubicBezTo>
                    <a:pt x="11444" y="292"/>
                    <a:pt x="11171" y="0"/>
                    <a:pt x="10835" y="0"/>
                  </a:cubicBezTo>
                  <a:close/>
                  <a:moveTo>
                    <a:pt x="15869" y="2711"/>
                  </a:moveTo>
                  <a:cubicBezTo>
                    <a:pt x="15713" y="2711"/>
                    <a:pt x="15557" y="2775"/>
                    <a:pt x="15438" y="2902"/>
                  </a:cubicBezTo>
                  <a:lnTo>
                    <a:pt x="14157" y="4276"/>
                  </a:lnTo>
                  <a:cubicBezTo>
                    <a:pt x="13919" y="4531"/>
                    <a:pt x="13919" y="4945"/>
                    <a:pt x="14157" y="5200"/>
                  </a:cubicBezTo>
                  <a:cubicBezTo>
                    <a:pt x="14395" y="5455"/>
                    <a:pt x="14781" y="5455"/>
                    <a:pt x="15019" y="5200"/>
                  </a:cubicBezTo>
                  <a:lnTo>
                    <a:pt x="16300" y="3826"/>
                  </a:lnTo>
                  <a:cubicBezTo>
                    <a:pt x="16538" y="3570"/>
                    <a:pt x="16538" y="3158"/>
                    <a:pt x="16300" y="2902"/>
                  </a:cubicBezTo>
                  <a:cubicBezTo>
                    <a:pt x="16181" y="2775"/>
                    <a:pt x="16024" y="2711"/>
                    <a:pt x="15869" y="2711"/>
                  </a:cubicBezTo>
                  <a:close/>
                  <a:moveTo>
                    <a:pt x="5750" y="2778"/>
                  </a:moveTo>
                  <a:cubicBezTo>
                    <a:pt x="5594" y="2778"/>
                    <a:pt x="5438" y="2842"/>
                    <a:pt x="5319" y="2970"/>
                  </a:cubicBezTo>
                  <a:cubicBezTo>
                    <a:pt x="5081" y="3225"/>
                    <a:pt x="5081" y="3638"/>
                    <a:pt x="5319" y="3893"/>
                  </a:cubicBezTo>
                  <a:lnTo>
                    <a:pt x="6600" y="5267"/>
                  </a:lnTo>
                  <a:cubicBezTo>
                    <a:pt x="6838" y="5523"/>
                    <a:pt x="7223" y="5523"/>
                    <a:pt x="7461" y="5267"/>
                  </a:cubicBezTo>
                  <a:cubicBezTo>
                    <a:pt x="7699" y="5012"/>
                    <a:pt x="7699" y="4598"/>
                    <a:pt x="7461" y="4343"/>
                  </a:cubicBezTo>
                  <a:lnTo>
                    <a:pt x="6180" y="2970"/>
                  </a:lnTo>
                  <a:cubicBezTo>
                    <a:pt x="6061" y="2842"/>
                    <a:pt x="5906" y="2778"/>
                    <a:pt x="5750" y="2778"/>
                  </a:cubicBezTo>
                  <a:close/>
                  <a:moveTo>
                    <a:pt x="7845" y="6794"/>
                  </a:moveTo>
                  <a:cubicBezTo>
                    <a:pt x="7471" y="6799"/>
                    <a:pt x="7107" y="6917"/>
                    <a:pt x="6793" y="7134"/>
                  </a:cubicBezTo>
                  <a:cubicBezTo>
                    <a:pt x="6520" y="7322"/>
                    <a:pt x="6295" y="7579"/>
                    <a:pt x="6136" y="7883"/>
                  </a:cubicBezTo>
                  <a:lnTo>
                    <a:pt x="5520" y="9164"/>
                  </a:lnTo>
                  <a:cubicBezTo>
                    <a:pt x="5451" y="9272"/>
                    <a:pt x="5360" y="9362"/>
                    <a:pt x="5255" y="9427"/>
                  </a:cubicBezTo>
                  <a:cubicBezTo>
                    <a:pt x="5133" y="9503"/>
                    <a:pt x="4996" y="9544"/>
                    <a:pt x="4855" y="9546"/>
                  </a:cubicBezTo>
                  <a:lnTo>
                    <a:pt x="3844" y="9546"/>
                  </a:lnTo>
                  <a:lnTo>
                    <a:pt x="3814" y="19022"/>
                  </a:lnTo>
                  <a:lnTo>
                    <a:pt x="6722" y="19022"/>
                  </a:lnTo>
                  <a:lnTo>
                    <a:pt x="8565" y="21055"/>
                  </a:lnTo>
                  <a:cubicBezTo>
                    <a:pt x="8769" y="21249"/>
                    <a:pt x="9010" y="21395"/>
                    <a:pt x="9270" y="21481"/>
                  </a:cubicBezTo>
                  <a:cubicBezTo>
                    <a:pt x="9629" y="21598"/>
                    <a:pt x="10011" y="21600"/>
                    <a:pt x="10371" y="21486"/>
                  </a:cubicBezTo>
                  <a:lnTo>
                    <a:pt x="16077" y="19530"/>
                  </a:lnTo>
                  <a:cubicBezTo>
                    <a:pt x="16210" y="19487"/>
                    <a:pt x="16333" y="19417"/>
                    <a:pt x="16442" y="19326"/>
                  </a:cubicBezTo>
                  <a:cubicBezTo>
                    <a:pt x="16527" y="19255"/>
                    <a:pt x="16601" y="19172"/>
                    <a:pt x="16664" y="19079"/>
                  </a:cubicBezTo>
                  <a:lnTo>
                    <a:pt x="12170" y="14325"/>
                  </a:lnTo>
                  <a:lnTo>
                    <a:pt x="11730" y="14325"/>
                  </a:lnTo>
                  <a:cubicBezTo>
                    <a:pt x="11355" y="15204"/>
                    <a:pt x="10698" y="15909"/>
                    <a:pt x="9878" y="16312"/>
                  </a:cubicBezTo>
                  <a:cubicBezTo>
                    <a:pt x="8999" y="16745"/>
                    <a:pt x="7998" y="16800"/>
                    <a:pt x="7082" y="16465"/>
                  </a:cubicBezTo>
                  <a:lnTo>
                    <a:pt x="6167" y="16096"/>
                  </a:lnTo>
                  <a:cubicBezTo>
                    <a:pt x="5956" y="15989"/>
                    <a:pt x="5808" y="15778"/>
                    <a:pt x="5770" y="15531"/>
                  </a:cubicBezTo>
                  <a:cubicBezTo>
                    <a:pt x="5743" y="15349"/>
                    <a:pt x="5780" y="15162"/>
                    <a:pt x="5872" y="15007"/>
                  </a:cubicBezTo>
                  <a:lnTo>
                    <a:pt x="8176" y="10163"/>
                  </a:lnTo>
                  <a:cubicBezTo>
                    <a:pt x="8397" y="9732"/>
                    <a:pt x="8734" y="9381"/>
                    <a:pt x="9142" y="9156"/>
                  </a:cubicBezTo>
                  <a:cubicBezTo>
                    <a:pt x="9437" y="8994"/>
                    <a:pt x="9761" y="8903"/>
                    <a:pt x="10092" y="8888"/>
                  </a:cubicBezTo>
                  <a:lnTo>
                    <a:pt x="13081" y="8888"/>
                  </a:lnTo>
                  <a:cubicBezTo>
                    <a:pt x="13322" y="8472"/>
                    <a:pt x="13661" y="7410"/>
                    <a:pt x="13026" y="6962"/>
                  </a:cubicBezTo>
                  <a:cubicBezTo>
                    <a:pt x="12869" y="6852"/>
                    <a:pt x="12685" y="6793"/>
                    <a:pt x="12498" y="6794"/>
                  </a:cubicBezTo>
                  <a:lnTo>
                    <a:pt x="7845" y="6794"/>
                  </a:lnTo>
                  <a:close/>
                  <a:moveTo>
                    <a:pt x="1008" y="9498"/>
                  </a:moveTo>
                  <a:cubicBezTo>
                    <a:pt x="718" y="9498"/>
                    <a:pt x="572" y="9499"/>
                    <a:pt x="417" y="9551"/>
                  </a:cubicBezTo>
                  <a:cubicBezTo>
                    <a:pt x="246" y="9618"/>
                    <a:pt x="112" y="9762"/>
                    <a:pt x="50" y="9945"/>
                  </a:cubicBezTo>
                  <a:cubicBezTo>
                    <a:pt x="1" y="10112"/>
                    <a:pt x="0" y="10269"/>
                    <a:pt x="0" y="10579"/>
                  </a:cubicBezTo>
                  <a:lnTo>
                    <a:pt x="0" y="17922"/>
                  </a:lnTo>
                  <a:cubicBezTo>
                    <a:pt x="0" y="18237"/>
                    <a:pt x="1" y="18394"/>
                    <a:pt x="50" y="18561"/>
                  </a:cubicBezTo>
                  <a:cubicBezTo>
                    <a:pt x="112" y="18744"/>
                    <a:pt x="246" y="18888"/>
                    <a:pt x="417" y="18955"/>
                  </a:cubicBezTo>
                  <a:cubicBezTo>
                    <a:pt x="573" y="19008"/>
                    <a:pt x="719" y="19007"/>
                    <a:pt x="1008" y="19007"/>
                  </a:cubicBezTo>
                  <a:lnTo>
                    <a:pt x="2519" y="19007"/>
                  </a:lnTo>
                  <a:lnTo>
                    <a:pt x="2519" y="9498"/>
                  </a:lnTo>
                  <a:lnTo>
                    <a:pt x="1012" y="9498"/>
                  </a:lnTo>
                  <a:lnTo>
                    <a:pt x="1008" y="9498"/>
                  </a:lnTo>
                  <a:close/>
                  <a:moveTo>
                    <a:pt x="19026" y="9521"/>
                  </a:moveTo>
                  <a:lnTo>
                    <a:pt x="19026" y="19029"/>
                  </a:lnTo>
                  <a:lnTo>
                    <a:pt x="20589" y="19029"/>
                  </a:lnTo>
                  <a:cubicBezTo>
                    <a:pt x="20882" y="19029"/>
                    <a:pt x="21028" y="19030"/>
                    <a:pt x="21184" y="18977"/>
                  </a:cubicBezTo>
                  <a:cubicBezTo>
                    <a:pt x="21354" y="18910"/>
                    <a:pt x="21489" y="18766"/>
                    <a:pt x="21551" y="18583"/>
                  </a:cubicBezTo>
                  <a:cubicBezTo>
                    <a:pt x="21600" y="18416"/>
                    <a:pt x="21600" y="18259"/>
                    <a:pt x="21600" y="17949"/>
                  </a:cubicBezTo>
                  <a:lnTo>
                    <a:pt x="21600" y="10605"/>
                  </a:lnTo>
                  <a:cubicBezTo>
                    <a:pt x="21600" y="10291"/>
                    <a:pt x="21600" y="10134"/>
                    <a:pt x="21551" y="9967"/>
                  </a:cubicBezTo>
                  <a:cubicBezTo>
                    <a:pt x="21489" y="9784"/>
                    <a:pt x="21354" y="9640"/>
                    <a:pt x="21184" y="9574"/>
                  </a:cubicBezTo>
                  <a:cubicBezTo>
                    <a:pt x="21028" y="9521"/>
                    <a:pt x="20881" y="9521"/>
                    <a:pt x="20592" y="9521"/>
                  </a:cubicBezTo>
                  <a:lnTo>
                    <a:pt x="19026" y="9521"/>
                  </a:lnTo>
                  <a:close/>
                  <a:moveTo>
                    <a:pt x="10221" y="10214"/>
                  </a:moveTo>
                  <a:cubicBezTo>
                    <a:pt x="10027" y="10227"/>
                    <a:pt x="9839" y="10291"/>
                    <a:pt x="9673" y="10398"/>
                  </a:cubicBezTo>
                  <a:cubicBezTo>
                    <a:pt x="9482" y="10521"/>
                    <a:pt x="9327" y="10699"/>
                    <a:pt x="9224" y="10911"/>
                  </a:cubicBezTo>
                  <a:lnTo>
                    <a:pt x="7288" y="15038"/>
                  </a:lnTo>
                  <a:cubicBezTo>
                    <a:pt x="7791" y="15310"/>
                    <a:pt x="8368" y="15380"/>
                    <a:pt x="8914" y="15234"/>
                  </a:cubicBezTo>
                  <a:cubicBezTo>
                    <a:pt x="9494" y="15080"/>
                    <a:pt x="9998" y="14695"/>
                    <a:pt x="10323" y="14157"/>
                  </a:cubicBezTo>
                  <a:lnTo>
                    <a:pt x="10972" y="12900"/>
                  </a:lnTo>
                  <a:lnTo>
                    <a:pt x="12168" y="12894"/>
                  </a:lnTo>
                  <a:cubicBezTo>
                    <a:pt x="12346" y="12901"/>
                    <a:pt x="12521" y="12942"/>
                    <a:pt x="12684" y="13015"/>
                  </a:cubicBezTo>
                  <a:cubicBezTo>
                    <a:pt x="12838" y="13085"/>
                    <a:pt x="12980" y="13182"/>
                    <a:pt x="13104" y="13302"/>
                  </a:cubicBezTo>
                  <a:lnTo>
                    <a:pt x="17781" y="18390"/>
                  </a:lnTo>
                  <a:lnTo>
                    <a:pt x="17787" y="10214"/>
                  </a:lnTo>
                  <a:lnTo>
                    <a:pt x="10221" y="1021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9" name="Shape">
              <a:extLst>
                <a:ext uri="{FF2B5EF4-FFF2-40B4-BE49-F238E27FC236}">
                  <a16:creationId xmlns:a16="http://schemas.microsoft.com/office/drawing/2014/main" id="{1311A6DB-A00D-C757-546F-7E19B2D11BED}"/>
                </a:ext>
              </a:extLst>
            </p:cNvPr>
            <p:cNvSpPr/>
            <p:nvPr/>
          </p:nvSpPr>
          <p:spPr>
            <a:xfrm>
              <a:off x="10552403" y="3632097"/>
              <a:ext cx="487864" cy="487789"/>
            </a:xfrm>
            <a:custGeom>
              <a:avLst/>
              <a:gdLst/>
              <a:ahLst/>
              <a:cxnLst>
                <a:cxn ang="0">
                  <a:pos x="wd2" y="hd2"/>
                </a:cxn>
                <a:cxn ang="5400000">
                  <a:pos x="wd2" y="hd2"/>
                </a:cxn>
                <a:cxn ang="10800000">
                  <a:pos x="wd2" y="hd2"/>
                </a:cxn>
                <a:cxn ang="16200000">
                  <a:pos x="wd2" y="hd2"/>
                </a:cxn>
              </a:cxnLst>
              <a:rect l="0" t="0" r="r" b="b"/>
              <a:pathLst>
                <a:path w="21508" h="21457" extrusionOk="0">
                  <a:moveTo>
                    <a:pt x="8861" y="0"/>
                  </a:moveTo>
                  <a:cubicBezTo>
                    <a:pt x="8468" y="0"/>
                    <a:pt x="8072" y="0"/>
                    <a:pt x="7714" y="83"/>
                  </a:cubicBezTo>
                  <a:cubicBezTo>
                    <a:pt x="7074" y="246"/>
                    <a:pt x="6574" y="744"/>
                    <a:pt x="6410" y="1382"/>
                  </a:cubicBezTo>
                  <a:cubicBezTo>
                    <a:pt x="6328" y="1740"/>
                    <a:pt x="6328" y="2135"/>
                    <a:pt x="6328" y="2528"/>
                  </a:cubicBezTo>
                  <a:cubicBezTo>
                    <a:pt x="6328" y="2921"/>
                    <a:pt x="6328" y="3316"/>
                    <a:pt x="6410" y="3674"/>
                  </a:cubicBezTo>
                  <a:cubicBezTo>
                    <a:pt x="6574" y="4312"/>
                    <a:pt x="7074" y="4810"/>
                    <a:pt x="7714" y="4973"/>
                  </a:cubicBezTo>
                  <a:cubicBezTo>
                    <a:pt x="8072" y="5056"/>
                    <a:pt x="8468" y="5056"/>
                    <a:pt x="8861" y="5056"/>
                  </a:cubicBezTo>
                  <a:lnTo>
                    <a:pt x="10423" y="5056"/>
                  </a:lnTo>
                  <a:lnTo>
                    <a:pt x="12864" y="7359"/>
                  </a:lnTo>
                  <a:cubicBezTo>
                    <a:pt x="13044" y="7535"/>
                    <a:pt x="13310" y="7590"/>
                    <a:pt x="13545" y="7500"/>
                  </a:cubicBezTo>
                  <a:cubicBezTo>
                    <a:pt x="13798" y="7403"/>
                    <a:pt x="13964" y="7159"/>
                    <a:pt x="13961" y="6888"/>
                  </a:cubicBezTo>
                  <a:lnTo>
                    <a:pt x="13967" y="4924"/>
                  </a:lnTo>
                  <a:cubicBezTo>
                    <a:pt x="14533" y="4725"/>
                    <a:pt x="14970" y="4260"/>
                    <a:pt x="15121" y="3674"/>
                  </a:cubicBezTo>
                  <a:cubicBezTo>
                    <a:pt x="15204" y="3316"/>
                    <a:pt x="15203" y="2921"/>
                    <a:pt x="15203" y="2528"/>
                  </a:cubicBezTo>
                  <a:cubicBezTo>
                    <a:pt x="15203" y="2135"/>
                    <a:pt x="15204" y="1740"/>
                    <a:pt x="15121" y="1382"/>
                  </a:cubicBezTo>
                  <a:cubicBezTo>
                    <a:pt x="14957" y="744"/>
                    <a:pt x="14457" y="246"/>
                    <a:pt x="13817" y="83"/>
                  </a:cubicBezTo>
                  <a:cubicBezTo>
                    <a:pt x="13459" y="0"/>
                    <a:pt x="13064" y="0"/>
                    <a:pt x="12670" y="0"/>
                  </a:cubicBezTo>
                  <a:lnTo>
                    <a:pt x="8861" y="0"/>
                  </a:lnTo>
                  <a:close/>
                  <a:moveTo>
                    <a:pt x="3798" y="3201"/>
                  </a:moveTo>
                  <a:cubicBezTo>
                    <a:pt x="3312" y="3201"/>
                    <a:pt x="2826" y="3386"/>
                    <a:pt x="2456" y="3755"/>
                  </a:cubicBezTo>
                  <a:cubicBezTo>
                    <a:pt x="1715" y="4494"/>
                    <a:pt x="1715" y="5693"/>
                    <a:pt x="2456" y="6432"/>
                  </a:cubicBezTo>
                  <a:cubicBezTo>
                    <a:pt x="3197" y="7172"/>
                    <a:pt x="4398" y="7172"/>
                    <a:pt x="5139" y="6432"/>
                  </a:cubicBezTo>
                  <a:cubicBezTo>
                    <a:pt x="5880" y="5693"/>
                    <a:pt x="5880" y="4494"/>
                    <a:pt x="5139" y="3755"/>
                  </a:cubicBezTo>
                  <a:cubicBezTo>
                    <a:pt x="4769" y="3386"/>
                    <a:pt x="4283" y="3201"/>
                    <a:pt x="3798" y="3201"/>
                  </a:cubicBezTo>
                  <a:close/>
                  <a:moveTo>
                    <a:pt x="17710" y="3201"/>
                  </a:moveTo>
                  <a:cubicBezTo>
                    <a:pt x="17225" y="3201"/>
                    <a:pt x="16739" y="3386"/>
                    <a:pt x="16369" y="3755"/>
                  </a:cubicBezTo>
                  <a:cubicBezTo>
                    <a:pt x="15628" y="4494"/>
                    <a:pt x="15628" y="5693"/>
                    <a:pt x="16369" y="6432"/>
                  </a:cubicBezTo>
                  <a:cubicBezTo>
                    <a:pt x="17110" y="7172"/>
                    <a:pt x="18311" y="7172"/>
                    <a:pt x="19052" y="6432"/>
                  </a:cubicBezTo>
                  <a:cubicBezTo>
                    <a:pt x="19793" y="5693"/>
                    <a:pt x="19793" y="4494"/>
                    <a:pt x="19052" y="3755"/>
                  </a:cubicBezTo>
                  <a:cubicBezTo>
                    <a:pt x="18681" y="3386"/>
                    <a:pt x="18196" y="3201"/>
                    <a:pt x="17710" y="3201"/>
                  </a:cubicBezTo>
                  <a:close/>
                  <a:moveTo>
                    <a:pt x="2578" y="7598"/>
                  </a:moveTo>
                  <a:cubicBezTo>
                    <a:pt x="2512" y="7594"/>
                    <a:pt x="2447" y="7596"/>
                    <a:pt x="2380" y="7603"/>
                  </a:cubicBezTo>
                  <a:cubicBezTo>
                    <a:pt x="1875" y="7655"/>
                    <a:pt x="1450" y="8004"/>
                    <a:pt x="1302" y="8488"/>
                  </a:cubicBezTo>
                  <a:lnTo>
                    <a:pt x="56" y="14249"/>
                  </a:lnTo>
                  <a:cubicBezTo>
                    <a:pt x="-35" y="14616"/>
                    <a:pt x="53" y="15004"/>
                    <a:pt x="294" y="15296"/>
                  </a:cubicBezTo>
                  <a:cubicBezTo>
                    <a:pt x="525" y="15576"/>
                    <a:pt x="871" y="15736"/>
                    <a:pt x="1234" y="15731"/>
                  </a:cubicBezTo>
                  <a:lnTo>
                    <a:pt x="1280" y="15731"/>
                  </a:lnTo>
                  <a:lnTo>
                    <a:pt x="24" y="20706"/>
                  </a:lnTo>
                  <a:cubicBezTo>
                    <a:pt x="-46" y="20940"/>
                    <a:pt x="40" y="21193"/>
                    <a:pt x="238" y="21337"/>
                  </a:cubicBezTo>
                  <a:cubicBezTo>
                    <a:pt x="603" y="21600"/>
                    <a:pt x="1119" y="21412"/>
                    <a:pt x="1228" y="20976"/>
                  </a:cubicBezTo>
                  <a:lnTo>
                    <a:pt x="1739" y="18941"/>
                  </a:lnTo>
                  <a:lnTo>
                    <a:pt x="7077" y="18941"/>
                  </a:lnTo>
                  <a:lnTo>
                    <a:pt x="7673" y="20692"/>
                  </a:lnTo>
                  <a:cubicBezTo>
                    <a:pt x="7931" y="21284"/>
                    <a:pt x="8596" y="21585"/>
                    <a:pt x="9212" y="21388"/>
                  </a:cubicBezTo>
                  <a:cubicBezTo>
                    <a:pt x="9851" y="21183"/>
                    <a:pt x="10219" y="20515"/>
                    <a:pt x="10049" y="19867"/>
                  </a:cubicBezTo>
                  <a:lnTo>
                    <a:pt x="8096" y="14045"/>
                  </a:lnTo>
                  <a:cubicBezTo>
                    <a:pt x="8019" y="13815"/>
                    <a:pt x="7874" y="13613"/>
                    <a:pt x="7680" y="13468"/>
                  </a:cubicBezTo>
                  <a:cubicBezTo>
                    <a:pt x="7475" y="13313"/>
                    <a:pt x="7225" y="13229"/>
                    <a:pt x="6968" y="13228"/>
                  </a:cubicBezTo>
                  <a:lnTo>
                    <a:pt x="5595" y="13228"/>
                  </a:lnTo>
                  <a:cubicBezTo>
                    <a:pt x="5279" y="13199"/>
                    <a:pt x="5033" y="12941"/>
                    <a:pt x="5021" y="12625"/>
                  </a:cubicBezTo>
                  <a:cubicBezTo>
                    <a:pt x="5008" y="12289"/>
                    <a:pt x="5260" y="12002"/>
                    <a:pt x="5595" y="11970"/>
                  </a:cubicBezTo>
                  <a:lnTo>
                    <a:pt x="7507" y="11970"/>
                  </a:lnTo>
                  <a:cubicBezTo>
                    <a:pt x="8212" y="12000"/>
                    <a:pt x="8804" y="11445"/>
                    <a:pt x="8817" y="10741"/>
                  </a:cubicBezTo>
                  <a:cubicBezTo>
                    <a:pt x="8831" y="10017"/>
                    <a:pt x="8232" y="9431"/>
                    <a:pt x="7507" y="9458"/>
                  </a:cubicBezTo>
                  <a:lnTo>
                    <a:pt x="4076" y="9458"/>
                  </a:lnTo>
                  <a:lnTo>
                    <a:pt x="3655" y="8314"/>
                  </a:lnTo>
                  <a:cubicBezTo>
                    <a:pt x="3452" y="7893"/>
                    <a:pt x="3035" y="7622"/>
                    <a:pt x="2578" y="7598"/>
                  </a:cubicBezTo>
                  <a:close/>
                  <a:moveTo>
                    <a:pt x="18930" y="7598"/>
                  </a:moveTo>
                  <a:cubicBezTo>
                    <a:pt x="18473" y="7622"/>
                    <a:pt x="18056" y="7893"/>
                    <a:pt x="17853" y="8314"/>
                  </a:cubicBezTo>
                  <a:lnTo>
                    <a:pt x="17432" y="9458"/>
                  </a:lnTo>
                  <a:lnTo>
                    <a:pt x="14001" y="9458"/>
                  </a:lnTo>
                  <a:cubicBezTo>
                    <a:pt x="13276" y="9431"/>
                    <a:pt x="12677" y="10017"/>
                    <a:pt x="12691" y="10741"/>
                  </a:cubicBezTo>
                  <a:cubicBezTo>
                    <a:pt x="12704" y="11445"/>
                    <a:pt x="13296" y="12000"/>
                    <a:pt x="14001" y="11970"/>
                  </a:cubicBezTo>
                  <a:lnTo>
                    <a:pt x="15913" y="11970"/>
                  </a:lnTo>
                  <a:cubicBezTo>
                    <a:pt x="16248" y="12002"/>
                    <a:pt x="16500" y="12289"/>
                    <a:pt x="16487" y="12625"/>
                  </a:cubicBezTo>
                  <a:cubicBezTo>
                    <a:pt x="16475" y="12941"/>
                    <a:pt x="16229" y="13199"/>
                    <a:pt x="15913" y="13228"/>
                  </a:cubicBezTo>
                  <a:lnTo>
                    <a:pt x="14540" y="13228"/>
                  </a:lnTo>
                  <a:cubicBezTo>
                    <a:pt x="14283" y="13229"/>
                    <a:pt x="14033" y="13313"/>
                    <a:pt x="13828" y="13468"/>
                  </a:cubicBezTo>
                  <a:cubicBezTo>
                    <a:pt x="13634" y="13613"/>
                    <a:pt x="13489" y="13815"/>
                    <a:pt x="13412" y="14045"/>
                  </a:cubicBezTo>
                  <a:lnTo>
                    <a:pt x="11459" y="19867"/>
                  </a:lnTo>
                  <a:cubicBezTo>
                    <a:pt x="11289" y="20515"/>
                    <a:pt x="11657" y="21183"/>
                    <a:pt x="12296" y="21388"/>
                  </a:cubicBezTo>
                  <a:cubicBezTo>
                    <a:pt x="12912" y="21585"/>
                    <a:pt x="13577" y="21284"/>
                    <a:pt x="13835" y="20692"/>
                  </a:cubicBezTo>
                  <a:lnTo>
                    <a:pt x="14431" y="18941"/>
                  </a:lnTo>
                  <a:lnTo>
                    <a:pt x="19769" y="18941"/>
                  </a:lnTo>
                  <a:lnTo>
                    <a:pt x="20280" y="20976"/>
                  </a:lnTo>
                  <a:cubicBezTo>
                    <a:pt x="20389" y="21412"/>
                    <a:pt x="20905" y="21600"/>
                    <a:pt x="21270" y="21337"/>
                  </a:cubicBezTo>
                  <a:cubicBezTo>
                    <a:pt x="21468" y="21193"/>
                    <a:pt x="21554" y="20940"/>
                    <a:pt x="21484" y="20706"/>
                  </a:cubicBezTo>
                  <a:lnTo>
                    <a:pt x="20228" y="15731"/>
                  </a:lnTo>
                  <a:lnTo>
                    <a:pt x="20274" y="15731"/>
                  </a:lnTo>
                  <a:cubicBezTo>
                    <a:pt x="20637" y="15736"/>
                    <a:pt x="20983" y="15576"/>
                    <a:pt x="21214" y="15296"/>
                  </a:cubicBezTo>
                  <a:cubicBezTo>
                    <a:pt x="21455" y="15004"/>
                    <a:pt x="21543" y="14616"/>
                    <a:pt x="21452" y="14249"/>
                  </a:cubicBezTo>
                  <a:lnTo>
                    <a:pt x="20206" y="8488"/>
                  </a:lnTo>
                  <a:cubicBezTo>
                    <a:pt x="20058" y="8004"/>
                    <a:pt x="19633" y="7655"/>
                    <a:pt x="19128" y="7603"/>
                  </a:cubicBezTo>
                  <a:cubicBezTo>
                    <a:pt x="19061" y="7596"/>
                    <a:pt x="18996" y="7594"/>
                    <a:pt x="18930" y="7598"/>
                  </a:cubicBezTo>
                  <a:close/>
                  <a:moveTo>
                    <a:pt x="2544" y="15731"/>
                  </a:moveTo>
                  <a:lnTo>
                    <a:pt x="5985" y="15731"/>
                  </a:lnTo>
                  <a:lnTo>
                    <a:pt x="6653" y="17696"/>
                  </a:lnTo>
                  <a:lnTo>
                    <a:pt x="2051" y="17696"/>
                  </a:lnTo>
                  <a:lnTo>
                    <a:pt x="2544" y="15731"/>
                  </a:lnTo>
                  <a:close/>
                  <a:moveTo>
                    <a:pt x="15523" y="15731"/>
                  </a:moveTo>
                  <a:lnTo>
                    <a:pt x="18964" y="15731"/>
                  </a:lnTo>
                  <a:lnTo>
                    <a:pt x="19457" y="17696"/>
                  </a:lnTo>
                  <a:lnTo>
                    <a:pt x="14855" y="17696"/>
                  </a:lnTo>
                  <a:lnTo>
                    <a:pt x="15523" y="15731"/>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0" name="Shape">
              <a:extLst>
                <a:ext uri="{FF2B5EF4-FFF2-40B4-BE49-F238E27FC236}">
                  <a16:creationId xmlns:a16="http://schemas.microsoft.com/office/drawing/2014/main" id="{B05A3137-8906-587E-2C1D-EA8AC054C02D}"/>
                </a:ext>
              </a:extLst>
            </p:cNvPr>
            <p:cNvSpPr/>
            <p:nvPr/>
          </p:nvSpPr>
          <p:spPr>
            <a:xfrm>
              <a:off x="1933579" y="3584887"/>
              <a:ext cx="561887" cy="560110"/>
            </a:xfrm>
            <a:custGeom>
              <a:avLst/>
              <a:gdLst/>
              <a:ahLst/>
              <a:cxnLst>
                <a:cxn ang="0">
                  <a:pos x="wd2" y="hd2"/>
                </a:cxn>
                <a:cxn ang="5400000">
                  <a:pos x="wd2" y="hd2"/>
                </a:cxn>
                <a:cxn ang="10800000">
                  <a:pos x="wd2" y="hd2"/>
                </a:cxn>
                <a:cxn ang="16200000">
                  <a:pos x="wd2" y="hd2"/>
                </a:cxn>
              </a:cxnLst>
              <a:rect l="0" t="0" r="r" b="b"/>
              <a:pathLst>
                <a:path w="21583" h="21600" extrusionOk="0">
                  <a:moveTo>
                    <a:pt x="15250" y="0"/>
                  </a:moveTo>
                  <a:cubicBezTo>
                    <a:pt x="14566" y="0"/>
                    <a:pt x="14010" y="677"/>
                    <a:pt x="14010" y="1512"/>
                  </a:cubicBezTo>
                  <a:lnTo>
                    <a:pt x="14010" y="16988"/>
                  </a:lnTo>
                  <a:cubicBezTo>
                    <a:pt x="14010" y="17824"/>
                    <a:pt x="14566" y="18501"/>
                    <a:pt x="15250" y="18501"/>
                  </a:cubicBezTo>
                  <a:cubicBezTo>
                    <a:pt x="15934" y="18501"/>
                    <a:pt x="16489" y="17824"/>
                    <a:pt x="16489" y="16988"/>
                  </a:cubicBezTo>
                  <a:lnTo>
                    <a:pt x="16489" y="1512"/>
                  </a:lnTo>
                  <a:cubicBezTo>
                    <a:pt x="16489" y="677"/>
                    <a:pt x="15934" y="0"/>
                    <a:pt x="15250" y="0"/>
                  </a:cubicBezTo>
                  <a:close/>
                  <a:moveTo>
                    <a:pt x="12700" y="2003"/>
                  </a:moveTo>
                  <a:cubicBezTo>
                    <a:pt x="12247" y="2644"/>
                    <a:pt x="11708" y="3186"/>
                    <a:pt x="11105" y="3604"/>
                  </a:cubicBezTo>
                  <a:cubicBezTo>
                    <a:pt x="10421" y="4079"/>
                    <a:pt x="9669" y="4386"/>
                    <a:pt x="8889" y="4510"/>
                  </a:cubicBezTo>
                  <a:lnTo>
                    <a:pt x="8889" y="13916"/>
                  </a:lnTo>
                  <a:cubicBezTo>
                    <a:pt x="9656" y="14057"/>
                    <a:pt x="10395" y="14376"/>
                    <a:pt x="11065" y="14853"/>
                  </a:cubicBezTo>
                  <a:cubicBezTo>
                    <a:pt x="11688" y="15298"/>
                    <a:pt x="12241" y="15872"/>
                    <a:pt x="12700" y="16552"/>
                  </a:cubicBezTo>
                  <a:lnTo>
                    <a:pt x="12700" y="2003"/>
                  </a:lnTo>
                  <a:close/>
                  <a:moveTo>
                    <a:pt x="4474" y="4577"/>
                  </a:moveTo>
                  <a:cubicBezTo>
                    <a:pt x="4007" y="4587"/>
                    <a:pt x="3558" y="4796"/>
                    <a:pt x="3203" y="5166"/>
                  </a:cubicBezTo>
                  <a:cubicBezTo>
                    <a:pt x="2953" y="5427"/>
                    <a:pt x="2760" y="5760"/>
                    <a:pt x="2641" y="6135"/>
                  </a:cubicBezTo>
                  <a:cubicBezTo>
                    <a:pt x="1191" y="6055"/>
                    <a:pt x="-17" y="7479"/>
                    <a:pt x="0" y="9251"/>
                  </a:cubicBezTo>
                  <a:cubicBezTo>
                    <a:pt x="17" y="10993"/>
                    <a:pt x="1215" y="12371"/>
                    <a:pt x="2641" y="12287"/>
                  </a:cubicBezTo>
                  <a:cubicBezTo>
                    <a:pt x="2775" y="12669"/>
                    <a:pt x="2981" y="13007"/>
                    <a:pt x="3243" y="13274"/>
                  </a:cubicBezTo>
                  <a:cubicBezTo>
                    <a:pt x="3591" y="13629"/>
                    <a:pt x="4022" y="13842"/>
                    <a:pt x="4475" y="13883"/>
                  </a:cubicBezTo>
                  <a:lnTo>
                    <a:pt x="7624" y="13883"/>
                  </a:lnTo>
                  <a:lnTo>
                    <a:pt x="7611" y="4581"/>
                  </a:lnTo>
                  <a:lnTo>
                    <a:pt x="4474" y="4577"/>
                  </a:lnTo>
                  <a:close/>
                  <a:moveTo>
                    <a:pt x="19616" y="4598"/>
                  </a:moveTo>
                  <a:cubicBezTo>
                    <a:pt x="19453" y="4598"/>
                    <a:pt x="19291" y="4674"/>
                    <a:pt x="19166" y="4826"/>
                  </a:cubicBezTo>
                  <a:lnTo>
                    <a:pt x="17911" y="6357"/>
                  </a:lnTo>
                  <a:cubicBezTo>
                    <a:pt x="17662" y="6661"/>
                    <a:pt x="17662" y="7153"/>
                    <a:pt x="17911" y="7457"/>
                  </a:cubicBezTo>
                  <a:cubicBezTo>
                    <a:pt x="18160" y="7761"/>
                    <a:pt x="18563" y="7761"/>
                    <a:pt x="18812" y="7457"/>
                  </a:cubicBezTo>
                  <a:lnTo>
                    <a:pt x="20068" y="5926"/>
                  </a:lnTo>
                  <a:cubicBezTo>
                    <a:pt x="20316" y="5622"/>
                    <a:pt x="20316" y="5130"/>
                    <a:pt x="20068" y="4826"/>
                  </a:cubicBezTo>
                  <a:cubicBezTo>
                    <a:pt x="19943" y="4674"/>
                    <a:pt x="19780" y="4598"/>
                    <a:pt x="19616" y="4598"/>
                  </a:cubicBezTo>
                  <a:close/>
                  <a:moveTo>
                    <a:pt x="18990" y="9204"/>
                  </a:moveTo>
                  <a:cubicBezTo>
                    <a:pt x="18638" y="9204"/>
                    <a:pt x="18353" y="9552"/>
                    <a:pt x="18353" y="9982"/>
                  </a:cubicBezTo>
                  <a:cubicBezTo>
                    <a:pt x="18353" y="10411"/>
                    <a:pt x="18638" y="10759"/>
                    <a:pt x="18990" y="10759"/>
                  </a:cubicBezTo>
                  <a:lnTo>
                    <a:pt x="20946" y="10759"/>
                  </a:lnTo>
                  <a:cubicBezTo>
                    <a:pt x="21298" y="10759"/>
                    <a:pt x="21583" y="10411"/>
                    <a:pt x="21583" y="9982"/>
                  </a:cubicBezTo>
                  <a:cubicBezTo>
                    <a:pt x="21583" y="9552"/>
                    <a:pt x="21298" y="9204"/>
                    <a:pt x="20946" y="9204"/>
                  </a:cubicBezTo>
                  <a:lnTo>
                    <a:pt x="18990" y="9204"/>
                  </a:lnTo>
                  <a:close/>
                  <a:moveTo>
                    <a:pt x="18362" y="12331"/>
                  </a:moveTo>
                  <a:cubicBezTo>
                    <a:pt x="18199" y="12331"/>
                    <a:pt x="18035" y="12408"/>
                    <a:pt x="17911" y="12560"/>
                  </a:cubicBezTo>
                  <a:cubicBezTo>
                    <a:pt x="17662" y="12863"/>
                    <a:pt x="17662" y="13356"/>
                    <a:pt x="17911" y="13660"/>
                  </a:cubicBezTo>
                  <a:lnTo>
                    <a:pt x="19166" y="15192"/>
                  </a:lnTo>
                  <a:cubicBezTo>
                    <a:pt x="19415" y="15496"/>
                    <a:pt x="19819" y="15496"/>
                    <a:pt x="20068" y="15192"/>
                  </a:cubicBezTo>
                  <a:cubicBezTo>
                    <a:pt x="20316" y="14888"/>
                    <a:pt x="20316" y="14396"/>
                    <a:pt x="20068" y="14092"/>
                  </a:cubicBezTo>
                  <a:lnTo>
                    <a:pt x="18812" y="12560"/>
                  </a:lnTo>
                  <a:cubicBezTo>
                    <a:pt x="18688" y="12408"/>
                    <a:pt x="18525" y="12331"/>
                    <a:pt x="18362" y="12331"/>
                  </a:cubicBezTo>
                  <a:close/>
                  <a:moveTo>
                    <a:pt x="3877" y="15427"/>
                  </a:moveTo>
                  <a:lnTo>
                    <a:pt x="3877" y="19341"/>
                  </a:lnTo>
                  <a:cubicBezTo>
                    <a:pt x="3877" y="20589"/>
                    <a:pt x="4705" y="21600"/>
                    <a:pt x="5728" y="21600"/>
                  </a:cubicBezTo>
                  <a:cubicBezTo>
                    <a:pt x="6751" y="21600"/>
                    <a:pt x="7580" y="20589"/>
                    <a:pt x="7580" y="19341"/>
                  </a:cubicBezTo>
                  <a:lnTo>
                    <a:pt x="7580" y="15427"/>
                  </a:lnTo>
                  <a:lnTo>
                    <a:pt x="3877" y="15427"/>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1" name="Shape">
              <a:extLst>
                <a:ext uri="{FF2B5EF4-FFF2-40B4-BE49-F238E27FC236}">
                  <a16:creationId xmlns:a16="http://schemas.microsoft.com/office/drawing/2014/main" id="{1C964634-5C70-0C79-7DC8-60DAE6725176}"/>
                </a:ext>
              </a:extLst>
            </p:cNvPr>
            <p:cNvSpPr/>
            <p:nvPr/>
          </p:nvSpPr>
          <p:spPr>
            <a:xfrm>
              <a:off x="4069272" y="3590810"/>
              <a:ext cx="555158" cy="555583"/>
            </a:xfrm>
            <a:custGeom>
              <a:avLst/>
              <a:gdLst/>
              <a:ahLst/>
              <a:cxnLst>
                <a:cxn ang="0">
                  <a:pos x="wd2" y="hd2"/>
                </a:cxn>
                <a:cxn ang="5400000">
                  <a:pos x="wd2" y="hd2"/>
                </a:cxn>
                <a:cxn ang="10800000">
                  <a:pos x="wd2" y="hd2"/>
                </a:cxn>
                <a:cxn ang="16200000">
                  <a:pos x="wd2" y="hd2"/>
                </a:cxn>
              </a:cxnLst>
              <a:rect l="0" t="0" r="r" b="b"/>
              <a:pathLst>
                <a:path w="21557" h="21511" extrusionOk="0">
                  <a:moveTo>
                    <a:pt x="10570" y="8"/>
                  </a:moveTo>
                  <a:cubicBezTo>
                    <a:pt x="10076" y="53"/>
                    <a:pt x="9620" y="287"/>
                    <a:pt x="9294" y="660"/>
                  </a:cubicBezTo>
                  <a:lnTo>
                    <a:pt x="5398" y="4530"/>
                  </a:lnTo>
                  <a:lnTo>
                    <a:pt x="7680" y="6811"/>
                  </a:lnTo>
                  <a:cubicBezTo>
                    <a:pt x="7816" y="6946"/>
                    <a:pt x="7882" y="7136"/>
                    <a:pt x="7861" y="7326"/>
                  </a:cubicBezTo>
                  <a:cubicBezTo>
                    <a:pt x="7844" y="7479"/>
                    <a:pt x="7771" y="7621"/>
                    <a:pt x="7655" y="7723"/>
                  </a:cubicBezTo>
                  <a:lnTo>
                    <a:pt x="6722" y="8596"/>
                  </a:lnTo>
                  <a:cubicBezTo>
                    <a:pt x="6434" y="8853"/>
                    <a:pt x="6444" y="9305"/>
                    <a:pt x="6741" y="9551"/>
                  </a:cubicBezTo>
                  <a:cubicBezTo>
                    <a:pt x="6967" y="9736"/>
                    <a:pt x="7293" y="9734"/>
                    <a:pt x="7517" y="9545"/>
                  </a:cubicBezTo>
                  <a:lnTo>
                    <a:pt x="8515" y="8583"/>
                  </a:lnTo>
                  <a:cubicBezTo>
                    <a:pt x="8638" y="8453"/>
                    <a:pt x="8809" y="8380"/>
                    <a:pt x="8988" y="8379"/>
                  </a:cubicBezTo>
                  <a:cubicBezTo>
                    <a:pt x="9156" y="8379"/>
                    <a:pt x="9319" y="8443"/>
                    <a:pt x="9440" y="8559"/>
                  </a:cubicBezTo>
                  <a:lnTo>
                    <a:pt x="10769" y="9879"/>
                  </a:lnTo>
                  <a:lnTo>
                    <a:pt x="11684" y="9023"/>
                  </a:lnTo>
                  <a:lnTo>
                    <a:pt x="11031" y="8337"/>
                  </a:lnTo>
                  <a:cubicBezTo>
                    <a:pt x="10468" y="7583"/>
                    <a:pt x="10548" y="6530"/>
                    <a:pt x="11219" y="5870"/>
                  </a:cubicBezTo>
                  <a:cubicBezTo>
                    <a:pt x="11890" y="5210"/>
                    <a:pt x="12947" y="5144"/>
                    <a:pt x="13695" y="5715"/>
                  </a:cubicBezTo>
                  <a:lnTo>
                    <a:pt x="14366" y="6326"/>
                  </a:lnTo>
                  <a:lnTo>
                    <a:pt x="16166" y="4556"/>
                  </a:lnTo>
                  <a:lnTo>
                    <a:pt x="12037" y="490"/>
                  </a:lnTo>
                  <a:cubicBezTo>
                    <a:pt x="11636" y="134"/>
                    <a:pt x="11105" y="-41"/>
                    <a:pt x="10570" y="8"/>
                  </a:cubicBezTo>
                  <a:close/>
                  <a:moveTo>
                    <a:pt x="17038" y="5435"/>
                  </a:moveTo>
                  <a:lnTo>
                    <a:pt x="14848" y="7675"/>
                  </a:lnTo>
                  <a:cubicBezTo>
                    <a:pt x="14687" y="7799"/>
                    <a:pt x="14483" y="7853"/>
                    <a:pt x="14282" y="7825"/>
                  </a:cubicBezTo>
                  <a:cubicBezTo>
                    <a:pt x="14113" y="7800"/>
                    <a:pt x="13956" y="7719"/>
                    <a:pt x="13840" y="7593"/>
                  </a:cubicBezTo>
                  <a:lnTo>
                    <a:pt x="12928" y="6690"/>
                  </a:lnTo>
                  <a:cubicBezTo>
                    <a:pt x="12661" y="6476"/>
                    <a:pt x="12271" y="6516"/>
                    <a:pt x="12054" y="6779"/>
                  </a:cubicBezTo>
                  <a:cubicBezTo>
                    <a:pt x="11856" y="7019"/>
                    <a:pt x="11869" y="7368"/>
                    <a:pt x="12083" y="7593"/>
                  </a:cubicBezTo>
                  <a:lnTo>
                    <a:pt x="13060" y="8559"/>
                  </a:lnTo>
                  <a:cubicBezTo>
                    <a:pt x="13158" y="8688"/>
                    <a:pt x="13209" y="8846"/>
                    <a:pt x="13203" y="9008"/>
                  </a:cubicBezTo>
                  <a:cubicBezTo>
                    <a:pt x="13198" y="9170"/>
                    <a:pt x="13137" y="9326"/>
                    <a:pt x="13029" y="9448"/>
                  </a:cubicBezTo>
                  <a:lnTo>
                    <a:pt x="11704" y="10753"/>
                  </a:lnTo>
                  <a:lnTo>
                    <a:pt x="12590" y="11632"/>
                  </a:lnTo>
                  <a:lnTo>
                    <a:pt x="13193" y="11080"/>
                  </a:lnTo>
                  <a:cubicBezTo>
                    <a:pt x="14035" y="10432"/>
                    <a:pt x="15246" y="10590"/>
                    <a:pt x="15893" y="11432"/>
                  </a:cubicBezTo>
                  <a:cubicBezTo>
                    <a:pt x="16418" y="12115"/>
                    <a:pt x="16405" y="13067"/>
                    <a:pt x="15861" y="13735"/>
                  </a:cubicBezTo>
                  <a:lnTo>
                    <a:pt x="15264" y="14350"/>
                  </a:lnTo>
                  <a:lnTo>
                    <a:pt x="17051" y="16130"/>
                  </a:lnTo>
                  <a:lnTo>
                    <a:pt x="21106" y="12043"/>
                  </a:lnTo>
                  <a:cubicBezTo>
                    <a:pt x="21422" y="11660"/>
                    <a:pt x="21581" y="11173"/>
                    <a:pt x="21555" y="10679"/>
                  </a:cubicBezTo>
                  <a:cubicBezTo>
                    <a:pt x="21530" y="10213"/>
                    <a:pt x="21341" y="9770"/>
                    <a:pt x="21022" y="9430"/>
                  </a:cubicBezTo>
                  <a:lnTo>
                    <a:pt x="17038" y="5435"/>
                  </a:lnTo>
                  <a:close/>
                  <a:moveTo>
                    <a:pt x="4507" y="5457"/>
                  </a:moveTo>
                  <a:lnTo>
                    <a:pt x="604" y="9338"/>
                  </a:lnTo>
                  <a:cubicBezTo>
                    <a:pt x="200" y="9740"/>
                    <a:pt x="-19" y="10291"/>
                    <a:pt x="1" y="10860"/>
                  </a:cubicBezTo>
                  <a:cubicBezTo>
                    <a:pt x="22" y="11445"/>
                    <a:pt x="294" y="11993"/>
                    <a:pt x="746" y="12367"/>
                  </a:cubicBezTo>
                  <a:lnTo>
                    <a:pt x="4493" y="16128"/>
                  </a:lnTo>
                  <a:lnTo>
                    <a:pt x="6778" y="13888"/>
                  </a:lnTo>
                  <a:cubicBezTo>
                    <a:pt x="6903" y="13776"/>
                    <a:pt x="7067" y="13718"/>
                    <a:pt x="7235" y="13728"/>
                  </a:cubicBezTo>
                  <a:cubicBezTo>
                    <a:pt x="7400" y="13739"/>
                    <a:pt x="7555" y="13814"/>
                    <a:pt x="7664" y="13937"/>
                  </a:cubicBezTo>
                  <a:lnTo>
                    <a:pt x="8644" y="14862"/>
                  </a:lnTo>
                  <a:cubicBezTo>
                    <a:pt x="8877" y="15063"/>
                    <a:pt x="9225" y="15053"/>
                    <a:pt x="9446" y="14838"/>
                  </a:cubicBezTo>
                  <a:cubicBezTo>
                    <a:pt x="9690" y="14600"/>
                    <a:pt x="9687" y="14206"/>
                    <a:pt x="9438" y="13972"/>
                  </a:cubicBezTo>
                  <a:lnTo>
                    <a:pt x="8554" y="13029"/>
                  </a:lnTo>
                  <a:cubicBezTo>
                    <a:pt x="8434" y="12908"/>
                    <a:pt x="8365" y="12746"/>
                    <a:pt x="8363" y="12576"/>
                  </a:cubicBezTo>
                  <a:cubicBezTo>
                    <a:pt x="8361" y="12371"/>
                    <a:pt x="8453" y="12176"/>
                    <a:pt x="8614" y="12048"/>
                  </a:cubicBezTo>
                  <a:lnTo>
                    <a:pt x="9881" y="10785"/>
                  </a:lnTo>
                  <a:lnTo>
                    <a:pt x="8997" y="9925"/>
                  </a:lnTo>
                  <a:lnTo>
                    <a:pt x="8351" y="10534"/>
                  </a:lnTo>
                  <a:cubicBezTo>
                    <a:pt x="7605" y="11094"/>
                    <a:pt x="6562" y="11037"/>
                    <a:pt x="5882" y="10400"/>
                  </a:cubicBezTo>
                  <a:cubicBezTo>
                    <a:pt x="5150" y="9714"/>
                    <a:pt x="5063" y="8584"/>
                    <a:pt x="5683" y="7796"/>
                  </a:cubicBezTo>
                  <a:lnTo>
                    <a:pt x="6272" y="7209"/>
                  </a:lnTo>
                  <a:lnTo>
                    <a:pt x="4507" y="5457"/>
                  </a:lnTo>
                  <a:close/>
                  <a:moveTo>
                    <a:pt x="10793" y="11704"/>
                  </a:moveTo>
                  <a:lnTo>
                    <a:pt x="9936" y="12532"/>
                  </a:lnTo>
                  <a:lnTo>
                    <a:pt x="10498" y="13151"/>
                  </a:lnTo>
                  <a:cubicBezTo>
                    <a:pt x="11130" y="13920"/>
                    <a:pt x="11071" y="15043"/>
                    <a:pt x="10362" y="15742"/>
                  </a:cubicBezTo>
                  <a:cubicBezTo>
                    <a:pt x="9661" y="16434"/>
                    <a:pt x="8549" y="16487"/>
                    <a:pt x="7784" y="15865"/>
                  </a:cubicBezTo>
                  <a:lnTo>
                    <a:pt x="7229" y="15319"/>
                  </a:lnTo>
                  <a:lnTo>
                    <a:pt x="5405" y="17070"/>
                  </a:lnTo>
                  <a:lnTo>
                    <a:pt x="9310" y="20919"/>
                  </a:lnTo>
                  <a:cubicBezTo>
                    <a:pt x="9649" y="21246"/>
                    <a:pt x="10089" y="21451"/>
                    <a:pt x="10558" y="21499"/>
                  </a:cubicBezTo>
                  <a:cubicBezTo>
                    <a:pt x="11139" y="21559"/>
                    <a:pt x="11719" y="21378"/>
                    <a:pt x="12162" y="20998"/>
                  </a:cubicBezTo>
                  <a:lnTo>
                    <a:pt x="16138" y="17036"/>
                  </a:lnTo>
                  <a:lnTo>
                    <a:pt x="13876" y="14785"/>
                  </a:lnTo>
                  <a:cubicBezTo>
                    <a:pt x="13778" y="14673"/>
                    <a:pt x="13723" y="14529"/>
                    <a:pt x="13723" y="14381"/>
                  </a:cubicBezTo>
                  <a:cubicBezTo>
                    <a:pt x="13722" y="14206"/>
                    <a:pt x="13795" y="14039"/>
                    <a:pt x="13923" y="13920"/>
                  </a:cubicBezTo>
                  <a:lnTo>
                    <a:pt x="14878" y="12930"/>
                  </a:lnTo>
                  <a:cubicBezTo>
                    <a:pt x="15094" y="12692"/>
                    <a:pt x="15081" y="12325"/>
                    <a:pt x="14848" y="12102"/>
                  </a:cubicBezTo>
                  <a:cubicBezTo>
                    <a:pt x="14589" y="11856"/>
                    <a:pt x="14172" y="11885"/>
                    <a:pt x="13951" y="12165"/>
                  </a:cubicBezTo>
                  <a:lnTo>
                    <a:pt x="13210" y="12894"/>
                  </a:lnTo>
                  <a:cubicBezTo>
                    <a:pt x="13058" y="13083"/>
                    <a:pt x="12829" y="13193"/>
                    <a:pt x="12586" y="13195"/>
                  </a:cubicBezTo>
                  <a:cubicBezTo>
                    <a:pt x="12377" y="13197"/>
                    <a:pt x="12176" y="13118"/>
                    <a:pt x="12025" y="12974"/>
                  </a:cubicBezTo>
                  <a:lnTo>
                    <a:pt x="10793" y="1170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2" name="Shape">
              <a:extLst>
                <a:ext uri="{FF2B5EF4-FFF2-40B4-BE49-F238E27FC236}">
                  <a16:creationId xmlns:a16="http://schemas.microsoft.com/office/drawing/2014/main" id="{BF47C4CC-A7D8-DD24-3375-2D43FF73A885}"/>
                </a:ext>
              </a:extLst>
            </p:cNvPr>
            <p:cNvSpPr/>
            <p:nvPr/>
          </p:nvSpPr>
          <p:spPr>
            <a:xfrm>
              <a:off x="6244112" y="3584886"/>
              <a:ext cx="515862" cy="500916"/>
            </a:xfrm>
            <a:custGeom>
              <a:avLst/>
              <a:gdLst/>
              <a:ahLst/>
              <a:cxnLst>
                <a:cxn ang="0">
                  <a:pos x="wd2" y="hd2"/>
                </a:cxn>
                <a:cxn ang="5400000">
                  <a:pos x="wd2" y="hd2"/>
                </a:cxn>
                <a:cxn ang="10800000">
                  <a:pos x="wd2" y="hd2"/>
                </a:cxn>
                <a:cxn ang="16200000">
                  <a:pos x="wd2" y="hd2"/>
                </a:cxn>
              </a:cxnLst>
              <a:rect l="0" t="0" r="r" b="b"/>
              <a:pathLst>
                <a:path w="21594" h="21583" extrusionOk="0">
                  <a:moveTo>
                    <a:pt x="10789" y="0"/>
                  </a:moveTo>
                  <a:cubicBezTo>
                    <a:pt x="10150" y="0"/>
                    <a:pt x="9511" y="244"/>
                    <a:pt x="9023" y="734"/>
                  </a:cubicBezTo>
                  <a:cubicBezTo>
                    <a:pt x="8047" y="1712"/>
                    <a:pt x="8047" y="3301"/>
                    <a:pt x="9023" y="4279"/>
                  </a:cubicBezTo>
                  <a:cubicBezTo>
                    <a:pt x="9999" y="5258"/>
                    <a:pt x="11581" y="5258"/>
                    <a:pt x="12557" y="4279"/>
                  </a:cubicBezTo>
                  <a:cubicBezTo>
                    <a:pt x="13533" y="3301"/>
                    <a:pt x="13533" y="1712"/>
                    <a:pt x="12557" y="734"/>
                  </a:cubicBezTo>
                  <a:cubicBezTo>
                    <a:pt x="12069" y="244"/>
                    <a:pt x="11429" y="0"/>
                    <a:pt x="10789" y="0"/>
                  </a:cubicBezTo>
                  <a:close/>
                  <a:moveTo>
                    <a:pt x="7803" y="4886"/>
                  </a:moveTo>
                  <a:cubicBezTo>
                    <a:pt x="7363" y="5315"/>
                    <a:pt x="7009" y="5823"/>
                    <a:pt x="6758" y="6385"/>
                  </a:cubicBezTo>
                  <a:cubicBezTo>
                    <a:pt x="6491" y="6983"/>
                    <a:pt x="6347" y="7630"/>
                    <a:pt x="6335" y="8285"/>
                  </a:cubicBezTo>
                  <a:lnTo>
                    <a:pt x="6335" y="9595"/>
                  </a:lnTo>
                  <a:cubicBezTo>
                    <a:pt x="6335" y="9719"/>
                    <a:pt x="6374" y="9838"/>
                    <a:pt x="6446" y="9938"/>
                  </a:cubicBezTo>
                  <a:cubicBezTo>
                    <a:pt x="6556" y="10090"/>
                    <a:pt x="6730" y="10182"/>
                    <a:pt x="6918" y="10185"/>
                  </a:cubicBezTo>
                  <a:lnTo>
                    <a:pt x="14591" y="10185"/>
                  </a:lnTo>
                  <a:cubicBezTo>
                    <a:pt x="14794" y="10204"/>
                    <a:pt x="14992" y="10119"/>
                    <a:pt x="15117" y="9958"/>
                  </a:cubicBezTo>
                  <a:cubicBezTo>
                    <a:pt x="15203" y="9847"/>
                    <a:pt x="15246" y="9709"/>
                    <a:pt x="15239" y="9569"/>
                  </a:cubicBezTo>
                  <a:lnTo>
                    <a:pt x="15239" y="8392"/>
                  </a:lnTo>
                  <a:cubicBezTo>
                    <a:pt x="15239" y="7679"/>
                    <a:pt x="15081" y="6975"/>
                    <a:pt x="14778" y="6330"/>
                  </a:cubicBezTo>
                  <a:cubicBezTo>
                    <a:pt x="14524" y="5788"/>
                    <a:pt x="14171" y="5299"/>
                    <a:pt x="13739" y="4886"/>
                  </a:cubicBezTo>
                  <a:cubicBezTo>
                    <a:pt x="13007" y="5851"/>
                    <a:pt x="11856" y="6400"/>
                    <a:pt x="10648" y="6361"/>
                  </a:cubicBezTo>
                  <a:cubicBezTo>
                    <a:pt x="9527" y="6325"/>
                    <a:pt x="8481" y="5783"/>
                    <a:pt x="7803" y="4886"/>
                  </a:cubicBezTo>
                  <a:close/>
                  <a:moveTo>
                    <a:pt x="4455" y="11396"/>
                  </a:moveTo>
                  <a:cubicBezTo>
                    <a:pt x="3815" y="11396"/>
                    <a:pt x="3176" y="11640"/>
                    <a:pt x="2688" y="12129"/>
                  </a:cubicBezTo>
                  <a:cubicBezTo>
                    <a:pt x="1713" y="13108"/>
                    <a:pt x="1713" y="14696"/>
                    <a:pt x="2688" y="15675"/>
                  </a:cubicBezTo>
                  <a:cubicBezTo>
                    <a:pt x="3664" y="16654"/>
                    <a:pt x="5246" y="16654"/>
                    <a:pt x="6222" y="15675"/>
                  </a:cubicBezTo>
                  <a:cubicBezTo>
                    <a:pt x="7198" y="14696"/>
                    <a:pt x="7198" y="13108"/>
                    <a:pt x="6222" y="12129"/>
                  </a:cubicBezTo>
                  <a:cubicBezTo>
                    <a:pt x="5734" y="11640"/>
                    <a:pt x="5094" y="11396"/>
                    <a:pt x="4455" y="11396"/>
                  </a:cubicBezTo>
                  <a:close/>
                  <a:moveTo>
                    <a:pt x="17143" y="11396"/>
                  </a:moveTo>
                  <a:cubicBezTo>
                    <a:pt x="16504" y="11396"/>
                    <a:pt x="15865" y="11640"/>
                    <a:pt x="15377" y="12129"/>
                  </a:cubicBezTo>
                  <a:cubicBezTo>
                    <a:pt x="14401" y="13108"/>
                    <a:pt x="14401" y="14696"/>
                    <a:pt x="15377" y="15675"/>
                  </a:cubicBezTo>
                  <a:cubicBezTo>
                    <a:pt x="16353" y="16654"/>
                    <a:pt x="17935" y="16654"/>
                    <a:pt x="18911" y="15675"/>
                  </a:cubicBezTo>
                  <a:cubicBezTo>
                    <a:pt x="19886" y="14696"/>
                    <a:pt x="19886" y="13108"/>
                    <a:pt x="18911" y="12129"/>
                  </a:cubicBezTo>
                  <a:cubicBezTo>
                    <a:pt x="18423" y="11640"/>
                    <a:pt x="17783" y="11396"/>
                    <a:pt x="17143" y="11396"/>
                  </a:cubicBezTo>
                  <a:close/>
                  <a:moveTo>
                    <a:pt x="11396" y="11455"/>
                  </a:moveTo>
                  <a:lnTo>
                    <a:pt x="10155" y="11466"/>
                  </a:lnTo>
                  <a:lnTo>
                    <a:pt x="10160" y="13083"/>
                  </a:lnTo>
                  <a:lnTo>
                    <a:pt x="8028" y="15209"/>
                  </a:lnTo>
                  <a:lnTo>
                    <a:pt x="8835" y="16104"/>
                  </a:lnTo>
                  <a:lnTo>
                    <a:pt x="10807" y="14204"/>
                  </a:lnTo>
                  <a:lnTo>
                    <a:pt x="12709" y="16105"/>
                  </a:lnTo>
                  <a:lnTo>
                    <a:pt x="13581" y="15208"/>
                  </a:lnTo>
                  <a:lnTo>
                    <a:pt x="11396" y="13048"/>
                  </a:lnTo>
                  <a:lnTo>
                    <a:pt x="11396" y="11455"/>
                  </a:lnTo>
                  <a:close/>
                  <a:moveTo>
                    <a:pt x="1469" y="16281"/>
                  </a:moveTo>
                  <a:cubicBezTo>
                    <a:pt x="1028" y="16710"/>
                    <a:pt x="674" y="17219"/>
                    <a:pt x="423" y="17781"/>
                  </a:cubicBezTo>
                  <a:cubicBezTo>
                    <a:pt x="156" y="18379"/>
                    <a:pt x="12" y="19025"/>
                    <a:pt x="0" y="19681"/>
                  </a:cubicBezTo>
                  <a:lnTo>
                    <a:pt x="0" y="20991"/>
                  </a:lnTo>
                  <a:cubicBezTo>
                    <a:pt x="0" y="21114"/>
                    <a:pt x="39" y="21234"/>
                    <a:pt x="111" y="21333"/>
                  </a:cubicBezTo>
                  <a:cubicBezTo>
                    <a:pt x="221" y="21486"/>
                    <a:pt x="396" y="21578"/>
                    <a:pt x="583" y="21581"/>
                  </a:cubicBezTo>
                  <a:lnTo>
                    <a:pt x="8256" y="21581"/>
                  </a:lnTo>
                  <a:cubicBezTo>
                    <a:pt x="8459" y="21600"/>
                    <a:pt x="8657" y="21514"/>
                    <a:pt x="8783" y="21354"/>
                  </a:cubicBezTo>
                  <a:cubicBezTo>
                    <a:pt x="8869" y="21243"/>
                    <a:pt x="8912" y="21105"/>
                    <a:pt x="8905" y="20965"/>
                  </a:cubicBezTo>
                  <a:lnTo>
                    <a:pt x="8905" y="19788"/>
                  </a:lnTo>
                  <a:cubicBezTo>
                    <a:pt x="8904" y="19075"/>
                    <a:pt x="8746" y="18371"/>
                    <a:pt x="8444" y="17726"/>
                  </a:cubicBezTo>
                  <a:cubicBezTo>
                    <a:pt x="8189" y="17184"/>
                    <a:pt x="7837" y="16694"/>
                    <a:pt x="7404" y="16281"/>
                  </a:cubicBezTo>
                  <a:cubicBezTo>
                    <a:pt x="6673" y="17246"/>
                    <a:pt x="5522" y="17796"/>
                    <a:pt x="4314" y="17757"/>
                  </a:cubicBezTo>
                  <a:cubicBezTo>
                    <a:pt x="3192" y="17721"/>
                    <a:pt x="2146" y="17179"/>
                    <a:pt x="1469" y="16281"/>
                  </a:cubicBezTo>
                  <a:close/>
                  <a:moveTo>
                    <a:pt x="14157" y="16281"/>
                  </a:moveTo>
                  <a:cubicBezTo>
                    <a:pt x="13717" y="16710"/>
                    <a:pt x="13363" y="17219"/>
                    <a:pt x="13112" y="17781"/>
                  </a:cubicBezTo>
                  <a:cubicBezTo>
                    <a:pt x="12845" y="18379"/>
                    <a:pt x="12700" y="19025"/>
                    <a:pt x="12688" y="19681"/>
                  </a:cubicBezTo>
                  <a:lnTo>
                    <a:pt x="12688" y="20991"/>
                  </a:lnTo>
                  <a:cubicBezTo>
                    <a:pt x="12689" y="21114"/>
                    <a:pt x="12728" y="21234"/>
                    <a:pt x="12800" y="21333"/>
                  </a:cubicBezTo>
                  <a:cubicBezTo>
                    <a:pt x="12910" y="21486"/>
                    <a:pt x="13084" y="21578"/>
                    <a:pt x="13272" y="21581"/>
                  </a:cubicBezTo>
                  <a:lnTo>
                    <a:pt x="20945" y="21581"/>
                  </a:lnTo>
                  <a:cubicBezTo>
                    <a:pt x="21147" y="21600"/>
                    <a:pt x="21346" y="21514"/>
                    <a:pt x="21471" y="21354"/>
                  </a:cubicBezTo>
                  <a:cubicBezTo>
                    <a:pt x="21557" y="21243"/>
                    <a:pt x="21600" y="21105"/>
                    <a:pt x="21593" y="20965"/>
                  </a:cubicBezTo>
                  <a:lnTo>
                    <a:pt x="21593" y="19788"/>
                  </a:lnTo>
                  <a:cubicBezTo>
                    <a:pt x="21592" y="19075"/>
                    <a:pt x="21435" y="18371"/>
                    <a:pt x="21132" y="17726"/>
                  </a:cubicBezTo>
                  <a:cubicBezTo>
                    <a:pt x="20878" y="17184"/>
                    <a:pt x="20525" y="16694"/>
                    <a:pt x="20092" y="16281"/>
                  </a:cubicBezTo>
                  <a:cubicBezTo>
                    <a:pt x="19361" y="17246"/>
                    <a:pt x="18210" y="17796"/>
                    <a:pt x="17002" y="17757"/>
                  </a:cubicBezTo>
                  <a:cubicBezTo>
                    <a:pt x="15880" y="17721"/>
                    <a:pt x="14834" y="17179"/>
                    <a:pt x="14157" y="16281"/>
                  </a:cubicBez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06CBC8BF-ED3D-1E88-CA62-B19F30148EE5}"/>
                </a:ext>
              </a:extLst>
            </p:cNvPr>
            <p:cNvSpPr txBox="1"/>
            <p:nvPr/>
          </p:nvSpPr>
          <p:spPr>
            <a:xfrm>
              <a:off x="1741120" y="2317980"/>
              <a:ext cx="9535392" cy="31566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64798C"/>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516B7E"/>
                </a:solidFill>
                <a:effectLst/>
                <a:uLnTx/>
                <a:uFillTx/>
                <a:latin typeface="Corbel" panose="020B0503020204020204" pitchFamily="34" charset="0"/>
                <a:sym typeface="DM Sans Regular"/>
              </a:endParaRPr>
            </a:p>
          </p:txBody>
        </p:sp>
      </p:grpSp>
      <p:sp>
        <p:nvSpPr>
          <p:cNvPr id="27"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9828330" y="2841583"/>
            <a:ext cx="1992439" cy="245537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There</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are several healthcare companies that provide medical staff and clinic management services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e.g</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Lagoon hospital,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Isos</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si</a:t>
            </a:r>
            <a:r>
              <a:rPr lang="en-US" sz="1200" b="1" kern="0" dirty="0" err="1">
                <a:solidFill>
                  <a:schemeClr val="tx1"/>
                </a:solidFill>
                <a:latin typeface="Corbel" panose="020B0503020204020204" pitchFamily="34" charset="0"/>
              </a:rPr>
              <a:t>ms</a:t>
            </a:r>
            <a:r>
              <a:rPr lang="en-US" sz="1200" b="1" kern="0" dirty="0">
                <a:solidFill>
                  <a:schemeClr val="tx1"/>
                </a:solidFill>
                <a:latin typeface="Corbel" panose="020B0503020204020204" pitchFamily="34" charset="0"/>
              </a:rPr>
              <a:t>, ambulance NG etc.</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The competition is getting tougher with shrinking viable market and more new entrants </a:t>
            </a:r>
            <a:endPar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Tree>
    <p:extLst>
      <p:ext uri="{BB962C8B-B14F-4D97-AF65-F5344CB8AC3E}">
        <p14:creationId xmlns:p14="http://schemas.microsoft.com/office/powerpoint/2010/main" val="4160045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12AC-0BAE-77A1-ACAD-A0A7AF591FCD}"/>
              </a:ext>
            </a:extLst>
          </p:cNvPr>
          <p:cNvSpPr>
            <a:spLocks noGrp="1"/>
          </p:cNvSpPr>
          <p:nvPr>
            <p:ph type="title"/>
          </p:nvPr>
        </p:nvSpPr>
        <p:spPr>
          <a:xfrm>
            <a:off x="756431" y="70484"/>
            <a:ext cx="10104784" cy="568939"/>
          </a:xfrm>
        </p:spPr>
        <p:txBody>
          <a:bodyPr/>
          <a:lstStyle/>
          <a:p>
            <a:r>
              <a:rPr lang="en-US" dirty="0"/>
              <a:t>Five Forces Analysis : MEDPROJECT  </a:t>
            </a:r>
            <a:endParaRPr lang="aa-ET" dirty="0"/>
          </a:p>
        </p:txBody>
      </p:sp>
      <p:sp>
        <p:nvSpPr>
          <p:cNvPr id="4" name="Slide Number Placeholder 3">
            <a:extLst>
              <a:ext uri="{FF2B5EF4-FFF2-40B4-BE49-F238E27FC236}">
                <a16:creationId xmlns:a16="http://schemas.microsoft.com/office/drawing/2014/main" id="{D93718C8-8A93-9CC0-F927-9BAF7A1C48BA}"/>
              </a:ext>
            </a:extLst>
          </p:cNvPr>
          <p:cNvSpPr>
            <a:spLocks noGrp="1"/>
          </p:cNvSpPr>
          <p:nvPr>
            <p:ph type="sldNum" sz="quarter" idx="12"/>
          </p:nvPr>
        </p:nvSpPr>
        <p:spPr/>
        <p:txBody>
          <a:bodyPr/>
          <a:lstStyle/>
          <a:p>
            <a:fld id="{88DB5A6F-883B-4080-A811-FB5B8D05AFA3}" type="slidenum">
              <a:rPr lang="en-GB" smtClean="0"/>
              <a:pPr/>
              <a:t>24</a:t>
            </a:fld>
            <a:endParaRPr lang="en-GB"/>
          </a:p>
        </p:txBody>
      </p:sp>
      <p:grpSp>
        <p:nvGrpSpPr>
          <p:cNvPr id="51" name="Group 50">
            <a:extLst>
              <a:ext uri="{FF2B5EF4-FFF2-40B4-BE49-F238E27FC236}">
                <a16:creationId xmlns:a16="http://schemas.microsoft.com/office/drawing/2014/main" id="{F637EF9B-8601-3D75-BCE5-07D21F1EFC43}"/>
              </a:ext>
            </a:extLst>
          </p:cNvPr>
          <p:cNvGrpSpPr/>
          <p:nvPr/>
        </p:nvGrpSpPr>
        <p:grpSpPr>
          <a:xfrm>
            <a:off x="356258" y="836370"/>
            <a:ext cx="11536729" cy="5519979"/>
            <a:chOff x="1182701" y="2317980"/>
            <a:chExt cx="10645455" cy="6147568"/>
          </a:xfrm>
        </p:grpSpPr>
        <p:sp>
          <p:nvSpPr>
            <p:cNvPr id="53" name="Rounded Rectangle">
              <a:extLst>
                <a:ext uri="{FF2B5EF4-FFF2-40B4-BE49-F238E27FC236}">
                  <a16:creationId xmlns:a16="http://schemas.microsoft.com/office/drawing/2014/main" id="{99DA1830-6529-17B1-375F-059EF6524FD8}"/>
                </a:ext>
              </a:extLst>
            </p:cNvPr>
            <p:cNvSpPr/>
            <p:nvPr/>
          </p:nvSpPr>
          <p:spPr>
            <a:xfrm>
              <a:off x="1182701" y="3394671"/>
              <a:ext cx="2050097" cy="5070877"/>
            </a:xfrm>
            <a:prstGeom prst="roundRect">
              <a:avLst>
                <a:gd name="adj" fmla="val 5220"/>
              </a:avLst>
            </a:prstGeom>
            <a:solidFill>
              <a:schemeClr val="accent2"/>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4" name="New Entry">
              <a:extLst>
                <a:ext uri="{FF2B5EF4-FFF2-40B4-BE49-F238E27FC236}">
                  <a16:creationId xmlns:a16="http://schemas.microsoft.com/office/drawing/2014/main" id="{F4C31876-B62D-CA44-15C9-1AD0FEC3D4FA}"/>
                </a:ext>
              </a:extLst>
            </p:cNvPr>
            <p:cNvSpPr txBox="1"/>
            <p:nvPr/>
          </p:nvSpPr>
          <p:spPr>
            <a:xfrm>
              <a:off x="1574985" y="4144998"/>
              <a:ext cx="1265529"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New Entry</a:t>
              </a:r>
            </a:p>
          </p:txBody>
        </p:sp>
        <p:sp>
          <p:nvSpPr>
            <p:cNvPr id="55" name="Lorem ipsum dolor sit amet, consectetur adipiscing elit, sed do eiusmod tempor incididunt ut labore">
              <a:extLst>
                <a:ext uri="{FF2B5EF4-FFF2-40B4-BE49-F238E27FC236}">
                  <a16:creationId xmlns:a16="http://schemas.microsoft.com/office/drawing/2014/main" id="{6CF994BC-10DA-DB5D-91F7-74746BEA3111}"/>
                </a:ext>
              </a:extLst>
            </p:cNvPr>
            <p:cNvSpPr txBox="1"/>
            <p:nvPr/>
          </p:nvSpPr>
          <p:spPr>
            <a:xfrm>
              <a:off x="1295515" y="4540369"/>
              <a:ext cx="1829499" cy="314585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200" b="1" kern="0" noProof="0" dirty="0">
                  <a:solidFill>
                    <a:schemeClr val="tx1"/>
                  </a:solidFill>
                  <a:latin typeface="Corbel" panose="020B0503020204020204" pitchFamily="34" charset="0"/>
                </a:rPr>
                <a:t>Barriers to entry of new entrants are as follows</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dirty="0">
                <a:ln>
                  <a:noFill/>
                </a:ln>
                <a:solidFill>
                  <a:schemeClr val="tx1"/>
                </a:solidFill>
                <a:effectLst/>
                <a:uLnTx/>
                <a:uFillTx/>
                <a:latin typeface="Corbel" panose="020B0503020204020204" pitchFamily="34" charset="0"/>
                <a:sym typeface="DM Sans Regular"/>
              </a:endParaRPr>
            </a:p>
            <a:p>
              <a:pPr marL="228600" marR="0" lvl="0" indent="-228600" defTabSz="325120" eaLnBrk="1" fontAlgn="auto" latinLnBrk="0" hangingPunct="0">
                <a:lnSpc>
                  <a:spcPct val="100000"/>
                </a:lnSpc>
                <a:spcBef>
                  <a:spcPts val="0"/>
                </a:spcBef>
                <a:spcAft>
                  <a:spcPts val="0"/>
                </a:spcAft>
                <a:buClrTx/>
                <a:buSzTx/>
                <a:buFontTx/>
                <a:buAutoNum type="arabicPeriod"/>
                <a:tabLst/>
                <a:defRPr/>
              </a:pPr>
              <a:r>
                <a:rPr lang="en-US" sz="1200" b="1" kern="0" dirty="0">
                  <a:solidFill>
                    <a:schemeClr val="tx1"/>
                  </a:solidFill>
                  <a:latin typeface="Corbel" panose="020B0503020204020204" pitchFamily="34" charset="0"/>
                </a:rPr>
                <a:t>Capital investment in purchase of equipment such as Audiometers and Spirometers </a:t>
              </a:r>
            </a:p>
            <a:p>
              <a:pPr marL="228600" marR="0" lvl="0" indent="-228600" defTabSz="325120" eaLnBrk="1" fontAlgn="auto" latinLnBrk="0" hangingPunct="0">
                <a:lnSpc>
                  <a:spcPct val="100000"/>
                </a:lnSpc>
                <a:spcBef>
                  <a:spcPts val="0"/>
                </a:spcBef>
                <a:spcAft>
                  <a:spcPts val="0"/>
                </a:spcAft>
                <a:buClrTx/>
                <a:buSzTx/>
                <a:buFontTx/>
                <a:buAutoNum type="arabicPeriod"/>
                <a:tabLst/>
                <a:defRPr/>
              </a:pPr>
              <a:r>
                <a:rPr lang="en-US" sz="1200" b="1" kern="0" dirty="0">
                  <a:solidFill>
                    <a:schemeClr val="tx1"/>
                  </a:solidFill>
                  <a:latin typeface="Corbel" panose="020B0503020204020204" pitchFamily="34" charset="0"/>
                </a:rPr>
                <a:t>Large project management capacity </a:t>
              </a:r>
            </a:p>
            <a:p>
              <a:pPr marR="0" lvl="0" defTabSz="325120" eaLnBrk="1" fontAlgn="auto" latinLnBrk="0" hangingPunct="0">
                <a:lnSpc>
                  <a:spcPct val="100000"/>
                </a:lnSpc>
                <a:spcBef>
                  <a:spcPts val="0"/>
                </a:spcBef>
                <a:spcAft>
                  <a:spcPts val="0"/>
                </a:spcAft>
                <a:buClrTx/>
                <a:buSzTx/>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R="0" lvl="0" defTabSz="325120" eaLnBrk="1" fontAlgn="auto" latinLnBrk="0" hangingPunct="0">
                <a:lnSpc>
                  <a:spcPct val="100000"/>
                </a:lnSpc>
                <a:spcBef>
                  <a:spcPts val="0"/>
                </a:spcBef>
                <a:spcAft>
                  <a:spcPts val="0"/>
                </a:spcAft>
                <a:buClrTx/>
                <a:buSzTx/>
                <a:tabLst/>
                <a:defRPr/>
              </a:pPr>
              <a:r>
                <a:rPr lang="en-US" sz="1200" b="1" kern="0" dirty="0">
                  <a:solidFill>
                    <a:schemeClr val="tx1"/>
                  </a:solidFill>
                  <a:latin typeface="Corbel" panose="020B0503020204020204" pitchFamily="34" charset="0"/>
                </a:rPr>
                <a:t>For small scale </a:t>
              </a:r>
              <a:r>
                <a:rPr lang="en-US" sz="1200" b="1" kern="0" dirty="0" err="1">
                  <a:solidFill>
                    <a:schemeClr val="tx1"/>
                  </a:solidFill>
                  <a:latin typeface="Corbel" panose="020B0503020204020204" pitchFamily="34" charset="0"/>
                </a:rPr>
                <a:t>medprojects</a:t>
              </a:r>
              <a:r>
                <a:rPr lang="en-US" sz="1200" b="1" kern="0" dirty="0">
                  <a:solidFill>
                    <a:schemeClr val="tx1"/>
                  </a:solidFill>
                  <a:latin typeface="Corbel" panose="020B0503020204020204" pitchFamily="34" charset="0"/>
                </a:rPr>
                <a:t> lots of healthcare </a:t>
              </a:r>
              <a:r>
                <a:rPr lang="en-US" sz="1200" b="1" kern="0" dirty="0" err="1">
                  <a:solidFill>
                    <a:schemeClr val="tx1"/>
                  </a:solidFill>
                  <a:latin typeface="Corbel" panose="020B0503020204020204" pitchFamily="34" charset="0"/>
                </a:rPr>
                <a:t>prioviders</a:t>
              </a:r>
              <a:r>
                <a:rPr lang="en-US" sz="1200" b="1" kern="0" dirty="0">
                  <a:solidFill>
                    <a:schemeClr val="tx1"/>
                  </a:solidFill>
                  <a:latin typeface="Corbel" panose="020B0503020204020204" pitchFamily="34" charset="0"/>
                </a:rPr>
                <a:t> can do it, so we need to focus on the large projects with specialized requirements </a:t>
              </a: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6" name="Rounded Rectangle">
              <a:extLst>
                <a:ext uri="{FF2B5EF4-FFF2-40B4-BE49-F238E27FC236}">
                  <a16:creationId xmlns:a16="http://schemas.microsoft.com/office/drawing/2014/main" id="{7F6EC221-DD0D-1A9F-9D62-A618D2519E90}"/>
                </a:ext>
              </a:extLst>
            </p:cNvPr>
            <p:cNvSpPr/>
            <p:nvPr/>
          </p:nvSpPr>
          <p:spPr>
            <a:xfrm>
              <a:off x="3329848" y="3394671"/>
              <a:ext cx="2050097" cy="5070877"/>
            </a:xfrm>
            <a:prstGeom prst="roundRect">
              <a:avLst>
                <a:gd name="adj" fmla="val 5220"/>
              </a:avLst>
            </a:prstGeom>
            <a:solidFill>
              <a:srgbClr val="00B05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7" name="Substitution">
              <a:extLst>
                <a:ext uri="{FF2B5EF4-FFF2-40B4-BE49-F238E27FC236}">
                  <a16:creationId xmlns:a16="http://schemas.microsoft.com/office/drawing/2014/main" id="{E51182B8-F125-795C-6300-AEBAC3AFF10F}"/>
                </a:ext>
              </a:extLst>
            </p:cNvPr>
            <p:cNvSpPr txBox="1"/>
            <p:nvPr/>
          </p:nvSpPr>
          <p:spPr>
            <a:xfrm>
              <a:off x="3539889" y="4149967"/>
              <a:ext cx="1700334"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Substitution</a:t>
              </a:r>
            </a:p>
          </p:txBody>
        </p:sp>
        <p:sp>
          <p:nvSpPr>
            <p:cNvPr id="58"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3378006" y="4540369"/>
              <a:ext cx="1979671" cy="191188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products exist and are in demand to the degree to which customers are aware of them.</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products</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is having a provider clinic come on site and collect samples to do testing</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p:txBody>
        </p:sp>
        <p:sp>
          <p:nvSpPr>
            <p:cNvPr id="59" name="Rounded Rectangle">
              <a:extLst>
                <a:ext uri="{FF2B5EF4-FFF2-40B4-BE49-F238E27FC236}">
                  <a16:creationId xmlns:a16="http://schemas.microsoft.com/office/drawing/2014/main" id="{B37E9B60-4A44-587E-51F2-195B100CE2A9}"/>
                </a:ext>
              </a:extLst>
            </p:cNvPr>
            <p:cNvSpPr/>
            <p:nvPr/>
          </p:nvSpPr>
          <p:spPr>
            <a:xfrm>
              <a:off x="5476994" y="3394671"/>
              <a:ext cx="2050097" cy="5070877"/>
            </a:xfrm>
            <a:prstGeom prst="roundRect">
              <a:avLst>
                <a:gd name="adj" fmla="val 5220"/>
              </a:avLst>
            </a:prstGeom>
            <a:solidFill>
              <a:srgbClr val="FF000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0" name="Supplier">
              <a:extLst>
                <a:ext uri="{FF2B5EF4-FFF2-40B4-BE49-F238E27FC236}">
                  <a16:creationId xmlns:a16="http://schemas.microsoft.com/office/drawing/2014/main" id="{4C9C476D-7564-A4E3-0CC4-A8063BE3A7A8}"/>
                </a:ext>
              </a:extLst>
            </p:cNvPr>
            <p:cNvSpPr txBox="1"/>
            <p:nvPr/>
          </p:nvSpPr>
          <p:spPr>
            <a:xfrm>
              <a:off x="5869279" y="4138331"/>
              <a:ext cx="1265530"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FEFFFE"/>
                  </a:solidFill>
                  <a:effectLst/>
                  <a:uLnTx/>
                  <a:uFillTx/>
                  <a:latin typeface="Corbel" panose="020B0503020204020204" pitchFamily="34" charset="0"/>
                  <a:sym typeface="DM Sans Medium"/>
                </a:rPr>
                <a:t>Supplier</a:t>
              </a:r>
            </a:p>
          </p:txBody>
        </p:sp>
        <p:sp>
          <p:nvSpPr>
            <p:cNvPr id="61" name="Lorem ipsum dolor sit amet, consectetur adipiscing elit, sed do eiusmod tempor incididunt ut labore">
              <a:extLst>
                <a:ext uri="{FF2B5EF4-FFF2-40B4-BE49-F238E27FC236}">
                  <a16:creationId xmlns:a16="http://schemas.microsoft.com/office/drawing/2014/main" id="{1C02A085-9B2B-7502-44B1-32F56795B685}"/>
                </a:ext>
              </a:extLst>
            </p:cNvPr>
            <p:cNvSpPr txBox="1"/>
            <p:nvPr/>
          </p:nvSpPr>
          <p:spPr>
            <a:xfrm>
              <a:off x="5635776" y="4551174"/>
              <a:ext cx="1686481" cy="27345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Supplier are consumables suppliers , Logistics support, medical personnel.</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Price negotiation and fixing with extended payment time will improve cash flow and profit.</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Keeping loyalty of contract staff will help keep quality </a:t>
              </a:r>
              <a:endPar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2" name="Rounded Rectangle">
              <a:extLst>
                <a:ext uri="{FF2B5EF4-FFF2-40B4-BE49-F238E27FC236}">
                  <a16:creationId xmlns:a16="http://schemas.microsoft.com/office/drawing/2014/main" id="{4252DCB7-B0FC-5B1A-91A8-E7493E3271FD}"/>
                </a:ext>
              </a:extLst>
            </p:cNvPr>
            <p:cNvSpPr/>
            <p:nvPr/>
          </p:nvSpPr>
          <p:spPr>
            <a:xfrm>
              <a:off x="7624141" y="3394672"/>
              <a:ext cx="2050097" cy="5070876"/>
            </a:xfrm>
            <a:prstGeom prst="roundRect">
              <a:avLst>
                <a:gd name="adj" fmla="val 5220"/>
              </a:avLst>
            </a:prstGeom>
            <a:solidFill>
              <a:schemeClr val="accent4">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3" name="Buyer">
              <a:extLst>
                <a:ext uri="{FF2B5EF4-FFF2-40B4-BE49-F238E27FC236}">
                  <a16:creationId xmlns:a16="http://schemas.microsoft.com/office/drawing/2014/main" id="{F327F29B-48B6-247B-55FC-173361A3AAAF}"/>
                </a:ext>
              </a:extLst>
            </p:cNvPr>
            <p:cNvSpPr txBox="1"/>
            <p:nvPr/>
          </p:nvSpPr>
          <p:spPr>
            <a:xfrm>
              <a:off x="8048381" y="4082447"/>
              <a:ext cx="1265529" cy="3516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Buyer</a:t>
              </a:r>
            </a:p>
          </p:txBody>
        </p:sp>
        <p:sp>
          <p:nvSpPr>
            <p:cNvPr id="64"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7685873" y="4540369"/>
              <a:ext cx="1838512" cy="129490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The buyers are clients who are</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usually Tier 1 Large manufacturing companies and Oil and gas companies </a:t>
              </a: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5" name="Rounded Rectangle">
              <a:extLst>
                <a:ext uri="{FF2B5EF4-FFF2-40B4-BE49-F238E27FC236}">
                  <a16:creationId xmlns:a16="http://schemas.microsoft.com/office/drawing/2014/main" id="{B24BB561-ED09-A5B8-CEC9-BC8ECBD46888}"/>
                </a:ext>
              </a:extLst>
            </p:cNvPr>
            <p:cNvSpPr/>
            <p:nvPr/>
          </p:nvSpPr>
          <p:spPr>
            <a:xfrm>
              <a:off x="9778059" y="3299835"/>
              <a:ext cx="2050097" cy="5070876"/>
            </a:xfrm>
            <a:prstGeom prst="roundRect">
              <a:avLst>
                <a:gd name="adj" fmla="val 5220"/>
              </a:avLst>
            </a:prstGeom>
            <a:solidFill>
              <a:schemeClr val="accent5">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6" name="Competitive Rivalry">
              <a:extLst>
                <a:ext uri="{FF2B5EF4-FFF2-40B4-BE49-F238E27FC236}">
                  <a16:creationId xmlns:a16="http://schemas.microsoft.com/office/drawing/2014/main" id="{6C710A2A-C663-1C08-CA9D-7F6C798AF672}"/>
                </a:ext>
              </a:extLst>
            </p:cNvPr>
            <p:cNvSpPr txBox="1"/>
            <p:nvPr/>
          </p:nvSpPr>
          <p:spPr>
            <a:xfrm>
              <a:off x="9959869" y="4133334"/>
              <a:ext cx="1686481"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Competitive Rivalry</a:t>
              </a:r>
            </a:p>
          </p:txBody>
        </p:sp>
        <p:sp>
          <p:nvSpPr>
            <p:cNvPr id="67" name="Lorem ipsum dolor sit amet, consectetur adipiscing elit, sed do eiusmod tempor incididunt ut labore">
              <a:extLst>
                <a:ext uri="{FF2B5EF4-FFF2-40B4-BE49-F238E27FC236}">
                  <a16:creationId xmlns:a16="http://schemas.microsoft.com/office/drawing/2014/main" id="{ECDA6428-5302-76DA-63DF-901B5BD05513}"/>
                </a:ext>
              </a:extLst>
            </p:cNvPr>
            <p:cNvSpPr txBox="1"/>
            <p:nvPr/>
          </p:nvSpPr>
          <p:spPr>
            <a:xfrm>
              <a:off x="9844699" y="4540369"/>
              <a:ext cx="1916818" cy="6607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8" name="Shape">
              <a:extLst>
                <a:ext uri="{FF2B5EF4-FFF2-40B4-BE49-F238E27FC236}">
                  <a16:creationId xmlns:a16="http://schemas.microsoft.com/office/drawing/2014/main" id="{99CB78E1-FE90-4A54-CAA7-CFFE6709F798}"/>
                </a:ext>
              </a:extLst>
            </p:cNvPr>
            <p:cNvSpPr/>
            <p:nvPr/>
          </p:nvSpPr>
          <p:spPr>
            <a:xfrm>
              <a:off x="8464219" y="3513418"/>
              <a:ext cx="552148" cy="514226"/>
            </a:xfrm>
            <a:custGeom>
              <a:avLst/>
              <a:gdLst/>
              <a:ahLst/>
              <a:cxnLst>
                <a:cxn ang="0">
                  <a:pos x="wd2" y="hd2"/>
                </a:cxn>
                <a:cxn ang="5400000">
                  <a:pos x="wd2" y="hd2"/>
                </a:cxn>
                <a:cxn ang="10800000">
                  <a:pos x="wd2" y="hd2"/>
                </a:cxn>
                <a:cxn ang="16200000">
                  <a:pos x="wd2" y="hd2"/>
                </a:cxn>
              </a:cxnLst>
              <a:rect l="0" t="0" r="r" b="b"/>
              <a:pathLst>
                <a:path w="21600" h="21570" extrusionOk="0">
                  <a:moveTo>
                    <a:pt x="10835" y="0"/>
                  </a:moveTo>
                  <a:cubicBezTo>
                    <a:pt x="10498" y="0"/>
                    <a:pt x="10225" y="292"/>
                    <a:pt x="10225" y="653"/>
                  </a:cubicBezTo>
                  <a:lnTo>
                    <a:pt x="10225" y="2711"/>
                  </a:lnTo>
                  <a:cubicBezTo>
                    <a:pt x="10225" y="3072"/>
                    <a:pt x="10498" y="3365"/>
                    <a:pt x="10835" y="3365"/>
                  </a:cubicBezTo>
                  <a:cubicBezTo>
                    <a:pt x="11171" y="3365"/>
                    <a:pt x="11444" y="3072"/>
                    <a:pt x="11444" y="2711"/>
                  </a:cubicBezTo>
                  <a:lnTo>
                    <a:pt x="11444" y="653"/>
                  </a:lnTo>
                  <a:cubicBezTo>
                    <a:pt x="11444" y="292"/>
                    <a:pt x="11171" y="0"/>
                    <a:pt x="10835" y="0"/>
                  </a:cubicBezTo>
                  <a:close/>
                  <a:moveTo>
                    <a:pt x="15869" y="2711"/>
                  </a:moveTo>
                  <a:cubicBezTo>
                    <a:pt x="15713" y="2711"/>
                    <a:pt x="15557" y="2775"/>
                    <a:pt x="15438" y="2902"/>
                  </a:cubicBezTo>
                  <a:lnTo>
                    <a:pt x="14157" y="4276"/>
                  </a:lnTo>
                  <a:cubicBezTo>
                    <a:pt x="13919" y="4531"/>
                    <a:pt x="13919" y="4945"/>
                    <a:pt x="14157" y="5200"/>
                  </a:cubicBezTo>
                  <a:cubicBezTo>
                    <a:pt x="14395" y="5455"/>
                    <a:pt x="14781" y="5455"/>
                    <a:pt x="15019" y="5200"/>
                  </a:cubicBezTo>
                  <a:lnTo>
                    <a:pt x="16300" y="3826"/>
                  </a:lnTo>
                  <a:cubicBezTo>
                    <a:pt x="16538" y="3570"/>
                    <a:pt x="16538" y="3158"/>
                    <a:pt x="16300" y="2902"/>
                  </a:cubicBezTo>
                  <a:cubicBezTo>
                    <a:pt x="16181" y="2775"/>
                    <a:pt x="16024" y="2711"/>
                    <a:pt x="15869" y="2711"/>
                  </a:cubicBezTo>
                  <a:close/>
                  <a:moveTo>
                    <a:pt x="5750" y="2778"/>
                  </a:moveTo>
                  <a:cubicBezTo>
                    <a:pt x="5594" y="2778"/>
                    <a:pt x="5438" y="2842"/>
                    <a:pt x="5319" y="2970"/>
                  </a:cubicBezTo>
                  <a:cubicBezTo>
                    <a:pt x="5081" y="3225"/>
                    <a:pt x="5081" y="3638"/>
                    <a:pt x="5319" y="3893"/>
                  </a:cubicBezTo>
                  <a:lnTo>
                    <a:pt x="6600" y="5267"/>
                  </a:lnTo>
                  <a:cubicBezTo>
                    <a:pt x="6838" y="5523"/>
                    <a:pt x="7223" y="5523"/>
                    <a:pt x="7461" y="5267"/>
                  </a:cubicBezTo>
                  <a:cubicBezTo>
                    <a:pt x="7699" y="5012"/>
                    <a:pt x="7699" y="4598"/>
                    <a:pt x="7461" y="4343"/>
                  </a:cubicBezTo>
                  <a:lnTo>
                    <a:pt x="6180" y="2970"/>
                  </a:lnTo>
                  <a:cubicBezTo>
                    <a:pt x="6061" y="2842"/>
                    <a:pt x="5906" y="2778"/>
                    <a:pt x="5750" y="2778"/>
                  </a:cubicBezTo>
                  <a:close/>
                  <a:moveTo>
                    <a:pt x="7845" y="6794"/>
                  </a:moveTo>
                  <a:cubicBezTo>
                    <a:pt x="7471" y="6799"/>
                    <a:pt x="7107" y="6917"/>
                    <a:pt x="6793" y="7134"/>
                  </a:cubicBezTo>
                  <a:cubicBezTo>
                    <a:pt x="6520" y="7322"/>
                    <a:pt x="6295" y="7579"/>
                    <a:pt x="6136" y="7883"/>
                  </a:cubicBezTo>
                  <a:lnTo>
                    <a:pt x="5520" y="9164"/>
                  </a:lnTo>
                  <a:cubicBezTo>
                    <a:pt x="5451" y="9272"/>
                    <a:pt x="5360" y="9362"/>
                    <a:pt x="5255" y="9427"/>
                  </a:cubicBezTo>
                  <a:cubicBezTo>
                    <a:pt x="5133" y="9503"/>
                    <a:pt x="4996" y="9544"/>
                    <a:pt x="4855" y="9546"/>
                  </a:cubicBezTo>
                  <a:lnTo>
                    <a:pt x="3844" y="9546"/>
                  </a:lnTo>
                  <a:lnTo>
                    <a:pt x="3814" y="19022"/>
                  </a:lnTo>
                  <a:lnTo>
                    <a:pt x="6722" y="19022"/>
                  </a:lnTo>
                  <a:lnTo>
                    <a:pt x="8565" y="21055"/>
                  </a:lnTo>
                  <a:cubicBezTo>
                    <a:pt x="8769" y="21249"/>
                    <a:pt x="9010" y="21395"/>
                    <a:pt x="9270" y="21481"/>
                  </a:cubicBezTo>
                  <a:cubicBezTo>
                    <a:pt x="9629" y="21598"/>
                    <a:pt x="10011" y="21600"/>
                    <a:pt x="10371" y="21486"/>
                  </a:cubicBezTo>
                  <a:lnTo>
                    <a:pt x="16077" y="19530"/>
                  </a:lnTo>
                  <a:cubicBezTo>
                    <a:pt x="16210" y="19487"/>
                    <a:pt x="16333" y="19417"/>
                    <a:pt x="16442" y="19326"/>
                  </a:cubicBezTo>
                  <a:cubicBezTo>
                    <a:pt x="16527" y="19255"/>
                    <a:pt x="16601" y="19172"/>
                    <a:pt x="16664" y="19079"/>
                  </a:cubicBezTo>
                  <a:lnTo>
                    <a:pt x="12170" y="14325"/>
                  </a:lnTo>
                  <a:lnTo>
                    <a:pt x="11730" y="14325"/>
                  </a:lnTo>
                  <a:cubicBezTo>
                    <a:pt x="11355" y="15204"/>
                    <a:pt x="10698" y="15909"/>
                    <a:pt x="9878" y="16312"/>
                  </a:cubicBezTo>
                  <a:cubicBezTo>
                    <a:pt x="8999" y="16745"/>
                    <a:pt x="7998" y="16800"/>
                    <a:pt x="7082" y="16465"/>
                  </a:cubicBezTo>
                  <a:lnTo>
                    <a:pt x="6167" y="16096"/>
                  </a:lnTo>
                  <a:cubicBezTo>
                    <a:pt x="5956" y="15989"/>
                    <a:pt x="5808" y="15778"/>
                    <a:pt x="5770" y="15531"/>
                  </a:cubicBezTo>
                  <a:cubicBezTo>
                    <a:pt x="5743" y="15349"/>
                    <a:pt x="5780" y="15162"/>
                    <a:pt x="5872" y="15007"/>
                  </a:cubicBezTo>
                  <a:lnTo>
                    <a:pt x="8176" y="10163"/>
                  </a:lnTo>
                  <a:cubicBezTo>
                    <a:pt x="8397" y="9732"/>
                    <a:pt x="8734" y="9381"/>
                    <a:pt x="9142" y="9156"/>
                  </a:cubicBezTo>
                  <a:cubicBezTo>
                    <a:pt x="9437" y="8994"/>
                    <a:pt x="9761" y="8903"/>
                    <a:pt x="10092" y="8888"/>
                  </a:cubicBezTo>
                  <a:lnTo>
                    <a:pt x="13081" y="8888"/>
                  </a:lnTo>
                  <a:cubicBezTo>
                    <a:pt x="13322" y="8472"/>
                    <a:pt x="13661" y="7410"/>
                    <a:pt x="13026" y="6962"/>
                  </a:cubicBezTo>
                  <a:cubicBezTo>
                    <a:pt x="12869" y="6852"/>
                    <a:pt x="12685" y="6793"/>
                    <a:pt x="12498" y="6794"/>
                  </a:cubicBezTo>
                  <a:lnTo>
                    <a:pt x="7845" y="6794"/>
                  </a:lnTo>
                  <a:close/>
                  <a:moveTo>
                    <a:pt x="1008" y="9498"/>
                  </a:moveTo>
                  <a:cubicBezTo>
                    <a:pt x="718" y="9498"/>
                    <a:pt x="572" y="9499"/>
                    <a:pt x="417" y="9551"/>
                  </a:cubicBezTo>
                  <a:cubicBezTo>
                    <a:pt x="246" y="9618"/>
                    <a:pt x="112" y="9762"/>
                    <a:pt x="50" y="9945"/>
                  </a:cubicBezTo>
                  <a:cubicBezTo>
                    <a:pt x="1" y="10112"/>
                    <a:pt x="0" y="10269"/>
                    <a:pt x="0" y="10579"/>
                  </a:cubicBezTo>
                  <a:lnTo>
                    <a:pt x="0" y="17922"/>
                  </a:lnTo>
                  <a:cubicBezTo>
                    <a:pt x="0" y="18237"/>
                    <a:pt x="1" y="18394"/>
                    <a:pt x="50" y="18561"/>
                  </a:cubicBezTo>
                  <a:cubicBezTo>
                    <a:pt x="112" y="18744"/>
                    <a:pt x="246" y="18888"/>
                    <a:pt x="417" y="18955"/>
                  </a:cubicBezTo>
                  <a:cubicBezTo>
                    <a:pt x="573" y="19008"/>
                    <a:pt x="719" y="19007"/>
                    <a:pt x="1008" y="19007"/>
                  </a:cubicBezTo>
                  <a:lnTo>
                    <a:pt x="2519" y="19007"/>
                  </a:lnTo>
                  <a:lnTo>
                    <a:pt x="2519" y="9498"/>
                  </a:lnTo>
                  <a:lnTo>
                    <a:pt x="1012" y="9498"/>
                  </a:lnTo>
                  <a:lnTo>
                    <a:pt x="1008" y="9498"/>
                  </a:lnTo>
                  <a:close/>
                  <a:moveTo>
                    <a:pt x="19026" y="9521"/>
                  </a:moveTo>
                  <a:lnTo>
                    <a:pt x="19026" y="19029"/>
                  </a:lnTo>
                  <a:lnTo>
                    <a:pt x="20589" y="19029"/>
                  </a:lnTo>
                  <a:cubicBezTo>
                    <a:pt x="20882" y="19029"/>
                    <a:pt x="21028" y="19030"/>
                    <a:pt x="21184" y="18977"/>
                  </a:cubicBezTo>
                  <a:cubicBezTo>
                    <a:pt x="21354" y="18910"/>
                    <a:pt x="21489" y="18766"/>
                    <a:pt x="21551" y="18583"/>
                  </a:cubicBezTo>
                  <a:cubicBezTo>
                    <a:pt x="21600" y="18416"/>
                    <a:pt x="21600" y="18259"/>
                    <a:pt x="21600" y="17949"/>
                  </a:cubicBezTo>
                  <a:lnTo>
                    <a:pt x="21600" y="10605"/>
                  </a:lnTo>
                  <a:cubicBezTo>
                    <a:pt x="21600" y="10291"/>
                    <a:pt x="21600" y="10134"/>
                    <a:pt x="21551" y="9967"/>
                  </a:cubicBezTo>
                  <a:cubicBezTo>
                    <a:pt x="21489" y="9784"/>
                    <a:pt x="21354" y="9640"/>
                    <a:pt x="21184" y="9574"/>
                  </a:cubicBezTo>
                  <a:cubicBezTo>
                    <a:pt x="21028" y="9521"/>
                    <a:pt x="20881" y="9521"/>
                    <a:pt x="20592" y="9521"/>
                  </a:cubicBezTo>
                  <a:lnTo>
                    <a:pt x="19026" y="9521"/>
                  </a:lnTo>
                  <a:close/>
                  <a:moveTo>
                    <a:pt x="10221" y="10214"/>
                  </a:moveTo>
                  <a:cubicBezTo>
                    <a:pt x="10027" y="10227"/>
                    <a:pt x="9839" y="10291"/>
                    <a:pt x="9673" y="10398"/>
                  </a:cubicBezTo>
                  <a:cubicBezTo>
                    <a:pt x="9482" y="10521"/>
                    <a:pt x="9327" y="10699"/>
                    <a:pt x="9224" y="10911"/>
                  </a:cubicBezTo>
                  <a:lnTo>
                    <a:pt x="7288" y="15038"/>
                  </a:lnTo>
                  <a:cubicBezTo>
                    <a:pt x="7791" y="15310"/>
                    <a:pt x="8368" y="15380"/>
                    <a:pt x="8914" y="15234"/>
                  </a:cubicBezTo>
                  <a:cubicBezTo>
                    <a:pt x="9494" y="15080"/>
                    <a:pt x="9998" y="14695"/>
                    <a:pt x="10323" y="14157"/>
                  </a:cubicBezTo>
                  <a:lnTo>
                    <a:pt x="10972" y="12900"/>
                  </a:lnTo>
                  <a:lnTo>
                    <a:pt x="12168" y="12894"/>
                  </a:lnTo>
                  <a:cubicBezTo>
                    <a:pt x="12346" y="12901"/>
                    <a:pt x="12521" y="12942"/>
                    <a:pt x="12684" y="13015"/>
                  </a:cubicBezTo>
                  <a:cubicBezTo>
                    <a:pt x="12838" y="13085"/>
                    <a:pt x="12980" y="13182"/>
                    <a:pt x="13104" y="13302"/>
                  </a:cubicBezTo>
                  <a:lnTo>
                    <a:pt x="17781" y="18390"/>
                  </a:lnTo>
                  <a:lnTo>
                    <a:pt x="17787" y="10214"/>
                  </a:lnTo>
                  <a:lnTo>
                    <a:pt x="10221" y="1021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9" name="Shape">
              <a:extLst>
                <a:ext uri="{FF2B5EF4-FFF2-40B4-BE49-F238E27FC236}">
                  <a16:creationId xmlns:a16="http://schemas.microsoft.com/office/drawing/2014/main" id="{1311A6DB-A00D-C757-546F-7E19B2D11BED}"/>
                </a:ext>
              </a:extLst>
            </p:cNvPr>
            <p:cNvSpPr/>
            <p:nvPr/>
          </p:nvSpPr>
          <p:spPr>
            <a:xfrm>
              <a:off x="10552403" y="3632097"/>
              <a:ext cx="487864" cy="487789"/>
            </a:xfrm>
            <a:custGeom>
              <a:avLst/>
              <a:gdLst/>
              <a:ahLst/>
              <a:cxnLst>
                <a:cxn ang="0">
                  <a:pos x="wd2" y="hd2"/>
                </a:cxn>
                <a:cxn ang="5400000">
                  <a:pos x="wd2" y="hd2"/>
                </a:cxn>
                <a:cxn ang="10800000">
                  <a:pos x="wd2" y="hd2"/>
                </a:cxn>
                <a:cxn ang="16200000">
                  <a:pos x="wd2" y="hd2"/>
                </a:cxn>
              </a:cxnLst>
              <a:rect l="0" t="0" r="r" b="b"/>
              <a:pathLst>
                <a:path w="21508" h="21457" extrusionOk="0">
                  <a:moveTo>
                    <a:pt x="8861" y="0"/>
                  </a:moveTo>
                  <a:cubicBezTo>
                    <a:pt x="8468" y="0"/>
                    <a:pt x="8072" y="0"/>
                    <a:pt x="7714" y="83"/>
                  </a:cubicBezTo>
                  <a:cubicBezTo>
                    <a:pt x="7074" y="246"/>
                    <a:pt x="6574" y="744"/>
                    <a:pt x="6410" y="1382"/>
                  </a:cubicBezTo>
                  <a:cubicBezTo>
                    <a:pt x="6328" y="1740"/>
                    <a:pt x="6328" y="2135"/>
                    <a:pt x="6328" y="2528"/>
                  </a:cubicBezTo>
                  <a:cubicBezTo>
                    <a:pt x="6328" y="2921"/>
                    <a:pt x="6328" y="3316"/>
                    <a:pt x="6410" y="3674"/>
                  </a:cubicBezTo>
                  <a:cubicBezTo>
                    <a:pt x="6574" y="4312"/>
                    <a:pt x="7074" y="4810"/>
                    <a:pt x="7714" y="4973"/>
                  </a:cubicBezTo>
                  <a:cubicBezTo>
                    <a:pt x="8072" y="5056"/>
                    <a:pt x="8468" y="5056"/>
                    <a:pt x="8861" y="5056"/>
                  </a:cubicBezTo>
                  <a:lnTo>
                    <a:pt x="10423" y="5056"/>
                  </a:lnTo>
                  <a:lnTo>
                    <a:pt x="12864" y="7359"/>
                  </a:lnTo>
                  <a:cubicBezTo>
                    <a:pt x="13044" y="7535"/>
                    <a:pt x="13310" y="7590"/>
                    <a:pt x="13545" y="7500"/>
                  </a:cubicBezTo>
                  <a:cubicBezTo>
                    <a:pt x="13798" y="7403"/>
                    <a:pt x="13964" y="7159"/>
                    <a:pt x="13961" y="6888"/>
                  </a:cubicBezTo>
                  <a:lnTo>
                    <a:pt x="13967" y="4924"/>
                  </a:lnTo>
                  <a:cubicBezTo>
                    <a:pt x="14533" y="4725"/>
                    <a:pt x="14970" y="4260"/>
                    <a:pt x="15121" y="3674"/>
                  </a:cubicBezTo>
                  <a:cubicBezTo>
                    <a:pt x="15204" y="3316"/>
                    <a:pt x="15203" y="2921"/>
                    <a:pt x="15203" y="2528"/>
                  </a:cubicBezTo>
                  <a:cubicBezTo>
                    <a:pt x="15203" y="2135"/>
                    <a:pt x="15204" y="1740"/>
                    <a:pt x="15121" y="1382"/>
                  </a:cubicBezTo>
                  <a:cubicBezTo>
                    <a:pt x="14957" y="744"/>
                    <a:pt x="14457" y="246"/>
                    <a:pt x="13817" y="83"/>
                  </a:cubicBezTo>
                  <a:cubicBezTo>
                    <a:pt x="13459" y="0"/>
                    <a:pt x="13064" y="0"/>
                    <a:pt x="12670" y="0"/>
                  </a:cubicBezTo>
                  <a:lnTo>
                    <a:pt x="8861" y="0"/>
                  </a:lnTo>
                  <a:close/>
                  <a:moveTo>
                    <a:pt x="3798" y="3201"/>
                  </a:moveTo>
                  <a:cubicBezTo>
                    <a:pt x="3312" y="3201"/>
                    <a:pt x="2826" y="3386"/>
                    <a:pt x="2456" y="3755"/>
                  </a:cubicBezTo>
                  <a:cubicBezTo>
                    <a:pt x="1715" y="4494"/>
                    <a:pt x="1715" y="5693"/>
                    <a:pt x="2456" y="6432"/>
                  </a:cubicBezTo>
                  <a:cubicBezTo>
                    <a:pt x="3197" y="7172"/>
                    <a:pt x="4398" y="7172"/>
                    <a:pt x="5139" y="6432"/>
                  </a:cubicBezTo>
                  <a:cubicBezTo>
                    <a:pt x="5880" y="5693"/>
                    <a:pt x="5880" y="4494"/>
                    <a:pt x="5139" y="3755"/>
                  </a:cubicBezTo>
                  <a:cubicBezTo>
                    <a:pt x="4769" y="3386"/>
                    <a:pt x="4283" y="3201"/>
                    <a:pt x="3798" y="3201"/>
                  </a:cubicBezTo>
                  <a:close/>
                  <a:moveTo>
                    <a:pt x="17710" y="3201"/>
                  </a:moveTo>
                  <a:cubicBezTo>
                    <a:pt x="17225" y="3201"/>
                    <a:pt x="16739" y="3386"/>
                    <a:pt x="16369" y="3755"/>
                  </a:cubicBezTo>
                  <a:cubicBezTo>
                    <a:pt x="15628" y="4494"/>
                    <a:pt x="15628" y="5693"/>
                    <a:pt x="16369" y="6432"/>
                  </a:cubicBezTo>
                  <a:cubicBezTo>
                    <a:pt x="17110" y="7172"/>
                    <a:pt x="18311" y="7172"/>
                    <a:pt x="19052" y="6432"/>
                  </a:cubicBezTo>
                  <a:cubicBezTo>
                    <a:pt x="19793" y="5693"/>
                    <a:pt x="19793" y="4494"/>
                    <a:pt x="19052" y="3755"/>
                  </a:cubicBezTo>
                  <a:cubicBezTo>
                    <a:pt x="18681" y="3386"/>
                    <a:pt x="18196" y="3201"/>
                    <a:pt x="17710" y="3201"/>
                  </a:cubicBezTo>
                  <a:close/>
                  <a:moveTo>
                    <a:pt x="2578" y="7598"/>
                  </a:moveTo>
                  <a:cubicBezTo>
                    <a:pt x="2512" y="7594"/>
                    <a:pt x="2447" y="7596"/>
                    <a:pt x="2380" y="7603"/>
                  </a:cubicBezTo>
                  <a:cubicBezTo>
                    <a:pt x="1875" y="7655"/>
                    <a:pt x="1450" y="8004"/>
                    <a:pt x="1302" y="8488"/>
                  </a:cubicBezTo>
                  <a:lnTo>
                    <a:pt x="56" y="14249"/>
                  </a:lnTo>
                  <a:cubicBezTo>
                    <a:pt x="-35" y="14616"/>
                    <a:pt x="53" y="15004"/>
                    <a:pt x="294" y="15296"/>
                  </a:cubicBezTo>
                  <a:cubicBezTo>
                    <a:pt x="525" y="15576"/>
                    <a:pt x="871" y="15736"/>
                    <a:pt x="1234" y="15731"/>
                  </a:cubicBezTo>
                  <a:lnTo>
                    <a:pt x="1280" y="15731"/>
                  </a:lnTo>
                  <a:lnTo>
                    <a:pt x="24" y="20706"/>
                  </a:lnTo>
                  <a:cubicBezTo>
                    <a:pt x="-46" y="20940"/>
                    <a:pt x="40" y="21193"/>
                    <a:pt x="238" y="21337"/>
                  </a:cubicBezTo>
                  <a:cubicBezTo>
                    <a:pt x="603" y="21600"/>
                    <a:pt x="1119" y="21412"/>
                    <a:pt x="1228" y="20976"/>
                  </a:cubicBezTo>
                  <a:lnTo>
                    <a:pt x="1739" y="18941"/>
                  </a:lnTo>
                  <a:lnTo>
                    <a:pt x="7077" y="18941"/>
                  </a:lnTo>
                  <a:lnTo>
                    <a:pt x="7673" y="20692"/>
                  </a:lnTo>
                  <a:cubicBezTo>
                    <a:pt x="7931" y="21284"/>
                    <a:pt x="8596" y="21585"/>
                    <a:pt x="9212" y="21388"/>
                  </a:cubicBezTo>
                  <a:cubicBezTo>
                    <a:pt x="9851" y="21183"/>
                    <a:pt x="10219" y="20515"/>
                    <a:pt x="10049" y="19867"/>
                  </a:cubicBezTo>
                  <a:lnTo>
                    <a:pt x="8096" y="14045"/>
                  </a:lnTo>
                  <a:cubicBezTo>
                    <a:pt x="8019" y="13815"/>
                    <a:pt x="7874" y="13613"/>
                    <a:pt x="7680" y="13468"/>
                  </a:cubicBezTo>
                  <a:cubicBezTo>
                    <a:pt x="7475" y="13313"/>
                    <a:pt x="7225" y="13229"/>
                    <a:pt x="6968" y="13228"/>
                  </a:cubicBezTo>
                  <a:lnTo>
                    <a:pt x="5595" y="13228"/>
                  </a:lnTo>
                  <a:cubicBezTo>
                    <a:pt x="5279" y="13199"/>
                    <a:pt x="5033" y="12941"/>
                    <a:pt x="5021" y="12625"/>
                  </a:cubicBezTo>
                  <a:cubicBezTo>
                    <a:pt x="5008" y="12289"/>
                    <a:pt x="5260" y="12002"/>
                    <a:pt x="5595" y="11970"/>
                  </a:cubicBezTo>
                  <a:lnTo>
                    <a:pt x="7507" y="11970"/>
                  </a:lnTo>
                  <a:cubicBezTo>
                    <a:pt x="8212" y="12000"/>
                    <a:pt x="8804" y="11445"/>
                    <a:pt x="8817" y="10741"/>
                  </a:cubicBezTo>
                  <a:cubicBezTo>
                    <a:pt x="8831" y="10017"/>
                    <a:pt x="8232" y="9431"/>
                    <a:pt x="7507" y="9458"/>
                  </a:cubicBezTo>
                  <a:lnTo>
                    <a:pt x="4076" y="9458"/>
                  </a:lnTo>
                  <a:lnTo>
                    <a:pt x="3655" y="8314"/>
                  </a:lnTo>
                  <a:cubicBezTo>
                    <a:pt x="3452" y="7893"/>
                    <a:pt x="3035" y="7622"/>
                    <a:pt x="2578" y="7598"/>
                  </a:cubicBezTo>
                  <a:close/>
                  <a:moveTo>
                    <a:pt x="18930" y="7598"/>
                  </a:moveTo>
                  <a:cubicBezTo>
                    <a:pt x="18473" y="7622"/>
                    <a:pt x="18056" y="7893"/>
                    <a:pt x="17853" y="8314"/>
                  </a:cubicBezTo>
                  <a:lnTo>
                    <a:pt x="17432" y="9458"/>
                  </a:lnTo>
                  <a:lnTo>
                    <a:pt x="14001" y="9458"/>
                  </a:lnTo>
                  <a:cubicBezTo>
                    <a:pt x="13276" y="9431"/>
                    <a:pt x="12677" y="10017"/>
                    <a:pt x="12691" y="10741"/>
                  </a:cubicBezTo>
                  <a:cubicBezTo>
                    <a:pt x="12704" y="11445"/>
                    <a:pt x="13296" y="12000"/>
                    <a:pt x="14001" y="11970"/>
                  </a:cubicBezTo>
                  <a:lnTo>
                    <a:pt x="15913" y="11970"/>
                  </a:lnTo>
                  <a:cubicBezTo>
                    <a:pt x="16248" y="12002"/>
                    <a:pt x="16500" y="12289"/>
                    <a:pt x="16487" y="12625"/>
                  </a:cubicBezTo>
                  <a:cubicBezTo>
                    <a:pt x="16475" y="12941"/>
                    <a:pt x="16229" y="13199"/>
                    <a:pt x="15913" y="13228"/>
                  </a:cubicBezTo>
                  <a:lnTo>
                    <a:pt x="14540" y="13228"/>
                  </a:lnTo>
                  <a:cubicBezTo>
                    <a:pt x="14283" y="13229"/>
                    <a:pt x="14033" y="13313"/>
                    <a:pt x="13828" y="13468"/>
                  </a:cubicBezTo>
                  <a:cubicBezTo>
                    <a:pt x="13634" y="13613"/>
                    <a:pt x="13489" y="13815"/>
                    <a:pt x="13412" y="14045"/>
                  </a:cubicBezTo>
                  <a:lnTo>
                    <a:pt x="11459" y="19867"/>
                  </a:lnTo>
                  <a:cubicBezTo>
                    <a:pt x="11289" y="20515"/>
                    <a:pt x="11657" y="21183"/>
                    <a:pt x="12296" y="21388"/>
                  </a:cubicBezTo>
                  <a:cubicBezTo>
                    <a:pt x="12912" y="21585"/>
                    <a:pt x="13577" y="21284"/>
                    <a:pt x="13835" y="20692"/>
                  </a:cubicBezTo>
                  <a:lnTo>
                    <a:pt x="14431" y="18941"/>
                  </a:lnTo>
                  <a:lnTo>
                    <a:pt x="19769" y="18941"/>
                  </a:lnTo>
                  <a:lnTo>
                    <a:pt x="20280" y="20976"/>
                  </a:lnTo>
                  <a:cubicBezTo>
                    <a:pt x="20389" y="21412"/>
                    <a:pt x="20905" y="21600"/>
                    <a:pt x="21270" y="21337"/>
                  </a:cubicBezTo>
                  <a:cubicBezTo>
                    <a:pt x="21468" y="21193"/>
                    <a:pt x="21554" y="20940"/>
                    <a:pt x="21484" y="20706"/>
                  </a:cubicBezTo>
                  <a:lnTo>
                    <a:pt x="20228" y="15731"/>
                  </a:lnTo>
                  <a:lnTo>
                    <a:pt x="20274" y="15731"/>
                  </a:lnTo>
                  <a:cubicBezTo>
                    <a:pt x="20637" y="15736"/>
                    <a:pt x="20983" y="15576"/>
                    <a:pt x="21214" y="15296"/>
                  </a:cubicBezTo>
                  <a:cubicBezTo>
                    <a:pt x="21455" y="15004"/>
                    <a:pt x="21543" y="14616"/>
                    <a:pt x="21452" y="14249"/>
                  </a:cubicBezTo>
                  <a:lnTo>
                    <a:pt x="20206" y="8488"/>
                  </a:lnTo>
                  <a:cubicBezTo>
                    <a:pt x="20058" y="8004"/>
                    <a:pt x="19633" y="7655"/>
                    <a:pt x="19128" y="7603"/>
                  </a:cubicBezTo>
                  <a:cubicBezTo>
                    <a:pt x="19061" y="7596"/>
                    <a:pt x="18996" y="7594"/>
                    <a:pt x="18930" y="7598"/>
                  </a:cubicBezTo>
                  <a:close/>
                  <a:moveTo>
                    <a:pt x="2544" y="15731"/>
                  </a:moveTo>
                  <a:lnTo>
                    <a:pt x="5985" y="15731"/>
                  </a:lnTo>
                  <a:lnTo>
                    <a:pt x="6653" y="17696"/>
                  </a:lnTo>
                  <a:lnTo>
                    <a:pt x="2051" y="17696"/>
                  </a:lnTo>
                  <a:lnTo>
                    <a:pt x="2544" y="15731"/>
                  </a:lnTo>
                  <a:close/>
                  <a:moveTo>
                    <a:pt x="15523" y="15731"/>
                  </a:moveTo>
                  <a:lnTo>
                    <a:pt x="18964" y="15731"/>
                  </a:lnTo>
                  <a:lnTo>
                    <a:pt x="19457" y="17696"/>
                  </a:lnTo>
                  <a:lnTo>
                    <a:pt x="14855" y="17696"/>
                  </a:lnTo>
                  <a:lnTo>
                    <a:pt x="15523" y="15731"/>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0" name="Shape">
              <a:extLst>
                <a:ext uri="{FF2B5EF4-FFF2-40B4-BE49-F238E27FC236}">
                  <a16:creationId xmlns:a16="http://schemas.microsoft.com/office/drawing/2014/main" id="{B05A3137-8906-587E-2C1D-EA8AC054C02D}"/>
                </a:ext>
              </a:extLst>
            </p:cNvPr>
            <p:cNvSpPr/>
            <p:nvPr/>
          </p:nvSpPr>
          <p:spPr>
            <a:xfrm>
              <a:off x="1933579" y="3584887"/>
              <a:ext cx="561887" cy="560110"/>
            </a:xfrm>
            <a:custGeom>
              <a:avLst/>
              <a:gdLst/>
              <a:ahLst/>
              <a:cxnLst>
                <a:cxn ang="0">
                  <a:pos x="wd2" y="hd2"/>
                </a:cxn>
                <a:cxn ang="5400000">
                  <a:pos x="wd2" y="hd2"/>
                </a:cxn>
                <a:cxn ang="10800000">
                  <a:pos x="wd2" y="hd2"/>
                </a:cxn>
                <a:cxn ang="16200000">
                  <a:pos x="wd2" y="hd2"/>
                </a:cxn>
              </a:cxnLst>
              <a:rect l="0" t="0" r="r" b="b"/>
              <a:pathLst>
                <a:path w="21583" h="21600" extrusionOk="0">
                  <a:moveTo>
                    <a:pt x="15250" y="0"/>
                  </a:moveTo>
                  <a:cubicBezTo>
                    <a:pt x="14566" y="0"/>
                    <a:pt x="14010" y="677"/>
                    <a:pt x="14010" y="1512"/>
                  </a:cubicBezTo>
                  <a:lnTo>
                    <a:pt x="14010" y="16988"/>
                  </a:lnTo>
                  <a:cubicBezTo>
                    <a:pt x="14010" y="17824"/>
                    <a:pt x="14566" y="18501"/>
                    <a:pt x="15250" y="18501"/>
                  </a:cubicBezTo>
                  <a:cubicBezTo>
                    <a:pt x="15934" y="18501"/>
                    <a:pt x="16489" y="17824"/>
                    <a:pt x="16489" y="16988"/>
                  </a:cubicBezTo>
                  <a:lnTo>
                    <a:pt x="16489" y="1512"/>
                  </a:lnTo>
                  <a:cubicBezTo>
                    <a:pt x="16489" y="677"/>
                    <a:pt x="15934" y="0"/>
                    <a:pt x="15250" y="0"/>
                  </a:cubicBezTo>
                  <a:close/>
                  <a:moveTo>
                    <a:pt x="12700" y="2003"/>
                  </a:moveTo>
                  <a:cubicBezTo>
                    <a:pt x="12247" y="2644"/>
                    <a:pt x="11708" y="3186"/>
                    <a:pt x="11105" y="3604"/>
                  </a:cubicBezTo>
                  <a:cubicBezTo>
                    <a:pt x="10421" y="4079"/>
                    <a:pt x="9669" y="4386"/>
                    <a:pt x="8889" y="4510"/>
                  </a:cubicBezTo>
                  <a:lnTo>
                    <a:pt x="8889" y="13916"/>
                  </a:lnTo>
                  <a:cubicBezTo>
                    <a:pt x="9656" y="14057"/>
                    <a:pt x="10395" y="14376"/>
                    <a:pt x="11065" y="14853"/>
                  </a:cubicBezTo>
                  <a:cubicBezTo>
                    <a:pt x="11688" y="15298"/>
                    <a:pt x="12241" y="15872"/>
                    <a:pt x="12700" y="16552"/>
                  </a:cubicBezTo>
                  <a:lnTo>
                    <a:pt x="12700" y="2003"/>
                  </a:lnTo>
                  <a:close/>
                  <a:moveTo>
                    <a:pt x="4474" y="4577"/>
                  </a:moveTo>
                  <a:cubicBezTo>
                    <a:pt x="4007" y="4587"/>
                    <a:pt x="3558" y="4796"/>
                    <a:pt x="3203" y="5166"/>
                  </a:cubicBezTo>
                  <a:cubicBezTo>
                    <a:pt x="2953" y="5427"/>
                    <a:pt x="2760" y="5760"/>
                    <a:pt x="2641" y="6135"/>
                  </a:cubicBezTo>
                  <a:cubicBezTo>
                    <a:pt x="1191" y="6055"/>
                    <a:pt x="-17" y="7479"/>
                    <a:pt x="0" y="9251"/>
                  </a:cubicBezTo>
                  <a:cubicBezTo>
                    <a:pt x="17" y="10993"/>
                    <a:pt x="1215" y="12371"/>
                    <a:pt x="2641" y="12287"/>
                  </a:cubicBezTo>
                  <a:cubicBezTo>
                    <a:pt x="2775" y="12669"/>
                    <a:pt x="2981" y="13007"/>
                    <a:pt x="3243" y="13274"/>
                  </a:cubicBezTo>
                  <a:cubicBezTo>
                    <a:pt x="3591" y="13629"/>
                    <a:pt x="4022" y="13842"/>
                    <a:pt x="4475" y="13883"/>
                  </a:cubicBezTo>
                  <a:lnTo>
                    <a:pt x="7624" y="13883"/>
                  </a:lnTo>
                  <a:lnTo>
                    <a:pt x="7611" y="4581"/>
                  </a:lnTo>
                  <a:lnTo>
                    <a:pt x="4474" y="4577"/>
                  </a:lnTo>
                  <a:close/>
                  <a:moveTo>
                    <a:pt x="19616" y="4598"/>
                  </a:moveTo>
                  <a:cubicBezTo>
                    <a:pt x="19453" y="4598"/>
                    <a:pt x="19291" y="4674"/>
                    <a:pt x="19166" y="4826"/>
                  </a:cubicBezTo>
                  <a:lnTo>
                    <a:pt x="17911" y="6357"/>
                  </a:lnTo>
                  <a:cubicBezTo>
                    <a:pt x="17662" y="6661"/>
                    <a:pt x="17662" y="7153"/>
                    <a:pt x="17911" y="7457"/>
                  </a:cubicBezTo>
                  <a:cubicBezTo>
                    <a:pt x="18160" y="7761"/>
                    <a:pt x="18563" y="7761"/>
                    <a:pt x="18812" y="7457"/>
                  </a:cubicBezTo>
                  <a:lnTo>
                    <a:pt x="20068" y="5926"/>
                  </a:lnTo>
                  <a:cubicBezTo>
                    <a:pt x="20316" y="5622"/>
                    <a:pt x="20316" y="5130"/>
                    <a:pt x="20068" y="4826"/>
                  </a:cubicBezTo>
                  <a:cubicBezTo>
                    <a:pt x="19943" y="4674"/>
                    <a:pt x="19780" y="4598"/>
                    <a:pt x="19616" y="4598"/>
                  </a:cubicBezTo>
                  <a:close/>
                  <a:moveTo>
                    <a:pt x="18990" y="9204"/>
                  </a:moveTo>
                  <a:cubicBezTo>
                    <a:pt x="18638" y="9204"/>
                    <a:pt x="18353" y="9552"/>
                    <a:pt x="18353" y="9982"/>
                  </a:cubicBezTo>
                  <a:cubicBezTo>
                    <a:pt x="18353" y="10411"/>
                    <a:pt x="18638" y="10759"/>
                    <a:pt x="18990" y="10759"/>
                  </a:cubicBezTo>
                  <a:lnTo>
                    <a:pt x="20946" y="10759"/>
                  </a:lnTo>
                  <a:cubicBezTo>
                    <a:pt x="21298" y="10759"/>
                    <a:pt x="21583" y="10411"/>
                    <a:pt x="21583" y="9982"/>
                  </a:cubicBezTo>
                  <a:cubicBezTo>
                    <a:pt x="21583" y="9552"/>
                    <a:pt x="21298" y="9204"/>
                    <a:pt x="20946" y="9204"/>
                  </a:cubicBezTo>
                  <a:lnTo>
                    <a:pt x="18990" y="9204"/>
                  </a:lnTo>
                  <a:close/>
                  <a:moveTo>
                    <a:pt x="18362" y="12331"/>
                  </a:moveTo>
                  <a:cubicBezTo>
                    <a:pt x="18199" y="12331"/>
                    <a:pt x="18035" y="12408"/>
                    <a:pt x="17911" y="12560"/>
                  </a:cubicBezTo>
                  <a:cubicBezTo>
                    <a:pt x="17662" y="12863"/>
                    <a:pt x="17662" y="13356"/>
                    <a:pt x="17911" y="13660"/>
                  </a:cubicBezTo>
                  <a:lnTo>
                    <a:pt x="19166" y="15192"/>
                  </a:lnTo>
                  <a:cubicBezTo>
                    <a:pt x="19415" y="15496"/>
                    <a:pt x="19819" y="15496"/>
                    <a:pt x="20068" y="15192"/>
                  </a:cubicBezTo>
                  <a:cubicBezTo>
                    <a:pt x="20316" y="14888"/>
                    <a:pt x="20316" y="14396"/>
                    <a:pt x="20068" y="14092"/>
                  </a:cubicBezTo>
                  <a:lnTo>
                    <a:pt x="18812" y="12560"/>
                  </a:lnTo>
                  <a:cubicBezTo>
                    <a:pt x="18688" y="12408"/>
                    <a:pt x="18525" y="12331"/>
                    <a:pt x="18362" y="12331"/>
                  </a:cubicBezTo>
                  <a:close/>
                  <a:moveTo>
                    <a:pt x="3877" y="15427"/>
                  </a:moveTo>
                  <a:lnTo>
                    <a:pt x="3877" y="19341"/>
                  </a:lnTo>
                  <a:cubicBezTo>
                    <a:pt x="3877" y="20589"/>
                    <a:pt x="4705" y="21600"/>
                    <a:pt x="5728" y="21600"/>
                  </a:cubicBezTo>
                  <a:cubicBezTo>
                    <a:pt x="6751" y="21600"/>
                    <a:pt x="7580" y="20589"/>
                    <a:pt x="7580" y="19341"/>
                  </a:cubicBezTo>
                  <a:lnTo>
                    <a:pt x="7580" y="15427"/>
                  </a:lnTo>
                  <a:lnTo>
                    <a:pt x="3877" y="15427"/>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1" name="Shape">
              <a:extLst>
                <a:ext uri="{FF2B5EF4-FFF2-40B4-BE49-F238E27FC236}">
                  <a16:creationId xmlns:a16="http://schemas.microsoft.com/office/drawing/2014/main" id="{1C964634-5C70-0C79-7DC8-60DAE6725176}"/>
                </a:ext>
              </a:extLst>
            </p:cNvPr>
            <p:cNvSpPr/>
            <p:nvPr/>
          </p:nvSpPr>
          <p:spPr>
            <a:xfrm>
              <a:off x="4069272" y="3590810"/>
              <a:ext cx="555158" cy="555583"/>
            </a:xfrm>
            <a:custGeom>
              <a:avLst/>
              <a:gdLst/>
              <a:ahLst/>
              <a:cxnLst>
                <a:cxn ang="0">
                  <a:pos x="wd2" y="hd2"/>
                </a:cxn>
                <a:cxn ang="5400000">
                  <a:pos x="wd2" y="hd2"/>
                </a:cxn>
                <a:cxn ang="10800000">
                  <a:pos x="wd2" y="hd2"/>
                </a:cxn>
                <a:cxn ang="16200000">
                  <a:pos x="wd2" y="hd2"/>
                </a:cxn>
              </a:cxnLst>
              <a:rect l="0" t="0" r="r" b="b"/>
              <a:pathLst>
                <a:path w="21557" h="21511" extrusionOk="0">
                  <a:moveTo>
                    <a:pt x="10570" y="8"/>
                  </a:moveTo>
                  <a:cubicBezTo>
                    <a:pt x="10076" y="53"/>
                    <a:pt x="9620" y="287"/>
                    <a:pt x="9294" y="660"/>
                  </a:cubicBezTo>
                  <a:lnTo>
                    <a:pt x="5398" y="4530"/>
                  </a:lnTo>
                  <a:lnTo>
                    <a:pt x="7680" y="6811"/>
                  </a:lnTo>
                  <a:cubicBezTo>
                    <a:pt x="7816" y="6946"/>
                    <a:pt x="7882" y="7136"/>
                    <a:pt x="7861" y="7326"/>
                  </a:cubicBezTo>
                  <a:cubicBezTo>
                    <a:pt x="7844" y="7479"/>
                    <a:pt x="7771" y="7621"/>
                    <a:pt x="7655" y="7723"/>
                  </a:cubicBezTo>
                  <a:lnTo>
                    <a:pt x="6722" y="8596"/>
                  </a:lnTo>
                  <a:cubicBezTo>
                    <a:pt x="6434" y="8853"/>
                    <a:pt x="6444" y="9305"/>
                    <a:pt x="6741" y="9551"/>
                  </a:cubicBezTo>
                  <a:cubicBezTo>
                    <a:pt x="6967" y="9736"/>
                    <a:pt x="7293" y="9734"/>
                    <a:pt x="7517" y="9545"/>
                  </a:cubicBezTo>
                  <a:lnTo>
                    <a:pt x="8515" y="8583"/>
                  </a:lnTo>
                  <a:cubicBezTo>
                    <a:pt x="8638" y="8453"/>
                    <a:pt x="8809" y="8380"/>
                    <a:pt x="8988" y="8379"/>
                  </a:cubicBezTo>
                  <a:cubicBezTo>
                    <a:pt x="9156" y="8379"/>
                    <a:pt x="9319" y="8443"/>
                    <a:pt x="9440" y="8559"/>
                  </a:cubicBezTo>
                  <a:lnTo>
                    <a:pt x="10769" y="9879"/>
                  </a:lnTo>
                  <a:lnTo>
                    <a:pt x="11684" y="9023"/>
                  </a:lnTo>
                  <a:lnTo>
                    <a:pt x="11031" y="8337"/>
                  </a:lnTo>
                  <a:cubicBezTo>
                    <a:pt x="10468" y="7583"/>
                    <a:pt x="10548" y="6530"/>
                    <a:pt x="11219" y="5870"/>
                  </a:cubicBezTo>
                  <a:cubicBezTo>
                    <a:pt x="11890" y="5210"/>
                    <a:pt x="12947" y="5144"/>
                    <a:pt x="13695" y="5715"/>
                  </a:cubicBezTo>
                  <a:lnTo>
                    <a:pt x="14366" y="6326"/>
                  </a:lnTo>
                  <a:lnTo>
                    <a:pt x="16166" y="4556"/>
                  </a:lnTo>
                  <a:lnTo>
                    <a:pt x="12037" y="490"/>
                  </a:lnTo>
                  <a:cubicBezTo>
                    <a:pt x="11636" y="134"/>
                    <a:pt x="11105" y="-41"/>
                    <a:pt x="10570" y="8"/>
                  </a:cubicBezTo>
                  <a:close/>
                  <a:moveTo>
                    <a:pt x="17038" y="5435"/>
                  </a:moveTo>
                  <a:lnTo>
                    <a:pt x="14848" y="7675"/>
                  </a:lnTo>
                  <a:cubicBezTo>
                    <a:pt x="14687" y="7799"/>
                    <a:pt x="14483" y="7853"/>
                    <a:pt x="14282" y="7825"/>
                  </a:cubicBezTo>
                  <a:cubicBezTo>
                    <a:pt x="14113" y="7800"/>
                    <a:pt x="13956" y="7719"/>
                    <a:pt x="13840" y="7593"/>
                  </a:cubicBezTo>
                  <a:lnTo>
                    <a:pt x="12928" y="6690"/>
                  </a:lnTo>
                  <a:cubicBezTo>
                    <a:pt x="12661" y="6476"/>
                    <a:pt x="12271" y="6516"/>
                    <a:pt x="12054" y="6779"/>
                  </a:cubicBezTo>
                  <a:cubicBezTo>
                    <a:pt x="11856" y="7019"/>
                    <a:pt x="11869" y="7368"/>
                    <a:pt x="12083" y="7593"/>
                  </a:cubicBezTo>
                  <a:lnTo>
                    <a:pt x="13060" y="8559"/>
                  </a:lnTo>
                  <a:cubicBezTo>
                    <a:pt x="13158" y="8688"/>
                    <a:pt x="13209" y="8846"/>
                    <a:pt x="13203" y="9008"/>
                  </a:cubicBezTo>
                  <a:cubicBezTo>
                    <a:pt x="13198" y="9170"/>
                    <a:pt x="13137" y="9326"/>
                    <a:pt x="13029" y="9448"/>
                  </a:cubicBezTo>
                  <a:lnTo>
                    <a:pt x="11704" y="10753"/>
                  </a:lnTo>
                  <a:lnTo>
                    <a:pt x="12590" y="11632"/>
                  </a:lnTo>
                  <a:lnTo>
                    <a:pt x="13193" y="11080"/>
                  </a:lnTo>
                  <a:cubicBezTo>
                    <a:pt x="14035" y="10432"/>
                    <a:pt x="15246" y="10590"/>
                    <a:pt x="15893" y="11432"/>
                  </a:cubicBezTo>
                  <a:cubicBezTo>
                    <a:pt x="16418" y="12115"/>
                    <a:pt x="16405" y="13067"/>
                    <a:pt x="15861" y="13735"/>
                  </a:cubicBezTo>
                  <a:lnTo>
                    <a:pt x="15264" y="14350"/>
                  </a:lnTo>
                  <a:lnTo>
                    <a:pt x="17051" y="16130"/>
                  </a:lnTo>
                  <a:lnTo>
                    <a:pt x="21106" y="12043"/>
                  </a:lnTo>
                  <a:cubicBezTo>
                    <a:pt x="21422" y="11660"/>
                    <a:pt x="21581" y="11173"/>
                    <a:pt x="21555" y="10679"/>
                  </a:cubicBezTo>
                  <a:cubicBezTo>
                    <a:pt x="21530" y="10213"/>
                    <a:pt x="21341" y="9770"/>
                    <a:pt x="21022" y="9430"/>
                  </a:cubicBezTo>
                  <a:lnTo>
                    <a:pt x="17038" y="5435"/>
                  </a:lnTo>
                  <a:close/>
                  <a:moveTo>
                    <a:pt x="4507" y="5457"/>
                  </a:moveTo>
                  <a:lnTo>
                    <a:pt x="604" y="9338"/>
                  </a:lnTo>
                  <a:cubicBezTo>
                    <a:pt x="200" y="9740"/>
                    <a:pt x="-19" y="10291"/>
                    <a:pt x="1" y="10860"/>
                  </a:cubicBezTo>
                  <a:cubicBezTo>
                    <a:pt x="22" y="11445"/>
                    <a:pt x="294" y="11993"/>
                    <a:pt x="746" y="12367"/>
                  </a:cubicBezTo>
                  <a:lnTo>
                    <a:pt x="4493" y="16128"/>
                  </a:lnTo>
                  <a:lnTo>
                    <a:pt x="6778" y="13888"/>
                  </a:lnTo>
                  <a:cubicBezTo>
                    <a:pt x="6903" y="13776"/>
                    <a:pt x="7067" y="13718"/>
                    <a:pt x="7235" y="13728"/>
                  </a:cubicBezTo>
                  <a:cubicBezTo>
                    <a:pt x="7400" y="13739"/>
                    <a:pt x="7555" y="13814"/>
                    <a:pt x="7664" y="13937"/>
                  </a:cubicBezTo>
                  <a:lnTo>
                    <a:pt x="8644" y="14862"/>
                  </a:lnTo>
                  <a:cubicBezTo>
                    <a:pt x="8877" y="15063"/>
                    <a:pt x="9225" y="15053"/>
                    <a:pt x="9446" y="14838"/>
                  </a:cubicBezTo>
                  <a:cubicBezTo>
                    <a:pt x="9690" y="14600"/>
                    <a:pt x="9687" y="14206"/>
                    <a:pt x="9438" y="13972"/>
                  </a:cubicBezTo>
                  <a:lnTo>
                    <a:pt x="8554" y="13029"/>
                  </a:lnTo>
                  <a:cubicBezTo>
                    <a:pt x="8434" y="12908"/>
                    <a:pt x="8365" y="12746"/>
                    <a:pt x="8363" y="12576"/>
                  </a:cubicBezTo>
                  <a:cubicBezTo>
                    <a:pt x="8361" y="12371"/>
                    <a:pt x="8453" y="12176"/>
                    <a:pt x="8614" y="12048"/>
                  </a:cubicBezTo>
                  <a:lnTo>
                    <a:pt x="9881" y="10785"/>
                  </a:lnTo>
                  <a:lnTo>
                    <a:pt x="8997" y="9925"/>
                  </a:lnTo>
                  <a:lnTo>
                    <a:pt x="8351" y="10534"/>
                  </a:lnTo>
                  <a:cubicBezTo>
                    <a:pt x="7605" y="11094"/>
                    <a:pt x="6562" y="11037"/>
                    <a:pt x="5882" y="10400"/>
                  </a:cubicBezTo>
                  <a:cubicBezTo>
                    <a:pt x="5150" y="9714"/>
                    <a:pt x="5063" y="8584"/>
                    <a:pt x="5683" y="7796"/>
                  </a:cubicBezTo>
                  <a:lnTo>
                    <a:pt x="6272" y="7209"/>
                  </a:lnTo>
                  <a:lnTo>
                    <a:pt x="4507" y="5457"/>
                  </a:lnTo>
                  <a:close/>
                  <a:moveTo>
                    <a:pt x="10793" y="11704"/>
                  </a:moveTo>
                  <a:lnTo>
                    <a:pt x="9936" y="12532"/>
                  </a:lnTo>
                  <a:lnTo>
                    <a:pt x="10498" y="13151"/>
                  </a:lnTo>
                  <a:cubicBezTo>
                    <a:pt x="11130" y="13920"/>
                    <a:pt x="11071" y="15043"/>
                    <a:pt x="10362" y="15742"/>
                  </a:cubicBezTo>
                  <a:cubicBezTo>
                    <a:pt x="9661" y="16434"/>
                    <a:pt x="8549" y="16487"/>
                    <a:pt x="7784" y="15865"/>
                  </a:cubicBezTo>
                  <a:lnTo>
                    <a:pt x="7229" y="15319"/>
                  </a:lnTo>
                  <a:lnTo>
                    <a:pt x="5405" y="17070"/>
                  </a:lnTo>
                  <a:lnTo>
                    <a:pt x="9310" y="20919"/>
                  </a:lnTo>
                  <a:cubicBezTo>
                    <a:pt x="9649" y="21246"/>
                    <a:pt x="10089" y="21451"/>
                    <a:pt x="10558" y="21499"/>
                  </a:cubicBezTo>
                  <a:cubicBezTo>
                    <a:pt x="11139" y="21559"/>
                    <a:pt x="11719" y="21378"/>
                    <a:pt x="12162" y="20998"/>
                  </a:cubicBezTo>
                  <a:lnTo>
                    <a:pt x="16138" y="17036"/>
                  </a:lnTo>
                  <a:lnTo>
                    <a:pt x="13876" y="14785"/>
                  </a:lnTo>
                  <a:cubicBezTo>
                    <a:pt x="13778" y="14673"/>
                    <a:pt x="13723" y="14529"/>
                    <a:pt x="13723" y="14381"/>
                  </a:cubicBezTo>
                  <a:cubicBezTo>
                    <a:pt x="13722" y="14206"/>
                    <a:pt x="13795" y="14039"/>
                    <a:pt x="13923" y="13920"/>
                  </a:cubicBezTo>
                  <a:lnTo>
                    <a:pt x="14878" y="12930"/>
                  </a:lnTo>
                  <a:cubicBezTo>
                    <a:pt x="15094" y="12692"/>
                    <a:pt x="15081" y="12325"/>
                    <a:pt x="14848" y="12102"/>
                  </a:cubicBezTo>
                  <a:cubicBezTo>
                    <a:pt x="14589" y="11856"/>
                    <a:pt x="14172" y="11885"/>
                    <a:pt x="13951" y="12165"/>
                  </a:cubicBezTo>
                  <a:lnTo>
                    <a:pt x="13210" y="12894"/>
                  </a:lnTo>
                  <a:cubicBezTo>
                    <a:pt x="13058" y="13083"/>
                    <a:pt x="12829" y="13193"/>
                    <a:pt x="12586" y="13195"/>
                  </a:cubicBezTo>
                  <a:cubicBezTo>
                    <a:pt x="12377" y="13197"/>
                    <a:pt x="12176" y="13118"/>
                    <a:pt x="12025" y="12974"/>
                  </a:cubicBezTo>
                  <a:lnTo>
                    <a:pt x="10793" y="1170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2" name="Shape">
              <a:extLst>
                <a:ext uri="{FF2B5EF4-FFF2-40B4-BE49-F238E27FC236}">
                  <a16:creationId xmlns:a16="http://schemas.microsoft.com/office/drawing/2014/main" id="{BF47C4CC-A7D8-DD24-3375-2D43FF73A885}"/>
                </a:ext>
              </a:extLst>
            </p:cNvPr>
            <p:cNvSpPr/>
            <p:nvPr/>
          </p:nvSpPr>
          <p:spPr>
            <a:xfrm>
              <a:off x="6244112" y="3584886"/>
              <a:ext cx="515862" cy="500916"/>
            </a:xfrm>
            <a:custGeom>
              <a:avLst/>
              <a:gdLst/>
              <a:ahLst/>
              <a:cxnLst>
                <a:cxn ang="0">
                  <a:pos x="wd2" y="hd2"/>
                </a:cxn>
                <a:cxn ang="5400000">
                  <a:pos x="wd2" y="hd2"/>
                </a:cxn>
                <a:cxn ang="10800000">
                  <a:pos x="wd2" y="hd2"/>
                </a:cxn>
                <a:cxn ang="16200000">
                  <a:pos x="wd2" y="hd2"/>
                </a:cxn>
              </a:cxnLst>
              <a:rect l="0" t="0" r="r" b="b"/>
              <a:pathLst>
                <a:path w="21594" h="21583" extrusionOk="0">
                  <a:moveTo>
                    <a:pt x="10789" y="0"/>
                  </a:moveTo>
                  <a:cubicBezTo>
                    <a:pt x="10150" y="0"/>
                    <a:pt x="9511" y="244"/>
                    <a:pt x="9023" y="734"/>
                  </a:cubicBezTo>
                  <a:cubicBezTo>
                    <a:pt x="8047" y="1712"/>
                    <a:pt x="8047" y="3301"/>
                    <a:pt x="9023" y="4279"/>
                  </a:cubicBezTo>
                  <a:cubicBezTo>
                    <a:pt x="9999" y="5258"/>
                    <a:pt x="11581" y="5258"/>
                    <a:pt x="12557" y="4279"/>
                  </a:cubicBezTo>
                  <a:cubicBezTo>
                    <a:pt x="13533" y="3301"/>
                    <a:pt x="13533" y="1712"/>
                    <a:pt x="12557" y="734"/>
                  </a:cubicBezTo>
                  <a:cubicBezTo>
                    <a:pt x="12069" y="244"/>
                    <a:pt x="11429" y="0"/>
                    <a:pt x="10789" y="0"/>
                  </a:cubicBezTo>
                  <a:close/>
                  <a:moveTo>
                    <a:pt x="7803" y="4886"/>
                  </a:moveTo>
                  <a:cubicBezTo>
                    <a:pt x="7363" y="5315"/>
                    <a:pt x="7009" y="5823"/>
                    <a:pt x="6758" y="6385"/>
                  </a:cubicBezTo>
                  <a:cubicBezTo>
                    <a:pt x="6491" y="6983"/>
                    <a:pt x="6347" y="7630"/>
                    <a:pt x="6335" y="8285"/>
                  </a:cubicBezTo>
                  <a:lnTo>
                    <a:pt x="6335" y="9595"/>
                  </a:lnTo>
                  <a:cubicBezTo>
                    <a:pt x="6335" y="9719"/>
                    <a:pt x="6374" y="9838"/>
                    <a:pt x="6446" y="9938"/>
                  </a:cubicBezTo>
                  <a:cubicBezTo>
                    <a:pt x="6556" y="10090"/>
                    <a:pt x="6730" y="10182"/>
                    <a:pt x="6918" y="10185"/>
                  </a:cubicBezTo>
                  <a:lnTo>
                    <a:pt x="14591" y="10185"/>
                  </a:lnTo>
                  <a:cubicBezTo>
                    <a:pt x="14794" y="10204"/>
                    <a:pt x="14992" y="10119"/>
                    <a:pt x="15117" y="9958"/>
                  </a:cubicBezTo>
                  <a:cubicBezTo>
                    <a:pt x="15203" y="9847"/>
                    <a:pt x="15246" y="9709"/>
                    <a:pt x="15239" y="9569"/>
                  </a:cubicBezTo>
                  <a:lnTo>
                    <a:pt x="15239" y="8392"/>
                  </a:lnTo>
                  <a:cubicBezTo>
                    <a:pt x="15239" y="7679"/>
                    <a:pt x="15081" y="6975"/>
                    <a:pt x="14778" y="6330"/>
                  </a:cubicBezTo>
                  <a:cubicBezTo>
                    <a:pt x="14524" y="5788"/>
                    <a:pt x="14171" y="5299"/>
                    <a:pt x="13739" y="4886"/>
                  </a:cubicBezTo>
                  <a:cubicBezTo>
                    <a:pt x="13007" y="5851"/>
                    <a:pt x="11856" y="6400"/>
                    <a:pt x="10648" y="6361"/>
                  </a:cubicBezTo>
                  <a:cubicBezTo>
                    <a:pt x="9527" y="6325"/>
                    <a:pt x="8481" y="5783"/>
                    <a:pt x="7803" y="4886"/>
                  </a:cubicBezTo>
                  <a:close/>
                  <a:moveTo>
                    <a:pt x="4455" y="11396"/>
                  </a:moveTo>
                  <a:cubicBezTo>
                    <a:pt x="3815" y="11396"/>
                    <a:pt x="3176" y="11640"/>
                    <a:pt x="2688" y="12129"/>
                  </a:cubicBezTo>
                  <a:cubicBezTo>
                    <a:pt x="1713" y="13108"/>
                    <a:pt x="1713" y="14696"/>
                    <a:pt x="2688" y="15675"/>
                  </a:cubicBezTo>
                  <a:cubicBezTo>
                    <a:pt x="3664" y="16654"/>
                    <a:pt x="5246" y="16654"/>
                    <a:pt x="6222" y="15675"/>
                  </a:cubicBezTo>
                  <a:cubicBezTo>
                    <a:pt x="7198" y="14696"/>
                    <a:pt x="7198" y="13108"/>
                    <a:pt x="6222" y="12129"/>
                  </a:cubicBezTo>
                  <a:cubicBezTo>
                    <a:pt x="5734" y="11640"/>
                    <a:pt x="5094" y="11396"/>
                    <a:pt x="4455" y="11396"/>
                  </a:cubicBezTo>
                  <a:close/>
                  <a:moveTo>
                    <a:pt x="17143" y="11396"/>
                  </a:moveTo>
                  <a:cubicBezTo>
                    <a:pt x="16504" y="11396"/>
                    <a:pt x="15865" y="11640"/>
                    <a:pt x="15377" y="12129"/>
                  </a:cubicBezTo>
                  <a:cubicBezTo>
                    <a:pt x="14401" y="13108"/>
                    <a:pt x="14401" y="14696"/>
                    <a:pt x="15377" y="15675"/>
                  </a:cubicBezTo>
                  <a:cubicBezTo>
                    <a:pt x="16353" y="16654"/>
                    <a:pt x="17935" y="16654"/>
                    <a:pt x="18911" y="15675"/>
                  </a:cubicBezTo>
                  <a:cubicBezTo>
                    <a:pt x="19886" y="14696"/>
                    <a:pt x="19886" y="13108"/>
                    <a:pt x="18911" y="12129"/>
                  </a:cubicBezTo>
                  <a:cubicBezTo>
                    <a:pt x="18423" y="11640"/>
                    <a:pt x="17783" y="11396"/>
                    <a:pt x="17143" y="11396"/>
                  </a:cubicBezTo>
                  <a:close/>
                  <a:moveTo>
                    <a:pt x="11396" y="11455"/>
                  </a:moveTo>
                  <a:lnTo>
                    <a:pt x="10155" y="11466"/>
                  </a:lnTo>
                  <a:lnTo>
                    <a:pt x="10160" y="13083"/>
                  </a:lnTo>
                  <a:lnTo>
                    <a:pt x="8028" y="15209"/>
                  </a:lnTo>
                  <a:lnTo>
                    <a:pt x="8835" y="16104"/>
                  </a:lnTo>
                  <a:lnTo>
                    <a:pt x="10807" y="14204"/>
                  </a:lnTo>
                  <a:lnTo>
                    <a:pt x="12709" y="16105"/>
                  </a:lnTo>
                  <a:lnTo>
                    <a:pt x="13581" y="15208"/>
                  </a:lnTo>
                  <a:lnTo>
                    <a:pt x="11396" y="13048"/>
                  </a:lnTo>
                  <a:lnTo>
                    <a:pt x="11396" y="11455"/>
                  </a:lnTo>
                  <a:close/>
                  <a:moveTo>
                    <a:pt x="1469" y="16281"/>
                  </a:moveTo>
                  <a:cubicBezTo>
                    <a:pt x="1028" y="16710"/>
                    <a:pt x="674" y="17219"/>
                    <a:pt x="423" y="17781"/>
                  </a:cubicBezTo>
                  <a:cubicBezTo>
                    <a:pt x="156" y="18379"/>
                    <a:pt x="12" y="19025"/>
                    <a:pt x="0" y="19681"/>
                  </a:cubicBezTo>
                  <a:lnTo>
                    <a:pt x="0" y="20991"/>
                  </a:lnTo>
                  <a:cubicBezTo>
                    <a:pt x="0" y="21114"/>
                    <a:pt x="39" y="21234"/>
                    <a:pt x="111" y="21333"/>
                  </a:cubicBezTo>
                  <a:cubicBezTo>
                    <a:pt x="221" y="21486"/>
                    <a:pt x="396" y="21578"/>
                    <a:pt x="583" y="21581"/>
                  </a:cubicBezTo>
                  <a:lnTo>
                    <a:pt x="8256" y="21581"/>
                  </a:lnTo>
                  <a:cubicBezTo>
                    <a:pt x="8459" y="21600"/>
                    <a:pt x="8657" y="21514"/>
                    <a:pt x="8783" y="21354"/>
                  </a:cubicBezTo>
                  <a:cubicBezTo>
                    <a:pt x="8869" y="21243"/>
                    <a:pt x="8912" y="21105"/>
                    <a:pt x="8905" y="20965"/>
                  </a:cubicBezTo>
                  <a:lnTo>
                    <a:pt x="8905" y="19788"/>
                  </a:lnTo>
                  <a:cubicBezTo>
                    <a:pt x="8904" y="19075"/>
                    <a:pt x="8746" y="18371"/>
                    <a:pt x="8444" y="17726"/>
                  </a:cubicBezTo>
                  <a:cubicBezTo>
                    <a:pt x="8189" y="17184"/>
                    <a:pt x="7837" y="16694"/>
                    <a:pt x="7404" y="16281"/>
                  </a:cubicBezTo>
                  <a:cubicBezTo>
                    <a:pt x="6673" y="17246"/>
                    <a:pt x="5522" y="17796"/>
                    <a:pt x="4314" y="17757"/>
                  </a:cubicBezTo>
                  <a:cubicBezTo>
                    <a:pt x="3192" y="17721"/>
                    <a:pt x="2146" y="17179"/>
                    <a:pt x="1469" y="16281"/>
                  </a:cubicBezTo>
                  <a:close/>
                  <a:moveTo>
                    <a:pt x="14157" y="16281"/>
                  </a:moveTo>
                  <a:cubicBezTo>
                    <a:pt x="13717" y="16710"/>
                    <a:pt x="13363" y="17219"/>
                    <a:pt x="13112" y="17781"/>
                  </a:cubicBezTo>
                  <a:cubicBezTo>
                    <a:pt x="12845" y="18379"/>
                    <a:pt x="12700" y="19025"/>
                    <a:pt x="12688" y="19681"/>
                  </a:cubicBezTo>
                  <a:lnTo>
                    <a:pt x="12688" y="20991"/>
                  </a:lnTo>
                  <a:cubicBezTo>
                    <a:pt x="12689" y="21114"/>
                    <a:pt x="12728" y="21234"/>
                    <a:pt x="12800" y="21333"/>
                  </a:cubicBezTo>
                  <a:cubicBezTo>
                    <a:pt x="12910" y="21486"/>
                    <a:pt x="13084" y="21578"/>
                    <a:pt x="13272" y="21581"/>
                  </a:cubicBezTo>
                  <a:lnTo>
                    <a:pt x="20945" y="21581"/>
                  </a:lnTo>
                  <a:cubicBezTo>
                    <a:pt x="21147" y="21600"/>
                    <a:pt x="21346" y="21514"/>
                    <a:pt x="21471" y="21354"/>
                  </a:cubicBezTo>
                  <a:cubicBezTo>
                    <a:pt x="21557" y="21243"/>
                    <a:pt x="21600" y="21105"/>
                    <a:pt x="21593" y="20965"/>
                  </a:cubicBezTo>
                  <a:lnTo>
                    <a:pt x="21593" y="19788"/>
                  </a:lnTo>
                  <a:cubicBezTo>
                    <a:pt x="21592" y="19075"/>
                    <a:pt x="21435" y="18371"/>
                    <a:pt x="21132" y="17726"/>
                  </a:cubicBezTo>
                  <a:cubicBezTo>
                    <a:pt x="20878" y="17184"/>
                    <a:pt x="20525" y="16694"/>
                    <a:pt x="20092" y="16281"/>
                  </a:cubicBezTo>
                  <a:cubicBezTo>
                    <a:pt x="19361" y="17246"/>
                    <a:pt x="18210" y="17796"/>
                    <a:pt x="17002" y="17757"/>
                  </a:cubicBezTo>
                  <a:cubicBezTo>
                    <a:pt x="15880" y="17721"/>
                    <a:pt x="14834" y="17179"/>
                    <a:pt x="14157" y="16281"/>
                  </a:cubicBez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06CBC8BF-ED3D-1E88-CA62-B19F30148EE5}"/>
                </a:ext>
              </a:extLst>
            </p:cNvPr>
            <p:cNvSpPr txBox="1"/>
            <p:nvPr/>
          </p:nvSpPr>
          <p:spPr>
            <a:xfrm>
              <a:off x="1741120" y="2317980"/>
              <a:ext cx="9535392" cy="31566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64798C"/>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516B7E"/>
                </a:solidFill>
                <a:effectLst/>
                <a:uLnTx/>
                <a:uFillTx/>
                <a:latin typeface="Corbel" panose="020B0503020204020204" pitchFamily="34" charset="0"/>
                <a:sym typeface="DM Sans Regular"/>
              </a:endParaRPr>
            </a:p>
          </p:txBody>
        </p:sp>
      </p:grpSp>
      <p:sp>
        <p:nvSpPr>
          <p:cNvPr id="27"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9828330" y="2841583"/>
            <a:ext cx="1992439" cy="245537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tx1"/>
                </a:solidFill>
                <a:effectLst/>
                <a:uLnTx/>
                <a:uFillTx/>
                <a:latin typeface="Corbel" panose="020B0503020204020204" pitchFamily="34" charset="0"/>
                <a:sym typeface="DM Sans Regular"/>
              </a:rPr>
              <a:t>There</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are several healthcare companies that provide medical staff and clinic management services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e.g</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Lagoon hospital,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Isos</a:t>
            </a:r>
            <a:r>
              <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rPr>
              <a:t>, </a:t>
            </a:r>
            <a:r>
              <a:rPr kumimoji="0" lang="en-US" sz="1200" b="1" i="0" u="none" strike="noStrike" kern="0" cap="none" spc="0" normalizeH="0" noProof="0" dirty="0" err="1">
                <a:ln>
                  <a:noFill/>
                </a:ln>
                <a:solidFill>
                  <a:schemeClr val="tx1"/>
                </a:solidFill>
                <a:effectLst/>
                <a:uLnTx/>
                <a:uFillTx/>
                <a:latin typeface="Corbel" panose="020B0503020204020204" pitchFamily="34" charset="0"/>
                <a:sym typeface="DM Sans Regular"/>
              </a:rPr>
              <a:t>si</a:t>
            </a:r>
            <a:r>
              <a:rPr lang="en-US" sz="1200" b="1" kern="0" dirty="0" err="1">
                <a:solidFill>
                  <a:schemeClr val="tx1"/>
                </a:solidFill>
                <a:latin typeface="Corbel" panose="020B0503020204020204" pitchFamily="34" charset="0"/>
              </a:rPr>
              <a:t>ms</a:t>
            </a:r>
            <a:r>
              <a:rPr lang="en-US" sz="1200" b="1" kern="0" dirty="0">
                <a:solidFill>
                  <a:schemeClr val="tx1"/>
                </a:solidFill>
                <a:latin typeface="Corbel" panose="020B0503020204020204" pitchFamily="34" charset="0"/>
              </a:rPr>
              <a:t>, ambulance NG etc.</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200" b="1" kern="0" dirty="0">
                <a:solidFill>
                  <a:schemeClr val="tx1"/>
                </a:solidFill>
                <a:latin typeface="Corbel" panose="020B0503020204020204" pitchFamily="34" charset="0"/>
              </a:rPr>
              <a:t>The competition is getting tougher with shrinking viable market and more new entrants </a:t>
            </a:r>
            <a:endParaRPr kumimoji="0" lang="en-US" sz="1200" b="1" i="0" u="none" strike="noStrike" kern="0" cap="none" spc="0" normalizeH="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2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Tree>
    <p:extLst>
      <p:ext uri="{BB962C8B-B14F-4D97-AF65-F5344CB8AC3E}">
        <p14:creationId xmlns:p14="http://schemas.microsoft.com/office/powerpoint/2010/main" val="4085436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12AC-0BAE-77A1-ACAD-A0A7AF591FCD}"/>
              </a:ext>
            </a:extLst>
          </p:cNvPr>
          <p:cNvSpPr>
            <a:spLocks noGrp="1"/>
          </p:cNvSpPr>
          <p:nvPr>
            <p:ph type="title"/>
          </p:nvPr>
        </p:nvSpPr>
        <p:spPr>
          <a:xfrm>
            <a:off x="756431" y="109121"/>
            <a:ext cx="10104784" cy="568939"/>
          </a:xfrm>
        </p:spPr>
        <p:txBody>
          <a:bodyPr/>
          <a:lstStyle/>
          <a:p>
            <a:r>
              <a:rPr lang="en-US" dirty="0"/>
              <a:t>Five Forces Analysis : MEDADVISORY </a:t>
            </a:r>
            <a:endParaRPr lang="aa-ET" dirty="0"/>
          </a:p>
        </p:txBody>
      </p:sp>
      <p:sp>
        <p:nvSpPr>
          <p:cNvPr id="4" name="Slide Number Placeholder 3">
            <a:extLst>
              <a:ext uri="{FF2B5EF4-FFF2-40B4-BE49-F238E27FC236}">
                <a16:creationId xmlns:a16="http://schemas.microsoft.com/office/drawing/2014/main" id="{D93718C8-8A93-9CC0-F927-9BAF7A1C48BA}"/>
              </a:ext>
            </a:extLst>
          </p:cNvPr>
          <p:cNvSpPr>
            <a:spLocks noGrp="1"/>
          </p:cNvSpPr>
          <p:nvPr>
            <p:ph type="sldNum" sz="quarter" idx="12"/>
          </p:nvPr>
        </p:nvSpPr>
        <p:spPr/>
        <p:txBody>
          <a:bodyPr/>
          <a:lstStyle/>
          <a:p>
            <a:fld id="{88DB5A6F-883B-4080-A811-FB5B8D05AFA3}" type="slidenum">
              <a:rPr lang="en-GB" smtClean="0"/>
              <a:pPr/>
              <a:t>25</a:t>
            </a:fld>
            <a:endParaRPr lang="en-GB"/>
          </a:p>
        </p:txBody>
      </p:sp>
      <p:grpSp>
        <p:nvGrpSpPr>
          <p:cNvPr id="51" name="Group 50">
            <a:extLst>
              <a:ext uri="{FF2B5EF4-FFF2-40B4-BE49-F238E27FC236}">
                <a16:creationId xmlns:a16="http://schemas.microsoft.com/office/drawing/2014/main" id="{F637EF9B-8601-3D75-BCE5-07D21F1EFC43}"/>
              </a:ext>
            </a:extLst>
          </p:cNvPr>
          <p:cNvGrpSpPr/>
          <p:nvPr/>
        </p:nvGrpSpPr>
        <p:grpSpPr>
          <a:xfrm>
            <a:off x="356258" y="836370"/>
            <a:ext cx="11529389" cy="5548330"/>
            <a:chOff x="1182701" y="2317980"/>
            <a:chExt cx="10638682" cy="6179142"/>
          </a:xfrm>
        </p:grpSpPr>
        <p:sp>
          <p:nvSpPr>
            <p:cNvPr id="53" name="Rounded Rectangle">
              <a:extLst>
                <a:ext uri="{FF2B5EF4-FFF2-40B4-BE49-F238E27FC236}">
                  <a16:creationId xmlns:a16="http://schemas.microsoft.com/office/drawing/2014/main" id="{99DA1830-6529-17B1-375F-059EF6524FD8}"/>
                </a:ext>
              </a:extLst>
            </p:cNvPr>
            <p:cNvSpPr/>
            <p:nvPr/>
          </p:nvSpPr>
          <p:spPr>
            <a:xfrm>
              <a:off x="1182701" y="3394671"/>
              <a:ext cx="2050097" cy="5070877"/>
            </a:xfrm>
            <a:prstGeom prst="roundRect">
              <a:avLst>
                <a:gd name="adj" fmla="val 5220"/>
              </a:avLst>
            </a:prstGeom>
            <a:solidFill>
              <a:schemeClr val="accent2"/>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4" name="New Entry">
              <a:extLst>
                <a:ext uri="{FF2B5EF4-FFF2-40B4-BE49-F238E27FC236}">
                  <a16:creationId xmlns:a16="http://schemas.microsoft.com/office/drawing/2014/main" id="{F4C31876-B62D-CA44-15C9-1AD0FEC3D4FA}"/>
                </a:ext>
              </a:extLst>
            </p:cNvPr>
            <p:cNvSpPr txBox="1"/>
            <p:nvPr/>
          </p:nvSpPr>
          <p:spPr>
            <a:xfrm>
              <a:off x="1574985" y="4144998"/>
              <a:ext cx="1265529"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New Entry</a:t>
              </a:r>
            </a:p>
          </p:txBody>
        </p:sp>
        <p:sp>
          <p:nvSpPr>
            <p:cNvPr id="55" name="Lorem ipsum dolor sit amet, consectetur adipiscing elit, sed do eiusmod tempor incididunt ut labore">
              <a:extLst>
                <a:ext uri="{FF2B5EF4-FFF2-40B4-BE49-F238E27FC236}">
                  <a16:creationId xmlns:a16="http://schemas.microsoft.com/office/drawing/2014/main" id="{6CF994BC-10DA-DB5D-91F7-74746BEA3111}"/>
                </a:ext>
              </a:extLst>
            </p:cNvPr>
            <p:cNvSpPr txBox="1"/>
            <p:nvPr/>
          </p:nvSpPr>
          <p:spPr>
            <a:xfrm>
              <a:off x="1333603" y="4740662"/>
              <a:ext cx="1783532" cy="117493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The barrier to entry is low but it requires a vast knowledge,  communication skills  and flexibility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6" name="Rounded Rectangle">
              <a:extLst>
                <a:ext uri="{FF2B5EF4-FFF2-40B4-BE49-F238E27FC236}">
                  <a16:creationId xmlns:a16="http://schemas.microsoft.com/office/drawing/2014/main" id="{7F6EC221-DD0D-1A9F-9D62-A618D2519E90}"/>
                </a:ext>
              </a:extLst>
            </p:cNvPr>
            <p:cNvSpPr/>
            <p:nvPr/>
          </p:nvSpPr>
          <p:spPr>
            <a:xfrm>
              <a:off x="3329848" y="3394671"/>
              <a:ext cx="2050097" cy="5070877"/>
            </a:xfrm>
            <a:prstGeom prst="roundRect">
              <a:avLst>
                <a:gd name="adj" fmla="val 5220"/>
              </a:avLst>
            </a:prstGeom>
            <a:solidFill>
              <a:srgbClr val="00B05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7" name="Substitution">
              <a:extLst>
                <a:ext uri="{FF2B5EF4-FFF2-40B4-BE49-F238E27FC236}">
                  <a16:creationId xmlns:a16="http://schemas.microsoft.com/office/drawing/2014/main" id="{E51182B8-F125-795C-6300-AEBAC3AFF10F}"/>
                </a:ext>
              </a:extLst>
            </p:cNvPr>
            <p:cNvSpPr txBox="1"/>
            <p:nvPr/>
          </p:nvSpPr>
          <p:spPr>
            <a:xfrm>
              <a:off x="3539889" y="4149967"/>
              <a:ext cx="1700334"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Substitution</a:t>
              </a:r>
            </a:p>
          </p:txBody>
        </p:sp>
        <p:sp>
          <p:nvSpPr>
            <p:cNvPr id="58"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3442895" y="4719752"/>
              <a:ext cx="1979671" cy="117493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 is the retainer doctor, Company  Legal  who can provide</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opinion on how to manage medicals issues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9" name="Rounded Rectangle">
              <a:extLst>
                <a:ext uri="{FF2B5EF4-FFF2-40B4-BE49-F238E27FC236}">
                  <a16:creationId xmlns:a16="http://schemas.microsoft.com/office/drawing/2014/main" id="{B37E9B60-4A44-587E-51F2-195B100CE2A9}"/>
                </a:ext>
              </a:extLst>
            </p:cNvPr>
            <p:cNvSpPr/>
            <p:nvPr/>
          </p:nvSpPr>
          <p:spPr>
            <a:xfrm>
              <a:off x="5441755" y="3426244"/>
              <a:ext cx="2050097" cy="5070878"/>
            </a:xfrm>
            <a:prstGeom prst="roundRect">
              <a:avLst>
                <a:gd name="adj" fmla="val 5220"/>
              </a:avLst>
            </a:prstGeom>
            <a:solidFill>
              <a:srgbClr val="FF000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0" name="Supplier">
              <a:extLst>
                <a:ext uri="{FF2B5EF4-FFF2-40B4-BE49-F238E27FC236}">
                  <a16:creationId xmlns:a16="http://schemas.microsoft.com/office/drawing/2014/main" id="{4C9C476D-7564-A4E3-0CC4-A8063BE3A7A8}"/>
                </a:ext>
              </a:extLst>
            </p:cNvPr>
            <p:cNvSpPr txBox="1"/>
            <p:nvPr/>
          </p:nvSpPr>
          <p:spPr>
            <a:xfrm>
              <a:off x="5869279" y="4138331"/>
              <a:ext cx="1265530"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FEFFFE"/>
                  </a:solidFill>
                  <a:effectLst/>
                  <a:uLnTx/>
                  <a:uFillTx/>
                  <a:latin typeface="Corbel" panose="020B0503020204020204" pitchFamily="34" charset="0"/>
                  <a:sym typeface="DM Sans Medium"/>
                </a:rPr>
                <a:t>Supplier</a:t>
              </a:r>
            </a:p>
          </p:txBody>
        </p:sp>
        <p:sp>
          <p:nvSpPr>
            <p:cNvPr id="61" name="Lorem ipsum dolor sit amet, consectetur adipiscing elit, sed do eiusmod tempor incididunt ut labore">
              <a:extLst>
                <a:ext uri="{FF2B5EF4-FFF2-40B4-BE49-F238E27FC236}">
                  <a16:creationId xmlns:a16="http://schemas.microsoft.com/office/drawing/2014/main" id="{1C02A085-9B2B-7502-44B1-32F56795B685}"/>
                </a:ext>
              </a:extLst>
            </p:cNvPr>
            <p:cNvSpPr txBox="1"/>
            <p:nvPr/>
          </p:nvSpPr>
          <p:spPr>
            <a:xfrm>
              <a:off x="5635776" y="4551174"/>
              <a:ext cx="1686481" cy="30087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2" name="Rounded Rectangle">
              <a:extLst>
                <a:ext uri="{FF2B5EF4-FFF2-40B4-BE49-F238E27FC236}">
                  <a16:creationId xmlns:a16="http://schemas.microsoft.com/office/drawing/2014/main" id="{4252DCB7-B0FC-5B1A-91A8-E7493E3271FD}"/>
                </a:ext>
              </a:extLst>
            </p:cNvPr>
            <p:cNvSpPr/>
            <p:nvPr/>
          </p:nvSpPr>
          <p:spPr>
            <a:xfrm>
              <a:off x="7624141" y="3394672"/>
              <a:ext cx="2050097" cy="5070876"/>
            </a:xfrm>
            <a:prstGeom prst="roundRect">
              <a:avLst>
                <a:gd name="adj" fmla="val 5220"/>
              </a:avLst>
            </a:prstGeom>
            <a:solidFill>
              <a:schemeClr val="accent4">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3" name="Buyer">
              <a:extLst>
                <a:ext uri="{FF2B5EF4-FFF2-40B4-BE49-F238E27FC236}">
                  <a16:creationId xmlns:a16="http://schemas.microsoft.com/office/drawing/2014/main" id="{F327F29B-48B6-247B-55FC-173361A3AAAF}"/>
                </a:ext>
              </a:extLst>
            </p:cNvPr>
            <p:cNvSpPr txBox="1"/>
            <p:nvPr/>
          </p:nvSpPr>
          <p:spPr>
            <a:xfrm>
              <a:off x="8048381" y="4082447"/>
              <a:ext cx="1265529" cy="3516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Buyer</a:t>
              </a:r>
            </a:p>
          </p:txBody>
        </p:sp>
        <p:sp>
          <p:nvSpPr>
            <p:cNvPr id="64"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7732918" y="4701610"/>
              <a:ext cx="1791466" cy="18433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Buyers are Tier</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1 Manufacturing and oil and gas companies who due to regulatory requirement have to engage qualified Occupational Health Physic</a:t>
              </a:r>
              <a:r>
                <a:rPr lang="en-US" sz="1300" b="1" kern="0" dirty="0" err="1">
                  <a:solidFill>
                    <a:schemeClr val="tx1"/>
                  </a:solidFill>
                  <a:latin typeface="Corbel" panose="020B0503020204020204" pitchFamily="34" charset="0"/>
                </a:rPr>
                <a:t>ians</a:t>
              </a: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p:txBody>
        </p:sp>
        <p:sp>
          <p:nvSpPr>
            <p:cNvPr id="65" name="Rounded Rectangle">
              <a:extLst>
                <a:ext uri="{FF2B5EF4-FFF2-40B4-BE49-F238E27FC236}">
                  <a16:creationId xmlns:a16="http://schemas.microsoft.com/office/drawing/2014/main" id="{B24BB561-ED09-A5B8-CEC9-BC8ECBD46888}"/>
                </a:ext>
              </a:extLst>
            </p:cNvPr>
            <p:cNvSpPr/>
            <p:nvPr/>
          </p:nvSpPr>
          <p:spPr>
            <a:xfrm>
              <a:off x="9771286" y="3403684"/>
              <a:ext cx="2050097" cy="5070876"/>
            </a:xfrm>
            <a:prstGeom prst="roundRect">
              <a:avLst>
                <a:gd name="adj" fmla="val 5220"/>
              </a:avLst>
            </a:prstGeom>
            <a:solidFill>
              <a:schemeClr val="accent5">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6" name="Competitive Rivalry">
              <a:extLst>
                <a:ext uri="{FF2B5EF4-FFF2-40B4-BE49-F238E27FC236}">
                  <a16:creationId xmlns:a16="http://schemas.microsoft.com/office/drawing/2014/main" id="{6C710A2A-C663-1C08-CA9D-7F6C798AF672}"/>
                </a:ext>
              </a:extLst>
            </p:cNvPr>
            <p:cNvSpPr txBox="1"/>
            <p:nvPr/>
          </p:nvSpPr>
          <p:spPr>
            <a:xfrm>
              <a:off x="9959869" y="4133334"/>
              <a:ext cx="1686481"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Competitive Rivalry</a:t>
              </a:r>
            </a:p>
          </p:txBody>
        </p:sp>
        <p:sp>
          <p:nvSpPr>
            <p:cNvPr id="67" name="Lorem ipsum dolor sit amet, consectetur adipiscing elit, sed do eiusmod tempor incididunt ut labore">
              <a:extLst>
                <a:ext uri="{FF2B5EF4-FFF2-40B4-BE49-F238E27FC236}">
                  <a16:creationId xmlns:a16="http://schemas.microsoft.com/office/drawing/2014/main" id="{ECDA6428-5302-76DA-63DF-901B5BD05513}"/>
                </a:ext>
              </a:extLst>
            </p:cNvPr>
            <p:cNvSpPr txBox="1"/>
            <p:nvPr/>
          </p:nvSpPr>
          <p:spPr>
            <a:xfrm>
              <a:off x="9844700" y="4838873"/>
              <a:ext cx="1916818" cy="18433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The rivalry is driven</a:t>
              </a: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 by price competition, advertising battles, product</a:t>
              </a:r>
            </a:p>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introductions and increased customer service or warranties</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8" name="Shape">
              <a:extLst>
                <a:ext uri="{FF2B5EF4-FFF2-40B4-BE49-F238E27FC236}">
                  <a16:creationId xmlns:a16="http://schemas.microsoft.com/office/drawing/2014/main" id="{99CB78E1-FE90-4A54-CAA7-CFFE6709F798}"/>
                </a:ext>
              </a:extLst>
            </p:cNvPr>
            <p:cNvSpPr/>
            <p:nvPr/>
          </p:nvSpPr>
          <p:spPr>
            <a:xfrm>
              <a:off x="8464219" y="3513418"/>
              <a:ext cx="552148" cy="514226"/>
            </a:xfrm>
            <a:custGeom>
              <a:avLst/>
              <a:gdLst/>
              <a:ahLst/>
              <a:cxnLst>
                <a:cxn ang="0">
                  <a:pos x="wd2" y="hd2"/>
                </a:cxn>
                <a:cxn ang="5400000">
                  <a:pos x="wd2" y="hd2"/>
                </a:cxn>
                <a:cxn ang="10800000">
                  <a:pos x="wd2" y="hd2"/>
                </a:cxn>
                <a:cxn ang="16200000">
                  <a:pos x="wd2" y="hd2"/>
                </a:cxn>
              </a:cxnLst>
              <a:rect l="0" t="0" r="r" b="b"/>
              <a:pathLst>
                <a:path w="21600" h="21570" extrusionOk="0">
                  <a:moveTo>
                    <a:pt x="10835" y="0"/>
                  </a:moveTo>
                  <a:cubicBezTo>
                    <a:pt x="10498" y="0"/>
                    <a:pt x="10225" y="292"/>
                    <a:pt x="10225" y="653"/>
                  </a:cubicBezTo>
                  <a:lnTo>
                    <a:pt x="10225" y="2711"/>
                  </a:lnTo>
                  <a:cubicBezTo>
                    <a:pt x="10225" y="3072"/>
                    <a:pt x="10498" y="3365"/>
                    <a:pt x="10835" y="3365"/>
                  </a:cubicBezTo>
                  <a:cubicBezTo>
                    <a:pt x="11171" y="3365"/>
                    <a:pt x="11444" y="3072"/>
                    <a:pt x="11444" y="2711"/>
                  </a:cubicBezTo>
                  <a:lnTo>
                    <a:pt x="11444" y="653"/>
                  </a:lnTo>
                  <a:cubicBezTo>
                    <a:pt x="11444" y="292"/>
                    <a:pt x="11171" y="0"/>
                    <a:pt x="10835" y="0"/>
                  </a:cubicBezTo>
                  <a:close/>
                  <a:moveTo>
                    <a:pt x="15869" y="2711"/>
                  </a:moveTo>
                  <a:cubicBezTo>
                    <a:pt x="15713" y="2711"/>
                    <a:pt x="15557" y="2775"/>
                    <a:pt x="15438" y="2902"/>
                  </a:cubicBezTo>
                  <a:lnTo>
                    <a:pt x="14157" y="4276"/>
                  </a:lnTo>
                  <a:cubicBezTo>
                    <a:pt x="13919" y="4531"/>
                    <a:pt x="13919" y="4945"/>
                    <a:pt x="14157" y="5200"/>
                  </a:cubicBezTo>
                  <a:cubicBezTo>
                    <a:pt x="14395" y="5455"/>
                    <a:pt x="14781" y="5455"/>
                    <a:pt x="15019" y="5200"/>
                  </a:cubicBezTo>
                  <a:lnTo>
                    <a:pt x="16300" y="3826"/>
                  </a:lnTo>
                  <a:cubicBezTo>
                    <a:pt x="16538" y="3570"/>
                    <a:pt x="16538" y="3158"/>
                    <a:pt x="16300" y="2902"/>
                  </a:cubicBezTo>
                  <a:cubicBezTo>
                    <a:pt x="16181" y="2775"/>
                    <a:pt x="16024" y="2711"/>
                    <a:pt x="15869" y="2711"/>
                  </a:cubicBezTo>
                  <a:close/>
                  <a:moveTo>
                    <a:pt x="5750" y="2778"/>
                  </a:moveTo>
                  <a:cubicBezTo>
                    <a:pt x="5594" y="2778"/>
                    <a:pt x="5438" y="2842"/>
                    <a:pt x="5319" y="2970"/>
                  </a:cubicBezTo>
                  <a:cubicBezTo>
                    <a:pt x="5081" y="3225"/>
                    <a:pt x="5081" y="3638"/>
                    <a:pt x="5319" y="3893"/>
                  </a:cubicBezTo>
                  <a:lnTo>
                    <a:pt x="6600" y="5267"/>
                  </a:lnTo>
                  <a:cubicBezTo>
                    <a:pt x="6838" y="5523"/>
                    <a:pt x="7223" y="5523"/>
                    <a:pt x="7461" y="5267"/>
                  </a:cubicBezTo>
                  <a:cubicBezTo>
                    <a:pt x="7699" y="5012"/>
                    <a:pt x="7699" y="4598"/>
                    <a:pt x="7461" y="4343"/>
                  </a:cubicBezTo>
                  <a:lnTo>
                    <a:pt x="6180" y="2970"/>
                  </a:lnTo>
                  <a:cubicBezTo>
                    <a:pt x="6061" y="2842"/>
                    <a:pt x="5906" y="2778"/>
                    <a:pt x="5750" y="2778"/>
                  </a:cubicBezTo>
                  <a:close/>
                  <a:moveTo>
                    <a:pt x="7845" y="6794"/>
                  </a:moveTo>
                  <a:cubicBezTo>
                    <a:pt x="7471" y="6799"/>
                    <a:pt x="7107" y="6917"/>
                    <a:pt x="6793" y="7134"/>
                  </a:cubicBezTo>
                  <a:cubicBezTo>
                    <a:pt x="6520" y="7322"/>
                    <a:pt x="6295" y="7579"/>
                    <a:pt x="6136" y="7883"/>
                  </a:cubicBezTo>
                  <a:lnTo>
                    <a:pt x="5520" y="9164"/>
                  </a:lnTo>
                  <a:cubicBezTo>
                    <a:pt x="5451" y="9272"/>
                    <a:pt x="5360" y="9362"/>
                    <a:pt x="5255" y="9427"/>
                  </a:cubicBezTo>
                  <a:cubicBezTo>
                    <a:pt x="5133" y="9503"/>
                    <a:pt x="4996" y="9544"/>
                    <a:pt x="4855" y="9546"/>
                  </a:cubicBezTo>
                  <a:lnTo>
                    <a:pt x="3844" y="9546"/>
                  </a:lnTo>
                  <a:lnTo>
                    <a:pt x="3814" y="19022"/>
                  </a:lnTo>
                  <a:lnTo>
                    <a:pt x="6722" y="19022"/>
                  </a:lnTo>
                  <a:lnTo>
                    <a:pt x="8565" y="21055"/>
                  </a:lnTo>
                  <a:cubicBezTo>
                    <a:pt x="8769" y="21249"/>
                    <a:pt x="9010" y="21395"/>
                    <a:pt x="9270" y="21481"/>
                  </a:cubicBezTo>
                  <a:cubicBezTo>
                    <a:pt x="9629" y="21598"/>
                    <a:pt x="10011" y="21600"/>
                    <a:pt x="10371" y="21486"/>
                  </a:cubicBezTo>
                  <a:lnTo>
                    <a:pt x="16077" y="19530"/>
                  </a:lnTo>
                  <a:cubicBezTo>
                    <a:pt x="16210" y="19487"/>
                    <a:pt x="16333" y="19417"/>
                    <a:pt x="16442" y="19326"/>
                  </a:cubicBezTo>
                  <a:cubicBezTo>
                    <a:pt x="16527" y="19255"/>
                    <a:pt x="16601" y="19172"/>
                    <a:pt x="16664" y="19079"/>
                  </a:cubicBezTo>
                  <a:lnTo>
                    <a:pt x="12170" y="14325"/>
                  </a:lnTo>
                  <a:lnTo>
                    <a:pt x="11730" y="14325"/>
                  </a:lnTo>
                  <a:cubicBezTo>
                    <a:pt x="11355" y="15204"/>
                    <a:pt x="10698" y="15909"/>
                    <a:pt x="9878" y="16312"/>
                  </a:cubicBezTo>
                  <a:cubicBezTo>
                    <a:pt x="8999" y="16745"/>
                    <a:pt x="7998" y="16800"/>
                    <a:pt x="7082" y="16465"/>
                  </a:cubicBezTo>
                  <a:lnTo>
                    <a:pt x="6167" y="16096"/>
                  </a:lnTo>
                  <a:cubicBezTo>
                    <a:pt x="5956" y="15989"/>
                    <a:pt x="5808" y="15778"/>
                    <a:pt x="5770" y="15531"/>
                  </a:cubicBezTo>
                  <a:cubicBezTo>
                    <a:pt x="5743" y="15349"/>
                    <a:pt x="5780" y="15162"/>
                    <a:pt x="5872" y="15007"/>
                  </a:cubicBezTo>
                  <a:lnTo>
                    <a:pt x="8176" y="10163"/>
                  </a:lnTo>
                  <a:cubicBezTo>
                    <a:pt x="8397" y="9732"/>
                    <a:pt x="8734" y="9381"/>
                    <a:pt x="9142" y="9156"/>
                  </a:cubicBezTo>
                  <a:cubicBezTo>
                    <a:pt x="9437" y="8994"/>
                    <a:pt x="9761" y="8903"/>
                    <a:pt x="10092" y="8888"/>
                  </a:cubicBezTo>
                  <a:lnTo>
                    <a:pt x="13081" y="8888"/>
                  </a:lnTo>
                  <a:cubicBezTo>
                    <a:pt x="13322" y="8472"/>
                    <a:pt x="13661" y="7410"/>
                    <a:pt x="13026" y="6962"/>
                  </a:cubicBezTo>
                  <a:cubicBezTo>
                    <a:pt x="12869" y="6852"/>
                    <a:pt x="12685" y="6793"/>
                    <a:pt x="12498" y="6794"/>
                  </a:cubicBezTo>
                  <a:lnTo>
                    <a:pt x="7845" y="6794"/>
                  </a:lnTo>
                  <a:close/>
                  <a:moveTo>
                    <a:pt x="1008" y="9498"/>
                  </a:moveTo>
                  <a:cubicBezTo>
                    <a:pt x="718" y="9498"/>
                    <a:pt x="572" y="9499"/>
                    <a:pt x="417" y="9551"/>
                  </a:cubicBezTo>
                  <a:cubicBezTo>
                    <a:pt x="246" y="9618"/>
                    <a:pt x="112" y="9762"/>
                    <a:pt x="50" y="9945"/>
                  </a:cubicBezTo>
                  <a:cubicBezTo>
                    <a:pt x="1" y="10112"/>
                    <a:pt x="0" y="10269"/>
                    <a:pt x="0" y="10579"/>
                  </a:cubicBezTo>
                  <a:lnTo>
                    <a:pt x="0" y="17922"/>
                  </a:lnTo>
                  <a:cubicBezTo>
                    <a:pt x="0" y="18237"/>
                    <a:pt x="1" y="18394"/>
                    <a:pt x="50" y="18561"/>
                  </a:cubicBezTo>
                  <a:cubicBezTo>
                    <a:pt x="112" y="18744"/>
                    <a:pt x="246" y="18888"/>
                    <a:pt x="417" y="18955"/>
                  </a:cubicBezTo>
                  <a:cubicBezTo>
                    <a:pt x="573" y="19008"/>
                    <a:pt x="719" y="19007"/>
                    <a:pt x="1008" y="19007"/>
                  </a:cubicBezTo>
                  <a:lnTo>
                    <a:pt x="2519" y="19007"/>
                  </a:lnTo>
                  <a:lnTo>
                    <a:pt x="2519" y="9498"/>
                  </a:lnTo>
                  <a:lnTo>
                    <a:pt x="1012" y="9498"/>
                  </a:lnTo>
                  <a:lnTo>
                    <a:pt x="1008" y="9498"/>
                  </a:lnTo>
                  <a:close/>
                  <a:moveTo>
                    <a:pt x="19026" y="9521"/>
                  </a:moveTo>
                  <a:lnTo>
                    <a:pt x="19026" y="19029"/>
                  </a:lnTo>
                  <a:lnTo>
                    <a:pt x="20589" y="19029"/>
                  </a:lnTo>
                  <a:cubicBezTo>
                    <a:pt x="20882" y="19029"/>
                    <a:pt x="21028" y="19030"/>
                    <a:pt x="21184" y="18977"/>
                  </a:cubicBezTo>
                  <a:cubicBezTo>
                    <a:pt x="21354" y="18910"/>
                    <a:pt x="21489" y="18766"/>
                    <a:pt x="21551" y="18583"/>
                  </a:cubicBezTo>
                  <a:cubicBezTo>
                    <a:pt x="21600" y="18416"/>
                    <a:pt x="21600" y="18259"/>
                    <a:pt x="21600" y="17949"/>
                  </a:cubicBezTo>
                  <a:lnTo>
                    <a:pt x="21600" y="10605"/>
                  </a:lnTo>
                  <a:cubicBezTo>
                    <a:pt x="21600" y="10291"/>
                    <a:pt x="21600" y="10134"/>
                    <a:pt x="21551" y="9967"/>
                  </a:cubicBezTo>
                  <a:cubicBezTo>
                    <a:pt x="21489" y="9784"/>
                    <a:pt x="21354" y="9640"/>
                    <a:pt x="21184" y="9574"/>
                  </a:cubicBezTo>
                  <a:cubicBezTo>
                    <a:pt x="21028" y="9521"/>
                    <a:pt x="20881" y="9521"/>
                    <a:pt x="20592" y="9521"/>
                  </a:cubicBezTo>
                  <a:lnTo>
                    <a:pt x="19026" y="9521"/>
                  </a:lnTo>
                  <a:close/>
                  <a:moveTo>
                    <a:pt x="10221" y="10214"/>
                  </a:moveTo>
                  <a:cubicBezTo>
                    <a:pt x="10027" y="10227"/>
                    <a:pt x="9839" y="10291"/>
                    <a:pt x="9673" y="10398"/>
                  </a:cubicBezTo>
                  <a:cubicBezTo>
                    <a:pt x="9482" y="10521"/>
                    <a:pt x="9327" y="10699"/>
                    <a:pt x="9224" y="10911"/>
                  </a:cubicBezTo>
                  <a:lnTo>
                    <a:pt x="7288" y="15038"/>
                  </a:lnTo>
                  <a:cubicBezTo>
                    <a:pt x="7791" y="15310"/>
                    <a:pt x="8368" y="15380"/>
                    <a:pt x="8914" y="15234"/>
                  </a:cubicBezTo>
                  <a:cubicBezTo>
                    <a:pt x="9494" y="15080"/>
                    <a:pt x="9998" y="14695"/>
                    <a:pt x="10323" y="14157"/>
                  </a:cubicBezTo>
                  <a:lnTo>
                    <a:pt x="10972" y="12900"/>
                  </a:lnTo>
                  <a:lnTo>
                    <a:pt x="12168" y="12894"/>
                  </a:lnTo>
                  <a:cubicBezTo>
                    <a:pt x="12346" y="12901"/>
                    <a:pt x="12521" y="12942"/>
                    <a:pt x="12684" y="13015"/>
                  </a:cubicBezTo>
                  <a:cubicBezTo>
                    <a:pt x="12838" y="13085"/>
                    <a:pt x="12980" y="13182"/>
                    <a:pt x="13104" y="13302"/>
                  </a:cubicBezTo>
                  <a:lnTo>
                    <a:pt x="17781" y="18390"/>
                  </a:lnTo>
                  <a:lnTo>
                    <a:pt x="17787" y="10214"/>
                  </a:lnTo>
                  <a:lnTo>
                    <a:pt x="10221" y="1021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9" name="Shape">
              <a:extLst>
                <a:ext uri="{FF2B5EF4-FFF2-40B4-BE49-F238E27FC236}">
                  <a16:creationId xmlns:a16="http://schemas.microsoft.com/office/drawing/2014/main" id="{1311A6DB-A00D-C757-546F-7E19B2D11BED}"/>
                </a:ext>
              </a:extLst>
            </p:cNvPr>
            <p:cNvSpPr/>
            <p:nvPr/>
          </p:nvSpPr>
          <p:spPr>
            <a:xfrm>
              <a:off x="10552403" y="3632097"/>
              <a:ext cx="487864" cy="487789"/>
            </a:xfrm>
            <a:custGeom>
              <a:avLst/>
              <a:gdLst/>
              <a:ahLst/>
              <a:cxnLst>
                <a:cxn ang="0">
                  <a:pos x="wd2" y="hd2"/>
                </a:cxn>
                <a:cxn ang="5400000">
                  <a:pos x="wd2" y="hd2"/>
                </a:cxn>
                <a:cxn ang="10800000">
                  <a:pos x="wd2" y="hd2"/>
                </a:cxn>
                <a:cxn ang="16200000">
                  <a:pos x="wd2" y="hd2"/>
                </a:cxn>
              </a:cxnLst>
              <a:rect l="0" t="0" r="r" b="b"/>
              <a:pathLst>
                <a:path w="21508" h="21457" extrusionOk="0">
                  <a:moveTo>
                    <a:pt x="8861" y="0"/>
                  </a:moveTo>
                  <a:cubicBezTo>
                    <a:pt x="8468" y="0"/>
                    <a:pt x="8072" y="0"/>
                    <a:pt x="7714" y="83"/>
                  </a:cubicBezTo>
                  <a:cubicBezTo>
                    <a:pt x="7074" y="246"/>
                    <a:pt x="6574" y="744"/>
                    <a:pt x="6410" y="1382"/>
                  </a:cubicBezTo>
                  <a:cubicBezTo>
                    <a:pt x="6328" y="1740"/>
                    <a:pt x="6328" y="2135"/>
                    <a:pt x="6328" y="2528"/>
                  </a:cubicBezTo>
                  <a:cubicBezTo>
                    <a:pt x="6328" y="2921"/>
                    <a:pt x="6328" y="3316"/>
                    <a:pt x="6410" y="3674"/>
                  </a:cubicBezTo>
                  <a:cubicBezTo>
                    <a:pt x="6574" y="4312"/>
                    <a:pt x="7074" y="4810"/>
                    <a:pt x="7714" y="4973"/>
                  </a:cubicBezTo>
                  <a:cubicBezTo>
                    <a:pt x="8072" y="5056"/>
                    <a:pt x="8468" y="5056"/>
                    <a:pt x="8861" y="5056"/>
                  </a:cubicBezTo>
                  <a:lnTo>
                    <a:pt x="10423" y="5056"/>
                  </a:lnTo>
                  <a:lnTo>
                    <a:pt x="12864" y="7359"/>
                  </a:lnTo>
                  <a:cubicBezTo>
                    <a:pt x="13044" y="7535"/>
                    <a:pt x="13310" y="7590"/>
                    <a:pt x="13545" y="7500"/>
                  </a:cubicBezTo>
                  <a:cubicBezTo>
                    <a:pt x="13798" y="7403"/>
                    <a:pt x="13964" y="7159"/>
                    <a:pt x="13961" y="6888"/>
                  </a:cubicBezTo>
                  <a:lnTo>
                    <a:pt x="13967" y="4924"/>
                  </a:lnTo>
                  <a:cubicBezTo>
                    <a:pt x="14533" y="4725"/>
                    <a:pt x="14970" y="4260"/>
                    <a:pt x="15121" y="3674"/>
                  </a:cubicBezTo>
                  <a:cubicBezTo>
                    <a:pt x="15204" y="3316"/>
                    <a:pt x="15203" y="2921"/>
                    <a:pt x="15203" y="2528"/>
                  </a:cubicBezTo>
                  <a:cubicBezTo>
                    <a:pt x="15203" y="2135"/>
                    <a:pt x="15204" y="1740"/>
                    <a:pt x="15121" y="1382"/>
                  </a:cubicBezTo>
                  <a:cubicBezTo>
                    <a:pt x="14957" y="744"/>
                    <a:pt x="14457" y="246"/>
                    <a:pt x="13817" y="83"/>
                  </a:cubicBezTo>
                  <a:cubicBezTo>
                    <a:pt x="13459" y="0"/>
                    <a:pt x="13064" y="0"/>
                    <a:pt x="12670" y="0"/>
                  </a:cubicBezTo>
                  <a:lnTo>
                    <a:pt x="8861" y="0"/>
                  </a:lnTo>
                  <a:close/>
                  <a:moveTo>
                    <a:pt x="3798" y="3201"/>
                  </a:moveTo>
                  <a:cubicBezTo>
                    <a:pt x="3312" y="3201"/>
                    <a:pt x="2826" y="3386"/>
                    <a:pt x="2456" y="3755"/>
                  </a:cubicBezTo>
                  <a:cubicBezTo>
                    <a:pt x="1715" y="4494"/>
                    <a:pt x="1715" y="5693"/>
                    <a:pt x="2456" y="6432"/>
                  </a:cubicBezTo>
                  <a:cubicBezTo>
                    <a:pt x="3197" y="7172"/>
                    <a:pt x="4398" y="7172"/>
                    <a:pt x="5139" y="6432"/>
                  </a:cubicBezTo>
                  <a:cubicBezTo>
                    <a:pt x="5880" y="5693"/>
                    <a:pt x="5880" y="4494"/>
                    <a:pt x="5139" y="3755"/>
                  </a:cubicBezTo>
                  <a:cubicBezTo>
                    <a:pt x="4769" y="3386"/>
                    <a:pt x="4283" y="3201"/>
                    <a:pt x="3798" y="3201"/>
                  </a:cubicBezTo>
                  <a:close/>
                  <a:moveTo>
                    <a:pt x="17710" y="3201"/>
                  </a:moveTo>
                  <a:cubicBezTo>
                    <a:pt x="17225" y="3201"/>
                    <a:pt x="16739" y="3386"/>
                    <a:pt x="16369" y="3755"/>
                  </a:cubicBezTo>
                  <a:cubicBezTo>
                    <a:pt x="15628" y="4494"/>
                    <a:pt x="15628" y="5693"/>
                    <a:pt x="16369" y="6432"/>
                  </a:cubicBezTo>
                  <a:cubicBezTo>
                    <a:pt x="17110" y="7172"/>
                    <a:pt x="18311" y="7172"/>
                    <a:pt x="19052" y="6432"/>
                  </a:cubicBezTo>
                  <a:cubicBezTo>
                    <a:pt x="19793" y="5693"/>
                    <a:pt x="19793" y="4494"/>
                    <a:pt x="19052" y="3755"/>
                  </a:cubicBezTo>
                  <a:cubicBezTo>
                    <a:pt x="18681" y="3386"/>
                    <a:pt x="18196" y="3201"/>
                    <a:pt x="17710" y="3201"/>
                  </a:cubicBezTo>
                  <a:close/>
                  <a:moveTo>
                    <a:pt x="2578" y="7598"/>
                  </a:moveTo>
                  <a:cubicBezTo>
                    <a:pt x="2512" y="7594"/>
                    <a:pt x="2447" y="7596"/>
                    <a:pt x="2380" y="7603"/>
                  </a:cubicBezTo>
                  <a:cubicBezTo>
                    <a:pt x="1875" y="7655"/>
                    <a:pt x="1450" y="8004"/>
                    <a:pt x="1302" y="8488"/>
                  </a:cubicBezTo>
                  <a:lnTo>
                    <a:pt x="56" y="14249"/>
                  </a:lnTo>
                  <a:cubicBezTo>
                    <a:pt x="-35" y="14616"/>
                    <a:pt x="53" y="15004"/>
                    <a:pt x="294" y="15296"/>
                  </a:cubicBezTo>
                  <a:cubicBezTo>
                    <a:pt x="525" y="15576"/>
                    <a:pt x="871" y="15736"/>
                    <a:pt x="1234" y="15731"/>
                  </a:cubicBezTo>
                  <a:lnTo>
                    <a:pt x="1280" y="15731"/>
                  </a:lnTo>
                  <a:lnTo>
                    <a:pt x="24" y="20706"/>
                  </a:lnTo>
                  <a:cubicBezTo>
                    <a:pt x="-46" y="20940"/>
                    <a:pt x="40" y="21193"/>
                    <a:pt x="238" y="21337"/>
                  </a:cubicBezTo>
                  <a:cubicBezTo>
                    <a:pt x="603" y="21600"/>
                    <a:pt x="1119" y="21412"/>
                    <a:pt x="1228" y="20976"/>
                  </a:cubicBezTo>
                  <a:lnTo>
                    <a:pt x="1739" y="18941"/>
                  </a:lnTo>
                  <a:lnTo>
                    <a:pt x="7077" y="18941"/>
                  </a:lnTo>
                  <a:lnTo>
                    <a:pt x="7673" y="20692"/>
                  </a:lnTo>
                  <a:cubicBezTo>
                    <a:pt x="7931" y="21284"/>
                    <a:pt x="8596" y="21585"/>
                    <a:pt x="9212" y="21388"/>
                  </a:cubicBezTo>
                  <a:cubicBezTo>
                    <a:pt x="9851" y="21183"/>
                    <a:pt x="10219" y="20515"/>
                    <a:pt x="10049" y="19867"/>
                  </a:cubicBezTo>
                  <a:lnTo>
                    <a:pt x="8096" y="14045"/>
                  </a:lnTo>
                  <a:cubicBezTo>
                    <a:pt x="8019" y="13815"/>
                    <a:pt x="7874" y="13613"/>
                    <a:pt x="7680" y="13468"/>
                  </a:cubicBezTo>
                  <a:cubicBezTo>
                    <a:pt x="7475" y="13313"/>
                    <a:pt x="7225" y="13229"/>
                    <a:pt x="6968" y="13228"/>
                  </a:cubicBezTo>
                  <a:lnTo>
                    <a:pt x="5595" y="13228"/>
                  </a:lnTo>
                  <a:cubicBezTo>
                    <a:pt x="5279" y="13199"/>
                    <a:pt x="5033" y="12941"/>
                    <a:pt x="5021" y="12625"/>
                  </a:cubicBezTo>
                  <a:cubicBezTo>
                    <a:pt x="5008" y="12289"/>
                    <a:pt x="5260" y="12002"/>
                    <a:pt x="5595" y="11970"/>
                  </a:cubicBezTo>
                  <a:lnTo>
                    <a:pt x="7507" y="11970"/>
                  </a:lnTo>
                  <a:cubicBezTo>
                    <a:pt x="8212" y="12000"/>
                    <a:pt x="8804" y="11445"/>
                    <a:pt x="8817" y="10741"/>
                  </a:cubicBezTo>
                  <a:cubicBezTo>
                    <a:pt x="8831" y="10017"/>
                    <a:pt x="8232" y="9431"/>
                    <a:pt x="7507" y="9458"/>
                  </a:cubicBezTo>
                  <a:lnTo>
                    <a:pt x="4076" y="9458"/>
                  </a:lnTo>
                  <a:lnTo>
                    <a:pt x="3655" y="8314"/>
                  </a:lnTo>
                  <a:cubicBezTo>
                    <a:pt x="3452" y="7893"/>
                    <a:pt x="3035" y="7622"/>
                    <a:pt x="2578" y="7598"/>
                  </a:cubicBezTo>
                  <a:close/>
                  <a:moveTo>
                    <a:pt x="18930" y="7598"/>
                  </a:moveTo>
                  <a:cubicBezTo>
                    <a:pt x="18473" y="7622"/>
                    <a:pt x="18056" y="7893"/>
                    <a:pt x="17853" y="8314"/>
                  </a:cubicBezTo>
                  <a:lnTo>
                    <a:pt x="17432" y="9458"/>
                  </a:lnTo>
                  <a:lnTo>
                    <a:pt x="14001" y="9458"/>
                  </a:lnTo>
                  <a:cubicBezTo>
                    <a:pt x="13276" y="9431"/>
                    <a:pt x="12677" y="10017"/>
                    <a:pt x="12691" y="10741"/>
                  </a:cubicBezTo>
                  <a:cubicBezTo>
                    <a:pt x="12704" y="11445"/>
                    <a:pt x="13296" y="12000"/>
                    <a:pt x="14001" y="11970"/>
                  </a:cubicBezTo>
                  <a:lnTo>
                    <a:pt x="15913" y="11970"/>
                  </a:lnTo>
                  <a:cubicBezTo>
                    <a:pt x="16248" y="12002"/>
                    <a:pt x="16500" y="12289"/>
                    <a:pt x="16487" y="12625"/>
                  </a:cubicBezTo>
                  <a:cubicBezTo>
                    <a:pt x="16475" y="12941"/>
                    <a:pt x="16229" y="13199"/>
                    <a:pt x="15913" y="13228"/>
                  </a:cubicBezTo>
                  <a:lnTo>
                    <a:pt x="14540" y="13228"/>
                  </a:lnTo>
                  <a:cubicBezTo>
                    <a:pt x="14283" y="13229"/>
                    <a:pt x="14033" y="13313"/>
                    <a:pt x="13828" y="13468"/>
                  </a:cubicBezTo>
                  <a:cubicBezTo>
                    <a:pt x="13634" y="13613"/>
                    <a:pt x="13489" y="13815"/>
                    <a:pt x="13412" y="14045"/>
                  </a:cubicBezTo>
                  <a:lnTo>
                    <a:pt x="11459" y="19867"/>
                  </a:lnTo>
                  <a:cubicBezTo>
                    <a:pt x="11289" y="20515"/>
                    <a:pt x="11657" y="21183"/>
                    <a:pt x="12296" y="21388"/>
                  </a:cubicBezTo>
                  <a:cubicBezTo>
                    <a:pt x="12912" y="21585"/>
                    <a:pt x="13577" y="21284"/>
                    <a:pt x="13835" y="20692"/>
                  </a:cubicBezTo>
                  <a:lnTo>
                    <a:pt x="14431" y="18941"/>
                  </a:lnTo>
                  <a:lnTo>
                    <a:pt x="19769" y="18941"/>
                  </a:lnTo>
                  <a:lnTo>
                    <a:pt x="20280" y="20976"/>
                  </a:lnTo>
                  <a:cubicBezTo>
                    <a:pt x="20389" y="21412"/>
                    <a:pt x="20905" y="21600"/>
                    <a:pt x="21270" y="21337"/>
                  </a:cubicBezTo>
                  <a:cubicBezTo>
                    <a:pt x="21468" y="21193"/>
                    <a:pt x="21554" y="20940"/>
                    <a:pt x="21484" y="20706"/>
                  </a:cubicBezTo>
                  <a:lnTo>
                    <a:pt x="20228" y="15731"/>
                  </a:lnTo>
                  <a:lnTo>
                    <a:pt x="20274" y="15731"/>
                  </a:lnTo>
                  <a:cubicBezTo>
                    <a:pt x="20637" y="15736"/>
                    <a:pt x="20983" y="15576"/>
                    <a:pt x="21214" y="15296"/>
                  </a:cubicBezTo>
                  <a:cubicBezTo>
                    <a:pt x="21455" y="15004"/>
                    <a:pt x="21543" y="14616"/>
                    <a:pt x="21452" y="14249"/>
                  </a:cubicBezTo>
                  <a:lnTo>
                    <a:pt x="20206" y="8488"/>
                  </a:lnTo>
                  <a:cubicBezTo>
                    <a:pt x="20058" y="8004"/>
                    <a:pt x="19633" y="7655"/>
                    <a:pt x="19128" y="7603"/>
                  </a:cubicBezTo>
                  <a:cubicBezTo>
                    <a:pt x="19061" y="7596"/>
                    <a:pt x="18996" y="7594"/>
                    <a:pt x="18930" y="7598"/>
                  </a:cubicBezTo>
                  <a:close/>
                  <a:moveTo>
                    <a:pt x="2544" y="15731"/>
                  </a:moveTo>
                  <a:lnTo>
                    <a:pt x="5985" y="15731"/>
                  </a:lnTo>
                  <a:lnTo>
                    <a:pt x="6653" y="17696"/>
                  </a:lnTo>
                  <a:lnTo>
                    <a:pt x="2051" y="17696"/>
                  </a:lnTo>
                  <a:lnTo>
                    <a:pt x="2544" y="15731"/>
                  </a:lnTo>
                  <a:close/>
                  <a:moveTo>
                    <a:pt x="15523" y="15731"/>
                  </a:moveTo>
                  <a:lnTo>
                    <a:pt x="18964" y="15731"/>
                  </a:lnTo>
                  <a:lnTo>
                    <a:pt x="19457" y="17696"/>
                  </a:lnTo>
                  <a:lnTo>
                    <a:pt x="14855" y="17696"/>
                  </a:lnTo>
                  <a:lnTo>
                    <a:pt x="15523" y="15731"/>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0" name="Shape">
              <a:extLst>
                <a:ext uri="{FF2B5EF4-FFF2-40B4-BE49-F238E27FC236}">
                  <a16:creationId xmlns:a16="http://schemas.microsoft.com/office/drawing/2014/main" id="{B05A3137-8906-587E-2C1D-EA8AC054C02D}"/>
                </a:ext>
              </a:extLst>
            </p:cNvPr>
            <p:cNvSpPr/>
            <p:nvPr/>
          </p:nvSpPr>
          <p:spPr>
            <a:xfrm>
              <a:off x="1933579" y="3584887"/>
              <a:ext cx="561887" cy="560110"/>
            </a:xfrm>
            <a:custGeom>
              <a:avLst/>
              <a:gdLst/>
              <a:ahLst/>
              <a:cxnLst>
                <a:cxn ang="0">
                  <a:pos x="wd2" y="hd2"/>
                </a:cxn>
                <a:cxn ang="5400000">
                  <a:pos x="wd2" y="hd2"/>
                </a:cxn>
                <a:cxn ang="10800000">
                  <a:pos x="wd2" y="hd2"/>
                </a:cxn>
                <a:cxn ang="16200000">
                  <a:pos x="wd2" y="hd2"/>
                </a:cxn>
              </a:cxnLst>
              <a:rect l="0" t="0" r="r" b="b"/>
              <a:pathLst>
                <a:path w="21583" h="21600" extrusionOk="0">
                  <a:moveTo>
                    <a:pt x="15250" y="0"/>
                  </a:moveTo>
                  <a:cubicBezTo>
                    <a:pt x="14566" y="0"/>
                    <a:pt x="14010" y="677"/>
                    <a:pt x="14010" y="1512"/>
                  </a:cubicBezTo>
                  <a:lnTo>
                    <a:pt x="14010" y="16988"/>
                  </a:lnTo>
                  <a:cubicBezTo>
                    <a:pt x="14010" y="17824"/>
                    <a:pt x="14566" y="18501"/>
                    <a:pt x="15250" y="18501"/>
                  </a:cubicBezTo>
                  <a:cubicBezTo>
                    <a:pt x="15934" y="18501"/>
                    <a:pt x="16489" y="17824"/>
                    <a:pt x="16489" y="16988"/>
                  </a:cubicBezTo>
                  <a:lnTo>
                    <a:pt x="16489" y="1512"/>
                  </a:lnTo>
                  <a:cubicBezTo>
                    <a:pt x="16489" y="677"/>
                    <a:pt x="15934" y="0"/>
                    <a:pt x="15250" y="0"/>
                  </a:cubicBezTo>
                  <a:close/>
                  <a:moveTo>
                    <a:pt x="12700" y="2003"/>
                  </a:moveTo>
                  <a:cubicBezTo>
                    <a:pt x="12247" y="2644"/>
                    <a:pt x="11708" y="3186"/>
                    <a:pt x="11105" y="3604"/>
                  </a:cubicBezTo>
                  <a:cubicBezTo>
                    <a:pt x="10421" y="4079"/>
                    <a:pt x="9669" y="4386"/>
                    <a:pt x="8889" y="4510"/>
                  </a:cubicBezTo>
                  <a:lnTo>
                    <a:pt x="8889" y="13916"/>
                  </a:lnTo>
                  <a:cubicBezTo>
                    <a:pt x="9656" y="14057"/>
                    <a:pt x="10395" y="14376"/>
                    <a:pt x="11065" y="14853"/>
                  </a:cubicBezTo>
                  <a:cubicBezTo>
                    <a:pt x="11688" y="15298"/>
                    <a:pt x="12241" y="15872"/>
                    <a:pt x="12700" y="16552"/>
                  </a:cubicBezTo>
                  <a:lnTo>
                    <a:pt x="12700" y="2003"/>
                  </a:lnTo>
                  <a:close/>
                  <a:moveTo>
                    <a:pt x="4474" y="4577"/>
                  </a:moveTo>
                  <a:cubicBezTo>
                    <a:pt x="4007" y="4587"/>
                    <a:pt x="3558" y="4796"/>
                    <a:pt x="3203" y="5166"/>
                  </a:cubicBezTo>
                  <a:cubicBezTo>
                    <a:pt x="2953" y="5427"/>
                    <a:pt x="2760" y="5760"/>
                    <a:pt x="2641" y="6135"/>
                  </a:cubicBezTo>
                  <a:cubicBezTo>
                    <a:pt x="1191" y="6055"/>
                    <a:pt x="-17" y="7479"/>
                    <a:pt x="0" y="9251"/>
                  </a:cubicBezTo>
                  <a:cubicBezTo>
                    <a:pt x="17" y="10993"/>
                    <a:pt x="1215" y="12371"/>
                    <a:pt x="2641" y="12287"/>
                  </a:cubicBezTo>
                  <a:cubicBezTo>
                    <a:pt x="2775" y="12669"/>
                    <a:pt x="2981" y="13007"/>
                    <a:pt x="3243" y="13274"/>
                  </a:cubicBezTo>
                  <a:cubicBezTo>
                    <a:pt x="3591" y="13629"/>
                    <a:pt x="4022" y="13842"/>
                    <a:pt x="4475" y="13883"/>
                  </a:cubicBezTo>
                  <a:lnTo>
                    <a:pt x="7624" y="13883"/>
                  </a:lnTo>
                  <a:lnTo>
                    <a:pt x="7611" y="4581"/>
                  </a:lnTo>
                  <a:lnTo>
                    <a:pt x="4474" y="4577"/>
                  </a:lnTo>
                  <a:close/>
                  <a:moveTo>
                    <a:pt x="19616" y="4598"/>
                  </a:moveTo>
                  <a:cubicBezTo>
                    <a:pt x="19453" y="4598"/>
                    <a:pt x="19291" y="4674"/>
                    <a:pt x="19166" y="4826"/>
                  </a:cubicBezTo>
                  <a:lnTo>
                    <a:pt x="17911" y="6357"/>
                  </a:lnTo>
                  <a:cubicBezTo>
                    <a:pt x="17662" y="6661"/>
                    <a:pt x="17662" y="7153"/>
                    <a:pt x="17911" y="7457"/>
                  </a:cubicBezTo>
                  <a:cubicBezTo>
                    <a:pt x="18160" y="7761"/>
                    <a:pt x="18563" y="7761"/>
                    <a:pt x="18812" y="7457"/>
                  </a:cubicBezTo>
                  <a:lnTo>
                    <a:pt x="20068" y="5926"/>
                  </a:lnTo>
                  <a:cubicBezTo>
                    <a:pt x="20316" y="5622"/>
                    <a:pt x="20316" y="5130"/>
                    <a:pt x="20068" y="4826"/>
                  </a:cubicBezTo>
                  <a:cubicBezTo>
                    <a:pt x="19943" y="4674"/>
                    <a:pt x="19780" y="4598"/>
                    <a:pt x="19616" y="4598"/>
                  </a:cubicBezTo>
                  <a:close/>
                  <a:moveTo>
                    <a:pt x="18990" y="9204"/>
                  </a:moveTo>
                  <a:cubicBezTo>
                    <a:pt x="18638" y="9204"/>
                    <a:pt x="18353" y="9552"/>
                    <a:pt x="18353" y="9982"/>
                  </a:cubicBezTo>
                  <a:cubicBezTo>
                    <a:pt x="18353" y="10411"/>
                    <a:pt x="18638" y="10759"/>
                    <a:pt x="18990" y="10759"/>
                  </a:cubicBezTo>
                  <a:lnTo>
                    <a:pt x="20946" y="10759"/>
                  </a:lnTo>
                  <a:cubicBezTo>
                    <a:pt x="21298" y="10759"/>
                    <a:pt x="21583" y="10411"/>
                    <a:pt x="21583" y="9982"/>
                  </a:cubicBezTo>
                  <a:cubicBezTo>
                    <a:pt x="21583" y="9552"/>
                    <a:pt x="21298" y="9204"/>
                    <a:pt x="20946" y="9204"/>
                  </a:cubicBezTo>
                  <a:lnTo>
                    <a:pt x="18990" y="9204"/>
                  </a:lnTo>
                  <a:close/>
                  <a:moveTo>
                    <a:pt x="18362" y="12331"/>
                  </a:moveTo>
                  <a:cubicBezTo>
                    <a:pt x="18199" y="12331"/>
                    <a:pt x="18035" y="12408"/>
                    <a:pt x="17911" y="12560"/>
                  </a:cubicBezTo>
                  <a:cubicBezTo>
                    <a:pt x="17662" y="12863"/>
                    <a:pt x="17662" y="13356"/>
                    <a:pt x="17911" y="13660"/>
                  </a:cubicBezTo>
                  <a:lnTo>
                    <a:pt x="19166" y="15192"/>
                  </a:lnTo>
                  <a:cubicBezTo>
                    <a:pt x="19415" y="15496"/>
                    <a:pt x="19819" y="15496"/>
                    <a:pt x="20068" y="15192"/>
                  </a:cubicBezTo>
                  <a:cubicBezTo>
                    <a:pt x="20316" y="14888"/>
                    <a:pt x="20316" y="14396"/>
                    <a:pt x="20068" y="14092"/>
                  </a:cubicBezTo>
                  <a:lnTo>
                    <a:pt x="18812" y="12560"/>
                  </a:lnTo>
                  <a:cubicBezTo>
                    <a:pt x="18688" y="12408"/>
                    <a:pt x="18525" y="12331"/>
                    <a:pt x="18362" y="12331"/>
                  </a:cubicBezTo>
                  <a:close/>
                  <a:moveTo>
                    <a:pt x="3877" y="15427"/>
                  </a:moveTo>
                  <a:lnTo>
                    <a:pt x="3877" y="19341"/>
                  </a:lnTo>
                  <a:cubicBezTo>
                    <a:pt x="3877" y="20589"/>
                    <a:pt x="4705" y="21600"/>
                    <a:pt x="5728" y="21600"/>
                  </a:cubicBezTo>
                  <a:cubicBezTo>
                    <a:pt x="6751" y="21600"/>
                    <a:pt x="7580" y="20589"/>
                    <a:pt x="7580" y="19341"/>
                  </a:cubicBezTo>
                  <a:lnTo>
                    <a:pt x="7580" y="15427"/>
                  </a:lnTo>
                  <a:lnTo>
                    <a:pt x="3877" y="15427"/>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1" name="Shape">
              <a:extLst>
                <a:ext uri="{FF2B5EF4-FFF2-40B4-BE49-F238E27FC236}">
                  <a16:creationId xmlns:a16="http://schemas.microsoft.com/office/drawing/2014/main" id="{1C964634-5C70-0C79-7DC8-60DAE6725176}"/>
                </a:ext>
              </a:extLst>
            </p:cNvPr>
            <p:cNvSpPr/>
            <p:nvPr/>
          </p:nvSpPr>
          <p:spPr>
            <a:xfrm>
              <a:off x="4069272" y="3590810"/>
              <a:ext cx="555158" cy="555583"/>
            </a:xfrm>
            <a:custGeom>
              <a:avLst/>
              <a:gdLst/>
              <a:ahLst/>
              <a:cxnLst>
                <a:cxn ang="0">
                  <a:pos x="wd2" y="hd2"/>
                </a:cxn>
                <a:cxn ang="5400000">
                  <a:pos x="wd2" y="hd2"/>
                </a:cxn>
                <a:cxn ang="10800000">
                  <a:pos x="wd2" y="hd2"/>
                </a:cxn>
                <a:cxn ang="16200000">
                  <a:pos x="wd2" y="hd2"/>
                </a:cxn>
              </a:cxnLst>
              <a:rect l="0" t="0" r="r" b="b"/>
              <a:pathLst>
                <a:path w="21557" h="21511" extrusionOk="0">
                  <a:moveTo>
                    <a:pt x="10570" y="8"/>
                  </a:moveTo>
                  <a:cubicBezTo>
                    <a:pt x="10076" y="53"/>
                    <a:pt x="9620" y="287"/>
                    <a:pt x="9294" y="660"/>
                  </a:cubicBezTo>
                  <a:lnTo>
                    <a:pt x="5398" y="4530"/>
                  </a:lnTo>
                  <a:lnTo>
                    <a:pt x="7680" y="6811"/>
                  </a:lnTo>
                  <a:cubicBezTo>
                    <a:pt x="7816" y="6946"/>
                    <a:pt x="7882" y="7136"/>
                    <a:pt x="7861" y="7326"/>
                  </a:cubicBezTo>
                  <a:cubicBezTo>
                    <a:pt x="7844" y="7479"/>
                    <a:pt x="7771" y="7621"/>
                    <a:pt x="7655" y="7723"/>
                  </a:cubicBezTo>
                  <a:lnTo>
                    <a:pt x="6722" y="8596"/>
                  </a:lnTo>
                  <a:cubicBezTo>
                    <a:pt x="6434" y="8853"/>
                    <a:pt x="6444" y="9305"/>
                    <a:pt x="6741" y="9551"/>
                  </a:cubicBezTo>
                  <a:cubicBezTo>
                    <a:pt x="6967" y="9736"/>
                    <a:pt x="7293" y="9734"/>
                    <a:pt x="7517" y="9545"/>
                  </a:cubicBezTo>
                  <a:lnTo>
                    <a:pt x="8515" y="8583"/>
                  </a:lnTo>
                  <a:cubicBezTo>
                    <a:pt x="8638" y="8453"/>
                    <a:pt x="8809" y="8380"/>
                    <a:pt x="8988" y="8379"/>
                  </a:cubicBezTo>
                  <a:cubicBezTo>
                    <a:pt x="9156" y="8379"/>
                    <a:pt x="9319" y="8443"/>
                    <a:pt x="9440" y="8559"/>
                  </a:cubicBezTo>
                  <a:lnTo>
                    <a:pt x="10769" y="9879"/>
                  </a:lnTo>
                  <a:lnTo>
                    <a:pt x="11684" y="9023"/>
                  </a:lnTo>
                  <a:lnTo>
                    <a:pt x="11031" y="8337"/>
                  </a:lnTo>
                  <a:cubicBezTo>
                    <a:pt x="10468" y="7583"/>
                    <a:pt x="10548" y="6530"/>
                    <a:pt x="11219" y="5870"/>
                  </a:cubicBezTo>
                  <a:cubicBezTo>
                    <a:pt x="11890" y="5210"/>
                    <a:pt x="12947" y="5144"/>
                    <a:pt x="13695" y="5715"/>
                  </a:cubicBezTo>
                  <a:lnTo>
                    <a:pt x="14366" y="6326"/>
                  </a:lnTo>
                  <a:lnTo>
                    <a:pt x="16166" y="4556"/>
                  </a:lnTo>
                  <a:lnTo>
                    <a:pt x="12037" y="490"/>
                  </a:lnTo>
                  <a:cubicBezTo>
                    <a:pt x="11636" y="134"/>
                    <a:pt x="11105" y="-41"/>
                    <a:pt x="10570" y="8"/>
                  </a:cubicBezTo>
                  <a:close/>
                  <a:moveTo>
                    <a:pt x="17038" y="5435"/>
                  </a:moveTo>
                  <a:lnTo>
                    <a:pt x="14848" y="7675"/>
                  </a:lnTo>
                  <a:cubicBezTo>
                    <a:pt x="14687" y="7799"/>
                    <a:pt x="14483" y="7853"/>
                    <a:pt x="14282" y="7825"/>
                  </a:cubicBezTo>
                  <a:cubicBezTo>
                    <a:pt x="14113" y="7800"/>
                    <a:pt x="13956" y="7719"/>
                    <a:pt x="13840" y="7593"/>
                  </a:cubicBezTo>
                  <a:lnTo>
                    <a:pt x="12928" y="6690"/>
                  </a:lnTo>
                  <a:cubicBezTo>
                    <a:pt x="12661" y="6476"/>
                    <a:pt x="12271" y="6516"/>
                    <a:pt x="12054" y="6779"/>
                  </a:cubicBezTo>
                  <a:cubicBezTo>
                    <a:pt x="11856" y="7019"/>
                    <a:pt x="11869" y="7368"/>
                    <a:pt x="12083" y="7593"/>
                  </a:cubicBezTo>
                  <a:lnTo>
                    <a:pt x="13060" y="8559"/>
                  </a:lnTo>
                  <a:cubicBezTo>
                    <a:pt x="13158" y="8688"/>
                    <a:pt x="13209" y="8846"/>
                    <a:pt x="13203" y="9008"/>
                  </a:cubicBezTo>
                  <a:cubicBezTo>
                    <a:pt x="13198" y="9170"/>
                    <a:pt x="13137" y="9326"/>
                    <a:pt x="13029" y="9448"/>
                  </a:cubicBezTo>
                  <a:lnTo>
                    <a:pt x="11704" y="10753"/>
                  </a:lnTo>
                  <a:lnTo>
                    <a:pt x="12590" y="11632"/>
                  </a:lnTo>
                  <a:lnTo>
                    <a:pt x="13193" y="11080"/>
                  </a:lnTo>
                  <a:cubicBezTo>
                    <a:pt x="14035" y="10432"/>
                    <a:pt x="15246" y="10590"/>
                    <a:pt x="15893" y="11432"/>
                  </a:cubicBezTo>
                  <a:cubicBezTo>
                    <a:pt x="16418" y="12115"/>
                    <a:pt x="16405" y="13067"/>
                    <a:pt x="15861" y="13735"/>
                  </a:cubicBezTo>
                  <a:lnTo>
                    <a:pt x="15264" y="14350"/>
                  </a:lnTo>
                  <a:lnTo>
                    <a:pt x="17051" y="16130"/>
                  </a:lnTo>
                  <a:lnTo>
                    <a:pt x="21106" y="12043"/>
                  </a:lnTo>
                  <a:cubicBezTo>
                    <a:pt x="21422" y="11660"/>
                    <a:pt x="21581" y="11173"/>
                    <a:pt x="21555" y="10679"/>
                  </a:cubicBezTo>
                  <a:cubicBezTo>
                    <a:pt x="21530" y="10213"/>
                    <a:pt x="21341" y="9770"/>
                    <a:pt x="21022" y="9430"/>
                  </a:cubicBezTo>
                  <a:lnTo>
                    <a:pt x="17038" y="5435"/>
                  </a:lnTo>
                  <a:close/>
                  <a:moveTo>
                    <a:pt x="4507" y="5457"/>
                  </a:moveTo>
                  <a:lnTo>
                    <a:pt x="604" y="9338"/>
                  </a:lnTo>
                  <a:cubicBezTo>
                    <a:pt x="200" y="9740"/>
                    <a:pt x="-19" y="10291"/>
                    <a:pt x="1" y="10860"/>
                  </a:cubicBezTo>
                  <a:cubicBezTo>
                    <a:pt x="22" y="11445"/>
                    <a:pt x="294" y="11993"/>
                    <a:pt x="746" y="12367"/>
                  </a:cubicBezTo>
                  <a:lnTo>
                    <a:pt x="4493" y="16128"/>
                  </a:lnTo>
                  <a:lnTo>
                    <a:pt x="6778" y="13888"/>
                  </a:lnTo>
                  <a:cubicBezTo>
                    <a:pt x="6903" y="13776"/>
                    <a:pt x="7067" y="13718"/>
                    <a:pt x="7235" y="13728"/>
                  </a:cubicBezTo>
                  <a:cubicBezTo>
                    <a:pt x="7400" y="13739"/>
                    <a:pt x="7555" y="13814"/>
                    <a:pt x="7664" y="13937"/>
                  </a:cubicBezTo>
                  <a:lnTo>
                    <a:pt x="8644" y="14862"/>
                  </a:lnTo>
                  <a:cubicBezTo>
                    <a:pt x="8877" y="15063"/>
                    <a:pt x="9225" y="15053"/>
                    <a:pt x="9446" y="14838"/>
                  </a:cubicBezTo>
                  <a:cubicBezTo>
                    <a:pt x="9690" y="14600"/>
                    <a:pt x="9687" y="14206"/>
                    <a:pt x="9438" y="13972"/>
                  </a:cubicBezTo>
                  <a:lnTo>
                    <a:pt x="8554" y="13029"/>
                  </a:lnTo>
                  <a:cubicBezTo>
                    <a:pt x="8434" y="12908"/>
                    <a:pt x="8365" y="12746"/>
                    <a:pt x="8363" y="12576"/>
                  </a:cubicBezTo>
                  <a:cubicBezTo>
                    <a:pt x="8361" y="12371"/>
                    <a:pt x="8453" y="12176"/>
                    <a:pt x="8614" y="12048"/>
                  </a:cubicBezTo>
                  <a:lnTo>
                    <a:pt x="9881" y="10785"/>
                  </a:lnTo>
                  <a:lnTo>
                    <a:pt x="8997" y="9925"/>
                  </a:lnTo>
                  <a:lnTo>
                    <a:pt x="8351" y="10534"/>
                  </a:lnTo>
                  <a:cubicBezTo>
                    <a:pt x="7605" y="11094"/>
                    <a:pt x="6562" y="11037"/>
                    <a:pt x="5882" y="10400"/>
                  </a:cubicBezTo>
                  <a:cubicBezTo>
                    <a:pt x="5150" y="9714"/>
                    <a:pt x="5063" y="8584"/>
                    <a:pt x="5683" y="7796"/>
                  </a:cubicBezTo>
                  <a:lnTo>
                    <a:pt x="6272" y="7209"/>
                  </a:lnTo>
                  <a:lnTo>
                    <a:pt x="4507" y="5457"/>
                  </a:lnTo>
                  <a:close/>
                  <a:moveTo>
                    <a:pt x="10793" y="11704"/>
                  </a:moveTo>
                  <a:lnTo>
                    <a:pt x="9936" y="12532"/>
                  </a:lnTo>
                  <a:lnTo>
                    <a:pt x="10498" y="13151"/>
                  </a:lnTo>
                  <a:cubicBezTo>
                    <a:pt x="11130" y="13920"/>
                    <a:pt x="11071" y="15043"/>
                    <a:pt x="10362" y="15742"/>
                  </a:cubicBezTo>
                  <a:cubicBezTo>
                    <a:pt x="9661" y="16434"/>
                    <a:pt x="8549" y="16487"/>
                    <a:pt x="7784" y="15865"/>
                  </a:cubicBezTo>
                  <a:lnTo>
                    <a:pt x="7229" y="15319"/>
                  </a:lnTo>
                  <a:lnTo>
                    <a:pt x="5405" y="17070"/>
                  </a:lnTo>
                  <a:lnTo>
                    <a:pt x="9310" y="20919"/>
                  </a:lnTo>
                  <a:cubicBezTo>
                    <a:pt x="9649" y="21246"/>
                    <a:pt x="10089" y="21451"/>
                    <a:pt x="10558" y="21499"/>
                  </a:cubicBezTo>
                  <a:cubicBezTo>
                    <a:pt x="11139" y="21559"/>
                    <a:pt x="11719" y="21378"/>
                    <a:pt x="12162" y="20998"/>
                  </a:cubicBezTo>
                  <a:lnTo>
                    <a:pt x="16138" y="17036"/>
                  </a:lnTo>
                  <a:lnTo>
                    <a:pt x="13876" y="14785"/>
                  </a:lnTo>
                  <a:cubicBezTo>
                    <a:pt x="13778" y="14673"/>
                    <a:pt x="13723" y="14529"/>
                    <a:pt x="13723" y="14381"/>
                  </a:cubicBezTo>
                  <a:cubicBezTo>
                    <a:pt x="13722" y="14206"/>
                    <a:pt x="13795" y="14039"/>
                    <a:pt x="13923" y="13920"/>
                  </a:cubicBezTo>
                  <a:lnTo>
                    <a:pt x="14878" y="12930"/>
                  </a:lnTo>
                  <a:cubicBezTo>
                    <a:pt x="15094" y="12692"/>
                    <a:pt x="15081" y="12325"/>
                    <a:pt x="14848" y="12102"/>
                  </a:cubicBezTo>
                  <a:cubicBezTo>
                    <a:pt x="14589" y="11856"/>
                    <a:pt x="14172" y="11885"/>
                    <a:pt x="13951" y="12165"/>
                  </a:cubicBezTo>
                  <a:lnTo>
                    <a:pt x="13210" y="12894"/>
                  </a:lnTo>
                  <a:cubicBezTo>
                    <a:pt x="13058" y="13083"/>
                    <a:pt x="12829" y="13193"/>
                    <a:pt x="12586" y="13195"/>
                  </a:cubicBezTo>
                  <a:cubicBezTo>
                    <a:pt x="12377" y="13197"/>
                    <a:pt x="12176" y="13118"/>
                    <a:pt x="12025" y="12974"/>
                  </a:cubicBezTo>
                  <a:lnTo>
                    <a:pt x="10793" y="1170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2" name="Shape">
              <a:extLst>
                <a:ext uri="{FF2B5EF4-FFF2-40B4-BE49-F238E27FC236}">
                  <a16:creationId xmlns:a16="http://schemas.microsoft.com/office/drawing/2014/main" id="{BF47C4CC-A7D8-DD24-3375-2D43FF73A885}"/>
                </a:ext>
              </a:extLst>
            </p:cNvPr>
            <p:cNvSpPr/>
            <p:nvPr/>
          </p:nvSpPr>
          <p:spPr>
            <a:xfrm>
              <a:off x="6244112" y="3584886"/>
              <a:ext cx="515862" cy="500916"/>
            </a:xfrm>
            <a:custGeom>
              <a:avLst/>
              <a:gdLst/>
              <a:ahLst/>
              <a:cxnLst>
                <a:cxn ang="0">
                  <a:pos x="wd2" y="hd2"/>
                </a:cxn>
                <a:cxn ang="5400000">
                  <a:pos x="wd2" y="hd2"/>
                </a:cxn>
                <a:cxn ang="10800000">
                  <a:pos x="wd2" y="hd2"/>
                </a:cxn>
                <a:cxn ang="16200000">
                  <a:pos x="wd2" y="hd2"/>
                </a:cxn>
              </a:cxnLst>
              <a:rect l="0" t="0" r="r" b="b"/>
              <a:pathLst>
                <a:path w="21594" h="21583" extrusionOk="0">
                  <a:moveTo>
                    <a:pt x="10789" y="0"/>
                  </a:moveTo>
                  <a:cubicBezTo>
                    <a:pt x="10150" y="0"/>
                    <a:pt x="9511" y="244"/>
                    <a:pt x="9023" y="734"/>
                  </a:cubicBezTo>
                  <a:cubicBezTo>
                    <a:pt x="8047" y="1712"/>
                    <a:pt x="8047" y="3301"/>
                    <a:pt x="9023" y="4279"/>
                  </a:cubicBezTo>
                  <a:cubicBezTo>
                    <a:pt x="9999" y="5258"/>
                    <a:pt x="11581" y="5258"/>
                    <a:pt x="12557" y="4279"/>
                  </a:cubicBezTo>
                  <a:cubicBezTo>
                    <a:pt x="13533" y="3301"/>
                    <a:pt x="13533" y="1712"/>
                    <a:pt x="12557" y="734"/>
                  </a:cubicBezTo>
                  <a:cubicBezTo>
                    <a:pt x="12069" y="244"/>
                    <a:pt x="11429" y="0"/>
                    <a:pt x="10789" y="0"/>
                  </a:cubicBezTo>
                  <a:close/>
                  <a:moveTo>
                    <a:pt x="7803" y="4886"/>
                  </a:moveTo>
                  <a:cubicBezTo>
                    <a:pt x="7363" y="5315"/>
                    <a:pt x="7009" y="5823"/>
                    <a:pt x="6758" y="6385"/>
                  </a:cubicBezTo>
                  <a:cubicBezTo>
                    <a:pt x="6491" y="6983"/>
                    <a:pt x="6347" y="7630"/>
                    <a:pt x="6335" y="8285"/>
                  </a:cubicBezTo>
                  <a:lnTo>
                    <a:pt x="6335" y="9595"/>
                  </a:lnTo>
                  <a:cubicBezTo>
                    <a:pt x="6335" y="9719"/>
                    <a:pt x="6374" y="9838"/>
                    <a:pt x="6446" y="9938"/>
                  </a:cubicBezTo>
                  <a:cubicBezTo>
                    <a:pt x="6556" y="10090"/>
                    <a:pt x="6730" y="10182"/>
                    <a:pt x="6918" y="10185"/>
                  </a:cubicBezTo>
                  <a:lnTo>
                    <a:pt x="14591" y="10185"/>
                  </a:lnTo>
                  <a:cubicBezTo>
                    <a:pt x="14794" y="10204"/>
                    <a:pt x="14992" y="10119"/>
                    <a:pt x="15117" y="9958"/>
                  </a:cubicBezTo>
                  <a:cubicBezTo>
                    <a:pt x="15203" y="9847"/>
                    <a:pt x="15246" y="9709"/>
                    <a:pt x="15239" y="9569"/>
                  </a:cubicBezTo>
                  <a:lnTo>
                    <a:pt x="15239" y="8392"/>
                  </a:lnTo>
                  <a:cubicBezTo>
                    <a:pt x="15239" y="7679"/>
                    <a:pt x="15081" y="6975"/>
                    <a:pt x="14778" y="6330"/>
                  </a:cubicBezTo>
                  <a:cubicBezTo>
                    <a:pt x="14524" y="5788"/>
                    <a:pt x="14171" y="5299"/>
                    <a:pt x="13739" y="4886"/>
                  </a:cubicBezTo>
                  <a:cubicBezTo>
                    <a:pt x="13007" y="5851"/>
                    <a:pt x="11856" y="6400"/>
                    <a:pt x="10648" y="6361"/>
                  </a:cubicBezTo>
                  <a:cubicBezTo>
                    <a:pt x="9527" y="6325"/>
                    <a:pt x="8481" y="5783"/>
                    <a:pt x="7803" y="4886"/>
                  </a:cubicBezTo>
                  <a:close/>
                  <a:moveTo>
                    <a:pt x="4455" y="11396"/>
                  </a:moveTo>
                  <a:cubicBezTo>
                    <a:pt x="3815" y="11396"/>
                    <a:pt x="3176" y="11640"/>
                    <a:pt x="2688" y="12129"/>
                  </a:cubicBezTo>
                  <a:cubicBezTo>
                    <a:pt x="1713" y="13108"/>
                    <a:pt x="1713" y="14696"/>
                    <a:pt x="2688" y="15675"/>
                  </a:cubicBezTo>
                  <a:cubicBezTo>
                    <a:pt x="3664" y="16654"/>
                    <a:pt x="5246" y="16654"/>
                    <a:pt x="6222" y="15675"/>
                  </a:cubicBezTo>
                  <a:cubicBezTo>
                    <a:pt x="7198" y="14696"/>
                    <a:pt x="7198" y="13108"/>
                    <a:pt x="6222" y="12129"/>
                  </a:cubicBezTo>
                  <a:cubicBezTo>
                    <a:pt x="5734" y="11640"/>
                    <a:pt x="5094" y="11396"/>
                    <a:pt x="4455" y="11396"/>
                  </a:cubicBezTo>
                  <a:close/>
                  <a:moveTo>
                    <a:pt x="17143" y="11396"/>
                  </a:moveTo>
                  <a:cubicBezTo>
                    <a:pt x="16504" y="11396"/>
                    <a:pt x="15865" y="11640"/>
                    <a:pt x="15377" y="12129"/>
                  </a:cubicBezTo>
                  <a:cubicBezTo>
                    <a:pt x="14401" y="13108"/>
                    <a:pt x="14401" y="14696"/>
                    <a:pt x="15377" y="15675"/>
                  </a:cubicBezTo>
                  <a:cubicBezTo>
                    <a:pt x="16353" y="16654"/>
                    <a:pt x="17935" y="16654"/>
                    <a:pt x="18911" y="15675"/>
                  </a:cubicBezTo>
                  <a:cubicBezTo>
                    <a:pt x="19886" y="14696"/>
                    <a:pt x="19886" y="13108"/>
                    <a:pt x="18911" y="12129"/>
                  </a:cubicBezTo>
                  <a:cubicBezTo>
                    <a:pt x="18423" y="11640"/>
                    <a:pt x="17783" y="11396"/>
                    <a:pt x="17143" y="11396"/>
                  </a:cubicBezTo>
                  <a:close/>
                  <a:moveTo>
                    <a:pt x="11396" y="11455"/>
                  </a:moveTo>
                  <a:lnTo>
                    <a:pt x="10155" y="11466"/>
                  </a:lnTo>
                  <a:lnTo>
                    <a:pt x="10160" y="13083"/>
                  </a:lnTo>
                  <a:lnTo>
                    <a:pt x="8028" y="15209"/>
                  </a:lnTo>
                  <a:lnTo>
                    <a:pt x="8835" y="16104"/>
                  </a:lnTo>
                  <a:lnTo>
                    <a:pt x="10807" y="14204"/>
                  </a:lnTo>
                  <a:lnTo>
                    <a:pt x="12709" y="16105"/>
                  </a:lnTo>
                  <a:lnTo>
                    <a:pt x="13581" y="15208"/>
                  </a:lnTo>
                  <a:lnTo>
                    <a:pt x="11396" y="13048"/>
                  </a:lnTo>
                  <a:lnTo>
                    <a:pt x="11396" y="11455"/>
                  </a:lnTo>
                  <a:close/>
                  <a:moveTo>
                    <a:pt x="1469" y="16281"/>
                  </a:moveTo>
                  <a:cubicBezTo>
                    <a:pt x="1028" y="16710"/>
                    <a:pt x="674" y="17219"/>
                    <a:pt x="423" y="17781"/>
                  </a:cubicBezTo>
                  <a:cubicBezTo>
                    <a:pt x="156" y="18379"/>
                    <a:pt x="12" y="19025"/>
                    <a:pt x="0" y="19681"/>
                  </a:cubicBezTo>
                  <a:lnTo>
                    <a:pt x="0" y="20991"/>
                  </a:lnTo>
                  <a:cubicBezTo>
                    <a:pt x="0" y="21114"/>
                    <a:pt x="39" y="21234"/>
                    <a:pt x="111" y="21333"/>
                  </a:cubicBezTo>
                  <a:cubicBezTo>
                    <a:pt x="221" y="21486"/>
                    <a:pt x="396" y="21578"/>
                    <a:pt x="583" y="21581"/>
                  </a:cubicBezTo>
                  <a:lnTo>
                    <a:pt x="8256" y="21581"/>
                  </a:lnTo>
                  <a:cubicBezTo>
                    <a:pt x="8459" y="21600"/>
                    <a:pt x="8657" y="21514"/>
                    <a:pt x="8783" y="21354"/>
                  </a:cubicBezTo>
                  <a:cubicBezTo>
                    <a:pt x="8869" y="21243"/>
                    <a:pt x="8912" y="21105"/>
                    <a:pt x="8905" y="20965"/>
                  </a:cubicBezTo>
                  <a:lnTo>
                    <a:pt x="8905" y="19788"/>
                  </a:lnTo>
                  <a:cubicBezTo>
                    <a:pt x="8904" y="19075"/>
                    <a:pt x="8746" y="18371"/>
                    <a:pt x="8444" y="17726"/>
                  </a:cubicBezTo>
                  <a:cubicBezTo>
                    <a:pt x="8189" y="17184"/>
                    <a:pt x="7837" y="16694"/>
                    <a:pt x="7404" y="16281"/>
                  </a:cubicBezTo>
                  <a:cubicBezTo>
                    <a:pt x="6673" y="17246"/>
                    <a:pt x="5522" y="17796"/>
                    <a:pt x="4314" y="17757"/>
                  </a:cubicBezTo>
                  <a:cubicBezTo>
                    <a:pt x="3192" y="17721"/>
                    <a:pt x="2146" y="17179"/>
                    <a:pt x="1469" y="16281"/>
                  </a:cubicBezTo>
                  <a:close/>
                  <a:moveTo>
                    <a:pt x="14157" y="16281"/>
                  </a:moveTo>
                  <a:cubicBezTo>
                    <a:pt x="13717" y="16710"/>
                    <a:pt x="13363" y="17219"/>
                    <a:pt x="13112" y="17781"/>
                  </a:cubicBezTo>
                  <a:cubicBezTo>
                    <a:pt x="12845" y="18379"/>
                    <a:pt x="12700" y="19025"/>
                    <a:pt x="12688" y="19681"/>
                  </a:cubicBezTo>
                  <a:lnTo>
                    <a:pt x="12688" y="20991"/>
                  </a:lnTo>
                  <a:cubicBezTo>
                    <a:pt x="12689" y="21114"/>
                    <a:pt x="12728" y="21234"/>
                    <a:pt x="12800" y="21333"/>
                  </a:cubicBezTo>
                  <a:cubicBezTo>
                    <a:pt x="12910" y="21486"/>
                    <a:pt x="13084" y="21578"/>
                    <a:pt x="13272" y="21581"/>
                  </a:cubicBezTo>
                  <a:lnTo>
                    <a:pt x="20945" y="21581"/>
                  </a:lnTo>
                  <a:cubicBezTo>
                    <a:pt x="21147" y="21600"/>
                    <a:pt x="21346" y="21514"/>
                    <a:pt x="21471" y="21354"/>
                  </a:cubicBezTo>
                  <a:cubicBezTo>
                    <a:pt x="21557" y="21243"/>
                    <a:pt x="21600" y="21105"/>
                    <a:pt x="21593" y="20965"/>
                  </a:cubicBezTo>
                  <a:lnTo>
                    <a:pt x="21593" y="19788"/>
                  </a:lnTo>
                  <a:cubicBezTo>
                    <a:pt x="21592" y="19075"/>
                    <a:pt x="21435" y="18371"/>
                    <a:pt x="21132" y="17726"/>
                  </a:cubicBezTo>
                  <a:cubicBezTo>
                    <a:pt x="20878" y="17184"/>
                    <a:pt x="20525" y="16694"/>
                    <a:pt x="20092" y="16281"/>
                  </a:cubicBezTo>
                  <a:cubicBezTo>
                    <a:pt x="19361" y="17246"/>
                    <a:pt x="18210" y="17796"/>
                    <a:pt x="17002" y="17757"/>
                  </a:cubicBezTo>
                  <a:cubicBezTo>
                    <a:pt x="15880" y="17721"/>
                    <a:pt x="14834" y="17179"/>
                    <a:pt x="14157" y="16281"/>
                  </a:cubicBez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06CBC8BF-ED3D-1E88-CA62-B19F30148EE5}"/>
                </a:ext>
              </a:extLst>
            </p:cNvPr>
            <p:cNvSpPr txBox="1"/>
            <p:nvPr/>
          </p:nvSpPr>
          <p:spPr>
            <a:xfrm>
              <a:off x="1741120" y="2317980"/>
              <a:ext cx="9535392" cy="31566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64798C"/>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516B7E"/>
                </a:solidFill>
                <a:effectLst/>
                <a:uLnTx/>
                <a:uFillTx/>
                <a:latin typeface="Corbel" panose="020B0503020204020204" pitchFamily="34" charset="0"/>
                <a:sym typeface="DM Sans Regular"/>
              </a:endParaRPr>
            </a:p>
          </p:txBody>
        </p:sp>
      </p:grpSp>
      <p:sp>
        <p:nvSpPr>
          <p:cNvPr id="27"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5099201" y="2978304"/>
            <a:ext cx="2145416" cy="165515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Supplier is Medical</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Advisor and the Consultant third party Vendors.</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The supplier market is also very limited and this means we need to pay premium to </a:t>
            </a:r>
            <a:r>
              <a:rPr kumimoji="0" lang="en-US" sz="1300" b="1" i="0" u="none" strike="noStrike" kern="0" cap="none" spc="0" normalizeH="0" noProof="0" dirty="0" err="1">
                <a:ln>
                  <a:noFill/>
                </a:ln>
                <a:solidFill>
                  <a:schemeClr val="tx1"/>
                </a:solidFill>
                <a:effectLst/>
                <a:uLnTx/>
                <a:uFillTx/>
                <a:latin typeface="Corbel" panose="020B0503020204020204" pitchFamily="34" charset="0"/>
                <a:sym typeface="DM Sans Regular"/>
              </a:rPr>
              <a:t>enage</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them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Tree>
    <p:extLst>
      <p:ext uri="{BB962C8B-B14F-4D97-AF65-F5344CB8AC3E}">
        <p14:creationId xmlns:p14="http://schemas.microsoft.com/office/powerpoint/2010/main" val="2152847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12AC-0BAE-77A1-ACAD-A0A7AF591FCD}"/>
              </a:ext>
            </a:extLst>
          </p:cNvPr>
          <p:cNvSpPr>
            <a:spLocks noGrp="1"/>
          </p:cNvSpPr>
          <p:nvPr>
            <p:ph type="title"/>
          </p:nvPr>
        </p:nvSpPr>
        <p:spPr>
          <a:xfrm>
            <a:off x="756431" y="109121"/>
            <a:ext cx="10104784" cy="568939"/>
          </a:xfrm>
        </p:spPr>
        <p:txBody>
          <a:bodyPr/>
          <a:lstStyle/>
          <a:p>
            <a:r>
              <a:rPr lang="en-US" dirty="0"/>
              <a:t>Five Forces Analysis : MEDSUSTAIN / CSR </a:t>
            </a:r>
            <a:endParaRPr lang="aa-ET" dirty="0"/>
          </a:p>
        </p:txBody>
      </p:sp>
      <p:sp>
        <p:nvSpPr>
          <p:cNvPr id="4" name="Slide Number Placeholder 3">
            <a:extLst>
              <a:ext uri="{FF2B5EF4-FFF2-40B4-BE49-F238E27FC236}">
                <a16:creationId xmlns:a16="http://schemas.microsoft.com/office/drawing/2014/main" id="{D93718C8-8A93-9CC0-F927-9BAF7A1C48BA}"/>
              </a:ext>
            </a:extLst>
          </p:cNvPr>
          <p:cNvSpPr>
            <a:spLocks noGrp="1"/>
          </p:cNvSpPr>
          <p:nvPr>
            <p:ph type="sldNum" sz="quarter" idx="12"/>
          </p:nvPr>
        </p:nvSpPr>
        <p:spPr/>
        <p:txBody>
          <a:bodyPr/>
          <a:lstStyle/>
          <a:p>
            <a:fld id="{88DB5A6F-883B-4080-A811-FB5B8D05AFA3}" type="slidenum">
              <a:rPr lang="en-GB" smtClean="0"/>
              <a:pPr/>
              <a:t>26</a:t>
            </a:fld>
            <a:endParaRPr lang="en-GB"/>
          </a:p>
        </p:txBody>
      </p:sp>
      <p:grpSp>
        <p:nvGrpSpPr>
          <p:cNvPr id="51" name="Group 50">
            <a:extLst>
              <a:ext uri="{FF2B5EF4-FFF2-40B4-BE49-F238E27FC236}">
                <a16:creationId xmlns:a16="http://schemas.microsoft.com/office/drawing/2014/main" id="{F637EF9B-8601-3D75-BCE5-07D21F1EFC43}"/>
              </a:ext>
            </a:extLst>
          </p:cNvPr>
          <p:cNvGrpSpPr/>
          <p:nvPr/>
        </p:nvGrpSpPr>
        <p:grpSpPr>
          <a:xfrm>
            <a:off x="356258" y="836370"/>
            <a:ext cx="11529389" cy="5548330"/>
            <a:chOff x="1182701" y="2317980"/>
            <a:chExt cx="10638682" cy="6179142"/>
          </a:xfrm>
        </p:grpSpPr>
        <p:sp>
          <p:nvSpPr>
            <p:cNvPr id="53" name="Rounded Rectangle">
              <a:extLst>
                <a:ext uri="{FF2B5EF4-FFF2-40B4-BE49-F238E27FC236}">
                  <a16:creationId xmlns:a16="http://schemas.microsoft.com/office/drawing/2014/main" id="{99DA1830-6529-17B1-375F-059EF6524FD8}"/>
                </a:ext>
              </a:extLst>
            </p:cNvPr>
            <p:cNvSpPr/>
            <p:nvPr/>
          </p:nvSpPr>
          <p:spPr>
            <a:xfrm>
              <a:off x="1182701" y="3394671"/>
              <a:ext cx="2050097" cy="5070877"/>
            </a:xfrm>
            <a:prstGeom prst="roundRect">
              <a:avLst>
                <a:gd name="adj" fmla="val 5220"/>
              </a:avLst>
            </a:prstGeom>
            <a:solidFill>
              <a:schemeClr val="accent2"/>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4" name="New Entry">
              <a:extLst>
                <a:ext uri="{FF2B5EF4-FFF2-40B4-BE49-F238E27FC236}">
                  <a16:creationId xmlns:a16="http://schemas.microsoft.com/office/drawing/2014/main" id="{F4C31876-B62D-CA44-15C9-1AD0FEC3D4FA}"/>
                </a:ext>
              </a:extLst>
            </p:cNvPr>
            <p:cNvSpPr txBox="1"/>
            <p:nvPr/>
          </p:nvSpPr>
          <p:spPr>
            <a:xfrm>
              <a:off x="1574985" y="4144998"/>
              <a:ext cx="1265529"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New Entry</a:t>
              </a:r>
            </a:p>
          </p:txBody>
        </p:sp>
        <p:sp>
          <p:nvSpPr>
            <p:cNvPr id="55" name="Lorem ipsum dolor sit amet, consectetur adipiscing elit, sed do eiusmod tempor incididunt ut labore">
              <a:extLst>
                <a:ext uri="{FF2B5EF4-FFF2-40B4-BE49-F238E27FC236}">
                  <a16:creationId xmlns:a16="http://schemas.microsoft.com/office/drawing/2014/main" id="{6CF994BC-10DA-DB5D-91F7-74746BEA3111}"/>
                </a:ext>
              </a:extLst>
            </p:cNvPr>
            <p:cNvSpPr txBox="1"/>
            <p:nvPr/>
          </p:nvSpPr>
          <p:spPr>
            <a:xfrm>
              <a:off x="1333603" y="4740662"/>
              <a:ext cx="1783532" cy="31801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The barrier to entry is low</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Many healthcare organizations provide CSR services to corporate and non governmental organizations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Event management and project management skill is a required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No regulation guiding the </a:t>
              </a:r>
              <a:r>
                <a:rPr lang="en-US" sz="1300" b="1" kern="0" dirty="0" err="1">
                  <a:solidFill>
                    <a:schemeClr val="tx1"/>
                  </a:solidFill>
                  <a:latin typeface="Corbel" panose="020B0503020204020204" pitchFamily="34" charset="0"/>
                </a:rPr>
                <a:t>provison</a:t>
              </a:r>
              <a:r>
                <a:rPr lang="en-US" sz="1300" b="1" kern="0" dirty="0">
                  <a:solidFill>
                    <a:schemeClr val="tx1"/>
                  </a:solidFill>
                  <a:latin typeface="Corbel" panose="020B0503020204020204" pitchFamily="34" charset="0"/>
                </a:rPr>
                <a:t> of CSR </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6" name="Rounded Rectangle">
              <a:extLst>
                <a:ext uri="{FF2B5EF4-FFF2-40B4-BE49-F238E27FC236}">
                  <a16:creationId xmlns:a16="http://schemas.microsoft.com/office/drawing/2014/main" id="{7F6EC221-DD0D-1A9F-9D62-A618D2519E90}"/>
                </a:ext>
              </a:extLst>
            </p:cNvPr>
            <p:cNvSpPr/>
            <p:nvPr/>
          </p:nvSpPr>
          <p:spPr>
            <a:xfrm>
              <a:off x="3329848" y="3394671"/>
              <a:ext cx="2050097" cy="5070877"/>
            </a:xfrm>
            <a:prstGeom prst="roundRect">
              <a:avLst>
                <a:gd name="adj" fmla="val 5220"/>
              </a:avLst>
            </a:prstGeom>
            <a:solidFill>
              <a:srgbClr val="00B05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57" name="Substitution">
              <a:extLst>
                <a:ext uri="{FF2B5EF4-FFF2-40B4-BE49-F238E27FC236}">
                  <a16:creationId xmlns:a16="http://schemas.microsoft.com/office/drawing/2014/main" id="{E51182B8-F125-795C-6300-AEBAC3AFF10F}"/>
                </a:ext>
              </a:extLst>
            </p:cNvPr>
            <p:cNvSpPr txBox="1"/>
            <p:nvPr/>
          </p:nvSpPr>
          <p:spPr>
            <a:xfrm>
              <a:off x="3539889" y="4149967"/>
              <a:ext cx="1700334"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Substitution</a:t>
              </a:r>
            </a:p>
          </p:txBody>
        </p:sp>
        <p:sp>
          <p:nvSpPr>
            <p:cNvPr id="58"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3442895" y="4719752"/>
              <a:ext cx="1979671" cy="117493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Substitute Product is the </a:t>
              </a:r>
              <a:r>
                <a:rPr lang="en-US" sz="1300" b="1" kern="0" dirty="0">
                  <a:solidFill>
                    <a:schemeClr val="tx1"/>
                  </a:solidFill>
                  <a:latin typeface="Corbel" panose="020B0503020204020204" pitchFamily="34" charset="0"/>
                </a:rPr>
                <a:t>direct donation of supplies to the recipient community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59" name="Rounded Rectangle">
              <a:extLst>
                <a:ext uri="{FF2B5EF4-FFF2-40B4-BE49-F238E27FC236}">
                  <a16:creationId xmlns:a16="http://schemas.microsoft.com/office/drawing/2014/main" id="{B37E9B60-4A44-587E-51F2-195B100CE2A9}"/>
                </a:ext>
              </a:extLst>
            </p:cNvPr>
            <p:cNvSpPr/>
            <p:nvPr/>
          </p:nvSpPr>
          <p:spPr>
            <a:xfrm>
              <a:off x="5441755" y="3426244"/>
              <a:ext cx="2050097" cy="5070878"/>
            </a:xfrm>
            <a:prstGeom prst="roundRect">
              <a:avLst>
                <a:gd name="adj" fmla="val 5220"/>
              </a:avLst>
            </a:prstGeom>
            <a:solidFill>
              <a:srgbClr val="FF0000"/>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0" name="Supplier">
              <a:extLst>
                <a:ext uri="{FF2B5EF4-FFF2-40B4-BE49-F238E27FC236}">
                  <a16:creationId xmlns:a16="http://schemas.microsoft.com/office/drawing/2014/main" id="{4C9C476D-7564-A4E3-0CC4-A8063BE3A7A8}"/>
                </a:ext>
              </a:extLst>
            </p:cNvPr>
            <p:cNvSpPr txBox="1"/>
            <p:nvPr/>
          </p:nvSpPr>
          <p:spPr>
            <a:xfrm>
              <a:off x="5869279" y="4138331"/>
              <a:ext cx="1265530"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a:ln>
                    <a:noFill/>
                  </a:ln>
                  <a:solidFill>
                    <a:srgbClr val="FEFFFE"/>
                  </a:solidFill>
                  <a:effectLst/>
                  <a:uLnTx/>
                  <a:uFillTx/>
                  <a:latin typeface="Corbel" panose="020B0503020204020204" pitchFamily="34" charset="0"/>
                  <a:sym typeface="DM Sans Medium"/>
                </a:rPr>
                <a:t>Supplier</a:t>
              </a:r>
            </a:p>
          </p:txBody>
        </p:sp>
        <p:sp>
          <p:nvSpPr>
            <p:cNvPr id="61" name="Lorem ipsum dolor sit amet, consectetur adipiscing elit, sed do eiusmod tempor incididunt ut labore">
              <a:extLst>
                <a:ext uri="{FF2B5EF4-FFF2-40B4-BE49-F238E27FC236}">
                  <a16:creationId xmlns:a16="http://schemas.microsoft.com/office/drawing/2014/main" id="{1C02A085-9B2B-7502-44B1-32F56795B685}"/>
                </a:ext>
              </a:extLst>
            </p:cNvPr>
            <p:cNvSpPr txBox="1"/>
            <p:nvPr/>
          </p:nvSpPr>
          <p:spPr>
            <a:xfrm>
              <a:off x="5635776" y="4551174"/>
              <a:ext cx="1686481" cy="30087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2" name="Rounded Rectangle">
              <a:extLst>
                <a:ext uri="{FF2B5EF4-FFF2-40B4-BE49-F238E27FC236}">
                  <a16:creationId xmlns:a16="http://schemas.microsoft.com/office/drawing/2014/main" id="{4252DCB7-B0FC-5B1A-91A8-E7493E3271FD}"/>
                </a:ext>
              </a:extLst>
            </p:cNvPr>
            <p:cNvSpPr/>
            <p:nvPr/>
          </p:nvSpPr>
          <p:spPr>
            <a:xfrm>
              <a:off x="7624141" y="3394672"/>
              <a:ext cx="2050097" cy="5070876"/>
            </a:xfrm>
            <a:prstGeom prst="roundRect">
              <a:avLst>
                <a:gd name="adj" fmla="val 5220"/>
              </a:avLst>
            </a:prstGeom>
            <a:solidFill>
              <a:schemeClr val="accent4">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3" name="Buyer">
              <a:extLst>
                <a:ext uri="{FF2B5EF4-FFF2-40B4-BE49-F238E27FC236}">
                  <a16:creationId xmlns:a16="http://schemas.microsoft.com/office/drawing/2014/main" id="{F327F29B-48B6-247B-55FC-173361A3AAAF}"/>
                </a:ext>
              </a:extLst>
            </p:cNvPr>
            <p:cNvSpPr txBox="1"/>
            <p:nvPr/>
          </p:nvSpPr>
          <p:spPr>
            <a:xfrm>
              <a:off x="8048381" y="4082447"/>
              <a:ext cx="1265529" cy="35162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Buyer</a:t>
              </a:r>
            </a:p>
          </p:txBody>
        </p:sp>
        <p:sp>
          <p:nvSpPr>
            <p:cNvPr id="64" name="Lorem ipsum dolor sit amet, consectetur adipiscing elit, sed do eiusmod tempor incididunt ut labore">
              <a:extLst>
                <a:ext uri="{FF2B5EF4-FFF2-40B4-BE49-F238E27FC236}">
                  <a16:creationId xmlns:a16="http://schemas.microsoft.com/office/drawing/2014/main" id="{023F953E-3583-C90E-6626-3D6B53716C69}"/>
                </a:ext>
              </a:extLst>
            </p:cNvPr>
            <p:cNvSpPr txBox="1"/>
            <p:nvPr/>
          </p:nvSpPr>
          <p:spPr>
            <a:xfrm>
              <a:off x="7732918" y="4701610"/>
              <a:ext cx="1791466" cy="184333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Buyers are Tier</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1 and 2 Manufacturing, banking, telco  and oil and gas companies who want to provide CSR to the host community , subscribers or customers. </a:t>
              </a: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p:txBody>
        </p:sp>
        <p:sp>
          <p:nvSpPr>
            <p:cNvPr id="65" name="Rounded Rectangle">
              <a:extLst>
                <a:ext uri="{FF2B5EF4-FFF2-40B4-BE49-F238E27FC236}">
                  <a16:creationId xmlns:a16="http://schemas.microsoft.com/office/drawing/2014/main" id="{B24BB561-ED09-A5B8-CEC9-BC8ECBD46888}"/>
                </a:ext>
              </a:extLst>
            </p:cNvPr>
            <p:cNvSpPr/>
            <p:nvPr/>
          </p:nvSpPr>
          <p:spPr>
            <a:xfrm>
              <a:off x="9771286" y="3403684"/>
              <a:ext cx="2050097" cy="5070876"/>
            </a:xfrm>
            <a:prstGeom prst="roundRect">
              <a:avLst>
                <a:gd name="adj" fmla="val 5220"/>
              </a:avLst>
            </a:prstGeom>
            <a:solidFill>
              <a:schemeClr val="accent5">
                <a:lumMod val="75000"/>
              </a:schemeClr>
            </a:solidFill>
            <a:ln w="3175">
              <a:miter lim="400000"/>
            </a:ln>
          </p:spPr>
          <p:txBody>
            <a:bodyPr lIns="0" tIns="0" rIns="0" bIns="0" anchor="ctr"/>
            <a:lstStyle/>
            <a:p>
              <a:pPr marL="0" marR="0" lvl="0" indent="0" algn="ctr" defTabSz="1087078" eaLnBrk="1" fontAlgn="auto" latinLnBrk="0" hangingPunct="0">
                <a:lnSpc>
                  <a:spcPct val="100000"/>
                </a:lnSpc>
                <a:spcBef>
                  <a:spcPts val="0"/>
                </a:spcBef>
                <a:spcAft>
                  <a:spcPts val="0"/>
                </a:spcAft>
                <a:buClrTx/>
                <a:buSzTx/>
                <a:buFontTx/>
                <a:buNone/>
                <a:tabLst/>
                <a:defRPr sz="3800" b="0">
                  <a:solidFill>
                    <a:srgbClr val="FFFFFF"/>
                  </a:solidFill>
                  <a:latin typeface="Helvetica Neue Medium"/>
                  <a:ea typeface="Helvetica Neue Medium"/>
                  <a:cs typeface="Helvetica Neue Medium"/>
                  <a:sym typeface="Helvetica Neue Medium"/>
                </a:defRPr>
              </a:pPr>
              <a:endParaRPr kumimoji="0" sz="3600" b="1" i="0" u="none" strike="noStrike" kern="0" cap="none" spc="0" normalizeH="0" baseline="0" noProof="0" dirty="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6" name="Competitive Rivalry">
              <a:extLst>
                <a:ext uri="{FF2B5EF4-FFF2-40B4-BE49-F238E27FC236}">
                  <a16:creationId xmlns:a16="http://schemas.microsoft.com/office/drawing/2014/main" id="{6C710A2A-C663-1C08-CA9D-7F6C798AF672}"/>
                </a:ext>
              </a:extLst>
            </p:cNvPr>
            <p:cNvSpPr txBox="1"/>
            <p:nvPr/>
          </p:nvSpPr>
          <p:spPr>
            <a:xfrm>
              <a:off x="9959869" y="4133334"/>
              <a:ext cx="1686481" cy="33604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800" b="0">
                  <a:solidFill>
                    <a:srgbClr val="FFFFFF"/>
                  </a:solidFill>
                  <a:latin typeface="DM Sans Medium"/>
                  <a:ea typeface="DM Sans Medium"/>
                  <a:cs typeface="DM Sans Medium"/>
                  <a:sym typeface="DM Sans Medium"/>
                </a:defRPr>
              </a:lvl1pPr>
            </a:lstStyle>
            <a:p>
              <a:pPr marL="0" marR="0" lvl="0" indent="0" algn="ctr" defTabSz="325120" eaLnBrk="1" fontAlgn="auto" latinLnBrk="0" hangingPunct="0">
                <a:lnSpc>
                  <a:spcPct val="100000"/>
                </a:lnSpc>
                <a:spcBef>
                  <a:spcPts val="0"/>
                </a:spcBef>
                <a:spcAft>
                  <a:spcPts val="0"/>
                </a:spcAft>
                <a:buClrTx/>
                <a:buSzTx/>
                <a:buFontTx/>
                <a:buNone/>
                <a:tabLst/>
                <a:defRPr/>
              </a:pPr>
              <a:r>
                <a:rPr kumimoji="0" sz="1600" b="1" i="0" u="none" strike="noStrike" kern="0" cap="none" spc="0" normalizeH="0" baseline="0" noProof="0" dirty="0">
                  <a:ln>
                    <a:noFill/>
                  </a:ln>
                  <a:solidFill>
                    <a:srgbClr val="FEFFFE"/>
                  </a:solidFill>
                  <a:effectLst/>
                  <a:uLnTx/>
                  <a:uFillTx/>
                  <a:latin typeface="Corbel" panose="020B0503020204020204" pitchFamily="34" charset="0"/>
                  <a:sym typeface="DM Sans Medium"/>
                </a:rPr>
                <a:t>Competitive Rivalry</a:t>
              </a:r>
            </a:p>
          </p:txBody>
        </p:sp>
        <p:sp>
          <p:nvSpPr>
            <p:cNvPr id="67" name="Lorem ipsum dolor sit amet, consectetur adipiscing elit, sed do eiusmod tempor incididunt ut labore">
              <a:extLst>
                <a:ext uri="{FF2B5EF4-FFF2-40B4-BE49-F238E27FC236}">
                  <a16:creationId xmlns:a16="http://schemas.microsoft.com/office/drawing/2014/main" id="{ECDA6428-5302-76DA-63DF-901B5BD05513}"/>
                </a:ext>
              </a:extLst>
            </p:cNvPr>
            <p:cNvSpPr txBox="1"/>
            <p:nvPr/>
          </p:nvSpPr>
          <p:spPr>
            <a:xfrm>
              <a:off x="9844700" y="4838873"/>
              <a:ext cx="1916818" cy="29573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lang="en-US" sz="1300" b="1" kern="0" dirty="0">
                  <a:solidFill>
                    <a:schemeClr val="tx1"/>
                  </a:solidFill>
                  <a:latin typeface="Corbel" panose="020B0503020204020204" pitchFamily="34" charset="0"/>
                </a:rPr>
                <a:t>The rivalry is driven</a:t>
              </a: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 by price competition</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 competence and </a:t>
              </a:r>
              <a:r>
                <a:rPr lang="en-US" sz="1300" b="1" kern="0" dirty="0">
                  <a:solidFill>
                    <a:schemeClr val="tx1"/>
                  </a:solidFill>
                  <a:latin typeface="Corbel" panose="020B0503020204020204" pitchFamily="34" charset="0"/>
                </a:rPr>
                <a:t>past records of successful execution.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noProof="0" dirty="0">
                  <a:solidFill>
                    <a:schemeClr val="tx1"/>
                  </a:solidFill>
                  <a:latin typeface="Corbel" panose="020B0503020204020204" pitchFamily="34" charset="0"/>
                </a:rPr>
                <a:t>NGO also provide this services </a:t>
              </a:r>
            </a:p>
            <a:p>
              <a:pPr marL="0" marR="0" lvl="0" indent="0" defTabSz="325120" eaLnBrk="1" fontAlgn="auto" latinLnBrk="0" hangingPunct="0">
                <a:lnSpc>
                  <a:spcPct val="100000"/>
                </a:lnSpc>
                <a:spcBef>
                  <a:spcPts val="0"/>
                </a:spcBef>
                <a:spcAft>
                  <a:spcPts val="0"/>
                </a:spcAft>
                <a:buClrTx/>
                <a:buSzTx/>
                <a:buFontTx/>
                <a:buNone/>
                <a:tabLst/>
                <a:defRPr/>
              </a:pPr>
              <a:endParaRPr kumimoji="0" lang="en-US" sz="1300" b="1" i="0" u="none" strike="noStrike" kern="0" cap="none" spc="0" normalizeH="0" baseline="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r>
                <a:rPr lang="en-US" sz="1300" b="1" kern="0" noProof="0" dirty="0">
                  <a:solidFill>
                    <a:schemeClr val="tx1"/>
                  </a:solidFill>
                  <a:latin typeface="Corbel" panose="020B0503020204020204" pitchFamily="34" charset="0"/>
                </a:rPr>
                <a:t>Competitive Rivalry is low because the market is currently unsaturated </a:t>
              </a:r>
              <a:endPar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
          <p:nvSpPr>
            <p:cNvPr id="68" name="Shape">
              <a:extLst>
                <a:ext uri="{FF2B5EF4-FFF2-40B4-BE49-F238E27FC236}">
                  <a16:creationId xmlns:a16="http://schemas.microsoft.com/office/drawing/2014/main" id="{99CB78E1-FE90-4A54-CAA7-CFFE6709F798}"/>
                </a:ext>
              </a:extLst>
            </p:cNvPr>
            <p:cNvSpPr/>
            <p:nvPr/>
          </p:nvSpPr>
          <p:spPr>
            <a:xfrm>
              <a:off x="8464219" y="3513418"/>
              <a:ext cx="552148" cy="514226"/>
            </a:xfrm>
            <a:custGeom>
              <a:avLst/>
              <a:gdLst/>
              <a:ahLst/>
              <a:cxnLst>
                <a:cxn ang="0">
                  <a:pos x="wd2" y="hd2"/>
                </a:cxn>
                <a:cxn ang="5400000">
                  <a:pos x="wd2" y="hd2"/>
                </a:cxn>
                <a:cxn ang="10800000">
                  <a:pos x="wd2" y="hd2"/>
                </a:cxn>
                <a:cxn ang="16200000">
                  <a:pos x="wd2" y="hd2"/>
                </a:cxn>
              </a:cxnLst>
              <a:rect l="0" t="0" r="r" b="b"/>
              <a:pathLst>
                <a:path w="21600" h="21570" extrusionOk="0">
                  <a:moveTo>
                    <a:pt x="10835" y="0"/>
                  </a:moveTo>
                  <a:cubicBezTo>
                    <a:pt x="10498" y="0"/>
                    <a:pt x="10225" y="292"/>
                    <a:pt x="10225" y="653"/>
                  </a:cubicBezTo>
                  <a:lnTo>
                    <a:pt x="10225" y="2711"/>
                  </a:lnTo>
                  <a:cubicBezTo>
                    <a:pt x="10225" y="3072"/>
                    <a:pt x="10498" y="3365"/>
                    <a:pt x="10835" y="3365"/>
                  </a:cubicBezTo>
                  <a:cubicBezTo>
                    <a:pt x="11171" y="3365"/>
                    <a:pt x="11444" y="3072"/>
                    <a:pt x="11444" y="2711"/>
                  </a:cubicBezTo>
                  <a:lnTo>
                    <a:pt x="11444" y="653"/>
                  </a:lnTo>
                  <a:cubicBezTo>
                    <a:pt x="11444" y="292"/>
                    <a:pt x="11171" y="0"/>
                    <a:pt x="10835" y="0"/>
                  </a:cubicBezTo>
                  <a:close/>
                  <a:moveTo>
                    <a:pt x="15869" y="2711"/>
                  </a:moveTo>
                  <a:cubicBezTo>
                    <a:pt x="15713" y="2711"/>
                    <a:pt x="15557" y="2775"/>
                    <a:pt x="15438" y="2902"/>
                  </a:cubicBezTo>
                  <a:lnTo>
                    <a:pt x="14157" y="4276"/>
                  </a:lnTo>
                  <a:cubicBezTo>
                    <a:pt x="13919" y="4531"/>
                    <a:pt x="13919" y="4945"/>
                    <a:pt x="14157" y="5200"/>
                  </a:cubicBezTo>
                  <a:cubicBezTo>
                    <a:pt x="14395" y="5455"/>
                    <a:pt x="14781" y="5455"/>
                    <a:pt x="15019" y="5200"/>
                  </a:cubicBezTo>
                  <a:lnTo>
                    <a:pt x="16300" y="3826"/>
                  </a:lnTo>
                  <a:cubicBezTo>
                    <a:pt x="16538" y="3570"/>
                    <a:pt x="16538" y="3158"/>
                    <a:pt x="16300" y="2902"/>
                  </a:cubicBezTo>
                  <a:cubicBezTo>
                    <a:pt x="16181" y="2775"/>
                    <a:pt x="16024" y="2711"/>
                    <a:pt x="15869" y="2711"/>
                  </a:cubicBezTo>
                  <a:close/>
                  <a:moveTo>
                    <a:pt x="5750" y="2778"/>
                  </a:moveTo>
                  <a:cubicBezTo>
                    <a:pt x="5594" y="2778"/>
                    <a:pt x="5438" y="2842"/>
                    <a:pt x="5319" y="2970"/>
                  </a:cubicBezTo>
                  <a:cubicBezTo>
                    <a:pt x="5081" y="3225"/>
                    <a:pt x="5081" y="3638"/>
                    <a:pt x="5319" y="3893"/>
                  </a:cubicBezTo>
                  <a:lnTo>
                    <a:pt x="6600" y="5267"/>
                  </a:lnTo>
                  <a:cubicBezTo>
                    <a:pt x="6838" y="5523"/>
                    <a:pt x="7223" y="5523"/>
                    <a:pt x="7461" y="5267"/>
                  </a:cubicBezTo>
                  <a:cubicBezTo>
                    <a:pt x="7699" y="5012"/>
                    <a:pt x="7699" y="4598"/>
                    <a:pt x="7461" y="4343"/>
                  </a:cubicBezTo>
                  <a:lnTo>
                    <a:pt x="6180" y="2970"/>
                  </a:lnTo>
                  <a:cubicBezTo>
                    <a:pt x="6061" y="2842"/>
                    <a:pt x="5906" y="2778"/>
                    <a:pt x="5750" y="2778"/>
                  </a:cubicBezTo>
                  <a:close/>
                  <a:moveTo>
                    <a:pt x="7845" y="6794"/>
                  </a:moveTo>
                  <a:cubicBezTo>
                    <a:pt x="7471" y="6799"/>
                    <a:pt x="7107" y="6917"/>
                    <a:pt x="6793" y="7134"/>
                  </a:cubicBezTo>
                  <a:cubicBezTo>
                    <a:pt x="6520" y="7322"/>
                    <a:pt x="6295" y="7579"/>
                    <a:pt x="6136" y="7883"/>
                  </a:cubicBezTo>
                  <a:lnTo>
                    <a:pt x="5520" y="9164"/>
                  </a:lnTo>
                  <a:cubicBezTo>
                    <a:pt x="5451" y="9272"/>
                    <a:pt x="5360" y="9362"/>
                    <a:pt x="5255" y="9427"/>
                  </a:cubicBezTo>
                  <a:cubicBezTo>
                    <a:pt x="5133" y="9503"/>
                    <a:pt x="4996" y="9544"/>
                    <a:pt x="4855" y="9546"/>
                  </a:cubicBezTo>
                  <a:lnTo>
                    <a:pt x="3844" y="9546"/>
                  </a:lnTo>
                  <a:lnTo>
                    <a:pt x="3814" y="19022"/>
                  </a:lnTo>
                  <a:lnTo>
                    <a:pt x="6722" y="19022"/>
                  </a:lnTo>
                  <a:lnTo>
                    <a:pt x="8565" y="21055"/>
                  </a:lnTo>
                  <a:cubicBezTo>
                    <a:pt x="8769" y="21249"/>
                    <a:pt x="9010" y="21395"/>
                    <a:pt x="9270" y="21481"/>
                  </a:cubicBezTo>
                  <a:cubicBezTo>
                    <a:pt x="9629" y="21598"/>
                    <a:pt x="10011" y="21600"/>
                    <a:pt x="10371" y="21486"/>
                  </a:cubicBezTo>
                  <a:lnTo>
                    <a:pt x="16077" y="19530"/>
                  </a:lnTo>
                  <a:cubicBezTo>
                    <a:pt x="16210" y="19487"/>
                    <a:pt x="16333" y="19417"/>
                    <a:pt x="16442" y="19326"/>
                  </a:cubicBezTo>
                  <a:cubicBezTo>
                    <a:pt x="16527" y="19255"/>
                    <a:pt x="16601" y="19172"/>
                    <a:pt x="16664" y="19079"/>
                  </a:cubicBezTo>
                  <a:lnTo>
                    <a:pt x="12170" y="14325"/>
                  </a:lnTo>
                  <a:lnTo>
                    <a:pt x="11730" y="14325"/>
                  </a:lnTo>
                  <a:cubicBezTo>
                    <a:pt x="11355" y="15204"/>
                    <a:pt x="10698" y="15909"/>
                    <a:pt x="9878" y="16312"/>
                  </a:cubicBezTo>
                  <a:cubicBezTo>
                    <a:pt x="8999" y="16745"/>
                    <a:pt x="7998" y="16800"/>
                    <a:pt x="7082" y="16465"/>
                  </a:cubicBezTo>
                  <a:lnTo>
                    <a:pt x="6167" y="16096"/>
                  </a:lnTo>
                  <a:cubicBezTo>
                    <a:pt x="5956" y="15989"/>
                    <a:pt x="5808" y="15778"/>
                    <a:pt x="5770" y="15531"/>
                  </a:cubicBezTo>
                  <a:cubicBezTo>
                    <a:pt x="5743" y="15349"/>
                    <a:pt x="5780" y="15162"/>
                    <a:pt x="5872" y="15007"/>
                  </a:cubicBezTo>
                  <a:lnTo>
                    <a:pt x="8176" y="10163"/>
                  </a:lnTo>
                  <a:cubicBezTo>
                    <a:pt x="8397" y="9732"/>
                    <a:pt x="8734" y="9381"/>
                    <a:pt x="9142" y="9156"/>
                  </a:cubicBezTo>
                  <a:cubicBezTo>
                    <a:pt x="9437" y="8994"/>
                    <a:pt x="9761" y="8903"/>
                    <a:pt x="10092" y="8888"/>
                  </a:cubicBezTo>
                  <a:lnTo>
                    <a:pt x="13081" y="8888"/>
                  </a:lnTo>
                  <a:cubicBezTo>
                    <a:pt x="13322" y="8472"/>
                    <a:pt x="13661" y="7410"/>
                    <a:pt x="13026" y="6962"/>
                  </a:cubicBezTo>
                  <a:cubicBezTo>
                    <a:pt x="12869" y="6852"/>
                    <a:pt x="12685" y="6793"/>
                    <a:pt x="12498" y="6794"/>
                  </a:cubicBezTo>
                  <a:lnTo>
                    <a:pt x="7845" y="6794"/>
                  </a:lnTo>
                  <a:close/>
                  <a:moveTo>
                    <a:pt x="1008" y="9498"/>
                  </a:moveTo>
                  <a:cubicBezTo>
                    <a:pt x="718" y="9498"/>
                    <a:pt x="572" y="9499"/>
                    <a:pt x="417" y="9551"/>
                  </a:cubicBezTo>
                  <a:cubicBezTo>
                    <a:pt x="246" y="9618"/>
                    <a:pt x="112" y="9762"/>
                    <a:pt x="50" y="9945"/>
                  </a:cubicBezTo>
                  <a:cubicBezTo>
                    <a:pt x="1" y="10112"/>
                    <a:pt x="0" y="10269"/>
                    <a:pt x="0" y="10579"/>
                  </a:cubicBezTo>
                  <a:lnTo>
                    <a:pt x="0" y="17922"/>
                  </a:lnTo>
                  <a:cubicBezTo>
                    <a:pt x="0" y="18237"/>
                    <a:pt x="1" y="18394"/>
                    <a:pt x="50" y="18561"/>
                  </a:cubicBezTo>
                  <a:cubicBezTo>
                    <a:pt x="112" y="18744"/>
                    <a:pt x="246" y="18888"/>
                    <a:pt x="417" y="18955"/>
                  </a:cubicBezTo>
                  <a:cubicBezTo>
                    <a:pt x="573" y="19008"/>
                    <a:pt x="719" y="19007"/>
                    <a:pt x="1008" y="19007"/>
                  </a:cubicBezTo>
                  <a:lnTo>
                    <a:pt x="2519" y="19007"/>
                  </a:lnTo>
                  <a:lnTo>
                    <a:pt x="2519" y="9498"/>
                  </a:lnTo>
                  <a:lnTo>
                    <a:pt x="1012" y="9498"/>
                  </a:lnTo>
                  <a:lnTo>
                    <a:pt x="1008" y="9498"/>
                  </a:lnTo>
                  <a:close/>
                  <a:moveTo>
                    <a:pt x="19026" y="9521"/>
                  </a:moveTo>
                  <a:lnTo>
                    <a:pt x="19026" y="19029"/>
                  </a:lnTo>
                  <a:lnTo>
                    <a:pt x="20589" y="19029"/>
                  </a:lnTo>
                  <a:cubicBezTo>
                    <a:pt x="20882" y="19029"/>
                    <a:pt x="21028" y="19030"/>
                    <a:pt x="21184" y="18977"/>
                  </a:cubicBezTo>
                  <a:cubicBezTo>
                    <a:pt x="21354" y="18910"/>
                    <a:pt x="21489" y="18766"/>
                    <a:pt x="21551" y="18583"/>
                  </a:cubicBezTo>
                  <a:cubicBezTo>
                    <a:pt x="21600" y="18416"/>
                    <a:pt x="21600" y="18259"/>
                    <a:pt x="21600" y="17949"/>
                  </a:cubicBezTo>
                  <a:lnTo>
                    <a:pt x="21600" y="10605"/>
                  </a:lnTo>
                  <a:cubicBezTo>
                    <a:pt x="21600" y="10291"/>
                    <a:pt x="21600" y="10134"/>
                    <a:pt x="21551" y="9967"/>
                  </a:cubicBezTo>
                  <a:cubicBezTo>
                    <a:pt x="21489" y="9784"/>
                    <a:pt x="21354" y="9640"/>
                    <a:pt x="21184" y="9574"/>
                  </a:cubicBezTo>
                  <a:cubicBezTo>
                    <a:pt x="21028" y="9521"/>
                    <a:pt x="20881" y="9521"/>
                    <a:pt x="20592" y="9521"/>
                  </a:cubicBezTo>
                  <a:lnTo>
                    <a:pt x="19026" y="9521"/>
                  </a:lnTo>
                  <a:close/>
                  <a:moveTo>
                    <a:pt x="10221" y="10214"/>
                  </a:moveTo>
                  <a:cubicBezTo>
                    <a:pt x="10027" y="10227"/>
                    <a:pt x="9839" y="10291"/>
                    <a:pt x="9673" y="10398"/>
                  </a:cubicBezTo>
                  <a:cubicBezTo>
                    <a:pt x="9482" y="10521"/>
                    <a:pt x="9327" y="10699"/>
                    <a:pt x="9224" y="10911"/>
                  </a:cubicBezTo>
                  <a:lnTo>
                    <a:pt x="7288" y="15038"/>
                  </a:lnTo>
                  <a:cubicBezTo>
                    <a:pt x="7791" y="15310"/>
                    <a:pt x="8368" y="15380"/>
                    <a:pt x="8914" y="15234"/>
                  </a:cubicBezTo>
                  <a:cubicBezTo>
                    <a:pt x="9494" y="15080"/>
                    <a:pt x="9998" y="14695"/>
                    <a:pt x="10323" y="14157"/>
                  </a:cubicBezTo>
                  <a:lnTo>
                    <a:pt x="10972" y="12900"/>
                  </a:lnTo>
                  <a:lnTo>
                    <a:pt x="12168" y="12894"/>
                  </a:lnTo>
                  <a:cubicBezTo>
                    <a:pt x="12346" y="12901"/>
                    <a:pt x="12521" y="12942"/>
                    <a:pt x="12684" y="13015"/>
                  </a:cubicBezTo>
                  <a:cubicBezTo>
                    <a:pt x="12838" y="13085"/>
                    <a:pt x="12980" y="13182"/>
                    <a:pt x="13104" y="13302"/>
                  </a:cubicBezTo>
                  <a:lnTo>
                    <a:pt x="17781" y="18390"/>
                  </a:lnTo>
                  <a:lnTo>
                    <a:pt x="17787" y="10214"/>
                  </a:lnTo>
                  <a:lnTo>
                    <a:pt x="10221" y="1021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69" name="Shape">
              <a:extLst>
                <a:ext uri="{FF2B5EF4-FFF2-40B4-BE49-F238E27FC236}">
                  <a16:creationId xmlns:a16="http://schemas.microsoft.com/office/drawing/2014/main" id="{1311A6DB-A00D-C757-546F-7E19B2D11BED}"/>
                </a:ext>
              </a:extLst>
            </p:cNvPr>
            <p:cNvSpPr/>
            <p:nvPr/>
          </p:nvSpPr>
          <p:spPr>
            <a:xfrm>
              <a:off x="10552403" y="3632097"/>
              <a:ext cx="487864" cy="487789"/>
            </a:xfrm>
            <a:custGeom>
              <a:avLst/>
              <a:gdLst/>
              <a:ahLst/>
              <a:cxnLst>
                <a:cxn ang="0">
                  <a:pos x="wd2" y="hd2"/>
                </a:cxn>
                <a:cxn ang="5400000">
                  <a:pos x="wd2" y="hd2"/>
                </a:cxn>
                <a:cxn ang="10800000">
                  <a:pos x="wd2" y="hd2"/>
                </a:cxn>
                <a:cxn ang="16200000">
                  <a:pos x="wd2" y="hd2"/>
                </a:cxn>
              </a:cxnLst>
              <a:rect l="0" t="0" r="r" b="b"/>
              <a:pathLst>
                <a:path w="21508" h="21457" extrusionOk="0">
                  <a:moveTo>
                    <a:pt x="8861" y="0"/>
                  </a:moveTo>
                  <a:cubicBezTo>
                    <a:pt x="8468" y="0"/>
                    <a:pt x="8072" y="0"/>
                    <a:pt x="7714" y="83"/>
                  </a:cubicBezTo>
                  <a:cubicBezTo>
                    <a:pt x="7074" y="246"/>
                    <a:pt x="6574" y="744"/>
                    <a:pt x="6410" y="1382"/>
                  </a:cubicBezTo>
                  <a:cubicBezTo>
                    <a:pt x="6328" y="1740"/>
                    <a:pt x="6328" y="2135"/>
                    <a:pt x="6328" y="2528"/>
                  </a:cubicBezTo>
                  <a:cubicBezTo>
                    <a:pt x="6328" y="2921"/>
                    <a:pt x="6328" y="3316"/>
                    <a:pt x="6410" y="3674"/>
                  </a:cubicBezTo>
                  <a:cubicBezTo>
                    <a:pt x="6574" y="4312"/>
                    <a:pt x="7074" y="4810"/>
                    <a:pt x="7714" y="4973"/>
                  </a:cubicBezTo>
                  <a:cubicBezTo>
                    <a:pt x="8072" y="5056"/>
                    <a:pt x="8468" y="5056"/>
                    <a:pt x="8861" y="5056"/>
                  </a:cubicBezTo>
                  <a:lnTo>
                    <a:pt x="10423" y="5056"/>
                  </a:lnTo>
                  <a:lnTo>
                    <a:pt x="12864" y="7359"/>
                  </a:lnTo>
                  <a:cubicBezTo>
                    <a:pt x="13044" y="7535"/>
                    <a:pt x="13310" y="7590"/>
                    <a:pt x="13545" y="7500"/>
                  </a:cubicBezTo>
                  <a:cubicBezTo>
                    <a:pt x="13798" y="7403"/>
                    <a:pt x="13964" y="7159"/>
                    <a:pt x="13961" y="6888"/>
                  </a:cubicBezTo>
                  <a:lnTo>
                    <a:pt x="13967" y="4924"/>
                  </a:lnTo>
                  <a:cubicBezTo>
                    <a:pt x="14533" y="4725"/>
                    <a:pt x="14970" y="4260"/>
                    <a:pt x="15121" y="3674"/>
                  </a:cubicBezTo>
                  <a:cubicBezTo>
                    <a:pt x="15204" y="3316"/>
                    <a:pt x="15203" y="2921"/>
                    <a:pt x="15203" y="2528"/>
                  </a:cubicBezTo>
                  <a:cubicBezTo>
                    <a:pt x="15203" y="2135"/>
                    <a:pt x="15204" y="1740"/>
                    <a:pt x="15121" y="1382"/>
                  </a:cubicBezTo>
                  <a:cubicBezTo>
                    <a:pt x="14957" y="744"/>
                    <a:pt x="14457" y="246"/>
                    <a:pt x="13817" y="83"/>
                  </a:cubicBezTo>
                  <a:cubicBezTo>
                    <a:pt x="13459" y="0"/>
                    <a:pt x="13064" y="0"/>
                    <a:pt x="12670" y="0"/>
                  </a:cubicBezTo>
                  <a:lnTo>
                    <a:pt x="8861" y="0"/>
                  </a:lnTo>
                  <a:close/>
                  <a:moveTo>
                    <a:pt x="3798" y="3201"/>
                  </a:moveTo>
                  <a:cubicBezTo>
                    <a:pt x="3312" y="3201"/>
                    <a:pt x="2826" y="3386"/>
                    <a:pt x="2456" y="3755"/>
                  </a:cubicBezTo>
                  <a:cubicBezTo>
                    <a:pt x="1715" y="4494"/>
                    <a:pt x="1715" y="5693"/>
                    <a:pt x="2456" y="6432"/>
                  </a:cubicBezTo>
                  <a:cubicBezTo>
                    <a:pt x="3197" y="7172"/>
                    <a:pt x="4398" y="7172"/>
                    <a:pt x="5139" y="6432"/>
                  </a:cubicBezTo>
                  <a:cubicBezTo>
                    <a:pt x="5880" y="5693"/>
                    <a:pt x="5880" y="4494"/>
                    <a:pt x="5139" y="3755"/>
                  </a:cubicBezTo>
                  <a:cubicBezTo>
                    <a:pt x="4769" y="3386"/>
                    <a:pt x="4283" y="3201"/>
                    <a:pt x="3798" y="3201"/>
                  </a:cubicBezTo>
                  <a:close/>
                  <a:moveTo>
                    <a:pt x="17710" y="3201"/>
                  </a:moveTo>
                  <a:cubicBezTo>
                    <a:pt x="17225" y="3201"/>
                    <a:pt x="16739" y="3386"/>
                    <a:pt x="16369" y="3755"/>
                  </a:cubicBezTo>
                  <a:cubicBezTo>
                    <a:pt x="15628" y="4494"/>
                    <a:pt x="15628" y="5693"/>
                    <a:pt x="16369" y="6432"/>
                  </a:cubicBezTo>
                  <a:cubicBezTo>
                    <a:pt x="17110" y="7172"/>
                    <a:pt x="18311" y="7172"/>
                    <a:pt x="19052" y="6432"/>
                  </a:cubicBezTo>
                  <a:cubicBezTo>
                    <a:pt x="19793" y="5693"/>
                    <a:pt x="19793" y="4494"/>
                    <a:pt x="19052" y="3755"/>
                  </a:cubicBezTo>
                  <a:cubicBezTo>
                    <a:pt x="18681" y="3386"/>
                    <a:pt x="18196" y="3201"/>
                    <a:pt x="17710" y="3201"/>
                  </a:cubicBezTo>
                  <a:close/>
                  <a:moveTo>
                    <a:pt x="2578" y="7598"/>
                  </a:moveTo>
                  <a:cubicBezTo>
                    <a:pt x="2512" y="7594"/>
                    <a:pt x="2447" y="7596"/>
                    <a:pt x="2380" y="7603"/>
                  </a:cubicBezTo>
                  <a:cubicBezTo>
                    <a:pt x="1875" y="7655"/>
                    <a:pt x="1450" y="8004"/>
                    <a:pt x="1302" y="8488"/>
                  </a:cubicBezTo>
                  <a:lnTo>
                    <a:pt x="56" y="14249"/>
                  </a:lnTo>
                  <a:cubicBezTo>
                    <a:pt x="-35" y="14616"/>
                    <a:pt x="53" y="15004"/>
                    <a:pt x="294" y="15296"/>
                  </a:cubicBezTo>
                  <a:cubicBezTo>
                    <a:pt x="525" y="15576"/>
                    <a:pt x="871" y="15736"/>
                    <a:pt x="1234" y="15731"/>
                  </a:cubicBezTo>
                  <a:lnTo>
                    <a:pt x="1280" y="15731"/>
                  </a:lnTo>
                  <a:lnTo>
                    <a:pt x="24" y="20706"/>
                  </a:lnTo>
                  <a:cubicBezTo>
                    <a:pt x="-46" y="20940"/>
                    <a:pt x="40" y="21193"/>
                    <a:pt x="238" y="21337"/>
                  </a:cubicBezTo>
                  <a:cubicBezTo>
                    <a:pt x="603" y="21600"/>
                    <a:pt x="1119" y="21412"/>
                    <a:pt x="1228" y="20976"/>
                  </a:cubicBezTo>
                  <a:lnTo>
                    <a:pt x="1739" y="18941"/>
                  </a:lnTo>
                  <a:lnTo>
                    <a:pt x="7077" y="18941"/>
                  </a:lnTo>
                  <a:lnTo>
                    <a:pt x="7673" y="20692"/>
                  </a:lnTo>
                  <a:cubicBezTo>
                    <a:pt x="7931" y="21284"/>
                    <a:pt x="8596" y="21585"/>
                    <a:pt x="9212" y="21388"/>
                  </a:cubicBezTo>
                  <a:cubicBezTo>
                    <a:pt x="9851" y="21183"/>
                    <a:pt x="10219" y="20515"/>
                    <a:pt x="10049" y="19867"/>
                  </a:cubicBezTo>
                  <a:lnTo>
                    <a:pt x="8096" y="14045"/>
                  </a:lnTo>
                  <a:cubicBezTo>
                    <a:pt x="8019" y="13815"/>
                    <a:pt x="7874" y="13613"/>
                    <a:pt x="7680" y="13468"/>
                  </a:cubicBezTo>
                  <a:cubicBezTo>
                    <a:pt x="7475" y="13313"/>
                    <a:pt x="7225" y="13229"/>
                    <a:pt x="6968" y="13228"/>
                  </a:cubicBezTo>
                  <a:lnTo>
                    <a:pt x="5595" y="13228"/>
                  </a:lnTo>
                  <a:cubicBezTo>
                    <a:pt x="5279" y="13199"/>
                    <a:pt x="5033" y="12941"/>
                    <a:pt x="5021" y="12625"/>
                  </a:cubicBezTo>
                  <a:cubicBezTo>
                    <a:pt x="5008" y="12289"/>
                    <a:pt x="5260" y="12002"/>
                    <a:pt x="5595" y="11970"/>
                  </a:cubicBezTo>
                  <a:lnTo>
                    <a:pt x="7507" y="11970"/>
                  </a:lnTo>
                  <a:cubicBezTo>
                    <a:pt x="8212" y="12000"/>
                    <a:pt x="8804" y="11445"/>
                    <a:pt x="8817" y="10741"/>
                  </a:cubicBezTo>
                  <a:cubicBezTo>
                    <a:pt x="8831" y="10017"/>
                    <a:pt x="8232" y="9431"/>
                    <a:pt x="7507" y="9458"/>
                  </a:cubicBezTo>
                  <a:lnTo>
                    <a:pt x="4076" y="9458"/>
                  </a:lnTo>
                  <a:lnTo>
                    <a:pt x="3655" y="8314"/>
                  </a:lnTo>
                  <a:cubicBezTo>
                    <a:pt x="3452" y="7893"/>
                    <a:pt x="3035" y="7622"/>
                    <a:pt x="2578" y="7598"/>
                  </a:cubicBezTo>
                  <a:close/>
                  <a:moveTo>
                    <a:pt x="18930" y="7598"/>
                  </a:moveTo>
                  <a:cubicBezTo>
                    <a:pt x="18473" y="7622"/>
                    <a:pt x="18056" y="7893"/>
                    <a:pt x="17853" y="8314"/>
                  </a:cubicBezTo>
                  <a:lnTo>
                    <a:pt x="17432" y="9458"/>
                  </a:lnTo>
                  <a:lnTo>
                    <a:pt x="14001" y="9458"/>
                  </a:lnTo>
                  <a:cubicBezTo>
                    <a:pt x="13276" y="9431"/>
                    <a:pt x="12677" y="10017"/>
                    <a:pt x="12691" y="10741"/>
                  </a:cubicBezTo>
                  <a:cubicBezTo>
                    <a:pt x="12704" y="11445"/>
                    <a:pt x="13296" y="12000"/>
                    <a:pt x="14001" y="11970"/>
                  </a:cubicBezTo>
                  <a:lnTo>
                    <a:pt x="15913" y="11970"/>
                  </a:lnTo>
                  <a:cubicBezTo>
                    <a:pt x="16248" y="12002"/>
                    <a:pt x="16500" y="12289"/>
                    <a:pt x="16487" y="12625"/>
                  </a:cubicBezTo>
                  <a:cubicBezTo>
                    <a:pt x="16475" y="12941"/>
                    <a:pt x="16229" y="13199"/>
                    <a:pt x="15913" y="13228"/>
                  </a:cubicBezTo>
                  <a:lnTo>
                    <a:pt x="14540" y="13228"/>
                  </a:lnTo>
                  <a:cubicBezTo>
                    <a:pt x="14283" y="13229"/>
                    <a:pt x="14033" y="13313"/>
                    <a:pt x="13828" y="13468"/>
                  </a:cubicBezTo>
                  <a:cubicBezTo>
                    <a:pt x="13634" y="13613"/>
                    <a:pt x="13489" y="13815"/>
                    <a:pt x="13412" y="14045"/>
                  </a:cubicBezTo>
                  <a:lnTo>
                    <a:pt x="11459" y="19867"/>
                  </a:lnTo>
                  <a:cubicBezTo>
                    <a:pt x="11289" y="20515"/>
                    <a:pt x="11657" y="21183"/>
                    <a:pt x="12296" y="21388"/>
                  </a:cubicBezTo>
                  <a:cubicBezTo>
                    <a:pt x="12912" y="21585"/>
                    <a:pt x="13577" y="21284"/>
                    <a:pt x="13835" y="20692"/>
                  </a:cubicBezTo>
                  <a:lnTo>
                    <a:pt x="14431" y="18941"/>
                  </a:lnTo>
                  <a:lnTo>
                    <a:pt x="19769" y="18941"/>
                  </a:lnTo>
                  <a:lnTo>
                    <a:pt x="20280" y="20976"/>
                  </a:lnTo>
                  <a:cubicBezTo>
                    <a:pt x="20389" y="21412"/>
                    <a:pt x="20905" y="21600"/>
                    <a:pt x="21270" y="21337"/>
                  </a:cubicBezTo>
                  <a:cubicBezTo>
                    <a:pt x="21468" y="21193"/>
                    <a:pt x="21554" y="20940"/>
                    <a:pt x="21484" y="20706"/>
                  </a:cubicBezTo>
                  <a:lnTo>
                    <a:pt x="20228" y="15731"/>
                  </a:lnTo>
                  <a:lnTo>
                    <a:pt x="20274" y="15731"/>
                  </a:lnTo>
                  <a:cubicBezTo>
                    <a:pt x="20637" y="15736"/>
                    <a:pt x="20983" y="15576"/>
                    <a:pt x="21214" y="15296"/>
                  </a:cubicBezTo>
                  <a:cubicBezTo>
                    <a:pt x="21455" y="15004"/>
                    <a:pt x="21543" y="14616"/>
                    <a:pt x="21452" y="14249"/>
                  </a:cubicBezTo>
                  <a:lnTo>
                    <a:pt x="20206" y="8488"/>
                  </a:lnTo>
                  <a:cubicBezTo>
                    <a:pt x="20058" y="8004"/>
                    <a:pt x="19633" y="7655"/>
                    <a:pt x="19128" y="7603"/>
                  </a:cubicBezTo>
                  <a:cubicBezTo>
                    <a:pt x="19061" y="7596"/>
                    <a:pt x="18996" y="7594"/>
                    <a:pt x="18930" y="7598"/>
                  </a:cubicBezTo>
                  <a:close/>
                  <a:moveTo>
                    <a:pt x="2544" y="15731"/>
                  </a:moveTo>
                  <a:lnTo>
                    <a:pt x="5985" y="15731"/>
                  </a:lnTo>
                  <a:lnTo>
                    <a:pt x="6653" y="17696"/>
                  </a:lnTo>
                  <a:lnTo>
                    <a:pt x="2051" y="17696"/>
                  </a:lnTo>
                  <a:lnTo>
                    <a:pt x="2544" y="15731"/>
                  </a:lnTo>
                  <a:close/>
                  <a:moveTo>
                    <a:pt x="15523" y="15731"/>
                  </a:moveTo>
                  <a:lnTo>
                    <a:pt x="18964" y="15731"/>
                  </a:lnTo>
                  <a:lnTo>
                    <a:pt x="19457" y="17696"/>
                  </a:lnTo>
                  <a:lnTo>
                    <a:pt x="14855" y="17696"/>
                  </a:lnTo>
                  <a:lnTo>
                    <a:pt x="15523" y="15731"/>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0" name="Shape">
              <a:extLst>
                <a:ext uri="{FF2B5EF4-FFF2-40B4-BE49-F238E27FC236}">
                  <a16:creationId xmlns:a16="http://schemas.microsoft.com/office/drawing/2014/main" id="{B05A3137-8906-587E-2C1D-EA8AC054C02D}"/>
                </a:ext>
              </a:extLst>
            </p:cNvPr>
            <p:cNvSpPr/>
            <p:nvPr/>
          </p:nvSpPr>
          <p:spPr>
            <a:xfrm>
              <a:off x="1933579" y="3584887"/>
              <a:ext cx="561887" cy="560110"/>
            </a:xfrm>
            <a:custGeom>
              <a:avLst/>
              <a:gdLst/>
              <a:ahLst/>
              <a:cxnLst>
                <a:cxn ang="0">
                  <a:pos x="wd2" y="hd2"/>
                </a:cxn>
                <a:cxn ang="5400000">
                  <a:pos x="wd2" y="hd2"/>
                </a:cxn>
                <a:cxn ang="10800000">
                  <a:pos x="wd2" y="hd2"/>
                </a:cxn>
                <a:cxn ang="16200000">
                  <a:pos x="wd2" y="hd2"/>
                </a:cxn>
              </a:cxnLst>
              <a:rect l="0" t="0" r="r" b="b"/>
              <a:pathLst>
                <a:path w="21583" h="21600" extrusionOk="0">
                  <a:moveTo>
                    <a:pt x="15250" y="0"/>
                  </a:moveTo>
                  <a:cubicBezTo>
                    <a:pt x="14566" y="0"/>
                    <a:pt x="14010" y="677"/>
                    <a:pt x="14010" y="1512"/>
                  </a:cubicBezTo>
                  <a:lnTo>
                    <a:pt x="14010" y="16988"/>
                  </a:lnTo>
                  <a:cubicBezTo>
                    <a:pt x="14010" y="17824"/>
                    <a:pt x="14566" y="18501"/>
                    <a:pt x="15250" y="18501"/>
                  </a:cubicBezTo>
                  <a:cubicBezTo>
                    <a:pt x="15934" y="18501"/>
                    <a:pt x="16489" y="17824"/>
                    <a:pt x="16489" y="16988"/>
                  </a:cubicBezTo>
                  <a:lnTo>
                    <a:pt x="16489" y="1512"/>
                  </a:lnTo>
                  <a:cubicBezTo>
                    <a:pt x="16489" y="677"/>
                    <a:pt x="15934" y="0"/>
                    <a:pt x="15250" y="0"/>
                  </a:cubicBezTo>
                  <a:close/>
                  <a:moveTo>
                    <a:pt x="12700" y="2003"/>
                  </a:moveTo>
                  <a:cubicBezTo>
                    <a:pt x="12247" y="2644"/>
                    <a:pt x="11708" y="3186"/>
                    <a:pt x="11105" y="3604"/>
                  </a:cubicBezTo>
                  <a:cubicBezTo>
                    <a:pt x="10421" y="4079"/>
                    <a:pt x="9669" y="4386"/>
                    <a:pt x="8889" y="4510"/>
                  </a:cubicBezTo>
                  <a:lnTo>
                    <a:pt x="8889" y="13916"/>
                  </a:lnTo>
                  <a:cubicBezTo>
                    <a:pt x="9656" y="14057"/>
                    <a:pt x="10395" y="14376"/>
                    <a:pt x="11065" y="14853"/>
                  </a:cubicBezTo>
                  <a:cubicBezTo>
                    <a:pt x="11688" y="15298"/>
                    <a:pt x="12241" y="15872"/>
                    <a:pt x="12700" y="16552"/>
                  </a:cubicBezTo>
                  <a:lnTo>
                    <a:pt x="12700" y="2003"/>
                  </a:lnTo>
                  <a:close/>
                  <a:moveTo>
                    <a:pt x="4474" y="4577"/>
                  </a:moveTo>
                  <a:cubicBezTo>
                    <a:pt x="4007" y="4587"/>
                    <a:pt x="3558" y="4796"/>
                    <a:pt x="3203" y="5166"/>
                  </a:cubicBezTo>
                  <a:cubicBezTo>
                    <a:pt x="2953" y="5427"/>
                    <a:pt x="2760" y="5760"/>
                    <a:pt x="2641" y="6135"/>
                  </a:cubicBezTo>
                  <a:cubicBezTo>
                    <a:pt x="1191" y="6055"/>
                    <a:pt x="-17" y="7479"/>
                    <a:pt x="0" y="9251"/>
                  </a:cubicBezTo>
                  <a:cubicBezTo>
                    <a:pt x="17" y="10993"/>
                    <a:pt x="1215" y="12371"/>
                    <a:pt x="2641" y="12287"/>
                  </a:cubicBezTo>
                  <a:cubicBezTo>
                    <a:pt x="2775" y="12669"/>
                    <a:pt x="2981" y="13007"/>
                    <a:pt x="3243" y="13274"/>
                  </a:cubicBezTo>
                  <a:cubicBezTo>
                    <a:pt x="3591" y="13629"/>
                    <a:pt x="4022" y="13842"/>
                    <a:pt x="4475" y="13883"/>
                  </a:cubicBezTo>
                  <a:lnTo>
                    <a:pt x="7624" y="13883"/>
                  </a:lnTo>
                  <a:lnTo>
                    <a:pt x="7611" y="4581"/>
                  </a:lnTo>
                  <a:lnTo>
                    <a:pt x="4474" y="4577"/>
                  </a:lnTo>
                  <a:close/>
                  <a:moveTo>
                    <a:pt x="19616" y="4598"/>
                  </a:moveTo>
                  <a:cubicBezTo>
                    <a:pt x="19453" y="4598"/>
                    <a:pt x="19291" y="4674"/>
                    <a:pt x="19166" y="4826"/>
                  </a:cubicBezTo>
                  <a:lnTo>
                    <a:pt x="17911" y="6357"/>
                  </a:lnTo>
                  <a:cubicBezTo>
                    <a:pt x="17662" y="6661"/>
                    <a:pt x="17662" y="7153"/>
                    <a:pt x="17911" y="7457"/>
                  </a:cubicBezTo>
                  <a:cubicBezTo>
                    <a:pt x="18160" y="7761"/>
                    <a:pt x="18563" y="7761"/>
                    <a:pt x="18812" y="7457"/>
                  </a:cubicBezTo>
                  <a:lnTo>
                    <a:pt x="20068" y="5926"/>
                  </a:lnTo>
                  <a:cubicBezTo>
                    <a:pt x="20316" y="5622"/>
                    <a:pt x="20316" y="5130"/>
                    <a:pt x="20068" y="4826"/>
                  </a:cubicBezTo>
                  <a:cubicBezTo>
                    <a:pt x="19943" y="4674"/>
                    <a:pt x="19780" y="4598"/>
                    <a:pt x="19616" y="4598"/>
                  </a:cubicBezTo>
                  <a:close/>
                  <a:moveTo>
                    <a:pt x="18990" y="9204"/>
                  </a:moveTo>
                  <a:cubicBezTo>
                    <a:pt x="18638" y="9204"/>
                    <a:pt x="18353" y="9552"/>
                    <a:pt x="18353" y="9982"/>
                  </a:cubicBezTo>
                  <a:cubicBezTo>
                    <a:pt x="18353" y="10411"/>
                    <a:pt x="18638" y="10759"/>
                    <a:pt x="18990" y="10759"/>
                  </a:cubicBezTo>
                  <a:lnTo>
                    <a:pt x="20946" y="10759"/>
                  </a:lnTo>
                  <a:cubicBezTo>
                    <a:pt x="21298" y="10759"/>
                    <a:pt x="21583" y="10411"/>
                    <a:pt x="21583" y="9982"/>
                  </a:cubicBezTo>
                  <a:cubicBezTo>
                    <a:pt x="21583" y="9552"/>
                    <a:pt x="21298" y="9204"/>
                    <a:pt x="20946" y="9204"/>
                  </a:cubicBezTo>
                  <a:lnTo>
                    <a:pt x="18990" y="9204"/>
                  </a:lnTo>
                  <a:close/>
                  <a:moveTo>
                    <a:pt x="18362" y="12331"/>
                  </a:moveTo>
                  <a:cubicBezTo>
                    <a:pt x="18199" y="12331"/>
                    <a:pt x="18035" y="12408"/>
                    <a:pt x="17911" y="12560"/>
                  </a:cubicBezTo>
                  <a:cubicBezTo>
                    <a:pt x="17662" y="12863"/>
                    <a:pt x="17662" y="13356"/>
                    <a:pt x="17911" y="13660"/>
                  </a:cubicBezTo>
                  <a:lnTo>
                    <a:pt x="19166" y="15192"/>
                  </a:lnTo>
                  <a:cubicBezTo>
                    <a:pt x="19415" y="15496"/>
                    <a:pt x="19819" y="15496"/>
                    <a:pt x="20068" y="15192"/>
                  </a:cubicBezTo>
                  <a:cubicBezTo>
                    <a:pt x="20316" y="14888"/>
                    <a:pt x="20316" y="14396"/>
                    <a:pt x="20068" y="14092"/>
                  </a:cubicBezTo>
                  <a:lnTo>
                    <a:pt x="18812" y="12560"/>
                  </a:lnTo>
                  <a:cubicBezTo>
                    <a:pt x="18688" y="12408"/>
                    <a:pt x="18525" y="12331"/>
                    <a:pt x="18362" y="12331"/>
                  </a:cubicBezTo>
                  <a:close/>
                  <a:moveTo>
                    <a:pt x="3877" y="15427"/>
                  </a:moveTo>
                  <a:lnTo>
                    <a:pt x="3877" y="19341"/>
                  </a:lnTo>
                  <a:cubicBezTo>
                    <a:pt x="3877" y="20589"/>
                    <a:pt x="4705" y="21600"/>
                    <a:pt x="5728" y="21600"/>
                  </a:cubicBezTo>
                  <a:cubicBezTo>
                    <a:pt x="6751" y="21600"/>
                    <a:pt x="7580" y="20589"/>
                    <a:pt x="7580" y="19341"/>
                  </a:cubicBezTo>
                  <a:lnTo>
                    <a:pt x="7580" y="15427"/>
                  </a:lnTo>
                  <a:lnTo>
                    <a:pt x="3877" y="15427"/>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1" name="Shape">
              <a:extLst>
                <a:ext uri="{FF2B5EF4-FFF2-40B4-BE49-F238E27FC236}">
                  <a16:creationId xmlns:a16="http://schemas.microsoft.com/office/drawing/2014/main" id="{1C964634-5C70-0C79-7DC8-60DAE6725176}"/>
                </a:ext>
              </a:extLst>
            </p:cNvPr>
            <p:cNvSpPr/>
            <p:nvPr/>
          </p:nvSpPr>
          <p:spPr>
            <a:xfrm>
              <a:off x="4069272" y="3590810"/>
              <a:ext cx="555158" cy="555583"/>
            </a:xfrm>
            <a:custGeom>
              <a:avLst/>
              <a:gdLst/>
              <a:ahLst/>
              <a:cxnLst>
                <a:cxn ang="0">
                  <a:pos x="wd2" y="hd2"/>
                </a:cxn>
                <a:cxn ang="5400000">
                  <a:pos x="wd2" y="hd2"/>
                </a:cxn>
                <a:cxn ang="10800000">
                  <a:pos x="wd2" y="hd2"/>
                </a:cxn>
                <a:cxn ang="16200000">
                  <a:pos x="wd2" y="hd2"/>
                </a:cxn>
              </a:cxnLst>
              <a:rect l="0" t="0" r="r" b="b"/>
              <a:pathLst>
                <a:path w="21557" h="21511" extrusionOk="0">
                  <a:moveTo>
                    <a:pt x="10570" y="8"/>
                  </a:moveTo>
                  <a:cubicBezTo>
                    <a:pt x="10076" y="53"/>
                    <a:pt x="9620" y="287"/>
                    <a:pt x="9294" y="660"/>
                  </a:cubicBezTo>
                  <a:lnTo>
                    <a:pt x="5398" y="4530"/>
                  </a:lnTo>
                  <a:lnTo>
                    <a:pt x="7680" y="6811"/>
                  </a:lnTo>
                  <a:cubicBezTo>
                    <a:pt x="7816" y="6946"/>
                    <a:pt x="7882" y="7136"/>
                    <a:pt x="7861" y="7326"/>
                  </a:cubicBezTo>
                  <a:cubicBezTo>
                    <a:pt x="7844" y="7479"/>
                    <a:pt x="7771" y="7621"/>
                    <a:pt x="7655" y="7723"/>
                  </a:cubicBezTo>
                  <a:lnTo>
                    <a:pt x="6722" y="8596"/>
                  </a:lnTo>
                  <a:cubicBezTo>
                    <a:pt x="6434" y="8853"/>
                    <a:pt x="6444" y="9305"/>
                    <a:pt x="6741" y="9551"/>
                  </a:cubicBezTo>
                  <a:cubicBezTo>
                    <a:pt x="6967" y="9736"/>
                    <a:pt x="7293" y="9734"/>
                    <a:pt x="7517" y="9545"/>
                  </a:cubicBezTo>
                  <a:lnTo>
                    <a:pt x="8515" y="8583"/>
                  </a:lnTo>
                  <a:cubicBezTo>
                    <a:pt x="8638" y="8453"/>
                    <a:pt x="8809" y="8380"/>
                    <a:pt x="8988" y="8379"/>
                  </a:cubicBezTo>
                  <a:cubicBezTo>
                    <a:pt x="9156" y="8379"/>
                    <a:pt x="9319" y="8443"/>
                    <a:pt x="9440" y="8559"/>
                  </a:cubicBezTo>
                  <a:lnTo>
                    <a:pt x="10769" y="9879"/>
                  </a:lnTo>
                  <a:lnTo>
                    <a:pt x="11684" y="9023"/>
                  </a:lnTo>
                  <a:lnTo>
                    <a:pt x="11031" y="8337"/>
                  </a:lnTo>
                  <a:cubicBezTo>
                    <a:pt x="10468" y="7583"/>
                    <a:pt x="10548" y="6530"/>
                    <a:pt x="11219" y="5870"/>
                  </a:cubicBezTo>
                  <a:cubicBezTo>
                    <a:pt x="11890" y="5210"/>
                    <a:pt x="12947" y="5144"/>
                    <a:pt x="13695" y="5715"/>
                  </a:cubicBezTo>
                  <a:lnTo>
                    <a:pt x="14366" y="6326"/>
                  </a:lnTo>
                  <a:lnTo>
                    <a:pt x="16166" y="4556"/>
                  </a:lnTo>
                  <a:lnTo>
                    <a:pt x="12037" y="490"/>
                  </a:lnTo>
                  <a:cubicBezTo>
                    <a:pt x="11636" y="134"/>
                    <a:pt x="11105" y="-41"/>
                    <a:pt x="10570" y="8"/>
                  </a:cubicBezTo>
                  <a:close/>
                  <a:moveTo>
                    <a:pt x="17038" y="5435"/>
                  </a:moveTo>
                  <a:lnTo>
                    <a:pt x="14848" y="7675"/>
                  </a:lnTo>
                  <a:cubicBezTo>
                    <a:pt x="14687" y="7799"/>
                    <a:pt x="14483" y="7853"/>
                    <a:pt x="14282" y="7825"/>
                  </a:cubicBezTo>
                  <a:cubicBezTo>
                    <a:pt x="14113" y="7800"/>
                    <a:pt x="13956" y="7719"/>
                    <a:pt x="13840" y="7593"/>
                  </a:cubicBezTo>
                  <a:lnTo>
                    <a:pt x="12928" y="6690"/>
                  </a:lnTo>
                  <a:cubicBezTo>
                    <a:pt x="12661" y="6476"/>
                    <a:pt x="12271" y="6516"/>
                    <a:pt x="12054" y="6779"/>
                  </a:cubicBezTo>
                  <a:cubicBezTo>
                    <a:pt x="11856" y="7019"/>
                    <a:pt x="11869" y="7368"/>
                    <a:pt x="12083" y="7593"/>
                  </a:cubicBezTo>
                  <a:lnTo>
                    <a:pt x="13060" y="8559"/>
                  </a:lnTo>
                  <a:cubicBezTo>
                    <a:pt x="13158" y="8688"/>
                    <a:pt x="13209" y="8846"/>
                    <a:pt x="13203" y="9008"/>
                  </a:cubicBezTo>
                  <a:cubicBezTo>
                    <a:pt x="13198" y="9170"/>
                    <a:pt x="13137" y="9326"/>
                    <a:pt x="13029" y="9448"/>
                  </a:cubicBezTo>
                  <a:lnTo>
                    <a:pt x="11704" y="10753"/>
                  </a:lnTo>
                  <a:lnTo>
                    <a:pt x="12590" y="11632"/>
                  </a:lnTo>
                  <a:lnTo>
                    <a:pt x="13193" y="11080"/>
                  </a:lnTo>
                  <a:cubicBezTo>
                    <a:pt x="14035" y="10432"/>
                    <a:pt x="15246" y="10590"/>
                    <a:pt x="15893" y="11432"/>
                  </a:cubicBezTo>
                  <a:cubicBezTo>
                    <a:pt x="16418" y="12115"/>
                    <a:pt x="16405" y="13067"/>
                    <a:pt x="15861" y="13735"/>
                  </a:cubicBezTo>
                  <a:lnTo>
                    <a:pt x="15264" y="14350"/>
                  </a:lnTo>
                  <a:lnTo>
                    <a:pt x="17051" y="16130"/>
                  </a:lnTo>
                  <a:lnTo>
                    <a:pt x="21106" y="12043"/>
                  </a:lnTo>
                  <a:cubicBezTo>
                    <a:pt x="21422" y="11660"/>
                    <a:pt x="21581" y="11173"/>
                    <a:pt x="21555" y="10679"/>
                  </a:cubicBezTo>
                  <a:cubicBezTo>
                    <a:pt x="21530" y="10213"/>
                    <a:pt x="21341" y="9770"/>
                    <a:pt x="21022" y="9430"/>
                  </a:cubicBezTo>
                  <a:lnTo>
                    <a:pt x="17038" y="5435"/>
                  </a:lnTo>
                  <a:close/>
                  <a:moveTo>
                    <a:pt x="4507" y="5457"/>
                  </a:moveTo>
                  <a:lnTo>
                    <a:pt x="604" y="9338"/>
                  </a:lnTo>
                  <a:cubicBezTo>
                    <a:pt x="200" y="9740"/>
                    <a:pt x="-19" y="10291"/>
                    <a:pt x="1" y="10860"/>
                  </a:cubicBezTo>
                  <a:cubicBezTo>
                    <a:pt x="22" y="11445"/>
                    <a:pt x="294" y="11993"/>
                    <a:pt x="746" y="12367"/>
                  </a:cubicBezTo>
                  <a:lnTo>
                    <a:pt x="4493" y="16128"/>
                  </a:lnTo>
                  <a:lnTo>
                    <a:pt x="6778" y="13888"/>
                  </a:lnTo>
                  <a:cubicBezTo>
                    <a:pt x="6903" y="13776"/>
                    <a:pt x="7067" y="13718"/>
                    <a:pt x="7235" y="13728"/>
                  </a:cubicBezTo>
                  <a:cubicBezTo>
                    <a:pt x="7400" y="13739"/>
                    <a:pt x="7555" y="13814"/>
                    <a:pt x="7664" y="13937"/>
                  </a:cubicBezTo>
                  <a:lnTo>
                    <a:pt x="8644" y="14862"/>
                  </a:lnTo>
                  <a:cubicBezTo>
                    <a:pt x="8877" y="15063"/>
                    <a:pt x="9225" y="15053"/>
                    <a:pt x="9446" y="14838"/>
                  </a:cubicBezTo>
                  <a:cubicBezTo>
                    <a:pt x="9690" y="14600"/>
                    <a:pt x="9687" y="14206"/>
                    <a:pt x="9438" y="13972"/>
                  </a:cubicBezTo>
                  <a:lnTo>
                    <a:pt x="8554" y="13029"/>
                  </a:lnTo>
                  <a:cubicBezTo>
                    <a:pt x="8434" y="12908"/>
                    <a:pt x="8365" y="12746"/>
                    <a:pt x="8363" y="12576"/>
                  </a:cubicBezTo>
                  <a:cubicBezTo>
                    <a:pt x="8361" y="12371"/>
                    <a:pt x="8453" y="12176"/>
                    <a:pt x="8614" y="12048"/>
                  </a:cubicBezTo>
                  <a:lnTo>
                    <a:pt x="9881" y="10785"/>
                  </a:lnTo>
                  <a:lnTo>
                    <a:pt x="8997" y="9925"/>
                  </a:lnTo>
                  <a:lnTo>
                    <a:pt x="8351" y="10534"/>
                  </a:lnTo>
                  <a:cubicBezTo>
                    <a:pt x="7605" y="11094"/>
                    <a:pt x="6562" y="11037"/>
                    <a:pt x="5882" y="10400"/>
                  </a:cubicBezTo>
                  <a:cubicBezTo>
                    <a:pt x="5150" y="9714"/>
                    <a:pt x="5063" y="8584"/>
                    <a:pt x="5683" y="7796"/>
                  </a:cubicBezTo>
                  <a:lnTo>
                    <a:pt x="6272" y="7209"/>
                  </a:lnTo>
                  <a:lnTo>
                    <a:pt x="4507" y="5457"/>
                  </a:lnTo>
                  <a:close/>
                  <a:moveTo>
                    <a:pt x="10793" y="11704"/>
                  </a:moveTo>
                  <a:lnTo>
                    <a:pt x="9936" y="12532"/>
                  </a:lnTo>
                  <a:lnTo>
                    <a:pt x="10498" y="13151"/>
                  </a:lnTo>
                  <a:cubicBezTo>
                    <a:pt x="11130" y="13920"/>
                    <a:pt x="11071" y="15043"/>
                    <a:pt x="10362" y="15742"/>
                  </a:cubicBezTo>
                  <a:cubicBezTo>
                    <a:pt x="9661" y="16434"/>
                    <a:pt x="8549" y="16487"/>
                    <a:pt x="7784" y="15865"/>
                  </a:cubicBezTo>
                  <a:lnTo>
                    <a:pt x="7229" y="15319"/>
                  </a:lnTo>
                  <a:lnTo>
                    <a:pt x="5405" y="17070"/>
                  </a:lnTo>
                  <a:lnTo>
                    <a:pt x="9310" y="20919"/>
                  </a:lnTo>
                  <a:cubicBezTo>
                    <a:pt x="9649" y="21246"/>
                    <a:pt x="10089" y="21451"/>
                    <a:pt x="10558" y="21499"/>
                  </a:cubicBezTo>
                  <a:cubicBezTo>
                    <a:pt x="11139" y="21559"/>
                    <a:pt x="11719" y="21378"/>
                    <a:pt x="12162" y="20998"/>
                  </a:cubicBezTo>
                  <a:lnTo>
                    <a:pt x="16138" y="17036"/>
                  </a:lnTo>
                  <a:lnTo>
                    <a:pt x="13876" y="14785"/>
                  </a:lnTo>
                  <a:cubicBezTo>
                    <a:pt x="13778" y="14673"/>
                    <a:pt x="13723" y="14529"/>
                    <a:pt x="13723" y="14381"/>
                  </a:cubicBezTo>
                  <a:cubicBezTo>
                    <a:pt x="13722" y="14206"/>
                    <a:pt x="13795" y="14039"/>
                    <a:pt x="13923" y="13920"/>
                  </a:cubicBezTo>
                  <a:lnTo>
                    <a:pt x="14878" y="12930"/>
                  </a:lnTo>
                  <a:cubicBezTo>
                    <a:pt x="15094" y="12692"/>
                    <a:pt x="15081" y="12325"/>
                    <a:pt x="14848" y="12102"/>
                  </a:cubicBezTo>
                  <a:cubicBezTo>
                    <a:pt x="14589" y="11856"/>
                    <a:pt x="14172" y="11885"/>
                    <a:pt x="13951" y="12165"/>
                  </a:cubicBezTo>
                  <a:lnTo>
                    <a:pt x="13210" y="12894"/>
                  </a:lnTo>
                  <a:cubicBezTo>
                    <a:pt x="13058" y="13083"/>
                    <a:pt x="12829" y="13193"/>
                    <a:pt x="12586" y="13195"/>
                  </a:cubicBezTo>
                  <a:cubicBezTo>
                    <a:pt x="12377" y="13197"/>
                    <a:pt x="12176" y="13118"/>
                    <a:pt x="12025" y="12974"/>
                  </a:cubicBezTo>
                  <a:lnTo>
                    <a:pt x="10793" y="11704"/>
                  </a:ln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2" name="Shape">
              <a:extLst>
                <a:ext uri="{FF2B5EF4-FFF2-40B4-BE49-F238E27FC236}">
                  <a16:creationId xmlns:a16="http://schemas.microsoft.com/office/drawing/2014/main" id="{BF47C4CC-A7D8-DD24-3375-2D43FF73A885}"/>
                </a:ext>
              </a:extLst>
            </p:cNvPr>
            <p:cNvSpPr/>
            <p:nvPr/>
          </p:nvSpPr>
          <p:spPr>
            <a:xfrm>
              <a:off x="6244112" y="3584886"/>
              <a:ext cx="515862" cy="500916"/>
            </a:xfrm>
            <a:custGeom>
              <a:avLst/>
              <a:gdLst/>
              <a:ahLst/>
              <a:cxnLst>
                <a:cxn ang="0">
                  <a:pos x="wd2" y="hd2"/>
                </a:cxn>
                <a:cxn ang="5400000">
                  <a:pos x="wd2" y="hd2"/>
                </a:cxn>
                <a:cxn ang="10800000">
                  <a:pos x="wd2" y="hd2"/>
                </a:cxn>
                <a:cxn ang="16200000">
                  <a:pos x="wd2" y="hd2"/>
                </a:cxn>
              </a:cxnLst>
              <a:rect l="0" t="0" r="r" b="b"/>
              <a:pathLst>
                <a:path w="21594" h="21583" extrusionOk="0">
                  <a:moveTo>
                    <a:pt x="10789" y="0"/>
                  </a:moveTo>
                  <a:cubicBezTo>
                    <a:pt x="10150" y="0"/>
                    <a:pt x="9511" y="244"/>
                    <a:pt x="9023" y="734"/>
                  </a:cubicBezTo>
                  <a:cubicBezTo>
                    <a:pt x="8047" y="1712"/>
                    <a:pt x="8047" y="3301"/>
                    <a:pt x="9023" y="4279"/>
                  </a:cubicBezTo>
                  <a:cubicBezTo>
                    <a:pt x="9999" y="5258"/>
                    <a:pt x="11581" y="5258"/>
                    <a:pt x="12557" y="4279"/>
                  </a:cubicBezTo>
                  <a:cubicBezTo>
                    <a:pt x="13533" y="3301"/>
                    <a:pt x="13533" y="1712"/>
                    <a:pt x="12557" y="734"/>
                  </a:cubicBezTo>
                  <a:cubicBezTo>
                    <a:pt x="12069" y="244"/>
                    <a:pt x="11429" y="0"/>
                    <a:pt x="10789" y="0"/>
                  </a:cubicBezTo>
                  <a:close/>
                  <a:moveTo>
                    <a:pt x="7803" y="4886"/>
                  </a:moveTo>
                  <a:cubicBezTo>
                    <a:pt x="7363" y="5315"/>
                    <a:pt x="7009" y="5823"/>
                    <a:pt x="6758" y="6385"/>
                  </a:cubicBezTo>
                  <a:cubicBezTo>
                    <a:pt x="6491" y="6983"/>
                    <a:pt x="6347" y="7630"/>
                    <a:pt x="6335" y="8285"/>
                  </a:cubicBezTo>
                  <a:lnTo>
                    <a:pt x="6335" y="9595"/>
                  </a:lnTo>
                  <a:cubicBezTo>
                    <a:pt x="6335" y="9719"/>
                    <a:pt x="6374" y="9838"/>
                    <a:pt x="6446" y="9938"/>
                  </a:cubicBezTo>
                  <a:cubicBezTo>
                    <a:pt x="6556" y="10090"/>
                    <a:pt x="6730" y="10182"/>
                    <a:pt x="6918" y="10185"/>
                  </a:cubicBezTo>
                  <a:lnTo>
                    <a:pt x="14591" y="10185"/>
                  </a:lnTo>
                  <a:cubicBezTo>
                    <a:pt x="14794" y="10204"/>
                    <a:pt x="14992" y="10119"/>
                    <a:pt x="15117" y="9958"/>
                  </a:cubicBezTo>
                  <a:cubicBezTo>
                    <a:pt x="15203" y="9847"/>
                    <a:pt x="15246" y="9709"/>
                    <a:pt x="15239" y="9569"/>
                  </a:cubicBezTo>
                  <a:lnTo>
                    <a:pt x="15239" y="8392"/>
                  </a:lnTo>
                  <a:cubicBezTo>
                    <a:pt x="15239" y="7679"/>
                    <a:pt x="15081" y="6975"/>
                    <a:pt x="14778" y="6330"/>
                  </a:cubicBezTo>
                  <a:cubicBezTo>
                    <a:pt x="14524" y="5788"/>
                    <a:pt x="14171" y="5299"/>
                    <a:pt x="13739" y="4886"/>
                  </a:cubicBezTo>
                  <a:cubicBezTo>
                    <a:pt x="13007" y="5851"/>
                    <a:pt x="11856" y="6400"/>
                    <a:pt x="10648" y="6361"/>
                  </a:cubicBezTo>
                  <a:cubicBezTo>
                    <a:pt x="9527" y="6325"/>
                    <a:pt x="8481" y="5783"/>
                    <a:pt x="7803" y="4886"/>
                  </a:cubicBezTo>
                  <a:close/>
                  <a:moveTo>
                    <a:pt x="4455" y="11396"/>
                  </a:moveTo>
                  <a:cubicBezTo>
                    <a:pt x="3815" y="11396"/>
                    <a:pt x="3176" y="11640"/>
                    <a:pt x="2688" y="12129"/>
                  </a:cubicBezTo>
                  <a:cubicBezTo>
                    <a:pt x="1713" y="13108"/>
                    <a:pt x="1713" y="14696"/>
                    <a:pt x="2688" y="15675"/>
                  </a:cubicBezTo>
                  <a:cubicBezTo>
                    <a:pt x="3664" y="16654"/>
                    <a:pt x="5246" y="16654"/>
                    <a:pt x="6222" y="15675"/>
                  </a:cubicBezTo>
                  <a:cubicBezTo>
                    <a:pt x="7198" y="14696"/>
                    <a:pt x="7198" y="13108"/>
                    <a:pt x="6222" y="12129"/>
                  </a:cubicBezTo>
                  <a:cubicBezTo>
                    <a:pt x="5734" y="11640"/>
                    <a:pt x="5094" y="11396"/>
                    <a:pt x="4455" y="11396"/>
                  </a:cubicBezTo>
                  <a:close/>
                  <a:moveTo>
                    <a:pt x="17143" y="11396"/>
                  </a:moveTo>
                  <a:cubicBezTo>
                    <a:pt x="16504" y="11396"/>
                    <a:pt x="15865" y="11640"/>
                    <a:pt x="15377" y="12129"/>
                  </a:cubicBezTo>
                  <a:cubicBezTo>
                    <a:pt x="14401" y="13108"/>
                    <a:pt x="14401" y="14696"/>
                    <a:pt x="15377" y="15675"/>
                  </a:cubicBezTo>
                  <a:cubicBezTo>
                    <a:pt x="16353" y="16654"/>
                    <a:pt x="17935" y="16654"/>
                    <a:pt x="18911" y="15675"/>
                  </a:cubicBezTo>
                  <a:cubicBezTo>
                    <a:pt x="19886" y="14696"/>
                    <a:pt x="19886" y="13108"/>
                    <a:pt x="18911" y="12129"/>
                  </a:cubicBezTo>
                  <a:cubicBezTo>
                    <a:pt x="18423" y="11640"/>
                    <a:pt x="17783" y="11396"/>
                    <a:pt x="17143" y="11396"/>
                  </a:cubicBezTo>
                  <a:close/>
                  <a:moveTo>
                    <a:pt x="11396" y="11455"/>
                  </a:moveTo>
                  <a:lnTo>
                    <a:pt x="10155" y="11466"/>
                  </a:lnTo>
                  <a:lnTo>
                    <a:pt x="10160" y="13083"/>
                  </a:lnTo>
                  <a:lnTo>
                    <a:pt x="8028" y="15209"/>
                  </a:lnTo>
                  <a:lnTo>
                    <a:pt x="8835" y="16104"/>
                  </a:lnTo>
                  <a:lnTo>
                    <a:pt x="10807" y="14204"/>
                  </a:lnTo>
                  <a:lnTo>
                    <a:pt x="12709" y="16105"/>
                  </a:lnTo>
                  <a:lnTo>
                    <a:pt x="13581" y="15208"/>
                  </a:lnTo>
                  <a:lnTo>
                    <a:pt x="11396" y="13048"/>
                  </a:lnTo>
                  <a:lnTo>
                    <a:pt x="11396" y="11455"/>
                  </a:lnTo>
                  <a:close/>
                  <a:moveTo>
                    <a:pt x="1469" y="16281"/>
                  </a:moveTo>
                  <a:cubicBezTo>
                    <a:pt x="1028" y="16710"/>
                    <a:pt x="674" y="17219"/>
                    <a:pt x="423" y="17781"/>
                  </a:cubicBezTo>
                  <a:cubicBezTo>
                    <a:pt x="156" y="18379"/>
                    <a:pt x="12" y="19025"/>
                    <a:pt x="0" y="19681"/>
                  </a:cubicBezTo>
                  <a:lnTo>
                    <a:pt x="0" y="20991"/>
                  </a:lnTo>
                  <a:cubicBezTo>
                    <a:pt x="0" y="21114"/>
                    <a:pt x="39" y="21234"/>
                    <a:pt x="111" y="21333"/>
                  </a:cubicBezTo>
                  <a:cubicBezTo>
                    <a:pt x="221" y="21486"/>
                    <a:pt x="396" y="21578"/>
                    <a:pt x="583" y="21581"/>
                  </a:cubicBezTo>
                  <a:lnTo>
                    <a:pt x="8256" y="21581"/>
                  </a:lnTo>
                  <a:cubicBezTo>
                    <a:pt x="8459" y="21600"/>
                    <a:pt x="8657" y="21514"/>
                    <a:pt x="8783" y="21354"/>
                  </a:cubicBezTo>
                  <a:cubicBezTo>
                    <a:pt x="8869" y="21243"/>
                    <a:pt x="8912" y="21105"/>
                    <a:pt x="8905" y="20965"/>
                  </a:cubicBezTo>
                  <a:lnTo>
                    <a:pt x="8905" y="19788"/>
                  </a:lnTo>
                  <a:cubicBezTo>
                    <a:pt x="8904" y="19075"/>
                    <a:pt x="8746" y="18371"/>
                    <a:pt x="8444" y="17726"/>
                  </a:cubicBezTo>
                  <a:cubicBezTo>
                    <a:pt x="8189" y="17184"/>
                    <a:pt x="7837" y="16694"/>
                    <a:pt x="7404" y="16281"/>
                  </a:cubicBezTo>
                  <a:cubicBezTo>
                    <a:pt x="6673" y="17246"/>
                    <a:pt x="5522" y="17796"/>
                    <a:pt x="4314" y="17757"/>
                  </a:cubicBezTo>
                  <a:cubicBezTo>
                    <a:pt x="3192" y="17721"/>
                    <a:pt x="2146" y="17179"/>
                    <a:pt x="1469" y="16281"/>
                  </a:cubicBezTo>
                  <a:close/>
                  <a:moveTo>
                    <a:pt x="14157" y="16281"/>
                  </a:moveTo>
                  <a:cubicBezTo>
                    <a:pt x="13717" y="16710"/>
                    <a:pt x="13363" y="17219"/>
                    <a:pt x="13112" y="17781"/>
                  </a:cubicBezTo>
                  <a:cubicBezTo>
                    <a:pt x="12845" y="18379"/>
                    <a:pt x="12700" y="19025"/>
                    <a:pt x="12688" y="19681"/>
                  </a:cubicBezTo>
                  <a:lnTo>
                    <a:pt x="12688" y="20991"/>
                  </a:lnTo>
                  <a:cubicBezTo>
                    <a:pt x="12689" y="21114"/>
                    <a:pt x="12728" y="21234"/>
                    <a:pt x="12800" y="21333"/>
                  </a:cubicBezTo>
                  <a:cubicBezTo>
                    <a:pt x="12910" y="21486"/>
                    <a:pt x="13084" y="21578"/>
                    <a:pt x="13272" y="21581"/>
                  </a:cubicBezTo>
                  <a:lnTo>
                    <a:pt x="20945" y="21581"/>
                  </a:lnTo>
                  <a:cubicBezTo>
                    <a:pt x="21147" y="21600"/>
                    <a:pt x="21346" y="21514"/>
                    <a:pt x="21471" y="21354"/>
                  </a:cubicBezTo>
                  <a:cubicBezTo>
                    <a:pt x="21557" y="21243"/>
                    <a:pt x="21600" y="21105"/>
                    <a:pt x="21593" y="20965"/>
                  </a:cubicBezTo>
                  <a:lnTo>
                    <a:pt x="21593" y="19788"/>
                  </a:lnTo>
                  <a:cubicBezTo>
                    <a:pt x="21592" y="19075"/>
                    <a:pt x="21435" y="18371"/>
                    <a:pt x="21132" y="17726"/>
                  </a:cubicBezTo>
                  <a:cubicBezTo>
                    <a:pt x="20878" y="17184"/>
                    <a:pt x="20525" y="16694"/>
                    <a:pt x="20092" y="16281"/>
                  </a:cubicBezTo>
                  <a:cubicBezTo>
                    <a:pt x="19361" y="17246"/>
                    <a:pt x="18210" y="17796"/>
                    <a:pt x="17002" y="17757"/>
                  </a:cubicBezTo>
                  <a:cubicBezTo>
                    <a:pt x="15880" y="17721"/>
                    <a:pt x="14834" y="17179"/>
                    <a:pt x="14157" y="16281"/>
                  </a:cubicBezTo>
                  <a:close/>
                </a:path>
              </a:pathLst>
            </a:custGeom>
            <a:solidFill>
              <a:srgbClr val="FEFFFE"/>
            </a:solidFill>
            <a:ln w="3175">
              <a:miter lim="400000"/>
            </a:ln>
          </p:spPr>
          <p:txBody>
            <a:bodyPr lIns="0" tIns="0" rIns="0" bIns="0" anchor="ctr"/>
            <a:lstStyle/>
            <a:p>
              <a:pPr marL="0" marR="0" lvl="0" indent="0" algn="ctr" defTabSz="587022" eaLnBrk="1" fontAlgn="auto" latinLnBrk="0" hangingPunct="0">
                <a:lnSpc>
                  <a:spcPct val="100000"/>
                </a:lnSpc>
                <a:spcBef>
                  <a:spcPts val="0"/>
                </a:spcBef>
                <a:spcAft>
                  <a:spcPts val="0"/>
                </a:spcAft>
                <a:buClrTx/>
                <a:buSzTx/>
                <a:buFontTx/>
                <a:buNone/>
                <a:tabLst/>
                <a:defRPr sz="2200" b="0">
                  <a:solidFill>
                    <a:srgbClr val="FFFFFF"/>
                  </a:solidFill>
                  <a:latin typeface="Helvetica Neue Medium"/>
                  <a:ea typeface="Helvetica Neue Medium"/>
                  <a:cs typeface="Helvetica Neue Medium"/>
                  <a:sym typeface="Helvetica Neue Medium"/>
                </a:defRPr>
              </a:pPr>
              <a:endParaRPr kumimoji="0" sz="2000" b="0" i="0" u="none" strike="noStrike" kern="0" cap="none" spc="0" normalizeH="0" baseline="0" noProof="0">
                <a:ln>
                  <a:noFill/>
                </a:ln>
                <a:solidFill>
                  <a:srgbClr val="FFFFFF"/>
                </a:solidFill>
                <a:effectLst/>
                <a:uLnTx/>
                <a:uFillTx/>
                <a:latin typeface="Corbel" panose="020B0503020204020204" pitchFamily="34" charset="0"/>
                <a:ea typeface="Helvetica Neue Medium"/>
                <a:cs typeface="Helvetica Neue Medium"/>
                <a:sym typeface="Helvetica Neue Medium"/>
              </a:endParaRPr>
            </a:p>
          </p:txBody>
        </p:sp>
        <p:sp>
          <p:nvSpPr>
            <p:cNvPr id="7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06CBC8BF-ED3D-1E88-CA62-B19F30148EE5}"/>
                </a:ext>
              </a:extLst>
            </p:cNvPr>
            <p:cNvSpPr txBox="1"/>
            <p:nvPr/>
          </p:nvSpPr>
          <p:spPr>
            <a:xfrm>
              <a:off x="1741120" y="2317980"/>
              <a:ext cx="9535392" cy="31566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3" tIns="27093" rIns="27093" bIns="27093">
              <a:spAutoFit/>
            </a:bodyPr>
            <a:lstStyle>
              <a:lvl1pPr defTabSz="325120">
                <a:defRPr sz="1600" b="0">
                  <a:solidFill>
                    <a:srgbClr val="64798C"/>
                  </a:solidFill>
                  <a:latin typeface="DM Sans Regular"/>
                  <a:ea typeface="DM Sans Regular"/>
                  <a:cs typeface="DM Sans Regular"/>
                  <a:sym typeface="DM Sans Regular"/>
                </a:defRPr>
              </a:lvl1pPr>
            </a:lstStyle>
            <a:p>
              <a:pPr marL="0" marR="0" lvl="0" indent="0" algn="ctr" defTabSz="32512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516B7E"/>
                </a:solidFill>
                <a:effectLst/>
                <a:uLnTx/>
                <a:uFillTx/>
                <a:latin typeface="Corbel" panose="020B0503020204020204" pitchFamily="34" charset="0"/>
                <a:sym typeface="DM Sans Regular"/>
              </a:endParaRPr>
            </a:p>
          </p:txBody>
        </p:sp>
      </p:grpSp>
      <p:sp>
        <p:nvSpPr>
          <p:cNvPr id="27" name="Lorem ipsum dolor sit amet, consectetur adipiscing elit, sed do eiusmod tempor incididunt ut labore">
            <a:extLst>
              <a:ext uri="{FF2B5EF4-FFF2-40B4-BE49-F238E27FC236}">
                <a16:creationId xmlns:a16="http://schemas.microsoft.com/office/drawing/2014/main" id="{353FD708-A03D-AB02-3A85-E7015C9C48B4}"/>
              </a:ext>
            </a:extLst>
          </p:cNvPr>
          <p:cNvSpPr txBox="1"/>
          <p:nvPr/>
        </p:nvSpPr>
        <p:spPr>
          <a:xfrm>
            <a:off x="5099201" y="2978304"/>
            <a:ext cx="2145416" cy="145509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7093" tIns="27093" rIns="27093" bIns="27093">
            <a:spAutoFit/>
          </a:bodyPr>
          <a:lstStyle>
            <a:lvl1pPr defTabSz="325120">
              <a:defRPr sz="1600" b="0">
                <a:solidFill>
                  <a:srgbClr val="FFFFFF"/>
                </a:solidFill>
                <a:latin typeface="DM Sans Regular"/>
                <a:ea typeface="DM Sans Regular"/>
                <a:cs typeface="DM Sans Regular"/>
                <a:sym typeface="DM Sans Regular"/>
              </a:defRPr>
            </a:lvl1pPr>
          </a:lstStyle>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chemeClr val="tx1"/>
                </a:solidFill>
                <a:effectLst/>
                <a:uLnTx/>
                <a:uFillTx/>
                <a:latin typeface="Corbel" panose="020B0503020204020204" pitchFamily="34" charset="0"/>
                <a:sym typeface="DM Sans Regular"/>
              </a:rPr>
              <a:t>Supplier are the vendors</a:t>
            </a: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 of the consumables used for the CSR.</a:t>
            </a:r>
          </a:p>
          <a:p>
            <a:pPr marL="0" marR="0" lvl="0" indent="0" defTabSz="325120" eaLnBrk="1" fontAlgn="auto" latinLnBrk="0" hangingPunct="0">
              <a:lnSpc>
                <a:spcPct val="100000"/>
              </a:lnSpc>
              <a:spcBef>
                <a:spcPts val="0"/>
              </a:spcBef>
              <a:spcAft>
                <a:spcPts val="0"/>
              </a:spcAft>
              <a:buClrTx/>
              <a:buSzTx/>
              <a:buFontTx/>
              <a:buNone/>
              <a:tabLst/>
              <a:defRPr/>
            </a:pPr>
            <a:endParaRPr lang="en-US" sz="1300" b="1" kern="0" baseline="0" dirty="0">
              <a:solidFill>
                <a:schemeClr val="tx1"/>
              </a:solidFill>
              <a:latin typeface="Corbel" panose="020B0503020204020204" pitchFamily="34" charset="0"/>
            </a:endParaRPr>
          </a:p>
          <a:p>
            <a:pPr marL="0" marR="0" lvl="0" indent="0" defTabSz="325120" eaLnBrk="1" fontAlgn="auto" latinLnBrk="0" hangingPunct="0">
              <a:lnSpc>
                <a:spcPct val="100000"/>
              </a:lnSpc>
              <a:spcBef>
                <a:spcPts val="0"/>
              </a:spcBef>
              <a:spcAft>
                <a:spcPts val="0"/>
              </a:spcAft>
              <a:buClrTx/>
              <a:buSzTx/>
              <a:buFontTx/>
              <a:buNone/>
              <a:tabLst/>
              <a:defRPr/>
            </a:pPr>
            <a:r>
              <a:rPr kumimoji="0" lang="en-US" sz="1300" b="1" i="0" u="none" strike="noStrike" kern="0" cap="none" spc="0" normalizeH="0" noProof="0" dirty="0">
                <a:ln>
                  <a:noFill/>
                </a:ln>
                <a:solidFill>
                  <a:schemeClr val="tx1"/>
                </a:solidFill>
                <a:effectLst/>
                <a:uLnTx/>
                <a:uFillTx/>
                <a:latin typeface="Corbel" panose="020B0503020204020204" pitchFamily="34" charset="0"/>
                <a:sym typeface="DM Sans Regular"/>
              </a:rPr>
              <a:t>Supplier power is low as alternative vendors and products abound</a:t>
            </a:r>
            <a:endParaRPr kumimoji="0" sz="1300" b="1" i="0" u="none" strike="noStrike" kern="0" cap="none" spc="0" normalizeH="0" baseline="0" noProof="0" dirty="0">
              <a:ln>
                <a:noFill/>
              </a:ln>
              <a:solidFill>
                <a:schemeClr val="tx1"/>
              </a:solidFill>
              <a:effectLst/>
              <a:uLnTx/>
              <a:uFillTx/>
              <a:latin typeface="Corbel" panose="020B0503020204020204" pitchFamily="34" charset="0"/>
              <a:sym typeface="DM Sans Regular"/>
            </a:endParaRPr>
          </a:p>
        </p:txBody>
      </p:sp>
    </p:spTree>
    <p:extLst>
      <p:ext uri="{BB962C8B-B14F-4D97-AF65-F5344CB8AC3E}">
        <p14:creationId xmlns:p14="http://schemas.microsoft.com/office/powerpoint/2010/main" val="1342860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1142-9268-3178-2F1C-B3014106C490}"/>
              </a:ext>
            </a:extLst>
          </p:cNvPr>
          <p:cNvSpPr>
            <a:spLocks noGrp="1"/>
          </p:cNvSpPr>
          <p:nvPr>
            <p:ph type="title"/>
          </p:nvPr>
        </p:nvSpPr>
        <p:spPr/>
        <p:txBody>
          <a:bodyPr/>
          <a:lstStyle/>
          <a:p>
            <a:r>
              <a:rPr lang="en-US" dirty="0"/>
              <a:t>Business Objectives MEDFIT- LIFECHECK WELLNESS CENTERS </a:t>
            </a:r>
            <a:endParaRPr lang="aa-ET" dirty="0"/>
          </a:p>
        </p:txBody>
      </p:sp>
      <p:sp>
        <p:nvSpPr>
          <p:cNvPr id="4" name="Slide Number Placeholder 3">
            <a:extLst>
              <a:ext uri="{FF2B5EF4-FFF2-40B4-BE49-F238E27FC236}">
                <a16:creationId xmlns:a16="http://schemas.microsoft.com/office/drawing/2014/main" id="{5502FC75-B2FD-E6A3-3A36-593865FC713D}"/>
              </a:ext>
            </a:extLst>
          </p:cNvPr>
          <p:cNvSpPr>
            <a:spLocks noGrp="1"/>
          </p:cNvSpPr>
          <p:nvPr>
            <p:ph type="sldNum" sz="quarter" idx="12"/>
          </p:nvPr>
        </p:nvSpPr>
        <p:spPr/>
        <p:txBody>
          <a:bodyPr/>
          <a:lstStyle/>
          <a:p>
            <a:fld id="{88DB5A6F-883B-4080-A811-FB5B8D05AFA3}" type="slidenum">
              <a:rPr lang="en-GB" smtClean="0"/>
              <a:pPr/>
              <a:t>27</a:t>
            </a:fld>
            <a:endParaRPr lang="en-GB"/>
          </a:p>
        </p:txBody>
      </p:sp>
      <p:grpSp>
        <p:nvGrpSpPr>
          <p:cNvPr id="160" name="Group 159">
            <a:extLst>
              <a:ext uri="{FF2B5EF4-FFF2-40B4-BE49-F238E27FC236}">
                <a16:creationId xmlns:a16="http://schemas.microsoft.com/office/drawing/2014/main" id="{527BCBF6-F357-315B-70F3-6BED94474258}"/>
              </a:ext>
            </a:extLst>
          </p:cNvPr>
          <p:cNvGrpSpPr/>
          <p:nvPr/>
        </p:nvGrpSpPr>
        <p:grpSpPr>
          <a:xfrm>
            <a:off x="651714" y="1251858"/>
            <a:ext cx="10892586" cy="4944629"/>
            <a:chOff x="651714" y="1219200"/>
            <a:chExt cx="10892586" cy="4944629"/>
          </a:xfrm>
        </p:grpSpPr>
        <p:grpSp>
          <p:nvGrpSpPr>
            <p:cNvPr id="161" name="Group 160">
              <a:extLst>
                <a:ext uri="{FF2B5EF4-FFF2-40B4-BE49-F238E27FC236}">
                  <a16:creationId xmlns:a16="http://schemas.microsoft.com/office/drawing/2014/main" id="{6BA88B28-AAF7-512A-67F1-6A076549A27E}"/>
                </a:ext>
              </a:extLst>
            </p:cNvPr>
            <p:cNvGrpSpPr/>
            <p:nvPr/>
          </p:nvGrpSpPr>
          <p:grpSpPr>
            <a:xfrm>
              <a:off x="651714" y="1977562"/>
              <a:ext cx="2976036" cy="3427906"/>
              <a:chOff x="651714" y="1991271"/>
              <a:chExt cx="2976036" cy="3427906"/>
            </a:xfrm>
          </p:grpSpPr>
          <p:sp>
            <p:nvSpPr>
              <p:cNvPr id="227" name="Freeform: Shape 226">
                <a:extLst>
                  <a:ext uri="{FF2B5EF4-FFF2-40B4-BE49-F238E27FC236}">
                    <a16:creationId xmlns:a16="http://schemas.microsoft.com/office/drawing/2014/main" id="{60673F6A-46ED-CE73-27DA-1A47A9AE911C}"/>
                  </a:ext>
                </a:extLst>
              </p:cNvPr>
              <p:cNvSpPr/>
              <p:nvPr/>
            </p:nvSpPr>
            <p:spPr>
              <a:xfrm>
                <a:off x="2116537" y="2046508"/>
                <a:ext cx="1511213" cy="3372669"/>
              </a:xfrm>
              <a:custGeom>
                <a:avLst/>
                <a:gdLst>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5" fmla="*/ 91440 w 1511213"/>
                  <a:gd name="connsiteY5" fmla="*/ 91440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213" h="3372669">
                    <a:moveTo>
                      <a:pt x="0" y="0"/>
                    </a:moveTo>
                    <a:lnTo>
                      <a:pt x="156246" y="23845"/>
                    </a:lnTo>
                    <a:cubicBezTo>
                      <a:pt x="929524" y="182081"/>
                      <a:pt x="1511213" y="866277"/>
                      <a:pt x="1511213" y="1686334"/>
                    </a:cubicBezTo>
                    <a:cubicBezTo>
                      <a:pt x="1511213" y="2506391"/>
                      <a:pt x="929524" y="3190587"/>
                      <a:pt x="156246" y="3348823"/>
                    </a:cubicBezTo>
                    <a:lnTo>
                      <a:pt x="0" y="3372669"/>
                    </a:lnTo>
                  </a:path>
                </a:pathLst>
              </a:custGeom>
              <a:noFill/>
              <a:ln w="22225">
                <a:solidFill>
                  <a:srgbClr val="114A5E"/>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8" name="Oval 227">
                <a:extLst>
                  <a:ext uri="{FF2B5EF4-FFF2-40B4-BE49-F238E27FC236}">
                    <a16:creationId xmlns:a16="http://schemas.microsoft.com/office/drawing/2014/main" id="{A27775EB-AA3D-2F59-8D19-74B5F1F402CC}"/>
                  </a:ext>
                </a:extLst>
              </p:cNvPr>
              <p:cNvSpPr/>
              <p:nvPr/>
            </p:nvSpPr>
            <p:spPr>
              <a:xfrm>
                <a:off x="651714" y="2404071"/>
                <a:ext cx="2657544" cy="2657544"/>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68F30FB4-B9EA-4777-0F9A-899EFE012369}"/>
                  </a:ext>
                </a:extLst>
              </p:cNvPr>
              <p:cNvSpPr/>
              <p:nvPr/>
            </p:nvSpPr>
            <p:spPr>
              <a:xfrm>
                <a:off x="651714" y="2404071"/>
                <a:ext cx="2558143" cy="25581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AB60C3C9-16F0-2184-2A75-2EBBE68F60C3}"/>
                  </a:ext>
                </a:extLst>
              </p:cNvPr>
              <p:cNvSpPr/>
              <p:nvPr/>
            </p:nvSpPr>
            <p:spPr>
              <a:xfrm>
                <a:off x="819442" y="2571799"/>
                <a:ext cx="2222687" cy="22226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C8C2711E-7BCD-DAF0-8094-36A114BED99D}"/>
                  </a:ext>
                </a:extLst>
              </p:cNvPr>
              <p:cNvSpPr/>
              <p:nvPr/>
            </p:nvSpPr>
            <p:spPr>
              <a:xfrm>
                <a:off x="1007304" y="2759662"/>
                <a:ext cx="1846963" cy="184696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1D062FCF-0B09-19AC-41FA-A65722C4C244}"/>
                  </a:ext>
                </a:extLst>
              </p:cNvPr>
              <p:cNvSpPr/>
              <p:nvPr/>
            </p:nvSpPr>
            <p:spPr>
              <a:xfrm>
                <a:off x="1225922" y="2978280"/>
                <a:ext cx="1409726" cy="14097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D75887BD-AEF5-9D22-849F-1F187F1EC369}"/>
                  </a:ext>
                </a:extLst>
              </p:cNvPr>
              <p:cNvSpPr/>
              <p:nvPr/>
            </p:nvSpPr>
            <p:spPr>
              <a:xfrm>
                <a:off x="1418593" y="3170951"/>
                <a:ext cx="1024384" cy="102438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745CF0DD-0FCA-C7A3-29F7-15FC625CD40B}"/>
                  </a:ext>
                </a:extLst>
              </p:cNvPr>
              <p:cNvSpPr/>
              <p:nvPr/>
            </p:nvSpPr>
            <p:spPr>
              <a:xfrm>
                <a:off x="1599676" y="3352034"/>
                <a:ext cx="662218" cy="66221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Rounded Corners 234">
                <a:extLst>
                  <a:ext uri="{FF2B5EF4-FFF2-40B4-BE49-F238E27FC236}">
                    <a16:creationId xmlns:a16="http://schemas.microsoft.com/office/drawing/2014/main" id="{09CD6C97-06BA-F8AF-3D8C-0559C53DBA4C}"/>
                  </a:ext>
                </a:extLst>
              </p:cNvPr>
              <p:cNvSpPr/>
              <p:nvPr/>
            </p:nvSpPr>
            <p:spPr>
              <a:xfrm rot="3291335">
                <a:off x="420938" y="2889467"/>
                <a:ext cx="1920240" cy="123848"/>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Freeform: Shape 235">
                <a:extLst>
                  <a:ext uri="{FF2B5EF4-FFF2-40B4-BE49-F238E27FC236}">
                    <a16:creationId xmlns:a16="http://schemas.microsoft.com/office/drawing/2014/main" id="{3B736539-7CB9-5DC3-6257-B1671CBEA91C}"/>
                  </a:ext>
                </a:extLst>
              </p:cNvPr>
              <p:cNvSpPr/>
              <p:nvPr/>
            </p:nvSpPr>
            <p:spPr>
              <a:xfrm rot="8792440" flipV="1">
                <a:off x="804957" y="2176857"/>
                <a:ext cx="462006" cy="596691"/>
              </a:xfrm>
              <a:custGeom>
                <a:avLst/>
                <a:gdLst>
                  <a:gd name="connsiteX0" fmla="*/ 944 w 462006"/>
                  <a:gd name="connsiteY0" fmla="*/ 14588 h 596691"/>
                  <a:gd name="connsiteX1" fmla="*/ 944 w 462006"/>
                  <a:gd name="connsiteY1" fmla="*/ 319702 h 596691"/>
                  <a:gd name="connsiteX2" fmla="*/ 0 w 462006"/>
                  <a:gd name="connsiteY2" fmla="*/ 324607 h 596691"/>
                  <a:gd name="connsiteX3" fmla="*/ 956 w 462006"/>
                  <a:gd name="connsiteY3" fmla="*/ 430922 h 596691"/>
                  <a:gd name="connsiteX4" fmla="*/ 169726 w 462006"/>
                  <a:gd name="connsiteY4" fmla="*/ 596685 h 596691"/>
                  <a:gd name="connsiteX5" fmla="*/ 296238 w 462006"/>
                  <a:gd name="connsiteY5" fmla="*/ 595547 h 596691"/>
                  <a:gd name="connsiteX6" fmla="*/ 462000 w 462006"/>
                  <a:gd name="connsiteY6" fmla="*/ 426777 h 596691"/>
                  <a:gd name="connsiteX7" fmla="*/ 461673 w 462006"/>
                  <a:gd name="connsiteY7" fmla="*/ 390441 h 596691"/>
                  <a:gd name="connsiteX8" fmla="*/ 461907 w 462006"/>
                  <a:gd name="connsiteY8" fmla="*/ 390435 h 596691"/>
                  <a:gd name="connsiteX9" fmla="*/ 461555 w 462006"/>
                  <a:gd name="connsiteY9" fmla="*/ 377288 h 596691"/>
                  <a:gd name="connsiteX10" fmla="*/ 461044 w 462006"/>
                  <a:gd name="connsiteY10" fmla="*/ 320461 h 596691"/>
                  <a:gd name="connsiteX11" fmla="*/ 459886 w 462006"/>
                  <a:gd name="connsiteY11" fmla="*/ 314978 h 596691"/>
                  <a:gd name="connsiteX12" fmla="*/ 451447 w 462006"/>
                  <a:gd name="connsiteY12" fmla="*/ 0 h 596691"/>
                  <a:gd name="connsiteX13" fmla="*/ 301225 w 462006"/>
                  <a:gd name="connsiteY13" fmla="*/ 156422 h 596691"/>
                  <a:gd name="connsiteX14" fmla="*/ 292274 w 462006"/>
                  <a:gd name="connsiteY14" fmla="*/ 154699 h 596691"/>
                  <a:gd name="connsiteX15" fmla="*/ 165762 w 462006"/>
                  <a:gd name="connsiteY15" fmla="*/ 155836 h 596691"/>
                  <a:gd name="connsiteX16" fmla="*/ 147887 w 462006"/>
                  <a:gd name="connsiteY16" fmla="*/ 159613 h 59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006" h="596691">
                    <a:moveTo>
                      <a:pt x="944" y="14588"/>
                    </a:moveTo>
                    <a:lnTo>
                      <a:pt x="944" y="319702"/>
                    </a:lnTo>
                    <a:lnTo>
                      <a:pt x="0" y="324607"/>
                    </a:lnTo>
                    <a:lnTo>
                      <a:pt x="956" y="430922"/>
                    </a:lnTo>
                    <a:cubicBezTo>
                      <a:pt x="1786" y="523301"/>
                      <a:pt x="77348" y="597515"/>
                      <a:pt x="169726" y="596685"/>
                    </a:cubicBezTo>
                    <a:lnTo>
                      <a:pt x="296238" y="595547"/>
                    </a:lnTo>
                    <a:cubicBezTo>
                      <a:pt x="388616" y="594716"/>
                      <a:pt x="462831" y="519155"/>
                      <a:pt x="462000" y="426777"/>
                    </a:cubicBezTo>
                    <a:lnTo>
                      <a:pt x="461673" y="390441"/>
                    </a:lnTo>
                    <a:lnTo>
                      <a:pt x="461907" y="390435"/>
                    </a:lnTo>
                    <a:lnTo>
                      <a:pt x="461555" y="377288"/>
                    </a:lnTo>
                    <a:lnTo>
                      <a:pt x="461044" y="320461"/>
                    </a:lnTo>
                    <a:lnTo>
                      <a:pt x="459886" y="314978"/>
                    </a:lnTo>
                    <a:lnTo>
                      <a:pt x="451447" y="0"/>
                    </a:lnTo>
                    <a:lnTo>
                      <a:pt x="301225" y="156422"/>
                    </a:lnTo>
                    <a:lnTo>
                      <a:pt x="292274" y="154699"/>
                    </a:lnTo>
                    <a:lnTo>
                      <a:pt x="165762" y="155836"/>
                    </a:lnTo>
                    <a:lnTo>
                      <a:pt x="147887" y="15961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2" name="Text Placeholder 2">
              <a:extLst>
                <a:ext uri="{FF2B5EF4-FFF2-40B4-BE49-F238E27FC236}">
                  <a16:creationId xmlns:a16="http://schemas.microsoft.com/office/drawing/2014/main" id="{221E1CD8-C84B-800C-91BF-CEA2DEEF7245}"/>
                </a:ext>
              </a:extLst>
            </p:cNvPr>
            <p:cNvSpPr txBox="1">
              <a:spLocks/>
            </p:cNvSpPr>
            <p:nvPr/>
          </p:nvSpPr>
          <p:spPr>
            <a:xfrm>
              <a:off x="7948140" y="1319366"/>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attain No 1 position in Occupational Health &amp; Wellness Company in Nigeria by end of 2025. </a:t>
              </a:r>
            </a:p>
          </p:txBody>
        </p:sp>
        <p:sp>
          <p:nvSpPr>
            <p:cNvPr id="163" name="Rectangle 162">
              <a:extLst>
                <a:ext uri="{FF2B5EF4-FFF2-40B4-BE49-F238E27FC236}">
                  <a16:creationId xmlns:a16="http://schemas.microsoft.com/office/drawing/2014/main" id="{8C62BFE0-4816-0114-52AD-6C7BDAA4B56E}"/>
                </a:ext>
              </a:extLst>
            </p:cNvPr>
            <p:cNvSpPr/>
            <p:nvPr/>
          </p:nvSpPr>
          <p:spPr>
            <a:xfrm>
              <a:off x="4404836" y="1265735"/>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Text Placeholder 2">
              <a:extLst>
                <a:ext uri="{FF2B5EF4-FFF2-40B4-BE49-F238E27FC236}">
                  <a16:creationId xmlns:a16="http://schemas.microsoft.com/office/drawing/2014/main" id="{EEEFB932-6B9A-4018-BE8B-460F7C6BE9F3}"/>
                </a:ext>
              </a:extLst>
            </p:cNvPr>
            <p:cNvSpPr txBox="1">
              <a:spLocks/>
            </p:cNvSpPr>
            <p:nvPr/>
          </p:nvSpPr>
          <p:spPr>
            <a:xfrm>
              <a:off x="5395532" y="1484595"/>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Market Share</a:t>
              </a:r>
            </a:p>
          </p:txBody>
        </p:sp>
        <p:sp>
          <p:nvSpPr>
            <p:cNvPr id="165" name="Rectangle 164">
              <a:extLst>
                <a:ext uri="{FF2B5EF4-FFF2-40B4-BE49-F238E27FC236}">
                  <a16:creationId xmlns:a16="http://schemas.microsoft.com/office/drawing/2014/main" id="{3606A7A3-8B9C-98F4-C7F8-BDE76FA71CCB}"/>
                </a:ext>
              </a:extLst>
            </p:cNvPr>
            <p:cNvSpPr/>
            <p:nvPr/>
          </p:nvSpPr>
          <p:spPr>
            <a:xfrm>
              <a:off x="4565812" y="1219200"/>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Isosceles Triangle 165">
              <a:extLst>
                <a:ext uri="{FF2B5EF4-FFF2-40B4-BE49-F238E27FC236}">
                  <a16:creationId xmlns:a16="http://schemas.microsoft.com/office/drawing/2014/main" id="{5A423245-D441-2C83-B6D7-F1A7B0DC4F0C}"/>
                </a:ext>
              </a:extLst>
            </p:cNvPr>
            <p:cNvSpPr/>
            <p:nvPr/>
          </p:nvSpPr>
          <p:spPr>
            <a:xfrm>
              <a:off x="5204733" y="1220016"/>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30D52001-1CC0-F5FB-0EFB-782E81042998}"/>
                </a:ext>
              </a:extLst>
            </p:cNvPr>
            <p:cNvSpPr/>
            <p:nvPr/>
          </p:nvSpPr>
          <p:spPr>
            <a:xfrm>
              <a:off x="4404836" y="2299878"/>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Text Placeholder 2">
              <a:extLst>
                <a:ext uri="{FF2B5EF4-FFF2-40B4-BE49-F238E27FC236}">
                  <a16:creationId xmlns:a16="http://schemas.microsoft.com/office/drawing/2014/main" id="{335888EB-3C15-7ADB-CC0C-9CD9429C10A5}"/>
                </a:ext>
              </a:extLst>
            </p:cNvPr>
            <p:cNvSpPr txBox="1">
              <a:spLocks/>
            </p:cNvSpPr>
            <p:nvPr/>
          </p:nvSpPr>
          <p:spPr>
            <a:xfrm>
              <a:off x="5395532" y="2518738"/>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Increased Sales</a:t>
              </a:r>
            </a:p>
          </p:txBody>
        </p:sp>
        <p:sp>
          <p:nvSpPr>
            <p:cNvPr id="169" name="Rectangle 168">
              <a:extLst>
                <a:ext uri="{FF2B5EF4-FFF2-40B4-BE49-F238E27FC236}">
                  <a16:creationId xmlns:a16="http://schemas.microsoft.com/office/drawing/2014/main" id="{571D0249-85ED-C70F-2798-27A6E4542DFE}"/>
                </a:ext>
              </a:extLst>
            </p:cNvPr>
            <p:cNvSpPr/>
            <p:nvPr/>
          </p:nvSpPr>
          <p:spPr>
            <a:xfrm>
              <a:off x="4565812" y="2253343"/>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Isosceles Triangle 169">
              <a:extLst>
                <a:ext uri="{FF2B5EF4-FFF2-40B4-BE49-F238E27FC236}">
                  <a16:creationId xmlns:a16="http://schemas.microsoft.com/office/drawing/2014/main" id="{61C704E4-9814-47F9-E2FA-3AB430147BE1}"/>
                </a:ext>
              </a:extLst>
            </p:cNvPr>
            <p:cNvSpPr/>
            <p:nvPr/>
          </p:nvSpPr>
          <p:spPr>
            <a:xfrm>
              <a:off x="5204733" y="2254159"/>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24AC4095-6213-AF3D-7C4F-EC968C4777F1}"/>
                </a:ext>
              </a:extLst>
            </p:cNvPr>
            <p:cNvSpPr/>
            <p:nvPr/>
          </p:nvSpPr>
          <p:spPr>
            <a:xfrm>
              <a:off x="4404836" y="3334021"/>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Text Placeholder 2">
              <a:extLst>
                <a:ext uri="{FF2B5EF4-FFF2-40B4-BE49-F238E27FC236}">
                  <a16:creationId xmlns:a16="http://schemas.microsoft.com/office/drawing/2014/main" id="{5F22E7F6-D805-5750-91DA-458A09686455}"/>
                </a:ext>
              </a:extLst>
            </p:cNvPr>
            <p:cNvSpPr txBox="1">
              <a:spLocks/>
            </p:cNvSpPr>
            <p:nvPr/>
          </p:nvSpPr>
          <p:spPr>
            <a:xfrm>
              <a:off x="5395532" y="3552881"/>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Revenue Growth</a:t>
              </a:r>
            </a:p>
          </p:txBody>
        </p:sp>
        <p:sp>
          <p:nvSpPr>
            <p:cNvPr id="173" name="Rectangle 172">
              <a:extLst>
                <a:ext uri="{FF2B5EF4-FFF2-40B4-BE49-F238E27FC236}">
                  <a16:creationId xmlns:a16="http://schemas.microsoft.com/office/drawing/2014/main" id="{BF2CB0E9-8B3D-FD9A-7A54-5A7DED6D2922}"/>
                </a:ext>
              </a:extLst>
            </p:cNvPr>
            <p:cNvSpPr/>
            <p:nvPr/>
          </p:nvSpPr>
          <p:spPr>
            <a:xfrm>
              <a:off x="4565812" y="3287486"/>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Isosceles Triangle 173">
              <a:extLst>
                <a:ext uri="{FF2B5EF4-FFF2-40B4-BE49-F238E27FC236}">
                  <a16:creationId xmlns:a16="http://schemas.microsoft.com/office/drawing/2014/main" id="{707DFDEC-B433-543E-E7E7-44B453714D27}"/>
                </a:ext>
              </a:extLst>
            </p:cNvPr>
            <p:cNvSpPr/>
            <p:nvPr/>
          </p:nvSpPr>
          <p:spPr>
            <a:xfrm>
              <a:off x="5204733" y="3288302"/>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73F7D650-BA25-421D-989F-A484DB9C9041}"/>
                </a:ext>
              </a:extLst>
            </p:cNvPr>
            <p:cNvSpPr/>
            <p:nvPr/>
          </p:nvSpPr>
          <p:spPr>
            <a:xfrm>
              <a:off x="4404836" y="4368164"/>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Text Placeholder 2">
              <a:extLst>
                <a:ext uri="{FF2B5EF4-FFF2-40B4-BE49-F238E27FC236}">
                  <a16:creationId xmlns:a16="http://schemas.microsoft.com/office/drawing/2014/main" id="{BB14EBC3-873E-BD8C-D281-8FF93B769EDA}"/>
                </a:ext>
              </a:extLst>
            </p:cNvPr>
            <p:cNvSpPr txBox="1">
              <a:spLocks/>
            </p:cNvSpPr>
            <p:nvPr/>
          </p:nvSpPr>
          <p:spPr>
            <a:xfrm>
              <a:off x="5395532" y="4587024"/>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Customer Acquisition</a:t>
              </a:r>
            </a:p>
          </p:txBody>
        </p:sp>
        <p:sp>
          <p:nvSpPr>
            <p:cNvPr id="177" name="Rectangle 176">
              <a:extLst>
                <a:ext uri="{FF2B5EF4-FFF2-40B4-BE49-F238E27FC236}">
                  <a16:creationId xmlns:a16="http://schemas.microsoft.com/office/drawing/2014/main" id="{A00392E0-1CF5-ACC0-297E-BB5E7C1FDA21}"/>
                </a:ext>
              </a:extLst>
            </p:cNvPr>
            <p:cNvSpPr/>
            <p:nvPr/>
          </p:nvSpPr>
          <p:spPr>
            <a:xfrm>
              <a:off x="4565812" y="4321629"/>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Isosceles Triangle 177">
              <a:extLst>
                <a:ext uri="{FF2B5EF4-FFF2-40B4-BE49-F238E27FC236}">
                  <a16:creationId xmlns:a16="http://schemas.microsoft.com/office/drawing/2014/main" id="{C32A0463-70F0-AA63-A852-600FCEBAAB6B}"/>
                </a:ext>
              </a:extLst>
            </p:cNvPr>
            <p:cNvSpPr/>
            <p:nvPr/>
          </p:nvSpPr>
          <p:spPr>
            <a:xfrm>
              <a:off x="5204733" y="4322445"/>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206085A6-A541-38E8-8157-3B1BF0FCD939}"/>
                </a:ext>
              </a:extLst>
            </p:cNvPr>
            <p:cNvSpPr/>
            <p:nvPr/>
          </p:nvSpPr>
          <p:spPr>
            <a:xfrm>
              <a:off x="4404836" y="5402307"/>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Text Placeholder 2">
              <a:extLst>
                <a:ext uri="{FF2B5EF4-FFF2-40B4-BE49-F238E27FC236}">
                  <a16:creationId xmlns:a16="http://schemas.microsoft.com/office/drawing/2014/main" id="{630E0905-F964-59C8-C61F-6C01D0D03E9A}"/>
                </a:ext>
              </a:extLst>
            </p:cNvPr>
            <p:cNvSpPr txBox="1">
              <a:spLocks/>
            </p:cNvSpPr>
            <p:nvPr/>
          </p:nvSpPr>
          <p:spPr>
            <a:xfrm>
              <a:off x="5395532" y="5621167"/>
              <a:ext cx="2105198" cy="197409"/>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Capacity Development	</a:t>
              </a:r>
            </a:p>
          </p:txBody>
        </p:sp>
        <p:sp>
          <p:nvSpPr>
            <p:cNvPr id="181" name="Rectangle 180">
              <a:extLst>
                <a:ext uri="{FF2B5EF4-FFF2-40B4-BE49-F238E27FC236}">
                  <a16:creationId xmlns:a16="http://schemas.microsoft.com/office/drawing/2014/main" id="{181B5A14-7F03-6513-9B36-FAF0F7B4A1E5}"/>
                </a:ext>
              </a:extLst>
            </p:cNvPr>
            <p:cNvSpPr/>
            <p:nvPr/>
          </p:nvSpPr>
          <p:spPr>
            <a:xfrm>
              <a:off x="4565812" y="5355772"/>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Isosceles Triangle 181">
              <a:extLst>
                <a:ext uri="{FF2B5EF4-FFF2-40B4-BE49-F238E27FC236}">
                  <a16:creationId xmlns:a16="http://schemas.microsoft.com/office/drawing/2014/main" id="{981F0BA0-9140-2BF1-0E68-0E50B03486FA}"/>
                </a:ext>
              </a:extLst>
            </p:cNvPr>
            <p:cNvSpPr/>
            <p:nvPr/>
          </p:nvSpPr>
          <p:spPr>
            <a:xfrm>
              <a:off x="5204733" y="5356588"/>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3" name="Straight Connector 182">
              <a:extLst>
                <a:ext uri="{FF2B5EF4-FFF2-40B4-BE49-F238E27FC236}">
                  <a16:creationId xmlns:a16="http://schemas.microsoft.com/office/drawing/2014/main" id="{759E6CD9-2C57-C7F6-8E9D-E413F40BAD58}"/>
                </a:ext>
              </a:extLst>
            </p:cNvPr>
            <p:cNvCxnSpPr>
              <a:cxnSpLocks/>
              <a:endCxn id="163" idx="1"/>
            </p:cNvCxnSpPr>
            <p:nvPr/>
          </p:nvCxnSpPr>
          <p:spPr>
            <a:xfrm flipV="1">
              <a:off x="2987879" y="1646496"/>
              <a:ext cx="1416957" cy="688324"/>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D57F74D-9C70-8273-6DA0-12E8ABC84778}"/>
                </a:ext>
              </a:extLst>
            </p:cNvPr>
            <p:cNvCxnSpPr>
              <a:cxnSpLocks/>
            </p:cNvCxnSpPr>
            <p:nvPr/>
          </p:nvCxnSpPr>
          <p:spPr>
            <a:xfrm>
              <a:off x="3026357" y="5082625"/>
              <a:ext cx="1378479" cy="681318"/>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4743A71-1EBB-C9FC-8167-6DD8DAAEE754}"/>
                </a:ext>
              </a:extLst>
            </p:cNvPr>
            <p:cNvCxnSpPr>
              <a:cxnSpLocks/>
              <a:endCxn id="175" idx="1"/>
            </p:cNvCxnSpPr>
            <p:nvPr/>
          </p:nvCxnSpPr>
          <p:spPr>
            <a:xfrm>
              <a:off x="3514743" y="44380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6337E14C-533F-9E7F-D937-C5B64FE311D5}"/>
                </a:ext>
              </a:extLst>
            </p:cNvPr>
            <p:cNvCxnSpPr>
              <a:cxnSpLocks/>
            </p:cNvCxnSpPr>
            <p:nvPr/>
          </p:nvCxnSpPr>
          <p:spPr>
            <a:xfrm flipV="1">
              <a:off x="3514743" y="26745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4431162F-EE7D-A5FF-4D5C-17152C2B359A}"/>
                </a:ext>
              </a:extLst>
            </p:cNvPr>
            <p:cNvCxnSpPr>
              <a:cxnSpLocks/>
              <a:stCxn id="227" idx="2"/>
              <a:endCxn id="171" idx="1"/>
            </p:cNvCxnSpPr>
            <p:nvPr/>
          </p:nvCxnSpPr>
          <p:spPr>
            <a:xfrm flipV="1">
              <a:off x="3627750" y="3714782"/>
              <a:ext cx="777086" cy="4351"/>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188" name="Text Placeholder 2">
              <a:extLst>
                <a:ext uri="{FF2B5EF4-FFF2-40B4-BE49-F238E27FC236}">
                  <a16:creationId xmlns:a16="http://schemas.microsoft.com/office/drawing/2014/main" id="{2ED27320-7A3C-6991-E3AE-C0E10DCADE13}"/>
                </a:ext>
              </a:extLst>
            </p:cNvPr>
            <p:cNvSpPr txBox="1">
              <a:spLocks/>
            </p:cNvSpPr>
            <p:nvPr/>
          </p:nvSpPr>
          <p:spPr>
            <a:xfrm>
              <a:off x="7948140" y="2353509"/>
              <a:ext cx="3596160" cy="654260"/>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400" dirty="0">
                <a:solidFill>
                  <a:srgbClr val="114A5E"/>
                </a:solidFill>
                <a:latin typeface="Segoe UI" panose="020B0502040204020203" pitchFamily="34" charset="0"/>
                <a:cs typeface="Segoe UI" panose="020B0502040204020203" pitchFamily="34" charset="0"/>
              </a:endParaRPr>
            </a:p>
          </p:txBody>
        </p:sp>
        <p:sp>
          <p:nvSpPr>
            <p:cNvPr id="189" name="Text Placeholder 2">
              <a:extLst>
                <a:ext uri="{FF2B5EF4-FFF2-40B4-BE49-F238E27FC236}">
                  <a16:creationId xmlns:a16="http://schemas.microsoft.com/office/drawing/2014/main" id="{05945D48-11F3-6922-EF58-D43D1D1B7CE8}"/>
                </a:ext>
              </a:extLst>
            </p:cNvPr>
            <p:cNvSpPr txBox="1">
              <a:spLocks/>
            </p:cNvSpPr>
            <p:nvPr/>
          </p:nvSpPr>
          <p:spPr>
            <a:xfrm>
              <a:off x="7948140" y="5455938"/>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achieve a standardized structural design &amp; Blue-print for medium &amp; large scale Lifecheck Wellness Centers within 6 </a:t>
              </a:r>
            </a:p>
          </p:txBody>
        </p:sp>
        <p:grpSp>
          <p:nvGrpSpPr>
            <p:cNvPr id="190" name="Group 189">
              <a:extLst>
                <a:ext uri="{FF2B5EF4-FFF2-40B4-BE49-F238E27FC236}">
                  <a16:creationId xmlns:a16="http://schemas.microsoft.com/office/drawing/2014/main" id="{10D3B09A-8ED0-A6FF-B5D3-D1279925057C}"/>
                </a:ext>
              </a:extLst>
            </p:cNvPr>
            <p:cNvGrpSpPr/>
            <p:nvPr/>
          </p:nvGrpSpPr>
          <p:grpSpPr>
            <a:xfrm>
              <a:off x="4721759" y="1396036"/>
              <a:ext cx="327027" cy="285248"/>
              <a:chOff x="4113213" y="3640138"/>
              <a:chExt cx="360363" cy="314325"/>
            </a:xfrm>
            <a:solidFill>
              <a:schemeClr val="bg1"/>
            </a:solidFill>
          </p:grpSpPr>
          <p:sp>
            <p:nvSpPr>
              <p:cNvPr id="223" name="Freeform 1760">
                <a:extLst>
                  <a:ext uri="{FF2B5EF4-FFF2-40B4-BE49-F238E27FC236}">
                    <a16:creationId xmlns:a16="http://schemas.microsoft.com/office/drawing/2014/main" id="{89A37439-5EF8-7C0D-F8C6-8A39409B1D0E}"/>
                  </a:ext>
                </a:extLst>
              </p:cNvPr>
              <p:cNvSpPr>
                <a:spLocks/>
              </p:cNvSpPr>
              <p:nvPr/>
            </p:nvSpPr>
            <p:spPr bwMode="auto">
              <a:xfrm>
                <a:off x="4113213" y="3640138"/>
                <a:ext cx="360363" cy="314325"/>
              </a:xfrm>
              <a:custGeom>
                <a:avLst/>
                <a:gdLst>
                  <a:gd name="T0" fmla="*/ 94 w 96"/>
                  <a:gd name="T1" fmla="*/ 84 h 84"/>
                  <a:gd name="T2" fmla="*/ 2 w 96"/>
                  <a:gd name="T3" fmla="*/ 84 h 84"/>
                  <a:gd name="T4" fmla="*/ 0 w 96"/>
                  <a:gd name="T5" fmla="*/ 82 h 84"/>
                  <a:gd name="T6" fmla="*/ 0 w 96"/>
                  <a:gd name="T7" fmla="*/ 2 h 84"/>
                  <a:gd name="T8" fmla="*/ 2 w 96"/>
                  <a:gd name="T9" fmla="*/ 0 h 84"/>
                  <a:gd name="T10" fmla="*/ 4 w 96"/>
                  <a:gd name="T11" fmla="*/ 2 h 84"/>
                  <a:gd name="T12" fmla="*/ 4 w 96"/>
                  <a:gd name="T13" fmla="*/ 80 h 84"/>
                  <a:gd name="T14" fmla="*/ 94 w 96"/>
                  <a:gd name="T15" fmla="*/ 80 h 84"/>
                  <a:gd name="T16" fmla="*/ 96 w 96"/>
                  <a:gd name="T17" fmla="*/ 82 h 84"/>
                  <a:gd name="T18" fmla="*/ 94 w 96"/>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4">
                    <a:moveTo>
                      <a:pt x="94" y="84"/>
                    </a:moveTo>
                    <a:cubicBezTo>
                      <a:pt x="2" y="84"/>
                      <a:pt x="2" y="84"/>
                      <a:pt x="2" y="84"/>
                    </a:cubicBezTo>
                    <a:cubicBezTo>
                      <a:pt x="1" y="84"/>
                      <a:pt x="0" y="83"/>
                      <a:pt x="0" y="82"/>
                    </a:cubicBezTo>
                    <a:cubicBezTo>
                      <a:pt x="0" y="2"/>
                      <a:pt x="0" y="2"/>
                      <a:pt x="0" y="2"/>
                    </a:cubicBezTo>
                    <a:cubicBezTo>
                      <a:pt x="0" y="1"/>
                      <a:pt x="1" y="0"/>
                      <a:pt x="2" y="0"/>
                    </a:cubicBezTo>
                    <a:cubicBezTo>
                      <a:pt x="3" y="0"/>
                      <a:pt x="4" y="1"/>
                      <a:pt x="4" y="2"/>
                    </a:cubicBezTo>
                    <a:cubicBezTo>
                      <a:pt x="4" y="80"/>
                      <a:pt x="4" y="80"/>
                      <a:pt x="4" y="80"/>
                    </a:cubicBezTo>
                    <a:cubicBezTo>
                      <a:pt x="94" y="80"/>
                      <a:pt x="94" y="80"/>
                      <a:pt x="94" y="80"/>
                    </a:cubicBezTo>
                    <a:cubicBezTo>
                      <a:pt x="95" y="80"/>
                      <a:pt x="96" y="81"/>
                      <a:pt x="96" y="82"/>
                    </a:cubicBezTo>
                    <a:cubicBezTo>
                      <a:pt x="96" y="83"/>
                      <a:pt x="95" y="84"/>
                      <a:pt x="9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4" name="Freeform 1761">
                <a:extLst>
                  <a:ext uri="{FF2B5EF4-FFF2-40B4-BE49-F238E27FC236}">
                    <a16:creationId xmlns:a16="http://schemas.microsoft.com/office/drawing/2014/main" id="{97291E7A-2C87-6167-0CB1-DBA9F0C8CEFD}"/>
                  </a:ext>
                </a:extLst>
              </p:cNvPr>
              <p:cNvSpPr>
                <a:spLocks/>
              </p:cNvSpPr>
              <p:nvPr/>
            </p:nvSpPr>
            <p:spPr bwMode="auto">
              <a:xfrm>
                <a:off x="4297363" y="3841750"/>
                <a:ext cx="63500" cy="68263"/>
              </a:xfrm>
              <a:custGeom>
                <a:avLst/>
                <a:gdLst>
                  <a:gd name="T0" fmla="*/ 15 w 17"/>
                  <a:gd name="T1" fmla="*/ 18 h 18"/>
                  <a:gd name="T2" fmla="*/ 1 w 17"/>
                  <a:gd name="T3" fmla="*/ 7 h 18"/>
                  <a:gd name="T4" fmla="*/ 1 w 17"/>
                  <a:gd name="T5" fmla="*/ 2 h 18"/>
                  <a:gd name="T6" fmla="*/ 2 w 17"/>
                  <a:gd name="T7" fmla="*/ 0 h 18"/>
                  <a:gd name="T8" fmla="*/ 4 w 17"/>
                  <a:gd name="T9" fmla="*/ 2 h 18"/>
                  <a:gd name="T10" fmla="*/ 5 w 17"/>
                  <a:gd name="T11" fmla="*/ 6 h 18"/>
                  <a:gd name="T12" fmla="*/ 15 w 17"/>
                  <a:gd name="T13" fmla="*/ 14 h 18"/>
                  <a:gd name="T14" fmla="*/ 17 w 17"/>
                  <a:gd name="T15" fmla="*/ 16 h 18"/>
                  <a:gd name="T16" fmla="*/ 15 w 17"/>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18"/>
                    </a:moveTo>
                    <a:cubicBezTo>
                      <a:pt x="8" y="18"/>
                      <a:pt x="2" y="13"/>
                      <a:pt x="1" y="7"/>
                    </a:cubicBezTo>
                    <a:cubicBezTo>
                      <a:pt x="1" y="2"/>
                      <a:pt x="1" y="2"/>
                      <a:pt x="1" y="2"/>
                    </a:cubicBezTo>
                    <a:cubicBezTo>
                      <a:pt x="0" y="1"/>
                      <a:pt x="1" y="0"/>
                      <a:pt x="2" y="0"/>
                    </a:cubicBezTo>
                    <a:cubicBezTo>
                      <a:pt x="3" y="0"/>
                      <a:pt x="4" y="1"/>
                      <a:pt x="4" y="2"/>
                    </a:cubicBezTo>
                    <a:cubicBezTo>
                      <a:pt x="5" y="6"/>
                      <a:pt x="5" y="6"/>
                      <a:pt x="5" y="6"/>
                    </a:cubicBezTo>
                    <a:cubicBezTo>
                      <a:pt x="6" y="11"/>
                      <a:pt x="10" y="14"/>
                      <a:pt x="15" y="14"/>
                    </a:cubicBezTo>
                    <a:cubicBezTo>
                      <a:pt x="16" y="14"/>
                      <a:pt x="17" y="15"/>
                      <a:pt x="17" y="16"/>
                    </a:cubicBezTo>
                    <a:cubicBezTo>
                      <a:pt x="17" y="17"/>
                      <a:pt x="16" y="18"/>
                      <a:pt x="1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5" name="Freeform 1762">
                <a:extLst>
                  <a:ext uri="{FF2B5EF4-FFF2-40B4-BE49-F238E27FC236}">
                    <a16:creationId xmlns:a16="http://schemas.microsoft.com/office/drawing/2014/main" id="{696603CF-AFCC-2FE3-61ED-E35262B2A9F7}"/>
                  </a:ext>
                </a:extLst>
              </p:cNvPr>
              <p:cNvSpPr>
                <a:spLocks/>
              </p:cNvSpPr>
              <p:nvPr/>
            </p:nvSpPr>
            <p:spPr bwMode="auto">
              <a:xfrm>
                <a:off x="4149725" y="3729038"/>
                <a:ext cx="136525" cy="180975"/>
              </a:xfrm>
              <a:custGeom>
                <a:avLst/>
                <a:gdLst>
                  <a:gd name="T0" fmla="*/ 2 w 36"/>
                  <a:gd name="T1" fmla="*/ 48 h 48"/>
                  <a:gd name="T2" fmla="*/ 0 w 36"/>
                  <a:gd name="T3" fmla="*/ 46 h 48"/>
                  <a:gd name="T4" fmla="*/ 2 w 36"/>
                  <a:gd name="T5" fmla="*/ 44 h 48"/>
                  <a:gd name="T6" fmla="*/ 12 w 36"/>
                  <a:gd name="T7" fmla="*/ 36 h 48"/>
                  <a:gd name="T8" fmla="*/ 17 w 36"/>
                  <a:gd name="T9" fmla="*/ 10 h 48"/>
                  <a:gd name="T10" fmla="*/ 28 w 36"/>
                  <a:gd name="T11" fmla="*/ 0 h 48"/>
                  <a:gd name="T12" fmla="*/ 35 w 36"/>
                  <a:gd name="T13" fmla="*/ 2 h 48"/>
                  <a:gd name="T14" fmla="*/ 35 w 36"/>
                  <a:gd name="T15" fmla="*/ 5 h 48"/>
                  <a:gd name="T16" fmla="*/ 33 w 36"/>
                  <a:gd name="T17" fmla="*/ 6 h 48"/>
                  <a:gd name="T18" fmla="*/ 28 w 36"/>
                  <a:gd name="T19" fmla="*/ 4 h 48"/>
                  <a:gd name="T20" fmla="*/ 21 w 36"/>
                  <a:gd name="T21" fmla="*/ 10 h 48"/>
                  <a:gd name="T22" fmla="*/ 16 w 36"/>
                  <a:gd name="T23" fmla="*/ 37 h 48"/>
                  <a:gd name="T24" fmla="*/ 2 w 36"/>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8">
                    <a:moveTo>
                      <a:pt x="2" y="48"/>
                    </a:move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1" y="0"/>
                      <a:pt x="33" y="1"/>
                      <a:pt x="35" y="2"/>
                    </a:cubicBezTo>
                    <a:cubicBezTo>
                      <a:pt x="36" y="3"/>
                      <a:pt x="36" y="4"/>
                      <a:pt x="35" y="5"/>
                    </a:cubicBezTo>
                    <a:cubicBezTo>
                      <a:pt x="35" y="6"/>
                      <a:pt x="33" y="6"/>
                      <a:pt x="33" y="6"/>
                    </a:cubicBezTo>
                    <a:cubicBezTo>
                      <a:pt x="31" y="5"/>
                      <a:pt x="30" y="4"/>
                      <a:pt x="28" y="4"/>
                    </a:cubicBezTo>
                    <a:cubicBezTo>
                      <a:pt x="24" y="4"/>
                      <a:pt x="21" y="7"/>
                      <a:pt x="21" y="10"/>
                    </a:cubicBezTo>
                    <a:cubicBezTo>
                      <a:pt x="16" y="37"/>
                      <a:pt x="16" y="37"/>
                      <a:pt x="16" y="37"/>
                    </a:cubicBezTo>
                    <a:cubicBezTo>
                      <a:pt x="15" y="43"/>
                      <a:pt x="9" y="48"/>
                      <a:pt x="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6" name="Freeform 1763">
                <a:extLst>
                  <a:ext uri="{FF2B5EF4-FFF2-40B4-BE49-F238E27FC236}">
                    <a16:creationId xmlns:a16="http://schemas.microsoft.com/office/drawing/2014/main" id="{DAE43B92-2EB0-0072-ECFD-5E9338594922}"/>
                  </a:ext>
                </a:extLst>
              </p:cNvPr>
              <p:cNvSpPr>
                <a:spLocks/>
              </p:cNvSpPr>
              <p:nvPr/>
            </p:nvSpPr>
            <p:spPr bwMode="auto">
              <a:xfrm>
                <a:off x="4225925" y="3729038"/>
                <a:ext cx="209550" cy="180975"/>
              </a:xfrm>
              <a:custGeom>
                <a:avLst/>
                <a:gdLst>
                  <a:gd name="T0" fmla="*/ 54 w 56"/>
                  <a:gd name="T1" fmla="*/ 48 h 48"/>
                  <a:gd name="T2" fmla="*/ 40 w 56"/>
                  <a:gd name="T3" fmla="*/ 37 h 48"/>
                  <a:gd name="T4" fmla="*/ 35 w 56"/>
                  <a:gd name="T5" fmla="*/ 10 h 48"/>
                  <a:gd name="T6" fmla="*/ 28 w 56"/>
                  <a:gd name="T7" fmla="*/ 4 h 48"/>
                  <a:gd name="T8" fmla="*/ 21 w 56"/>
                  <a:gd name="T9" fmla="*/ 10 h 48"/>
                  <a:gd name="T10" fmla="*/ 16 w 56"/>
                  <a:gd name="T11" fmla="*/ 37 h 48"/>
                  <a:gd name="T12" fmla="*/ 2 w 56"/>
                  <a:gd name="T13" fmla="*/ 48 h 48"/>
                  <a:gd name="T14" fmla="*/ 0 w 56"/>
                  <a:gd name="T15" fmla="*/ 46 h 48"/>
                  <a:gd name="T16" fmla="*/ 2 w 56"/>
                  <a:gd name="T17" fmla="*/ 44 h 48"/>
                  <a:gd name="T18" fmla="*/ 12 w 56"/>
                  <a:gd name="T19" fmla="*/ 36 h 48"/>
                  <a:gd name="T20" fmla="*/ 17 w 56"/>
                  <a:gd name="T21" fmla="*/ 10 h 48"/>
                  <a:gd name="T22" fmla="*/ 28 w 56"/>
                  <a:gd name="T23" fmla="*/ 0 h 48"/>
                  <a:gd name="T24" fmla="*/ 39 w 56"/>
                  <a:gd name="T25" fmla="*/ 10 h 48"/>
                  <a:gd name="T26" fmla="*/ 44 w 56"/>
                  <a:gd name="T27" fmla="*/ 36 h 48"/>
                  <a:gd name="T28" fmla="*/ 54 w 56"/>
                  <a:gd name="T29" fmla="*/ 44 h 48"/>
                  <a:gd name="T30" fmla="*/ 56 w 56"/>
                  <a:gd name="T31" fmla="*/ 46 h 48"/>
                  <a:gd name="T32" fmla="*/ 54 w 5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4" y="48"/>
                    </a:moveTo>
                    <a:cubicBezTo>
                      <a:pt x="47" y="48"/>
                      <a:pt x="41" y="43"/>
                      <a:pt x="40" y="37"/>
                    </a:cubicBezTo>
                    <a:cubicBezTo>
                      <a:pt x="35" y="10"/>
                      <a:pt x="35" y="10"/>
                      <a:pt x="35" y="10"/>
                    </a:cubicBezTo>
                    <a:cubicBezTo>
                      <a:pt x="35" y="7"/>
                      <a:pt x="32" y="4"/>
                      <a:pt x="28" y="4"/>
                    </a:cubicBezTo>
                    <a:cubicBezTo>
                      <a:pt x="24" y="4"/>
                      <a:pt x="21" y="7"/>
                      <a:pt x="21" y="10"/>
                    </a:cubicBezTo>
                    <a:cubicBezTo>
                      <a:pt x="16" y="37"/>
                      <a:pt x="16" y="37"/>
                      <a:pt x="16" y="37"/>
                    </a:cubicBezTo>
                    <a:cubicBezTo>
                      <a:pt x="15" y="43"/>
                      <a:pt x="9" y="48"/>
                      <a:pt x="2" y="48"/>
                    </a:cubicBez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4" y="0"/>
                      <a:pt x="38" y="4"/>
                      <a:pt x="39" y="10"/>
                    </a:cubicBezTo>
                    <a:cubicBezTo>
                      <a:pt x="44" y="36"/>
                      <a:pt x="44" y="36"/>
                      <a:pt x="44" y="36"/>
                    </a:cubicBezTo>
                    <a:cubicBezTo>
                      <a:pt x="45" y="41"/>
                      <a:pt x="49" y="44"/>
                      <a:pt x="54" y="44"/>
                    </a:cubicBezTo>
                    <a:cubicBezTo>
                      <a:pt x="55" y="44"/>
                      <a:pt x="56" y="45"/>
                      <a:pt x="56" y="46"/>
                    </a:cubicBezTo>
                    <a:cubicBezTo>
                      <a:pt x="56" y="47"/>
                      <a:pt x="55" y="48"/>
                      <a:pt x="5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191" name="Group 190">
              <a:extLst>
                <a:ext uri="{FF2B5EF4-FFF2-40B4-BE49-F238E27FC236}">
                  <a16:creationId xmlns:a16="http://schemas.microsoft.com/office/drawing/2014/main" id="{662A08F5-105E-8CCF-EE28-8AB6C1E23B83}"/>
                </a:ext>
              </a:extLst>
            </p:cNvPr>
            <p:cNvGrpSpPr/>
            <p:nvPr/>
          </p:nvGrpSpPr>
          <p:grpSpPr>
            <a:xfrm>
              <a:off x="4728962" y="2408569"/>
              <a:ext cx="312621" cy="328468"/>
              <a:chOff x="6276975" y="5051425"/>
              <a:chExt cx="344488" cy="361950"/>
            </a:xfrm>
            <a:solidFill>
              <a:schemeClr val="bg1"/>
            </a:solidFill>
          </p:grpSpPr>
          <p:sp>
            <p:nvSpPr>
              <p:cNvPr id="215" name="Freeform 1592">
                <a:extLst>
                  <a:ext uri="{FF2B5EF4-FFF2-40B4-BE49-F238E27FC236}">
                    <a16:creationId xmlns:a16="http://schemas.microsoft.com/office/drawing/2014/main" id="{8EF4F33E-93B7-F49A-1774-87D12C7511F9}"/>
                  </a:ext>
                </a:extLst>
              </p:cNvPr>
              <p:cNvSpPr>
                <a:spLocks noEditPoints="1"/>
              </p:cNvSpPr>
              <p:nvPr/>
            </p:nvSpPr>
            <p:spPr bwMode="auto">
              <a:xfrm>
                <a:off x="6276975" y="5051425"/>
                <a:ext cx="344488" cy="60325"/>
              </a:xfrm>
              <a:custGeom>
                <a:avLst/>
                <a:gdLst>
                  <a:gd name="T0" fmla="*/ 90 w 92"/>
                  <a:gd name="T1" fmla="*/ 16 h 16"/>
                  <a:gd name="T2" fmla="*/ 2 w 92"/>
                  <a:gd name="T3" fmla="*/ 16 h 16"/>
                  <a:gd name="T4" fmla="*/ 0 w 92"/>
                  <a:gd name="T5" fmla="*/ 14 h 16"/>
                  <a:gd name="T6" fmla="*/ 0 w 92"/>
                  <a:gd name="T7" fmla="*/ 2 h 16"/>
                  <a:gd name="T8" fmla="*/ 2 w 92"/>
                  <a:gd name="T9" fmla="*/ 0 h 16"/>
                  <a:gd name="T10" fmla="*/ 90 w 92"/>
                  <a:gd name="T11" fmla="*/ 0 h 16"/>
                  <a:gd name="T12" fmla="*/ 92 w 92"/>
                  <a:gd name="T13" fmla="*/ 2 h 16"/>
                  <a:gd name="T14" fmla="*/ 92 w 92"/>
                  <a:gd name="T15" fmla="*/ 14 h 16"/>
                  <a:gd name="T16" fmla="*/ 90 w 92"/>
                  <a:gd name="T17" fmla="*/ 16 h 16"/>
                  <a:gd name="T18" fmla="*/ 4 w 92"/>
                  <a:gd name="T19" fmla="*/ 12 h 16"/>
                  <a:gd name="T20" fmla="*/ 88 w 92"/>
                  <a:gd name="T21" fmla="*/ 12 h 16"/>
                  <a:gd name="T22" fmla="*/ 88 w 92"/>
                  <a:gd name="T23" fmla="*/ 4 h 16"/>
                  <a:gd name="T24" fmla="*/ 4 w 92"/>
                  <a:gd name="T25" fmla="*/ 4 h 16"/>
                  <a:gd name="T26" fmla="*/ 4 w 92"/>
                  <a:gd name="T2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16">
                    <a:moveTo>
                      <a:pt x="90" y="16"/>
                    </a:moveTo>
                    <a:cubicBezTo>
                      <a:pt x="2" y="16"/>
                      <a:pt x="2" y="16"/>
                      <a:pt x="2" y="16"/>
                    </a:cubicBezTo>
                    <a:cubicBezTo>
                      <a:pt x="1" y="16"/>
                      <a:pt x="0" y="15"/>
                      <a:pt x="0" y="14"/>
                    </a:cubicBezTo>
                    <a:cubicBezTo>
                      <a:pt x="0" y="2"/>
                      <a:pt x="0" y="2"/>
                      <a:pt x="0" y="2"/>
                    </a:cubicBezTo>
                    <a:cubicBezTo>
                      <a:pt x="0" y="1"/>
                      <a:pt x="1" y="0"/>
                      <a:pt x="2" y="0"/>
                    </a:cubicBezTo>
                    <a:cubicBezTo>
                      <a:pt x="90" y="0"/>
                      <a:pt x="90" y="0"/>
                      <a:pt x="90" y="0"/>
                    </a:cubicBezTo>
                    <a:cubicBezTo>
                      <a:pt x="91" y="0"/>
                      <a:pt x="92" y="1"/>
                      <a:pt x="92" y="2"/>
                    </a:cubicBezTo>
                    <a:cubicBezTo>
                      <a:pt x="92" y="14"/>
                      <a:pt x="92" y="14"/>
                      <a:pt x="92" y="14"/>
                    </a:cubicBezTo>
                    <a:cubicBezTo>
                      <a:pt x="92" y="15"/>
                      <a:pt x="91" y="16"/>
                      <a:pt x="90" y="16"/>
                    </a:cubicBezTo>
                    <a:close/>
                    <a:moveTo>
                      <a:pt x="4" y="12"/>
                    </a:moveTo>
                    <a:cubicBezTo>
                      <a:pt x="88" y="12"/>
                      <a:pt x="88" y="12"/>
                      <a:pt x="88" y="12"/>
                    </a:cubicBezTo>
                    <a:cubicBezTo>
                      <a:pt x="88" y="4"/>
                      <a:pt x="88" y="4"/>
                      <a:pt x="88" y="4"/>
                    </a:cubicBezTo>
                    <a:cubicBezTo>
                      <a:pt x="4" y="4"/>
                      <a:pt x="4" y="4"/>
                      <a:pt x="4" y="4"/>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6" name="Freeform 1593">
                <a:extLst>
                  <a:ext uri="{FF2B5EF4-FFF2-40B4-BE49-F238E27FC236}">
                    <a16:creationId xmlns:a16="http://schemas.microsoft.com/office/drawing/2014/main" id="{90DF4C90-85EE-C4FE-715B-6D69B671661E}"/>
                  </a:ext>
                </a:extLst>
              </p:cNvPr>
              <p:cNvSpPr>
                <a:spLocks/>
              </p:cNvSpPr>
              <p:nvPr/>
            </p:nvSpPr>
            <p:spPr bwMode="auto">
              <a:xfrm>
                <a:off x="6276975" y="5307013"/>
                <a:ext cx="344488" cy="15875"/>
              </a:xfrm>
              <a:custGeom>
                <a:avLst/>
                <a:gdLst>
                  <a:gd name="T0" fmla="*/ 90 w 92"/>
                  <a:gd name="T1" fmla="*/ 4 h 4"/>
                  <a:gd name="T2" fmla="*/ 2 w 92"/>
                  <a:gd name="T3" fmla="*/ 4 h 4"/>
                  <a:gd name="T4" fmla="*/ 0 w 92"/>
                  <a:gd name="T5" fmla="*/ 2 h 4"/>
                  <a:gd name="T6" fmla="*/ 2 w 92"/>
                  <a:gd name="T7" fmla="*/ 0 h 4"/>
                  <a:gd name="T8" fmla="*/ 90 w 92"/>
                  <a:gd name="T9" fmla="*/ 0 h 4"/>
                  <a:gd name="T10" fmla="*/ 92 w 92"/>
                  <a:gd name="T11" fmla="*/ 2 h 4"/>
                  <a:gd name="T12" fmla="*/ 90 w 9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2" h="4">
                    <a:moveTo>
                      <a:pt x="90" y="4"/>
                    </a:moveTo>
                    <a:cubicBezTo>
                      <a:pt x="2" y="4"/>
                      <a:pt x="2" y="4"/>
                      <a:pt x="2" y="4"/>
                    </a:cubicBezTo>
                    <a:cubicBezTo>
                      <a:pt x="1" y="4"/>
                      <a:pt x="0" y="3"/>
                      <a:pt x="0" y="2"/>
                    </a:cubicBezTo>
                    <a:cubicBezTo>
                      <a:pt x="0" y="1"/>
                      <a:pt x="1" y="0"/>
                      <a:pt x="2" y="0"/>
                    </a:cubicBezTo>
                    <a:cubicBezTo>
                      <a:pt x="90" y="0"/>
                      <a:pt x="90" y="0"/>
                      <a:pt x="90" y="0"/>
                    </a:cubicBezTo>
                    <a:cubicBezTo>
                      <a:pt x="91" y="0"/>
                      <a:pt x="92" y="1"/>
                      <a:pt x="92" y="2"/>
                    </a:cubicBezTo>
                    <a:cubicBezTo>
                      <a:pt x="92" y="3"/>
                      <a:pt x="91" y="4"/>
                      <a:pt x="9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7" name="Freeform 1594">
                <a:extLst>
                  <a:ext uri="{FF2B5EF4-FFF2-40B4-BE49-F238E27FC236}">
                    <a16:creationId xmlns:a16="http://schemas.microsoft.com/office/drawing/2014/main" id="{DBCF9DBF-E9B6-5427-AB0D-FC01F665F1E7}"/>
                  </a:ext>
                </a:extLst>
              </p:cNvPr>
              <p:cNvSpPr>
                <a:spLocks noEditPoints="1"/>
              </p:cNvSpPr>
              <p:nvPr/>
            </p:nvSpPr>
            <p:spPr bwMode="auto">
              <a:xfrm>
                <a:off x="6307138" y="5097463"/>
                <a:ext cx="284163" cy="225425"/>
              </a:xfrm>
              <a:custGeom>
                <a:avLst/>
                <a:gdLst>
                  <a:gd name="T0" fmla="*/ 74 w 76"/>
                  <a:gd name="T1" fmla="*/ 60 h 60"/>
                  <a:gd name="T2" fmla="*/ 2 w 76"/>
                  <a:gd name="T3" fmla="*/ 60 h 60"/>
                  <a:gd name="T4" fmla="*/ 0 w 76"/>
                  <a:gd name="T5" fmla="*/ 58 h 60"/>
                  <a:gd name="T6" fmla="*/ 0 w 76"/>
                  <a:gd name="T7" fmla="*/ 2 h 60"/>
                  <a:gd name="T8" fmla="*/ 2 w 76"/>
                  <a:gd name="T9" fmla="*/ 0 h 60"/>
                  <a:gd name="T10" fmla="*/ 74 w 76"/>
                  <a:gd name="T11" fmla="*/ 0 h 60"/>
                  <a:gd name="T12" fmla="*/ 76 w 76"/>
                  <a:gd name="T13" fmla="*/ 2 h 60"/>
                  <a:gd name="T14" fmla="*/ 76 w 76"/>
                  <a:gd name="T15" fmla="*/ 58 h 60"/>
                  <a:gd name="T16" fmla="*/ 74 w 76"/>
                  <a:gd name="T17" fmla="*/ 60 h 60"/>
                  <a:gd name="T18" fmla="*/ 4 w 76"/>
                  <a:gd name="T19" fmla="*/ 56 h 60"/>
                  <a:gd name="T20" fmla="*/ 72 w 76"/>
                  <a:gd name="T21" fmla="*/ 56 h 60"/>
                  <a:gd name="T22" fmla="*/ 72 w 76"/>
                  <a:gd name="T23" fmla="*/ 4 h 60"/>
                  <a:gd name="T24" fmla="*/ 4 w 76"/>
                  <a:gd name="T25" fmla="*/ 4 h 60"/>
                  <a:gd name="T26" fmla="*/ 4 w 76"/>
                  <a:gd name="T27"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60">
                    <a:moveTo>
                      <a:pt x="74" y="60"/>
                    </a:moveTo>
                    <a:cubicBezTo>
                      <a:pt x="2" y="60"/>
                      <a:pt x="2" y="60"/>
                      <a:pt x="2" y="60"/>
                    </a:cubicBezTo>
                    <a:cubicBezTo>
                      <a:pt x="1" y="60"/>
                      <a:pt x="0" y="59"/>
                      <a:pt x="0" y="58"/>
                    </a:cubicBezTo>
                    <a:cubicBezTo>
                      <a:pt x="0" y="2"/>
                      <a:pt x="0" y="2"/>
                      <a:pt x="0" y="2"/>
                    </a:cubicBezTo>
                    <a:cubicBezTo>
                      <a:pt x="0" y="1"/>
                      <a:pt x="1" y="0"/>
                      <a:pt x="2" y="0"/>
                    </a:cubicBezTo>
                    <a:cubicBezTo>
                      <a:pt x="74" y="0"/>
                      <a:pt x="74" y="0"/>
                      <a:pt x="74" y="0"/>
                    </a:cubicBezTo>
                    <a:cubicBezTo>
                      <a:pt x="75" y="0"/>
                      <a:pt x="76" y="1"/>
                      <a:pt x="76" y="2"/>
                    </a:cubicBezTo>
                    <a:cubicBezTo>
                      <a:pt x="76" y="58"/>
                      <a:pt x="76" y="58"/>
                      <a:pt x="76" y="58"/>
                    </a:cubicBezTo>
                    <a:cubicBezTo>
                      <a:pt x="76" y="59"/>
                      <a:pt x="75" y="60"/>
                      <a:pt x="74" y="60"/>
                    </a:cubicBezTo>
                    <a:close/>
                    <a:moveTo>
                      <a:pt x="4" y="56"/>
                    </a:moveTo>
                    <a:cubicBezTo>
                      <a:pt x="72" y="56"/>
                      <a:pt x="72" y="56"/>
                      <a:pt x="72" y="56"/>
                    </a:cubicBezTo>
                    <a:cubicBezTo>
                      <a:pt x="72" y="4"/>
                      <a:pt x="72" y="4"/>
                      <a:pt x="72" y="4"/>
                    </a:cubicBezTo>
                    <a:cubicBezTo>
                      <a:pt x="4" y="4"/>
                      <a:pt x="4" y="4"/>
                      <a:pt x="4" y="4"/>
                    </a:cubicBezTo>
                    <a:lnTo>
                      <a:pt x="4"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8" name="Rectangle 1595">
                <a:extLst>
                  <a:ext uri="{FF2B5EF4-FFF2-40B4-BE49-F238E27FC236}">
                    <a16:creationId xmlns:a16="http://schemas.microsoft.com/office/drawing/2014/main" id="{DB9B6BA7-5AC3-EABF-A186-2B73B8846022}"/>
                  </a:ext>
                </a:extLst>
              </p:cNvPr>
              <p:cNvSpPr>
                <a:spLocks noChangeArrowheads="1"/>
              </p:cNvSpPr>
              <p:nvPr/>
            </p:nvSpPr>
            <p:spPr bwMode="auto">
              <a:xfrm>
                <a:off x="6442075" y="5314950"/>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9" name="Freeform 1596">
                <a:extLst>
                  <a:ext uri="{FF2B5EF4-FFF2-40B4-BE49-F238E27FC236}">
                    <a16:creationId xmlns:a16="http://schemas.microsoft.com/office/drawing/2014/main" id="{95DC771D-A307-D4DD-5127-759BAC174E4D}"/>
                  </a:ext>
                </a:extLst>
              </p:cNvPr>
              <p:cNvSpPr>
                <a:spLocks noEditPoints="1"/>
              </p:cNvSpPr>
              <p:nvPr/>
            </p:nvSpPr>
            <p:spPr bwMode="auto">
              <a:xfrm>
                <a:off x="6419850" y="5353050"/>
                <a:ext cx="58738" cy="60325"/>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0" name="Freeform 1597">
                <a:extLst>
                  <a:ext uri="{FF2B5EF4-FFF2-40B4-BE49-F238E27FC236}">
                    <a16:creationId xmlns:a16="http://schemas.microsoft.com/office/drawing/2014/main" id="{1C1AD705-523F-43AB-CF2E-5874C9E0E1FD}"/>
                  </a:ext>
                </a:extLst>
              </p:cNvPr>
              <p:cNvSpPr>
                <a:spLocks noEditPoints="1"/>
              </p:cNvSpPr>
              <p:nvPr/>
            </p:nvSpPr>
            <p:spPr bwMode="auto">
              <a:xfrm>
                <a:off x="6359525" y="5141913"/>
                <a:ext cx="157163" cy="106363"/>
              </a:xfrm>
              <a:custGeom>
                <a:avLst/>
                <a:gdLst>
                  <a:gd name="T0" fmla="*/ 40 w 42"/>
                  <a:gd name="T1" fmla="*/ 28 h 28"/>
                  <a:gd name="T2" fmla="*/ 12 w 42"/>
                  <a:gd name="T3" fmla="*/ 28 h 28"/>
                  <a:gd name="T4" fmla="*/ 10 w 42"/>
                  <a:gd name="T5" fmla="*/ 26 h 28"/>
                  <a:gd name="T6" fmla="*/ 10 w 42"/>
                  <a:gd name="T7" fmla="*/ 4 h 28"/>
                  <a:gd name="T8" fmla="*/ 2 w 42"/>
                  <a:gd name="T9" fmla="*/ 4 h 28"/>
                  <a:gd name="T10" fmla="*/ 0 w 42"/>
                  <a:gd name="T11" fmla="*/ 2 h 28"/>
                  <a:gd name="T12" fmla="*/ 2 w 42"/>
                  <a:gd name="T13" fmla="*/ 0 h 28"/>
                  <a:gd name="T14" fmla="*/ 12 w 42"/>
                  <a:gd name="T15" fmla="*/ 0 h 28"/>
                  <a:gd name="T16" fmla="*/ 14 w 42"/>
                  <a:gd name="T17" fmla="*/ 2 h 28"/>
                  <a:gd name="T18" fmla="*/ 14 w 42"/>
                  <a:gd name="T19" fmla="*/ 8 h 28"/>
                  <a:gd name="T20" fmla="*/ 40 w 42"/>
                  <a:gd name="T21" fmla="*/ 8 h 28"/>
                  <a:gd name="T22" fmla="*/ 42 w 42"/>
                  <a:gd name="T23" fmla="*/ 10 h 28"/>
                  <a:gd name="T24" fmla="*/ 42 w 42"/>
                  <a:gd name="T25" fmla="*/ 26 h 28"/>
                  <a:gd name="T26" fmla="*/ 40 w 42"/>
                  <a:gd name="T27" fmla="*/ 28 h 28"/>
                  <a:gd name="T28" fmla="*/ 14 w 42"/>
                  <a:gd name="T29" fmla="*/ 24 h 28"/>
                  <a:gd name="T30" fmla="*/ 38 w 42"/>
                  <a:gd name="T31" fmla="*/ 24 h 28"/>
                  <a:gd name="T32" fmla="*/ 38 w 42"/>
                  <a:gd name="T33" fmla="*/ 12 h 28"/>
                  <a:gd name="T34" fmla="*/ 14 w 42"/>
                  <a:gd name="T35" fmla="*/ 12 h 28"/>
                  <a:gd name="T36" fmla="*/ 14 w 42"/>
                  <a:gd name="T3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28">
                    <a:moveTo>
                      <a:pt x="40" y="28"/>
                    </a:moveTo>
                    <a:cubicBezTo>
                      <a:pt x="12" y="28"/>
                      <a:pt x="12" y="28"/>
                      <a:pt x="12" y="28"/>
                    </a:cubicBezTo>
                    <a:cubicBezTo>
                      <a:pt x="11" y="28"/>
                      <a:pt x="10" y="27"/>
                      <a:pt x="10" y="26"/>
                    </a:cubicBezTo>
                    <a:cubicBezTo>
                      <a:pt x="10" y="4"/>
                      <a:pt x="10" y="4"/>
                      <a:pt x="10" y="4"/>
                    </a:cubicBezTo>
                    <a:cubicBezTo>
                      <a:pt x="2" y="4"/>
                      <a:pt x="2" y="4"/>
                      <a:pt x="2" y="4"/>
                    </a:cubicBezTo>
                    <a:cubicBezTo>
                      <a:pt x="1" y="4"/>
                      <a:pt x="0" y="3"/>
                      <a:pt x="0" y="2"/>
                    </a:cubicBezTo>
                    <a:cubicBezTo>
                      <a:pt x="0" y="1"/>
                      <a:pt x="1" y="0"/>
                      <a:pt x="2" y="0"/>
                    </a:cubicBezTo>
                    <a:cubicBezTo>
                      <a:pt x="12" y="0"/>
                      <a:pt x="12" y="0"/>
                      <a:pt x="12" y="0"/>
                    </a:cubicBezTo>
                    <a:cubicBezTo>
                      <a:pt x="13" y="0"/>
                      <a:pt x="14" y="1"/>
                      <a:pt x="14" y="2"/>
                    </a:cubicBezTo>
                    <a:cubicBezTo>
                      <a:pt x="14" y="8"/>
                      <a:pt x="14" y="8"/>
                      <a:pt x="14" y="8"/>
                    </a:cubicBezTo>
                    <a:cubicBezTo>
                      <a:pt x="40" y="8"/>
                      <a:pt x="40" y="8"/>
                      <a:pt x="40" y="8"/>
                    </a:cubicBezTo>
                    <a:cubicBezTo>
                      <a:pt x="41" y="8"/>
                      <a:pt x="42" y="9"/>
                      <a:pt x="42" y="10"/>
                    </a:cubicBezTo>
                    <a:cubicBezTo>
                      <a:pt x="42" y="26"/>
                      <a:pt x="42" y="26"/>
                      <a:pt x="42" y="26"/>
                    </a:cubicBezTo>
                    <a:cubicBezTo>
                      <a:pt x="42" y="27"/>
                      <a:pt x="41" y="28"/>
                      <a:pt x="40" y="28"/>
                    </a:cubicBezTo>
                    <a:close/>
                    <a:moveTo>
                      <a:pt x="14" y="24"/>
                    </a:moveTo>
                    <a:cubicBezTo>
                      <a:pt x="38" y="24"/>
                      <a:pt x="38" y="24"/>
                      <a:pt x="38" y="24"/>
                    </a:cubicBezTo>
                    <a:cubicBezTo>
                      <a:pt x="38" y="12"/>
                      <a:pt x="38" y="12"/>
                      <a:pt x="38" y="12"/>
                    </a:cubicBezTo>
                    <a:cubicBezTo>
                      <a:pt x="14" y="12"/>
                      <a:pt x="14" y="12"/>
                      <a:pt x="14"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1" name="Oval 1598">
                <a:extLst>
                  <a:ext uri="{FF2B5EF4-FFF2-40B4-BE49-F238E27FC236}">
                    <a16:creationId xmlns:a16="http://schemas.microsoft.com/office/drawing/2014/main" id="{B1D36029-8C9F-1532-429B-CDA6F36281BD}"/>
                  </a:ext>
                </a:extLst>
              </p:cNvPr>
              <p:cNvSpPr>
                <a:spLocks noChangeArrowheads="1"/>
              </p:cNvSpPr>
              <p:nvPr/>
            </p:nvSpPr>
            <p:spPr bwMode="auto">
              <a:xfrm>
                <a:off x="6403975"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22" name="Oval 1599">
                <a:extLst>
                  <a:ext uri="{FF2B5EF4-FFF2-40B4-BE49-F238E27FC236}">
                    <a16:creationId xmlns:a16="http://schemas.microsoft.com/office/drawing/2014/main" id="{D3080231-C868-791C-CD2C-ADB02CE74BAA}"/>
                  </a:ext>
                </a:extLst>
              </p:cNvPr>
              <p:cNvSpPr>
                <a:spLocks noChangeArrowheads="1"/>
              </p:cNvSpPr>
              <p:nvPr/>
            </p:nvSpPr>
            <p:spPr bwMode="auto">
              <a:xfrm>
                <a:off x="6478588"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192" name="Group 191">
              <a:extLst>
                <a:ext uri="{FF2B5EF4-FFF2-40B4-BE49-F238E27FC236}">
                  <a16:creationId xmlns:a16="http://schemas.microsoft.com/office/drawing/2014/main" id="{98533B6A-D0A7-627C-27C0-B3EFC25D5251}"/>
                </a:ext>
              </a:extLst>
            </p:cNvPr>
            <p:cNvGrpSpPr/>
            <p:nvPr/>
          </p:nvGrpSpPr>
          <p:grpSpPr>
            <a:xfrm>
              <a:off x="4728242" y="3449915"/>
              <a:ext cx="314061" cy="314062"/>
              <a:chOff x="5554663" y="723900"/>
              <a:chExt cx="346075" cy="346076"/>
            </a:xfrm>
            <a:solidFill>
              <a:schemeClr val="bg1"/>
            </a:solidFill>
          </p:grpSpPr>
          <p:sp>
            <p:nvSpPr>
              <p:cNvPr id="208" name="Freeform 1743">
                <a:extLst>
                  <a:ext uri="{FF2B5EF4-FFF2-40B4-BE49-F238E27FC236}">
                    <a16:creationId xmlns:a16="http://schemas.microsoft.com/office/drawing/2014/main" id="{E36B58EA-01F7-F628-098C-057CE4ED9767}"/>
                  </a:ext>
                </a:extLst>
              </p:cNvPr>
              <p:cNvSpPr>
                <a:spLocks noEditPoints="1"/>
              </p:cNvSpPr>
              <p:nvPr/>
            </p:nvSpPr>
            <p:spPr bwMode="auto">
              <a:xfrm>
                <a:off x="5595938" y="765175"/>
                <a:ext cx="263525" cy="263525"/>
              </a:xfrm>
              <a:custGeom>
                <a:avLst/>
                <a:gdLst>
                  <a:gd name="T0" fmla="*/ 35 w 70"/>
                  <a:gd name="T1" fmla="*/ 70 h 70"/>
                  <a:gd name="T2" fmla="*/ 0 w 70"/>
                  <a:gd name="T3" fmla="*/ 35 h 70"/>
                  <a:gd name="T4" fmla="*/ 35 w 70"/>
                  <a:gd name="T5" fmla="*/ 0 h 70"/>
                  <a:gd name="T6" fmla="*/ 70 w 70"/>
                  <a:gd name="T7" fmla="*/ 35 h 70"/>
                  <a:gd name="T8" fmla="*/ 35 w 70"/>
                  <a:gd name="T9" fmla="*/ 70 h 70"/>
                  <a:gd name="T10" fmla="*/ 35 w 70"/>
                  <a:gd name="T11" fmla="*/ 4 h 70"/>
                  <a:gd name="T12" fmla="*/ 4 w 70"/>
                  <a:gd name="T13" fmla="*/ 35 h 70"/>
                  <a:gd name="T14" fmla="*/ 35 w 70"/>
                  <a:gd name="T15" fmla="*/ 66 h 70"/>
                  <a:gd name="T16" fmla="*/ 66 w 70"/>
                  <a:gd name="T17" fmla="*/ 35 h 70"/>
                  <a:gd name="T18" fmla="*/ 35 w 70"/>
                  <a:gd name="T19"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70">
                    <a:moveTo>
                      <a:pt x="35" y="70"/>
                    </a:moveTo>
                    <a:cubicBezTo>
                      <a:pt x="16" y="70"/>
                      <a:pt x="0" y="54"/>
                      <a:pt x="0" y="35"/>
                    </a:cubicBezTo>
                    <a:cubicBezTo>
                      <a:pt x="0" y="16"/>
                      <a:pt x="16" y="0"/>
                      <a:pt x="35" y="0"/>
                    </a:cubicBezTo>
                    <a:cubicBezTo>
                      <a:pt x="54" y="0"/>
                      <a:pt x="70" y="16"/>
                      <a:pt x="70" y="35"/>
                    </a:cubicBezTo>
                    <a:cubicBezTo>
                      <a:pt x="70" y="54"/>
                      <a:pt x="54" y="70"/>
                      <a:pt x="35" y="70"/>
                    </a:cubicBezTo>
                    <a:close/>
                    <a:moveTo>
                      <a:pt x="35" y="4"/>
                    </a:moveTo>
                    <a:cubicBezTo>
                      <a:pt x="18" y="4"/>
                      <a:pt x="4" y="18"/>
                      <a:pt x="4" y="35"/>
                    </a:cubicBezTo>
                    <a:cubicBezTo>
                      <a:pt x="4" y="52"/>
                      <a:pt x="18" y="66"/>
                      <a:pt x="35" y="66"/>
                    </a:cubicBezTo>
                    <a:cubicBezTo>
                      <a:pt x="52" y="66"/>
                      <a:pt x="66" y="52"/>
                      <a:pt x="66" y="35"/>
                    </a:cubicBezTo>
                    <a:cubicBezTo>
                      <a:pt x="66" y="18"/>
                      <a:pt x="52" y="4"/>
                      <a:pt x="3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9" name="Freeform 1744">
                <a:extLst>
                  <a:ext uri="{FF2B5EF4-FFF2-40B4-BE49-F238E27FC236}">
                    <a16:creationId xmlns:a16="http://schemas.microsoft.com/office/drawing/2014/main" id="{1C0539AA-D610-FD24-019D-59BCA04DB1D2}"/>
                  </a:ext>
                </a:extLst>
              </p:cNvPr>
              <p:cNvSpPr>
                <a:spLocks/>
              </p:cNvSpPr>
              <p:nvPr/>
            </p:nvSpPr>
            <p:spPr bwMode="auto">
              <a:xfrm>
                <a:off x="5719763" y="723900"/>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0" name="Freeform 1745">
                <a:extLst>
                  <a:ext uri="{FF2B5EF4-FFF2-40B4-BE49-F238E27FC236}">
                    <a16:creationId xmlns:a16="http://schemas.microsoft.com/office/drawing/2014/main" id="{D49FB918-A20D-5C86-44A5-90BB6CABEE1D}"/>
                  </a:ext>
                </a:extLst>
              </p:cNvPr>
              <p:cNvSpPr>
                <a:spLocks/>
              </p:cNvSpPr>
              <p:nvPr/>
            </p:nvSpPr>
            <p:spPr bwMode="auto">
              <a:xfrm>
                <a:off x="5554663" y="889000"/>
                <a:ext cx="87313"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1" name="Freeform 1746">
                <a:extLst>
                  <a:ext uri="{FF2B5EF4-FFF2-40B4-BE49-F238E27FC236}">
                    <a16:creationId xmlns:a16="http://schemas.microsoft.com/office/drawing/2014/main" id="{4343F645-E9ED-4BBC-341E-66DAA88D2D04}"/>
                  </a:ext>
                </a:extLst>
              </p:cNvPr>
              <p:cNvSpPr>
                <a:spLocks/>
              </p:cNvSpPr>
              <p:nvPr/>
            </p:nvSpPr>
            <p:spPr bwMode="auto">
              <a:xfrm>
                <a:off x="5719763" y="982663"/>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2" name="Freeform 1747">
                <a:extLst>
                  <a:ext uri="{FF2B5EF4-FFF2-40B4-BE49-F238E27FC236}">
                    <a16:creationId xmlns:a16="http://schemas.microsoft.com/office/drawing/2014/main" id="{54EC03E6-08FD-ACDA-5352-5028DB2E22F0}"/>
                  </a:ext>
                </a:extLst>
              </p:cNvPr>
              <p:cNvSpPr>
                <a:spLocks/>
              </p:cNvSpPr>
              <p:nvPr/>
            </p:nvSpPr>
            <p:spPr bwMode="auto">
              <a:xfrm>
                <a:off x="5815013" y="889000"/>
                <a:ext cx="85725"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3" name="Freeform 1748">
                <a:extLst>
                  <a:ext uri="{FF2B5EF4-FFF2-40B4-BE49-F238E27FC236}">
                    <a16:creationId xmlns:a16="http://schemas.microsoft.com/office/drawing/2014/main" id="{27A261C6-D219-9858-7EA7-D157AA668D8B}"/>
                  </a:ext>
                </a:extLst>
              </p:cNvPr>
              <p:cNvSpPr>
                <a:spLocks/>
              </p:cNvSpPr>
              <p:nvPr/>
            </p:nvSpPr>
            <p:spPr bwMode="auto">
              <a:xfrm>
                <a:off x="5697538" y="844550"/>
                <a:ext cx="60325" cy="104775"/>
              </a:xfrm>
              <a:custGeom>
                <a:avLst/>
                <a:gdLst>
                  <a:gd name="T0" fmla="*/ 8 w 16"/>
                  <a:gd name="T1" fmla="*/ 28 h 28"/>
                  <a:gd name="T2" fmla="*/ 0 w 16"/>
                  <a:gd name="T3" fmla="*/ 20 h 28"/>
                  <a:gd name="T4" fmla="*/ 2 w 16"/>
                  <a:gd name="T5" fmla="*/ 18 h 28"/>
                  <a:gd name="T6" fmla="*/ 4 w 16"/>
                  <a:gd name="T7" fmla="*/ 20 h 28"/>
                  <a:gd name="T8" fmla="*/ 8 w 16"/>
                  <a:gd name="T9" fmla="*/ 24 h 28"/>
                  <a:gd name="T10" fmla="*/ 12 w 16"/>
                  <a:gd name="T11" fmla="*/ 20 h 28"/>
                  <a:gd name="T12" fmla="*/ 8 w 16"/>
                  <a:gd name="T13" fmla="*/ 16 h 28"/>
                  <a:gd name="T14" fmla="*/ 0 w 16"/>
                  <a:gd name="T15" fmla="*/ 8 h 28"/>
                  <a:gd name="T16" fmla="*/ 8 w 16"/>
                  <a:gd name="T17" fmla="*/ 0 h 28"/>
                  <a:gd name="T18" fmla="*/ 16 w 16"/>
                  <a:gd name="T19" fmla="*/ 8 h 28"/>
                  <a:gd name="T20" fmla="*/ 14 w 16"/>
                  <a:gd name="T21" fmla="*/ 10 h 28"/>
                  <a:gd name="T22" fmla="*/ 12 w 16"/>
                  <a:gd name="T23" fmla="*/ 8 h 28"/>
                  <a:gd name="T24" fmla="*/ 8 w 16"/>
                  <a:gd name="T25" fmla="*/ 4 h 28"/>
                  <a:gd name="T26" fmla="*/ 4 w 16"/>
                  <a:gd name="T27" fmla="*/ 8 h 28"/>
                  <a:gd name="T28" fmla="*/ 8 w 16"/>
                  <a:gd name="T29" fmla="*/ 12 h 28"/>
                  <a:gd name="T30" fmla="*/ 16 w 16"/>
                  <a:gd name="T31" fmla="*/ 20 h 28"/>
                  <a:gd name="T32" fmla="*/ 8 w 16"/>
                  <a:gd name="T3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8">
                    <a:moveTo>
                      <a:pt x="8" y="28"/>
                    </a:moveTo>
                    <a:cubicBezTo>
                      <a:pt x="4" y="28"/>
                      <a:pt x="0" y="24"/>
                      <a:pt x="0" y="20"/>
                    </a:cubicBezTo>
                    <a:cubicBezTo>
                      <a:pt x="0" y="19"/>
                      <a:pt x="1" y="18"/>
                      <a:pt x="2" y="18"/>
                    </a:cubicBezTo>
                    <a:cubicBezTo>
                      <a:pt x="3" y="18"/>
                      <a:pt x="4" y="19"/>
                      <a:pt x="4" y="20"/>
                    </a:cubicBezTo>
                    <a:cubicBezTo>
                      <a:pt x="4" y="22"/>
                      <a:pt x="6" y="24"/>
                      <a:pt x="8" y="24"/>
                    </a:cubicBezTo>
                    <a:cubicBezTo>
                      <a:pt x="10" y="24"/>
                      <a:pt x="12" y="22"/>
                      <a:pt x="12" y="20"/>
                    </a:cubicBezTo>
                    <a:cubicBezTo>
                      <a:pt x="12" y="18"/>
                      <a:pt x="10" y="16"/>
                      <a:pt x="8" y="16"/>
                    </a:cubicBezTo>
                    <a:cubicBezTo>
                      <a:pt x="4" y="16"/>
                      <a:pt x="0" y="12"/>
                      <a:pt x="0" y="8"/>
                    </a:cubicBezTo>
                    <a:cubicBezTo>
                      <a:pt x="0" y="3"/>
                      <a:pt x="4" y="0"/>
                      <a:pt x="8" y="0"/>
                    </a:cubicBezTo>
                    <a:cubicBezTo>
                      <a:pt x="12" y="0"/>
                      <a:pt x="16" y="3"/>
                      <a:pt x="16" y="8"/>
                    </a:cubicBezTo>
                    <a:cubicBezTo>
                      <a:pt x="16" y="9"/>
                      <a:pt x="15" y="10"/>
                      <a:pt x="14" y="10"/>
                    </a:cubicBezTo>
                    <a:cubicBezTo>
                      <a:pt x="13" y="10"/>
                      <a:pt x="12" y="9"/>
                      <a:pt x="12" y="8"/>
                    </a:cubicBezTo>
                    <a:cubicBezTo>
                      <a:pt x="12" y="5"/>
                      <a:pt x="10" y="4"/>
                      <a:pt x="8" y="4"/>
                    </a:cubicBezTo>
                    <a:cubicBezTo>
                      <a:pt x="6" y="4"/>
                      <a:pt x="4" y="5"/>
                      <a:pt x="4" y="8"/>
                    </a:cubicBezTo>
                    <a:cubicBezTo>
                      <a:pt x="4" y="10"/>
                      <a:pt x="6" y="12"/>
                      <a:pt x="8" y="12"/>
                    </a:cubicBezTo>
                    <a:cubicBezTo>
                      <a:pt x="12" y="12"/>
                      <a:pt x="16" y="15"/>
                      <a:pt x="16" y="20"/>
                    </a:cubicBezTo>
                    <a:cubicBezTo>
                      <a:pt x="16" y="24"/>
                      <a:pt x="12" y="28"/>
                      <a:pt x="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4" name="Freeform 1749">
                <a:extLst>
                  <a:ext uri="{FF2B5EF4-FFF2-40B4-BE49-F238E27FC236}">
                    <a16:creationId xmlns:a16="http://schemas.microsoft.com/office/drawing/2014/main" id="{A88C03D4-12DB-5F5C-78C0-316889E94524}"/>
                  </a:ext>
                </a:extLst>
              </p:cNvPr>
              <p:cNvSpPr>
                <a:spLocks/>
              </p:cNvSpPr>
              <p:nvPr/>
            </p:nvSpPr>
            <p:spPr bwMode="auto">
              <a:xfrm>
                <a:off x="5719763" y="828675"/>
                <a:ext cx="15875" cy="136525"/>
              </a:xfrm>
              <a:custGeom>
                <a:avLst/>
                <a:gdLst>
                  <a:gd name="T0" fmla="*/ 2 w 4"/>
                  <a:gd name="T1" fmla="*/ 36 h 36"/>
                  <a:gd name="T2" fmla="*/ 0 w 4"/>
                  <a:gd name="T3" fmla="*/ 34 h 36"/>
                  <a:gd name="T4" fmla="*/ 0 w 4"/>
                  <a:gd name="T5" fmla="*/ 2 h 36"/>
                  <a:gd name="T6" fmla="*/ 2 w 4"/>
                  <a:gd name="T7" fmla="*/ 0 h 36"/>
                  <a:gd name="T8" fmla="*/ 4 w 4"/>
                  <a:gd name="T9" fmla="*/ 2 h 36"/>
                  <a:gd name="T10" fmla="*/ 4 w 4"/>
                  <a:gd name="T11" fmla="*/ 34 h 36"/>
                  <a:gd name="T12" fmla="*/ 2 w 4"/>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4" h="36">
                    <a:moveTo>
                      <a:pt x="2" y="36"/>
                    </a:moveTo>
                    <a:cubicBezTo>
                      <a:pt x="1" y="36"/>
                      <a:pt x="0" y="35"/>
                      <a:pt x="0" y="34"/>
                    </a:cubicBezTo>
                    <a:cubicBezTo>
                      <a:pt x="0" y="2"/>
                      <a:pt x="0" y="2"/>
                      <a:pt x="0" y="2"/>
                    </a:cubicBezTo>
                    <a:cubicBezTo>
                      <a:pt x="0" y="1"/>
                      <a:pt x="1" y="0"/>
                      <a:pt x="2" y="0"/>
                    </a:cubicBezTo>
                    <a:cubicBezTo>
                      <a:pt x="3" y="0"/>
                      <a:pt x="4" y="1"/>
                      <a:pt x="4" y="2"/>
                    </a:cubicBezTo>
                    <a:cubicBezTo>
                      <a:pt x="4" y="34"/>
                      <a:pt x="4" y="34"/>
                      <a:pt x="4" y="34"/>
                    </a:cubicBezTo>
                    <a:cubicBezTo>
                      <a:pt x="4" y="35"/>
                      <a:pt x="3" y="36"/>
                      <a:pt x="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193" name="Group 192">
              <a:extLst>
                <a:ext uri="{FF2B5EF4-FFF2-40B4-BE49-F238E27FC236}">
                  <a16:creationId xmlns:a16="http://schemas.microsoft.com/office/drawing/2014/main" id="{47AD011F-94A7-ADE4-388E-78EF1F338B5E}"/>
                </a:ext>
              </a:extLst>
            </p:cNvPr>
            <p:cNvGrpSpPr/>
            <p:nvPr/>
          </p:nvGrpSpPr>
          <p:grpSpPr>
            <a:xfrm>
              <a:off x="4729683" y="4477576"/>
              <a:ext cx="311179" cy="327027"/>
              <a:chOff x="7718425" y="1082675"/>
              <a:chExt cx="342900" cy="360363"/>
            </a:xfrm>
            <a:solidFill>
              <a:schemeClr val="bg1"/>
            </a:solidFill>
          </p:grpSpPr>
          <p:sp>
            <p:nvSpPr>
              <p:cNvPr id="205" name="Freeform 656">
                <a:extLst>
                  <a:ext uri="{FF2B5EF4-FFF2-40B4-BE49-F238E27FC236}">
                    <a16:creationId xmlns:a16="http://schemas.microsoft.com/office/drawing/2014/main" id="{6987A5A7-6359-A3EC-9AF6-51711302299C}"/>
                  </a:ext>
                </a:extLst>
              </p:cNvPr>
              <p:cNvSpPr>
                <a:spLocks noEditPoints="1"/>
              </p:cNvSpPr>
              <p:nvPr/>
            </p:nvSpPr>
            <p:spPr bwMode="auto">
              <a:xfrm>
                <a:off x="7718425" y="1203325"/>
                <a:ext cx="301625" cy="239713"/>
              </a:xfrm>
              <a:custGeom>
                <a:avLst/>
                <a:gdLst>
                  <a:gd name="T0" fmla="*/ 78 w 80"/>
                  <a:gd name="T1" fmla="*/ 64 h 64"/>
                  <a:gd name="T2" fmla="*/ 2 w 80"/>
                  <a:gd name="T3" fmla="*/ 64 h 64"/>
                  <a:gd name="T4" fmla="*/ 0 w 80"/>
                  <a:gd name="T5" fmla="*/ 62 h 64"/>
                  <a:gd name="T6" fmla="*/ 0 w 80"/>
                  <a:gd name="T7" fmla="*/ 2 h 64"/>
                  <a:gd name="T8" fmla="*/ 2 w 80"/>
                  <a:gd name="T9" fmla="*/ 0 h 64"/>
                  <a:gd name="T10" fmla="*/ 78 w 80"/>
                  <a:gd name="T11" fmla="*/ 0 h 64"/>
                  <a:gd name="T12" fmla="*/ 80 w 80"/>
                  <a:gd name="T13" fmla="*/ 2 h 64"/>
                  <a:gd name="T14" fmla="*/ 80 w 80"/>
                  <a:gd name="T15" fmla="*/ 62 h 64"/>
                  <a:gd name="T16" fmla="*/ 78 w 80"/>
                  <a:gd name="T17" fmla="*/ 64 h 64"/>
                  <a:gd name="T18" fmla="*/ 4 w 80"/>
                  <a:gd name="T19" fmla="*/ 60 h 64"/>
                  <a:gd name="T20" fmla="*/ 76 w 80"/>
                  <a:gd name="T21" fmla="*/ 60 h 64"/>
                  <a:gd name="T22" fmla="*/ 76 w 80"/>
                  <a:gd name="T23" fmla="*/ 4 h 64"/>
                  <a:gd name="T24" fmla="*/ 4 w 80"/>
                  <a:gd name="T25" fmla="*/ 4 h 64"/>
                  <a:gd name="T26" fmla="*/ 4 w 80"/>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64">
                    <a:moveTo>
                      <a:pt x="78" y="64"/>
                    </a:moveTo>
                    <a:cubicBezTo>
                      <a:pt x="2" y="64"/>
                      <a:pt x="2" y="64"/>
                      <a:pt x="2" y="64"/>
                    </a:cubicBezTo>
                    <a:cubicBezTo>
                      <a:pt x="1" y="64"/>
                      <a:pt x="0" y="63"/>
                      <a:pt x="0" y="62"/>
                    </a:cubicBezTo>
                    <a:cubicBezTo>
                      <a:pt x="0" y="2"/>
                      <a:pt x="0" y="2"/>
                      <a:pt x="0" y="2"/>
                    </a:cubicBezTo>
                    <a:cubicBezTo>
                      <a:pt x="0" y="1"/>
                      <a:pt x="1" y="0"/>
                      <a:pt x="2" y="0"/>
                    </a:cubicBezTo>
                    <a:cubicBezTo>
                      <a:pt x="78" y="0"/>
                      <a:pt x="78" y="0"/>
                      <a:pt x="78" y="0"/>
                    </a:cubicBezTo>
                    <a:cubicBezTo>
                      <a:pt x="79" y="0"/>
                      <a:pt x="80" y="1"/>
                      <a:pt x="80" y="2"/>
                    </a:cubicBezTo>
                    <a:cubicBezTo>
                      <a:pt x="80" y="62"/>
                      <a:pt x="80" y="62"/>
                      <a:pt x="80" y="62"/>
                    </a:cubicBezTo>
                    <a:cubicBezTo>
                      <a:pt x="80" y="63"/>
                      <a:pt x="79" y="64"/>
                      <a:pt x="78" y="64"/>
                    </a:cubicBezTo>
                    <a:close/>
                    <a:moveTo>
                      <a:pt x="4" y="60"/>
                    </a:moveTo>
                    <a:cubicBezTo>
                      <a:pt x="76" y="60"/>
                      <a:pt x="76" y="60"/>
                      <a:pt x="76" y="60"/>
                    </a:cubicBezTo>
                    <a:cubicBezTo>
                      <a:pt x="76" y="4"/>
                      <a:pt x="76" y="4"/>
                      <a:pt x="76" y="4"/>
                    </a:cubicBezTo>
                    <a:cubicBezTo>
                      <a:pt x="4" y="4"/>
                      <a:pt x="4" y="4"/>
                      <a:pt x="4" y="4"/>
                    </a:cubicBezTo>
                    <a:lnTo>
                      <a:pt x="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6" name="Freeform 657">
                <a:extLst>
                  <a:ext uri="{FF2B5EF4-FFF2-40B4-BE49-F238E27FC236}">
                    <a16:creationId xmlns:a16="http://schemas.microsoft.com/office/drawing/2014/main" id="{6C113E51-4EB0-9357-483D-A63DBB7E34CB}"/>
                  </a:ext>
                </a:extLst>
              </p:cNvPr>
              <p:cNvSpPr>
                <a:spLocks/>
              </p:cNvSpPr>
              <p:nvPr/>
            </p:nvSpPr>
            <p:spPr bwMode="auto">
              <a:xfrm>
                <a:off x="7794625" y="1082675"/>
                <a:ext cx="149225" cy="104775"/>
              </a:xfrm>
              <a:custGeom>
                <a:avLst/>
                <a:gdLst>
                  <a:gd name="T0" fmla="*/ 38 w 40"/>
                  <a:gd name="T1" fmla="*/ 28 h 28"/>
                  <a:gd name="T2" fmla="*/ 36 w 40"/>
                  <a:gd name="T3" fmla="*/ 26 h 28"/>
                  <a:gd name="T4" fmla="*/ 36 w 40"/>
                  <a:gd name="T5" fmla="*/ 20 h 28"/>
                  <a:gd name="T6" fmla="*/ 20 w 40"/>
                  <a:gd name="T7" fmla="*/ 4 h 28"/>
                  <a:gd name="T8" fmla="*/ 4 w 40"/>
                  <a:gd name="T9" fmla="*/ 20 h 28"/>
                  <a:gd name="T10" fmla="*/ 4 w 40"/>
                  <a:gd name="T11" fmla="*/ 26 h 28"/>
                  <a:gd name="T12" fmla="*/ 2 w 40"/>
                  <a:gd name="T13" fmla="*/ 28 h 28"/>
                  <a:gd name="T14" fmla="*/ 0 w 40"/>
                  <a:gd name="T15" fmla="*/ 26 h 28"/>
                  <a:gd name="T16" fmla="*/ 0 w 40"/>
                  <a:gd name="T17" fmla="*/ 20 h 28"/>
                  <a:gd name="T18" fmla="*/ 20 w 40"/>
                  <a:gd name="T19" fmla="*/ 0 h 28"/>
                  <a:gd name="T20" fmla="*/ 40 w 40"/>
                  <a:gd name="T21" fmla="*/ 20 h 28"/>
                  <a:gd name="T22" fmla="*/ 40 w 40"/>
                  <a:gd name="T23" fmla="*/ 26 h 28"/>
                  <a:gd name="T24" fmla="*/ 38 w 40"/>
                  <a:gd name="T25"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28">
                    <a:moveTo>
                      <a:pt x="38" y="28"/>
                    </a:moveTo>
                    <a:cubicBezTo>
                      <a:pt x="37" y="28"/>
                      <a:pt x="36" y="27"/>
                      <a:pt x="36" y="26"/>
                    </a:cubicBezTo>
                    <a:cubicBezTo>
                      <a:pt x="36" y="20"/>
                      <a:pt x="36" y="20"/>
                      <a:pt x="36" y="20"/>
                    </a:cubicBezTo>
                    <a:cubicBezTo>
                      <a:pt x="36" y="11"/>
                      <a:pt x="29" y="4"/>
                      <a:pt x="20" y="4"/>
                    </a:cubicBezTo>
                    <a:cubicBezTo>
                      <a:pt x="11" y="4"/>
                      <a:pt x="4" y="11"/>
                      <a:pt x="4" y="20"/>
                    </a:cubicBezTo>
                    <a:cubicBezTo>
                      <a:pt x="4" y="26"/>
                      <a:pt x="4" y="26"/>
                      <a:pt x="4" y="26"/>
                    </a:cubicBezTo>
                    <a:cubicBezTo>
                      <a:pt x="4" y="27"/>
                      <a:pt x="3" y="28"/>
                      <a:pt x="2" y="28"/>
                    </a:cubicBezTo>
                    <a:cubicBezTo>
                      <a:pt x="1" y="28"/>
                      <a:pt x="0" y="27"/>
                      <a:pt x="0" y="26"/>
                    </a:cubicBezTo>
                    <a:cubicBezTo>
                      <a:pt x="0" y="20"/>
                      <a:pt x="0" y="20"/>
                      <a:pt x="0" y="20"/>
                    </a:cubicBezTo>
                    <a:cubicBezTo>
                      <a:pt x="0" y="9"/>
                      <a:pt x="9" y="0"/>
                      <a:pt x="20" y="0"/>
                    </a:cubicBezTo>
                    <a:cubicBezTo>
                      <a:pt x="31" y="0"/>
                      <a:pt x="40" y="9"/>
                      <a:pt x="40" y="20"/>
                    </a:cubicBezTo>
                    <a:cubicBezTo>
                      <a:pt x="40" y="26"/>
                      <a:pt x="40" y="26"/>
                      <a:pt x="40" y="26"/>
                    </a:cubicBezTo>
                    <a:cubicBezTo>
                      <a:pt x="40" y="27"/>
                      <a:pt x="39" y="28"/>
                      <a:pt x="3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7" name="Freeform 658">
                <a:extLst>
                  <a:ext uri="{FF2B5EF4-FFF2-40B4-BE49-F238E27FC236}">
                    <a16:creationId xmlns:a16="http://schemas.microsoft.com/office/drawing/2014/main" id="{F3316D24-C47A-D4A5-08A4-772FE11B14D9}"/>
                  </a:ext>
                </a:extLst>
              </p:cNvPr>
              <p:cNvSpPr>
                <a:spLocks noEditPoints="1"/>
              </p:cNvSpPr>
              <p:nvPr/>
            </p:nvSpPr>
            <p:spPr bwMode="auto">
              <a:xfrm>
                <a:off x="7959725" y="1093788"/>
                <a:ext cx="101600" cy="101600"/>
              </a:xfrm>
              <a:custGeom>
                <a:avLst/>
                <a:gdLst>
                  <a:gd name="T0" fmla="*/ 10 w 27"/>
                  <a:gd name="T1" fmla="*/ 27 h 27"/>
                  <a:gd name="T2" fmla="*/ 2 w 27"/>
                  <a:gd name="T3" fmla="*/ 27 h 27"/>
                  <a:gd name="T4" fmla="*/ 0 w 27"/>
                  <a:gd name="T5" fmla="*/ 25 h 27"/>
                  <a:gd name="T6" fmla="*/ 0 w 27"/>
                  <a:gd name="T7" fmla="*/ 17 h 27"/>
                  <a:gd name="T8" fmla="*/ 1 w 27"/>
                  <a:gd name="T9" fmla="*/ 15 h 27"/>
                  <a:gd name="T10" fmla="*/ 15 w 27"/>
                  <a:gd name="T11" fmla="*/ 1 h 27"/>
                  <a:gd name="T12" fmla="*/ 16 w 27"/>
                  <a:gd name="T13" fmla="*/ 0 h 27"/>
                  <a:gd name="T14" fmla="*/ 16 w 27"/>
                  <a:gd name="T15" fmla="*/ 0 h 27"/>
                  <a:gd name="T16" fmla="*/ 18 w 27"/>
                  <a:gd name="T17" fmla="*/ 1 h 27"/>
                  <a:gd name="T18" fmla="*/ 26 w 27"/>
                  <a:gd name="T19" fmla="*/ 9 h 27"/>
                  <a:gd name="T20" fmla="*/ 26 w 27"/>
                  <a:gd name="T21" fmla="*/ 12 h 27"/>
                  <a:gd name="T22" fmla="*/ 12 w 27"/>
                  <a:gd name="T23" fmla="*/ 26 h 27"/>
                  <a:gd name="T24" fmla="*/ 10 w 27"/>
                  <a:gd name="T25" fmla="*/ 27 h 27"/>
                  <a:gd name="T26" fmla="*/ 4 w 27"/>
                  <a:gd name="T27" fmla="*/ 23 h 27"/>
                  <a:gd name="T28" fmla="*/ 10 w 27"/>
                  <a:gd name="T29" fmla="*/ 23 h 27"/>
                  <a:gd name="T30" fmla="*/ 22 w 27"/>
                  <a:gd name="T31" fmla="*/ 11 h 27"/>
                  <a:gd name="T32" fmla="*/ 16 w 27"/>
                  <a:gd name="T33" fmla="*/ 5 h 27"/>
                  <a:gd name="T34" fmla="*/ 4 w 27"/>
                  <a:gd name="T35" fmla="*/ 17 h 27"/>
                  <a:gd name="T36" fmla="*/ 4 w 27"/>
                  <a:gd name="T3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7">
                    <a:moveTo>
                      <a:pt x="10" y="27"/>
                    </a:moveTo>
                    <a:cubicBezTo>
                      <a:pt x="2" y="27"/>
                      <a:pt x="2" y="27"/>
                      <a:pt x="2" y="27"/>
                    </a:cubicBezTo>
                    <a:cubicBezTo>
                      <a:pt x="1" y="27"/>
                      <a:pt x="0" y="26"/>
                      <a:pt x="0" y="25"/>
                    </a:cubicBezTo>
                    <a:cubicBezTo>
                      <a:pt x="0" y="17"/>
                      <a:pt x="0" y="17"/>
                      <a:pt x="0" y="17"/>
                    </a:cubicBezTo>
                    <a:cubicBezTo>
                      <a:pt x="0" y="16"/>
                      <a:pt x="0" y="15"/>
                      <a:pt x="1" y="15"/>
                    </a:cubicBezTo>
                    <a:cubicBezTo>
                      <a:pt x="15" y="1"/>
                      <a:pt x="15" y="1"/>
                      <a:pt x="15" y="1"/>
                    </a:cubicBezTo>
                    <a:cubicBezTo>
                      <a:pt x="15" y="1"/>
                      <a:pt x="16" y="0"/>
                      <a:pt x="16" y="0"/>
                    </a:cubicBezTo>
                    <a:cubicBezTo>
                      <a:pt x="16" y="0"/>
                      <a:pt x="16" y="0"/>
                      <a:pt x="16" y="0"/>
                    </a:cubicBezTo>
                    <a:cubicBezTo>
                      <a:pt x="17" y="0"/>
                      <a:pt x="17" y="1"/>
                      <a:pt x="18" y="1"/>
                    </a:cubicBezTo>
                    <a:cubicBezTo>
                      <a:pt x="26" y="9"/>
                      <a:pt x="26" y="9"/>
                      <a:pt x="26" y="9"/>
                    </a:cubicBezTo>
                    <a:cubicBezTo>
                      <a:pt x="27" y="10"/>
                      <a:pt x="27" y="11"/>
                      <a:pt x="26" y="12"/>
                    </a:cubicBezTo>
                    <a:cubicBezTo>
                      <a:pt x="12" y="26"/>
                      <a:pt x="12" y="26"/>
                      <a:pt x="12" y="26"/>
                    </a:cubicBezTo>
                    <a:cubicBezTo>
                      <a:pt x="12" y="27"/>
                      <a:pt x="11" y="27"/>
                      <a:pt x="10" y="27"/>
                    </a:cubicBezTo>
                    <a:close/>
                    <a:moveTo>
                      <a:pt x="4" y="23"/>
                    </a:moveTo>
                    <a:cubicBezTo>
                      <a:pt x="10" y="23"/>
                      <a:pt x="10" y="23"/>
                      <a:pt x="10" y="23"/>
                    </a:cubicBezTo>
                    <a:cubicBezTo>
                      <a:pt x="22" y="11"/>
                      <a:pt x="22" y="11"/>
                      <a:pt x="22" y="11"/>
                    </a:cubicBezTo>
                    <a:cubicBezTo>
                      <a:pt x="16" y="5"/>
                      <a:pt x="16" y="5"/>
                      <a:pt x="16" y="5"/>
                    </a:cubicBezTo>
                    <a:cubicBezTo>
                      <a:pt x="4" y="17"/>
                      <a:pt x="4" y="17"/>
                      <a:pt x="4" y="17"/>
                    </a:cubicBez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194" name="Group 193">
              <a:extLst>
                <a:ext uri="{FF2B5EF4-FFF2-40B4-BE49-F238E27FC236}">
                  <a16:creationId xmlns:a16="http://schemas.microsoft.com/office/drawing/2014/main" id="{20751793-788F-8C36-7C47-F4D434446BCB}"/>
                </a:ext>
              </a:extLst>
            </p:cNvPr>
            <p:cNvGrpSpPr/>
            <p:nvPr/>
          </p:nvGrpSpPr>
          <p:grpSpPr>
            <a:xfrm>
              <a:off x="4721759" y="5531888"/>
              <a:ext cx="327027" cy="286689"/>
              <a:chOff x="2670175" y="1112838"/>
              <a:chExt cx="360363" cy="315913"/>
            </a:xfrm>
            <a:solidFill>
              <a:schemeClr val="bg1"/>
            </a:solidFill>
          </p:grpSpPr>
          <p:sp>
            <p:nvSpPr>
              <p:cNvPr id="196" name="Freeform 793">
                <a:extLst>
                  <a:ext uri="{FF2B5EF4-FFF2-40B4-BE49-F238E27FC236}">
                    <a16:creationId xmlns:a16="http://schemas.microsoft.com/office/drawing/2014/main" id="{8295121E-7A53-5EED-FA35-C8795EF7989B}"/>
                  </a:ext>
                </a:extLst>
              </p:cNvPr>
              <p:cNvSpPr>
                <a:spLocks/>
              </p:cNvSpPr>
              <p:nvPr/>
            </p:nvSpPr>
            <p:spPr bwMode="auto">
              <a:xfrm>
                <a:off x="2700338" y="1228725"/>
                <a:ext cx="300038" cy="200025"/>
              </a:xfrm>
              <a:custGeom>
                <a:avLst/>
                <a:gdLst>
                  <a:gd name="T0" fmla="*/ 78 w 80"/>
                  <a:gd name="T1" fmla="*/ 53 h 53"/>
                  <a:gd name="T2" fmla="*/ 2 w 80"/>
                  <a:gd name="T3" fmla="*/ 53 h 53"/>
                  <a:gd name="T4" fmla="*/ 0 w 80"/>
                  <a:gd name="T5" fmla="*/ 51 h 53"/>
                  <a:gd name="T6" fmla="*/ 0 w 80"/>
                  <a:gd name="T7" fmla="*/ 2 h 53"/>
                  <a:gd name="T8" fmla="*/ 2 w 80"/>
                  <a:gd name="T9" fmla="*/ 0 h 53"/>
                  <a:gd name="T10" fmla="*/ 4 w 80"/>
                  <a:gd name="T11" fmla="*/ 2 h 53"/>
                  <a:gd name="T12" fmla="*/ 4 w 80"/>
                  <a:gd name="T13" fmla="*/ 49 h 53"/>
                  <a:gd name="T14" fmla="*/ 76 w 80"/>
                  <a:gd name="T15" fmla="*/ 49 h 53"/>
                  <a:gd name="T16" fmla="*/ 76 w 80"/>
                  <a:gd name="T17" fmla="*/ 2 h 53"/>
                  <a:gd name="T18" fmla="*/ 78 w 80"/>
                  <a:gd name="T19" fmla="*/ 0 h 53"/>
                  <a:gd name="T20" fmla="*/ 80 w 80"/>
                  <a:gd name="T21" fmla="*/ 2 h 53"/>
                  <a:gd name="T22" fmla="*/ 80 w 80"/>
                  <a:gd name="T23" fmla="*/ 51 h 53"/>
                  <a:gd name="T24" fmla="*/ 78 w 8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3">
                    <a:moveTo>
                      <a:pt x="78" y="53"/>
                    </a:moveTo>
                    <a:cubicBezTo>
                      <a:pt x="2" y="53"/>
                      <a:pt x="2" y="53"/>
                      <a:pt x="2" y="53"/>
                    </a:cubicBezTo>
                    <a:cubicBezTo>
                      <a:pt x="1" y="53"/>
                      <a:pt x="0" y="52"/>
                      <a:pt x="0" y="51"/>
                    </a:cubicBezTo>
                    <a:cubicBezTo>
                      <a:pt x="0" y="2"/>
                      <a:pt x="0" y="2"/>
                      <a:pt x="0" y="2"/>
                    </a:cubicBezTo>
                    <a:cubicBezTo>
                      <a:pt x="0" y="1"/>
                      <a:pt x="1" y="0"/>
                      <a:pt x="2" y="0"/>
                    </a:cubicBezTo>
                    <a:cubicBezTo>
                      <a:pt x="3" y="0"/>
                      <a:pt x="4" y="1"/>
                      <a:pt x="4" y="2"/>
                    </a:cubicBezTo>
                    <a:cubicBezTo>
                      <a:pt x="4" y="49"/>
                      <a:pt x="4" y="49"/>
                      <a:pt x="4" y="49"/>
                    </a:cubicBezTo>
                    <a:cubicBezTo>
                      <a:pt x="76" y="49"/>
                      <a:pt x="76" y="49"/>
                      <a:pt x="76" y="49"/>
                    </a:cubicBezTo>
                    <a:cubicBezTo>
                      <a:pt x="76" y="2"/>
                      <a:pt x="76" y="2"/>
                      <a:pt x="76" y="2"/>
                    </a:cubicBezTo>
                    <a:cubicBezTo>
                      <a:pt x="76" y="1"/>
                      <a:pt x="77" y="0"/>
                      <a:pt x="78" y="0"/>
                    </a:cubicBezTo>
                    <a:cubicBezTo>
                      <a:pt x="79" y="0"/>
                      <a:pt x="80" y="1"/>
                      <a:pt x="80" y="2"/>
                    </a:cubicBezTo>
                    <a:cubicBezTo>
                      <a:pt x="80" y="51"/>
                      <a:pt x="80" y="51"/>
                      <a:pt x="80" y="51"/>
                    </a:cubicBezTo>
                    <a:cubicBezTo>
                      <a:pt x="80" y="52"/>
                      <a:pt x="79" y="53"/>
                      <a:pt x="7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97" name="Freeform 794">
                <a:extLst>
                  <a:ext uri="{FF2B5EF4-FFF2-40B4-BE49-F238E27FC236}">
                    <a16:creationId xmlns:a16="http://schemas.microsoft.com/office/drawing/2014/main" id="{C0ABE799-F7EF-87EE-41FC-899BFFC398F1}"/>
                  </a:ext>
                </a:extLst>
              </p:cNvPr>
              <p:cNvSpPr>
                <a:spLocks noEditPoints="1"/>
              </p:cNvSpPr>
              <p:nvPr/>
            </p:nvSpPr>
            <p:spPr bwMode="auto">
              <a:xfrm>
                <a:off x="2730500" y="1277938"/>
                <a:ext cx="134938" cy="106363"/>
              </a:xfrm>
              <a:custGeom>
                <a:avLst/>
                <a:gdLst>
                  <a:gd name="T0" fmla="*/ 34 w 36"/>
                  <a:gd name="T1" fmla="*/ 28 h 28"/>
                  <a:gd name="T2" fmla="*/ 2 w 36"/>
                  <a:gd name="T3" fmla="*/ 28 h 28"/>
                  <a:gd name="T4" fmla="*/ 0 w 36"/>
                  <a:gd name="T5" fmla="*/ 26 h 28"/>
                  <a:gd name="T6" fmla="*/ 0 w 36"/>
                  <a:gd name="T7" fmla="*/ 2 h 28"/>
                  <a:gd name="T8" fmla="*/ 2 w 36"/>
                  <a:gd name="T9" fmla="*/ 0 h 28"/>
                  <a:gd name="T10" fmla="*/ 34 w 36"/>
                  <a:gd name="T11" fmla="*/ 0 h 28"/>
                  <a:gd name="T12" fmla="*/ 36 w 36"/>
                  <a:gd name="T13" fmla="*/ 2 h 28"/>
                  <a:gd name="T14" fmla="*/ 36 w 36"/>
                  <a:gd name="T15" fmla="*/ 26 h 28"/>
                  <a:gd name="T16" fmla="*/ 34 w 36"/>
                  <a:gd name="T17" fmla="*/ 28 h 28"/>
                  <a:gd name="T18" fmla="*/ 4 w 36"/>
                  <a:gd name="T19" fmla="*/ 24 h 28"/>
                  <a:gd name="T20" fmla="*/ 32 w 36"/>
                  <a:gd name="T21" fmla="*/ 24 h 28"/>
                  <a:gd name="T22" fmla="*/ 32 w 36"/>
                  <a:gd name="T23" fmla="*/ 4 h 28"/>
                  <a:gd name="T24" fmla="*/ 4 w 36"/>
                  <a:gd name="T25" fmla="*/ 4 h 28"/>
                  <a:gd name="T26" fmla="*/ 4 w 36"/>
                  <a:gd name="T2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8">
                    <a:moveTo>
                      <a:pt x="34" y="28"/>
                    </a:moveTo>
                    <a:cubicBezTo>
                      <a:pt x="2" y="28"/>
                      <a:pt x="2" y="28"/>
                      <a:pt x="2" y="28"/>
                    </a:cubicBezTo>
                    <a:cubicBezTo>
                      <a:pt x="1" y="28"/>
                      <a:pt x="0" y="27"/>
                      <a:pt x="0" y="26"/>
                    </a:cubicBezTo>
                    <a:cubicBezTo>
                      <a:pt x="0" y="2"/>
                      <a:pt x="0" y="2"/>
                      <a:pt x="0" y="2"/>
                    </a:cubicBezTo>
                    <a:cubicBezTo>
                      <a:pt x="0" y="1"/>
                      <a:pt x="1" y="0"/>
                      <a:pt x="2" y="0"/>
                    </a:cubicBezTo>
                    <a:cubicBezTo>
                      <a:pt x="34" y="0"/>
                      <a:pt x="34" y="0"/>
                      <a:pt x="34" y="0"/>
                    </a:cubicBezTo>
                    <a:cubicBezTo>
                      <a:pt x="35" y="0"/>
                      <a:pt x="36" y="1"/>
                      <a:pt x="36" y="2"/>
                    </a:cubicBezTo>
                    <a:cubicBezTo>
                      <a:pt x="36" y="26"/>
                      <a:pt x="36" y="26"/>
                      <a:pt x="36" y="26"/>
                    </a:cubicBezTo>
                    <a:cubicBezTo>
                      <a:pt x="36" y="27"/>
                      <a:pt x="35" y="28"/>
                      <a:pt x="34" y="28"/>
                    </a:cubicBezTo>
                    <a:close/>
                    <a:moveTo>
                      <a:pt x="4" y="24"/>
                    </a:moveTo>
                    <a:cubicBezTo>
                      <a:pt x="32" y="24"/>
                      <a:pt x="32" y="24"/>
                      <a:pt x="32" y="24"/>
                    </a:cubicBezTo>
                    <a:cubicBezTo>
                      <a:pt x="32" y="4"/>
                      <a:pt x="32" y="4"/>
                      <a:pt x="32" y="4"/>
                    </a:cubicBezTo>
                    <a:cubicBezTo>
                      <a:pt x="4" y="4"/>
                      <a:pt x="4" y="4"/>
                      <a:pt x="4" y="4"/>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98" name="Freeform 795">
                <a:extLst>
                  <a:ext uri="{FF2B5EF4-FFF2-40B4-BE49-F238E27FC236}">
                    <a16:creationId xmlns:a16="http://schemas.microsoft.com/office/drawing/2014/main" id="{986EB313-5BAE-08C5-E1B0-2157F4945891}"/>
                  </a:ext>
                </a:extLst>
              </p:cNvPr>
              <p:cNvSpPr>
                <a:spLocks noEditPoints="1"/>
              </p:cNvSpPr>
              <p:nvPr/>
            </p:nvSpPr>
            <p:spPr bwMode="auto">
              <a:xfrm>
                <a:off x="2881313" y="1277938"/>
                <a:ext cx="88900" cy="150813"/>
              </a:xfrm>
              <a:custGeom>
                <a:avLst/>
                <a:gdLst>
                  <a:gd name="T0" fmla="*/ 22 w 24"/>
                  <a:gd name="T1" fmla="*/ 40 h 40"/>
                  <a:gd name="T2" fmla="*/ 2 w 24"/>
                  <a:gd name="T3" fmla="*/ 40 h 40"/>
                  <a:gd name="T4" fmla="*/ 0 w 24"/>
                  <a:gd name="T5" fmla="*/ 38 h 40"/>
                  <a:gd name="T6" fmla="*/ 0 w 24"/>
                  <a:gd name="T7" fmla="*/ 2 h 40"/>
                  <a:gd name="T8" fmla="*/ 2 w 24"/>
                  <a:gd name="T9" fmla="*/ 0 h 40"/>
                  <a:gd name="T10" fmla="*/ 22 w 24"/>
                  <a:gd name="T11" fmla="*/ 0 h 40"/>
                  <a:gd name="T12" fmla="*/ 24 w 24"/>
                  <a:gd name="T13" fmla="*/ 2 h 40"/>
                  <a:gd name="T14" fmla="*/ 24 w 24"/>
                  <a:gd name="T15" fmla="*/ 38 h 40"/>
                  <a:gd name="T16" fmla="*/ 22 w 24"/>
                  <a:gd name="T17" fmla="*/ 40 h 40"/>
                  <a:gd name="T18" fmla="*/ 4 w 24"/>
                  <a:gd name="T19" fmla="*/ 36 h 40"/>
                  <a:gd name="T20" fmla="*/ 20 w 24"/>
                  <a:gd name="T21" fmla="*/ 36 h 40"/>
                  <a:gd name="T22" fmla="*/ 20 w 24"/>
                  <a:gd name="T23" fmla="*/ 4 h 40"/>
                  <a:gd name="T24" fmla="*/ 4 w 24"/>
                  <a:gd name="T25" fmla="*/ 4 h 40"/>
                  <a:gd name="T26" fmla="*/ 4 w 24"/>
                  <a:gd name="T27"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40">
                    <a:moveTo>
                      <a:pt x="22" y="40"/>
                    </a:moveTo>
                    <a:cubicBezTo>
                      <a:pt x="2" y="40"/>
                      <a:pt x="2" y="40"/>
                      <a:pt x="2" y="40"/>
                    </a:cubicBezTo>
                    <a:cubicBezTo>
                      <a:pt x="1" y="40"/>
                      <a:pt x="0" y="39"/>
                      <a:pt x="0" y="38"/>
                    </a:cubicBezTo>
                    <a:cubicBezTo>
                      <a:pt x="0" y="2"/>
                      <a:pt x="0" y="2"/>
                      <a:pt x="0" y="2"/>
                    </a:cubicBezTo>
                    <a:cubicBezTo>
                      <a:pt x="0" y="1"/>
                      <a:pt x="1" y="0"/>
                      <a:pt x="2" y="0"/>
                    </a:cubicBezTo>
                    <a:cubicBezTo>
                      <a:pt x="22" y="0"/>
                      <a:pt x="22" y="0"/>
                      <a:pt x="22" y="0"/>
                    </a:cubicBezTo>
                    <a:cubicBezTo>
                      <a:pt x="23" y="0"/>
                      <a:pt x="24" y="1"/>
                      <a:pt x="24" y="2"/>
                    </a:cubicBezTo>
                    <a:cubicBezTo>
                      <a:pt x="24" y="38"/>
                      <a:pt x="24" y="38"/>
                      <a:pt x="24" y="38"/>
                    </a:cubicBezTo>
                    <a:cubicBezTo>
                      <a:pt x="24" y="39"/>
                      <a:pt x="23" y="40"/>
                      <a:pt x="22" y="40"/>
                    </a:cubicBezTo>
                    <a:close/>
                    <a:moveTo>
                      <a:pt x="4" y="36"/>
                    </a:moveTo>
                    <a:cubicBezTo>
                      <a:pt x="20" y="36"/>
                      <a:pt x="20" y="36"/>
                      <a:pt x="20" y="36"/>
                    </a:cubicBezTo>
                    <a:cubicBezTo>
                      <a:pt x="20" y="4"/>
                      <a:pt x="20" y="4"/>
                      <a:pt x="20" y="4"/>
                    </a:cubicBezTo>
                    <a:cubicBezTo>
                      <a:pt x="4" y="4"/>
                      <a:pt x="4" y="4"/>
                      <a:pt x="4" y="4"/>
                    </a:cubicBezTo>
                    <a:lnTo>
                      <a:pt x="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99" name="Freeform 796">
                <a:extLst>
                  <a:ext uri="{FF2B5EF4-FFF2-40B4-BE49-F238E27FC236}">
                    <a16:creationId xmlns:a16="http://schemas.microsoft.com/office/drawing/2014/main" id="{F5C05F5F-0A42-37C1-C26E-6F04B0BC892F}"/>
                  </a:ext>
                </a:extLst>
              </p:cNvPr>
              <p:cNvSpPr>
                <a:spLocks noEditPoints="1"/>
              </p:cNvSpPr>
              <p:nvPr/>
            </p:nvSpPr>
            <p:spPr bwMode="auto">
              <a:xfrm>
                <a:off x="2670175" y="1112838"/>
                <a:ext cx="360363" cy="74613"/>
              </a:xfrm>
              <a:custGeom>
                <a:avLst/>
                <a:gdLst>
                  <a:gd name="T0" fmla="*/ 94 w 96"/>
                  <a:gd name="T1" fmla="*/ 20 h 20"/>
                  <a:gd name="T2" fmla="*/ 2 w 96"/>
                  <a:gd name="T3" fmla="*/ 20 h 20"/>
                  <a:gd name="T4" fmla="*/ 0 w 96"/>
                  <a:gd name="T5" fmla="*/ 19 h 20"/>
                  <a:gd name="T6" fmla="*/ 0 w 96"/>
                  <a:gd name="T7" fmla="*/ 17 h 20"/>
                  <a:gd name="T8" fmla="*/ 8 w 96"/>
                  <a:gd name="T9" fmla="*/ 1 h 20"/>
                  <a:gd name="T10" fmla="*/ 10 w 96"/>
                  <a:gd name="T11" fmla="*/ 0 h 20"/>
                  <a:gd name="T12" fmla="*/ 86 w 96"/>
                  <a:gd name="T13" fmla="*/ 0 h 20"/>
                  <a:gd name="T14" fmla="*/ 88 w 96"/>
                  <a:gd name="T15" fmla="*/ 1 h 20"/>
                  <a:gd name="T16" fmla="*/ 96 w 96"/>
                  <a:gd name="T17" fmla="*/ 17 h 20"/>
                  <a:gd name="T18" fmla="*/ 96 w 96"/>
                  <a:gd name="T19" fmla="*/ 19 h 20"/>
                  <a:gd name="T20" fmla="*/ 94 w 96"/>
                  <a:gd name="T21" fmla="*/ 20 h 20"/>
                  <a:gd name="T22" fmla="*/ 5 w 96"/>
                  <a:gd name="T23" fmla="*/ 16 h 20"/>
                  <a:gd name="T24" fmla="*/ 91 w 96"/>
                  <a:gd name="T25" fmla="*/ 16 h 20"/>
                  <a:gd name="T26" fmla="*/ 85 w 96"/>
                  <a:gd name="T27" fmla="*/ 4 h 20"/>
                  <a:gd name="T28" fmla="*/ 11 w 96"/>
                  <a:gd name="T29" fmla="*/ 4 h 20"/>
                  <a:gd name="T30" fmla="*/ 5 w 96"/>
                  <a:gd name="T3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6" h="20">
                    <a:moveTo>
                      <a:pt x="94" y="20"/>
                    </a:moveTo>
                    <a:cubicBezTo>
                      <a:pt x="2" y="20"/>
                      <a:pt x="2" y="20"/>
                      <a:pt x="2" y="20"/>
                    </a:cubicBezTo>
                    <a:cubicBezTo>
                      <a:pt x="1" y="20"/>
                      <a:pt x="1" y="20"/>
                      <a:pt x="0" y="19"/>
                    </a:cubicBezTo>
                    <a:cubicBezTo>
                      <a:pt x="0" y="18"/>
                      <a:pt x="0" y="18"/>
                      <a:pt x="0" y="17"/>
                    </a:cubicBezTo>
                    <a:cubicBezTo>
                      <a:pt x="8" y="1"/>
                      <a:pt x="8" y="1"/>
                      <a:pt x="8" y="1"/>
                    </a:cubicBezTo>
                    <a:cubicBezTo>
                      <a:pt x="9" y="0"/>
                      <a:pt x="9" y="0"/>
                      <a:pt x="10" y="0"/>
                    </a:cubicBezTo>
                    <a:cubicBezTo>
                      <a:pt x="86" y="0"/>
                      <a:pt x="86" y="0"/>
                      <a:pt x="86" y="0"/>
                    </a:cubicBezTo>
                    <a:cubicBezTo>
                      <a:pt x="87" y="0"/>
                      <a:pt x="87" y="0"/>
                      <a:pt x="88" y="1"/>
                    </a:cubicBezTo>
                    <a:cubicBezTo>
                      <a:pt x="96" y="17"/>
                      <a:pt x="96" y="17"/>
                      <a:pt x="96" y="17"/>
                    </a:cubicBezTo>
                    <a:cubicBezTo>
                      <a:pt x="96" y="18"/>
                      <a:pt x="96" y="18"/>
                      <a:pt x="96" y="19"/>
                    </a:cubicBezTo>
                    <a:cubicBezTo>
                      <a:pt x="95" y="20"/>
                      <a:pt x="95" y="20"/>
                      <a:pt x="94" y="20"/>
                    </a:cubicBezTo>
                    <a:close/>
                    <a:moveTo>
                      <a:pt x="5" y="16"/>
                    </a:moveTo>
                    <a:cubicBezTo>
                      <a:pt x="91" y="16"/>
                      <a:pt x="91" y="16"/>
                      <a:pt x="91" y="16"/>
                    </a:cubicBezTo>
                    <a:cubicBezTo>
                      <a:pt x="85" y="4"/>
                      <a:pt x="85" y="4"/>
                      <a:pt x="85" y="4"/>
                    </a:cubicBezTo>
                    <a:cubicBezTo>
                      <a:pt x="11" y="4"/>
                      <a:pt x="11" y="4"/>
                      <a:pt x="11" y="4"/>
                    </a:cubicBezTo>
                    <a:lnTo>
                      <a:pt x="5"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0" name="Freeform 797">
                <a:extLst>
                  <a:ext uri="{FF2B5EF4-FFF2-40B4-BE49-F238E27FC236}">
                    <a16:creationId xmlns:a16="http://schemas.microsoft.com/office/drawing/2014/main" id="{6F5C5E5F-4EF7-E144-8DC4-786FF396C087}"/>
                  </a:ext>
                </a:extLst>
              </p:cNvPr>
              <p:cNvSpPr>
                <a:spLocks noEditPoints="1"/>
              </p:cNvSpPr>
              <p:nvPr/>
            </p:nvSpPr>
            <p:spPr bwMode="auto">
              <a:xfrm>
                <a:off x="2670175" y="1173163"/>
                <a:ext cx="360363" cy="90488"/>
              </a:xfrm>
              <a:custGeom>
                <a:avLst/>
                <a:gdLst>
                  <a:gd name="T0" fmla="*/ 60 w 96"/>
                  <a:gd name="T1" fmla="*/ 24 h 24"/>
                  <a:gd name="T2" fmla="*/ 48 w 96"/>
                  <a:gd name="T3" fmla="*/ 19 h 24"/>
                  <a:gd name="T4" fmla="*/ 36 w 96"/>
                  <a:gd name="T5" fmla="*/ 24 h 24"/>
                  <a:gd name="T6" fmla="*/ 22 w 96"/>
                  <a:gd name="T7" fmla="*/ 17 h 24"/>
                  <a:gd name="T8" fmla="*/ 14 w 96"/>
                  <a:gd name="T9" fmla="*/ 20 h 24"/>
                  <a:gd name="T10" fmla="*/ 0 w 96"/>
                  <a:gd name="T11" fmla="*/ 6 h 24"/>
                  <a:gd name="T12" fmla="*/ 0 w 96"/>
                  <a:gd name="T13" fmla="*/ 2 h 24"/>
                  <a:gd name="T14" fmla="*/ 2 w 96"/>
                  <a:gd name="T15" fmla="*/ 0 h 24"/>
                  <a:gd name="T16" fmla="*/ 94 w 96"/>
                  <a:gd name="T17" fmla="*/ 0 h 24"/>
                  <a:gd name="T18" fmla="*/ 96 w 96"/>
                  <a:gd name="T19" fmla="*/ 2 h 24"/>
                  <a:gd name="T20" fmla="*/ 96 w 96"/>
                  <a:gd name="T21" fmla="*/ 6 h 24"/>
                  <a:gd name="T22" fmla="*/ 82 w 96"/>
                  <a:gd name="T23" fmla="*/ 20 h 24"/>
                  <a:gd name="T24" fmla="*/ 74 w 96"/>
                  <a:gd name="T25" fmla="*/ 17 h 24"/>
                  <a:gd name="T26" fmla="*/ 60 w 96"/>
                  <a:gd name="T27" fmla="*/ 24 h 24"/>
                  <a:gd name="T28" fmla="*/ 48 w 96"/>
                  <a:gd name="T29" fmla="*/ 15 h 24"/>
                  <a:gd name="T30" fmla="*/ 50 w 96"/>
                  <a:gd name="T31" fmla="*/ 15 h 24"/>
                  <a:gd name="T32" fmla="*/ 60 w 96"/>
                  <a:gd name="T33" fmla="*/ 20 h 24"/>
                  <a:gd name="T34" fmla="*/ 72 w 96"/>
                  <a:gd name="T35" fmla="*/ 13 h 24"/>
                  <a:gd name="T36" fmla="*/ 74 w 96"/>
                  <a:gd name="T37" fmla="*/ 12 h 24"/>
                  <a:gd name="T38" fmla="*/ 75 w 96"/>
                  <a:gd name="T39" fmla="*/ 13 h 24"/>
                  <a:gd name="T40" fmla="*/ 82 w 96"/>
                  <a:gd name="T41" fmla="*/ 16 h 24"/>
                  <a:gd name="T42" fmla="*/ 92 w 96"/>
                  <a:gd name="T43" fmla="*/ 6 h 24"/>
                  <a:gd name="T44" fmla="*/ 92 w 96"/>
                  <a:gd name="T45" fmla="*/ 4 h 24"/>
                  <a:gd name="T46" fmla="*/ 4 w 96"/>
                  <a:gd name="T47" fmla="*/ 4 h 24"/>
                  <a:gd name="T48" fmla="*/ 4 w 96"/>
                  <a:gd name="T49" fmla="*/ 6 h 24"/>
                  <a:gd name="T50" fmla="*/ 14 w 96"/>
                  <a:gd name="T51" fmla="*/ 16 h 24"/>
                  <a:gd name="T52" fmla="*/ 21 w 96"/>
                  <a:gd name="T53" fmla="*/ 13 h 24"/>
                  <a:gd name="T54" fmla="*/ 22 w 96"/>
                  <a:gd name="T55" fmla="*/ 12 h 24"/>
                  <a:gd name="T56" fmla="*/ 24 w 96"/>
                  <a:gd name="T57" fmla="*/ 13 h 24"/>
                  <a:gd name="T58" fmla="*/ 36 w 96"/>
                  <a:gd name="T59" fmla="*/ 20 h 24"/>
                  <a:gd name="T60" fmla="*/ 47 w 96"/>
                  <a:gd name="T61" fmla="*/ 15 h 24"/>
                  <a:gd name="T62" fmla="*/ 48 w 96"/>
                  <a:gd name="T6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24">
                    <a:moveTo>
                      <a:pt x="60" y="24"/>
                    </a:moveTo>
                    <a:cubicBezTo>
                      <a:pt x="56" y="24"/>
                      <a:pt x="51" y="22"/>
                      <a:pt x="48" y="19"/>
                    </a:cubicBezTo>
                    <a:cubicBezTo>
                      <a:pt x="45" y="22"/>
                      <a:pt x="40" y="24"/>
                      <a:pt x="36" y="24"/>
                    </a:cubicBezTo>
                    <a:cubicBezTo>
                      <a:pt x="31" y="24"/>
                      <a:pt x="25" y="21"/>
                      <a:pt x="22" y="17"/>
                    </a:cubicBezTo>
                    <a:cubicBezTo>
                      <a:pt x="20" y="19"/>
                      <a:pt x="17" y="20"/>
                      <a:pt x="14" y="20"/>
                    </a:cubicBezTo>
                    <a:cubicBezTo>
                      <a:pt x="6" y="20"/>
                      <a:pt x="0" y="14"/>
                      <a:pt x="0" y="6"/>
                    </a:cubicBezTo>
                    <a:cubicBezTo>
                      <a:pt x="0" y="2"/>
                      <a:pt x="0" y="2"/>
                      <a:pt x="0" y="2"/>
                    </a:cubicBezTo>
                    <a:cubicBezTo>
                      <a:pt x="0" y="1"/>
                      <a:pt x="1" y="0"/>
                      <a:pt x="2" y="0"/>
                    </a:cubicBezTo>
                    <a:cubicBezTo>
                      <a:pt x="94" y="0"/>
                      <a:pt x="94" y="0"/>
                      <a:pt x="94" y="0"/>
                    </a:cubicBezTo>
                    <a:cubicBezTo>
                      <a:pt x="95" y="0"/>
                      <a:pt x="96" y="1"/>
                      <a:pt x="96" y="2"/>
                    </a:cubicBezTo>
                    <a:cubicBezTo>
                      <a:pt x="96" y="6"/>
                      <a:pt x="96" y="6"/>
                      <a:pt x="96" y="6"/>
                    </a:cubicBezTo>
                    <a:cubicBezTo>
                      <a:pt x="96" y="14"/>
                      <a:pt x="90" y="20"/>
                      <a:pt x="82" y="20"/>
                    </a:cubicBezTo>
                    <a:cubicBezTo>
                      <a:pt x="79" y="20"/>
                      <a:pt x="76" y="19"/>
                      <a:pt x="74" y="17"/>
                    </a:cubicBezTo>
                    <a:cubicBezTo>
                      <a:pt x="71" y="21"/>
                      <a:pt x="65" y="24"/>
                      <a:pt x="60" y="24"/>
                    </a:cubicBezTo>
                    <a:close/>
                    <a:moveTo>
                      <a:pt x="48" y="15"/>
                    </a:moveTo>
                    <a:cubicBezTo>
                      <a:pt x="49" y="15"/>
                      <a:pt x="49" y="15"/>
                      <a:pt x="50" y="15"/>
                    </a:cubicBezTo>
                    <a:cubicBezTo>
                      <a:pt x="52" y="18"/>
                      <a:pt x="56" y="20"/>
                      <a:pt x="60" y="20"/>
                    </a:cubicBezTo>
                    <a:cubicBezTo>
                      <a:pt x="65" y="20"/>
                      <a:pt x="70" y="17"/>
                      <a:pt x="72" y="13"/>
                    </a:cubicBezTo>
                    <a:cubicBezTo>
                      <a:pt x="73" y="12"/>
                      <a:pt x="73" y="12"/>
                      <a:pt x="74" y="12"/>
                    </a:cubicBezTo>
                    <a:cubicBezTo>
                      <a:pt x="74" y="12"/>
                      <a:pt x="75" y="12"/>
                      <a:pt x="75" y="13"/>
                    </a:cubicBezTo>
                    <a:cubicBezTo>
                      <a:pt x="78" y="15"/>
                      <a:pt x="80" y="16"/>
                      <a:pt x="82" y="16"/>
                    </a:cubicBezTo>
                    <a:cubicBezTo>
                      <a:pt x="88" y="16"/>
                      <a:pt x="92" y="12"/>
                      <a:pt x="92" y="6"/>
                    </a:cubicBezTo>
                    <a:cubicBezTo>
                      <a:pt x="92" y="4"/>
                      <a:pt x="92" y="4"/>
                      <a:pt x="92" y="4"/>
                    </a:cubicBezTo>
                    <a:cubicBezTo>
                      <a:pt x="4" y="4"/>
                      <a:pt x="4" y="4"/>
                      <a:pt x="4" y="4"/>
                    </a:cubicBezTo>
                    <a:cubicBezTo>
                      <a:pt x="4" y="6"/>
                      <a:pt x="4" y="6"/>
                      <a:pt x="4" y="6"/>
                    </a:cubicBezTo>
                    <a:cubicBezTo>
                      <a:pt x="4" y="12"/>
                      <a:pt x="8" y="16"/>
                      <a:pt x="14" y="16"/>
                    </a:cubicBezTo>
                    <a:cubicBezTo>
                      <a:pt x="16" y="16"/>
                      <a:pt x="18" y="15"/>
                      <a:pt x="21" y="13"/>
                    </a:cubicBezTo>
                    <a:cubicBezTo>
                      <a:pt x="21" y="12"/>
                      <a:pt x="22" y="12"/>
                      <a:pt x="22" y="12"/>
                    </a:cubicBezTo>
                    <a:cubicBezTo>
                      <a:pt x="23" y="12"/>
                      <a:pt x="23" y="12"/>
                      <a:pt x="24" y="13"/>
                    </a:cubicBezTo>
                    <a:cubicBezTo>
                      <a:pt x="26" y="17"/>
                      <a:pt x="31" y="20"/>
                      <a:pt x="36" y="20"/>
                    </a:cubicBezTo>
                    <a:cubicBezTo>
                      <a:pt x="40" y="20"/>
                      <a:pt x="44" y="18"/>
                      <a:pt x="47" y="15"/>
                    </a:cubicBezTo>
                    <a:cubicBezTo>
                      <a:pt x="47" y="15"/>
                      <a:pt x="47" y="15"/>
                      <a:pt x="4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1" name="Freeform 798">
                <a:extLst>
                  <a:ext uri="{FF2B5EF4-FFF2-40B4-BE49-F238E27FC236}">
                    <a16:creationId xmlns:a16="http://schemas.microsoft.com/office/drawing/2014/main" id="{B9CA8E69-0F26-39F5-21F5-63A59A9938D7}"/>
                  </a:ext>
                </a:extLst>
              </p:cNvPr>
              <p:cNvSpPr>
                <a:spLocks/>
              </p:cNvSpPr>
              <p:nvPr/>
            </p:nvSpPr>
            <p:spPr bwMode="auto">
              <a:xfrm>
                <a:off x="2744788" y="1112838"/>
                <a:ext cx="30163" cy="120650"/>
              </a:xfrm>
              <a:custGeom>
                <a:avLst/>
                <a:gdLst>
                  <a:gd name="T0" fmla="*/ 2 w 8"/>
                  <a:gd name="T1" fmla="*/ 32 h 32"/>
                  <a:gd name="T2" fmla="*/ 0 w 8"/>
                  <a:gd name="T3" fmla="*/ 30 h 32"/>
                  <a:gd name="T4" fmla="*/ 0 w 8"/>
                  <a:gd name="T5" fmla="*/ 18 h 32"/>
                  <a:gd name="T6" fmla="*/ 0 w 8"/>
                  <a:gd name="T7" fmla="*/ 18 h 32"/>
                  <a:gd name="T8" fmla="*/ 4 w 8"/>
                  <a:gd name="T9" fmla="*/ 2 h 32"/>
                  <a:gd name="T10" fmla="*/ 6 w 8"/>
                  <a:gd name="T11" fmla="*/ 0 h 32"/>
                  <a:gd name="T12" fmla="*/ 8 w 8"/>
                  <a:gd name="T13" fmla="*/ 2 h 32"/>
                  <a:gd name="T14" fmla="*/ 4 w 8"/>
                  <a:gd name="T15" fmla="*/ 18 h 32"/>
                  <a:gd name="T16" fmla="*/ 4 w 8"/>
                  <a:gd name="T17" fmla="*/ 30 h 32"/>
                  <a:gd name="T18" fmla="*/ 2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2" y="32"/>
                    </a:moveTo>
                    <a:cubicBezTo>
                      <a:pt x="1" y="32"/>
                      <a:pt x="0" y="31"/>
                      <a:pt x="0" y="30"/>
                    </a:cubicBezTo>
                    <a:cubicBezTo>
                      <a:pt x="0" y="18"/>
                      <a:pt x="0" y="18"/>
                      <a:pt x="0" y="18"/>
                    </a:cubicBezTo>
                    <a:cubicBezTo>
                      <a:pt x="0" y="18"/>
                      <a:pt x="0" y="18"/>
                      <a:pt x="0" y="18"/>
                    </a:cubicBezTo>
                    <a:cubicBezTo>
                      <a:pt x="4" y="2"/>
                      <a:pt x="4" y="2"/>
                      <a:pt x="4" y="2"/>
                    </a:cubicBezTo>
                    <a:cubicBezTo>
                      <a:pt x="4" y="0"/>
                      <a:pt x="5" y="0"/>
                      <a:pt x="6" y="0"/>
                    </a:cubicBezTo>
                    <a:cubicBezTo>
                      <a:pt x="8" y="0"/>
                      <a:pt x="8" y="1"/>
                      <a:pt x="8" y="2"/>
                    </a:cubicBezTo>
                    <a:cubicBezTo>
                      <a:pt x="4" y="18"/>
                      <a:pt x="4" y="18"/>
                      <a:pt x="4" y="18"/>
                    </a:cubicBezTo>
                    <a:cubicBezTo>
                      <a:pt x="4" y="30"/>
                      <a:pt x="4" y="30"/>
                      <a:pt x="4" y="30"/>
                    </a:cubicBezTo>
                    <a:cubicBezTo>
                      <a:pt x="4" y="31"/>
                      <a:pt x="3" y="32"/>
                      <a:pt x="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2" name="Freeform 799">
                <a:extLst>
                  <a:ext uri="{FF2B5EF4-FFF2-40B4-BE49-F238E27FC236}">
                    <a16:creationId xmlns:a16="http://schemas.microsoft.com/office/drawing/2014/main" id="{C28FB244-E87D-BDA7-65ED-5F00C30A3533}"/>
                  </a:ext>
                </a:extLst>
              </p:cNvPr>
              <p:cNvSpPr>
                <a:spLocks/>
              </p:cNvSpPr>
              <p:nvPr/>
            </p:nvSpPr>
            <p:spPr bwMode="auto">
              <a:xfrm>
                <a:off x="2843213" y="1112838"/>
                <a:ext cx="14288" cy="131763"/>
              </a:xfrm>
              <a:custGeom>
                <a:avLst/>
                <a:gdLst>
                  <a:gd name="T0" fmla="*/ 2 w 4"/>
                  <a:gd name="T1" fmla="*/ 35 h 35"/>
                  <a:gd name="T2" fmla="*/ 0 w 4"/>
                  <a:gd name="T3" fmla="*/ 33 h 35"/>
                  <a:gd name="T4" fmla="*/ 0 w 4"/>
                  <a:gd name="T5" fmla="*/ 2 h 35"/>
                  <a:gd name="T6" fmla="*/ 2 w 4"/>
                  <a:gd name="T7" fmla="*/ 0 h 35"/>
                  <a:gd name="T8" fmla="*/ 4 w 4"/>
                  <a:gd name="T9" fmla="*/ 2 h 35"/>
                  <a:gd name="T10" fmla="*/ 4 w 4"/>
                  <a:gd name="T11" fmla="*/ 33 h 35"/>
                  <a:gd name="T12" fmla="*/ 2 w 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4" h="35">
                    <a:moveTo>
                      <a:pt x="2" y="35"/>
                    </a:moveTo>
                    <a:cubicBezTo>
                      <a:pt x="1" y="35"/>
                      <a:pt x="0" y="34"/>
                      <a:pt x="0" y="33"/>
                    </a:cubicBezTo>
                    <a:cubicBezTo>
                      <a:pt x="0" y="2"/>
                      <a:pt x="0" y="2"/>
                      <a:pt x="0" y="2"/>
                    </a:cubicBezTo>
                    <a:cubicBezTo>
                      <a:pt x="0" y="1"/>
                      <a:pt x="1" y="0"/>
                      <a:pt x="2" y="0"/>
                    </a:cubicBezTo>
                    <a:cubicBezTo>
                      <a:pt x="3" y="0"/>
                      <a:pt x="4" y="1"/>
                      <a:pt x="4" y="2"/>
                    </a:cubicBezTo>
                    <a:cubicBezTo>
                      <a:pt x="4" y="33"/>
                      <a:pt x="4" y="33"/>
                      <a:pt x="4" y="33"/>
                    </a:cubicBezTo>
                    <a:cubicBezTo>
                      <a:pt x="4" y="34"/>
                      <a:pt x="3" y="35"/>
                      <a:pt x="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3" name="Freeform 800">
                <a:extLst>
                  <a:ext uri="{FF2B5EF4-FFF2-40B4-BE49-F238E27FC236}">
                    <a16:creationId xmlns:a16="http://schemas.microsoft.com/office/drawing/2014/main" id="{2328C420-A5AA-67D7-BE69-36E62FAF4BFB}"/>
                  </a:ext>
                </a:extLst>
              </p:cNvPr>
              <p:cNvSpPr>
                <a:spLocks/>
              </p:cNvSpPr>
              <p:nvPr/>
            </p:nvSpPr>
            <p:spPr bwMode="auto">
              <a:xfrm>
                <a:off x="2925763" y="1112838"/>
                <a:ext cx="30163" cy="120650"/>
              </a:xfrm>
              <a:custGeom>
                <a:avLst/>
                <a:gdLst>
                  <a:gd name="T0" fmla="*/ 6 w 8"/>
                  <a:gd name="T1" fmla="*/ 32 h 32"/>
                  <a:gd name="T2" fmla="*/ 4 w 8"/>
                  <a:gd name="T3" fmla="*/ 30 h 32"/>
                  <a:gd name="T4" fmla="*/ 4 w 8"/>
                  <a:gd name="T5" fmla="*/ 18 h 32"/>
                  <a:gd name="T6" fmla="*/ 0 w 8"/>
                  <a:gd name="T7" fmla="*/ 2 h 32"/>
                  <a:gd name="T8" fmla="*/ 2 w 8"/>
                  <a:gd name="T9" fmla="*/ 0 h 32"/>
                  <a:gd name="T10" fmla="*/ 4 w 8"/>
                  <a:gd name="T11" fmla="*/ 2 h 32"/>
                  <a:gd name="T12" fmla="*/ 8 w 8"/>
                  <a:gd name="T13" fmla="*/ 18 h 32"/>
                  <a:gd name="T14" fmla="*/ 8 w 8"/>
                  <a:gd name="T15" fmla="*/ 18 h 32"/>
                  <a:gd name="T16" fmla="*/ 8 w 8"/>
                  <a:gd name="T17" fmla="*/ 30 h 32"/>
                  <a:gd name="T18" fmla="*/ 6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6" y="32"/>
                    </a:moveTo>
                    <a:cubicBezTo>
                      <a:pt x="5" y="32"/>
                      <a:pt x="4" y="31"/>
                      <a:pt x="4" y="30"/>
                    </a:cubicBezTo>
                    <a:cubicBezTo>
                      <a:pt x="4" y="18"/>
                      <a:pt x="4" y="18"/>
                      <a:pt x="4" y="18"/>
                    </a:cubicBezTo>
                    <a:cubicBezTo>
                      <a:pt x="0" y="2"/>
                      <a:pt x="0" y="2"/>
                      <a:pt x="0" y="2"/>
                    </a:cubicBezTo>
                    <a:cubicBezTo>
                      <a:pt x="0" y="1"/>
                      <a:pt x="0" y="0"/>
                      <a:pt x="2" y="0"/>
                    </a:cubicBezTo>
                    <a:cubicBezTo>
                      <a:pt x="3" y="0"/>
                      <a:pt x="4" y="0"/>
                      <a:pt x="4" y="2"/>
                    </a:cubicBezTo>
                    <a:cubicBezTo>
                      <a:pt x="8" y="18"/>
                      <a:pt x="8" y="18"/>
                      <a:pt x="8" y="18"/>
                    </a:cubicBezTo>
                    <a:cubicBezTo>
                      <a:pt x="8" y="18"/>
                      <a:pt x="8" y="18"/>
                      <a:pt x="8" y="18"/>
                    </a:cubicBezTo>
                    <a:cubicBezTo>
                      <a:pt x="8" y="30"/>
                      <a:pt x="8" y="30"/>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4" name="Oval 801">
                <a:extLst>
                  <a:ext uri="{FF2B5EF4-FFF2-40B4-BE49-F238E27FC236}">
                    <a16:creationId xmlns:a16="http://schemas.microsoft.com/office/drawing/2014/main" id="{947B9289-24DD-F148-414F-CE97A5715F3C}"/>
                  </a:ext>
                </a:extLst>
              </p:cNvPr>
              <p:cNvSpPr>
                <a:spLocks noChangeArrowheads="1"/>
              </p:cNvSpPr>
              <p:nvPr/>
            </p:nvSpPr>
            <p:spPr bwMode="auto">
              <a:xfrm>
                <a:off x="2925763" y="1354138"/>
                <a:ext cx="14288" cy="142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195" name="Text Placeholder 2">
              <a:extLst>
                <a:ext uri="{FF2B5EF4-FFF2-40B4-BE49-F238E27FC236}">
                  <a16:creationId xmlns:a16="http://schemas.microsoft.com/office/drawing/2014/main" id="{DB9833D3-3ED3-D853-C045-A11309EAF7D4}"/>
                </a:ext>
              </a:extLst>
            </p:cNvPr>
            <p:cNvSpPr txBox="1">
              <a:spLocks/>
            </p:cNvSpPr>
            <p:nvPr/>
          </p:nvSpPr>
          <p:spPr>
            <a:xfrm>
              <a:off x="7944126" y="2299878"/>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achieve 10% average month-on-month sales growth in pre-paid product sales &amp; 5% corporate product sales</a:t>
              </a:r>
            </a:p>
          </p:txBody>
        </p:sp>
      </p:grpSp>
      <p:sp>
        <p:nvSpPr>
          <p:cNvPr id="237" name="Text Placeholder 2">
            <a:extLst>
              <a:ext uri="{FF2B5EF4-FFF2-40B4-BE49-F238E27FC236}">
                <a16:creationId xmlns:a16="http://schemas.microsoft.com/office/drawing/2014/main" id="{CBBA2776-832C-0C16-872C-F4B8BE91457E}"/>
              </a:ext>
            </a:extLst>
          </p:cNvPr>
          <p:cNvSpPr txBox="1">
            <a:spLocks/>
          </p:cNvSpPr>
          <p:nvPr/>
        </p:nvSpPr>
        <p:spPr>
          <a:xfrm>
            <a:off x="7944126" y="3435790"/>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achieve 35% increase in product lines and 20% in revenue BY end of 2025.</a:t>
            </a:r>
          </a:p>
        </p:txBody>
      </p:sp>
      <p:sp>
        <p:nvSpPr>
          <p:cNvPr id="238" name="Text Placeholder 2">
            <a:extLst>
              <a:ext uri="{FF2B5EF4-FFF2-40B4-BE49-F238E27FC236}">
                <a16:creationId xmlns:a16="http://schemas.microsoft.com/office/drawing/2014/main" id="{DE78FF2A-7FEA-FA2B-C553-B8018152F9EC}"/>
              </a:ext>
            </a:extLst>
          </p:cNvPr>
          <p:cNvSpPr txBox="1">
            <a:spLocks/>
          </p:cNvSpPr>
          <p:nvPr/>
        </p:nvSpPr>
        <p:spPr>
          <a:xfrm>
            <a:off x="7944126" y="4520319"/>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achieve acquisition population inclusive of 40% of new, 50% renewals &amp; 10% reactivations by end of 2025</a:t>
            </a:r>
          </a:p>
        </p:txBody>
      </p:sp>
    </p:spTree>
    <p:extLst>
      <p:ext uri="{BB962C8B-B14F-4D97-AF65-F5344CB8AC3E}">
        <p14:creationId xmlns:p14="http://schemas.microsoft.com/office/powerpoint/2010/main" val="1327522606"/>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1142-9268-3178-2F1C-B3014106C490}"/>
              </a:ext>
            </a:extLst>
          </p:cNvPr>
          <p:cNvSpPr>
            <a:spLocks noGrp="1"/>
          </p:cNvSpPr>
          <p:nvPr>
            <p:ph type="title"/>
          </p:nvPr>
        </p:nvSpPr>
        <p:spPr/>
        <p:txBody>
          <a:bodyPr/>
          <a:lstStyle/>
          <a:p>
            <a:r>
              <a:rPr lang="en-US" dirty="0"/>
              <a:t>Business Objectives ; HOSPITAL/CLINIC MGT  </a:t>
            </a:r>
            <a:endParaRPr lang="aa-ET" dirty="0"/>
          </a:p>
        </p:txBody>
      </p:sp>
      <p:sp>
        <p:nvSpPr>
          <p:cNvPr id="4" name="Slide Number Placeholder 3">
            <a:extLst>
              <a:ext uri="{FF2B5EF4-FFF2-40B4-BE49-F238E27FC236}">
                <a16:creationId xmlns:a16="http://schemas.microsoft.com/office/drawing/2014/main" id="{5502FC75-B2FD-E6A3-3A36-593865FC713D}"/>
              </a:ext>
            </a:extLst>
          </p:cNvPr>
          <p:cNvSpPr>
            <a:spLocks noGrp="1"/>
          </p:cNvSpPr>
          <p:nvPr>
            <p:ph type="sldNum" sz="quarter" idx="12"/>
          </p:nvPr>
        </p:nvSpPr>
        <p:spPr/>
        <p:txBody>
          <a:bodyPr/>
          <a:lstStyle/>
          <a:p>
            <a:fld id="{88DB5A6F-883B-4080-A811-FB5B8D05AFA3}" type="slidenum">
              <a:rPr lang="en-GB" smtClean="0"/>
              <a:pPr/>
              <a:t>28</a:t>
            </a:fld>
            <a:endParaRPr lang="en-GB"/>
          </a:p>
        </p:txBody>
      </p:sp>
      <p:grpSp>
        <p:nvGrpSpPr>
          <p:cNvPr id="5" name="Group 4">
            <a:extLst>
              <a:ext uri="{FF2B5EF4-FFF2-40B4-BE49-F238E27FC236}">
                <a16:creationId xmlns:a16="http://schemas.microsoft.com/office/drawing/2014/main" id="{02FEA639-DABD-91FE-1F44-347C5F5BE2FD}"/>
              </a:ext>
            </a:extLst>
          </p:cNvPr>
          <p:cNvGrpSpPr/>
          <p:nvPr/>
        </p:nvGrpSpPr>
        <p:grpSpPr>
          <a:xfrm>
            <a:off x="651714" y="1251858"/>
            <a:ext cx="10892586" cy="4944629"/>
            <a:chOff x="651714" y="1219200"/>
            <a:chExt cx="10892586" cy="4944629"/>
          </a:xfrm>
        </p:grpSpPr>
        <p:grpSp>
          <p:nvGrpSpPr>
            <p:cNvPr id="6" name="Group 5">
              <a:extLst>
                <a:ext uri="{FF2B5EF4-FFF2-40B4-BE49-F238E27FC236}">
                  <a16:creationId xmlns:a16="http://schemas.microsoft.com/office/drawing/2014/main" id="{2C1FD7D6-29E7-204D-0248-E7A3B6BB583F}"/>
                </a:ext>
              </a:extLst>
            </p:cNvPr>
            <p:cNvGrpSpPr/>
            <p:nvPr/>
          </p:nvGrpSpPr>
          <p:grpSpPr>
            <a:xfrm>
              <a:off x="651714" y="1977562"/>
              <a:ext cx="2976036" cy="3427906"/>
              <a:chOff x="651714" y="1991271"/>
              <a:chExt cx="2976036" cy="3427906"/>
            </a:xfrm>
          </p:grpSpPr>
          <p:sp>
            <p:nvSpPr>
              <p:cNvPr id="73" name="Freeform: Shape 72">
                <a:extLst>
                  <a:ext uri="{FF2B5EF4-FFF2-40B4-BE49-F238E27FC236}">
                    <a16:creationId xmlns:a16="http://schemas.microsoft.com/office/drawing/2014/main" id="{E8E5695B-8BDA-66BB-C5DD-8A7CD772031B}"/>
                  </a:ext>
                </a:extLst>
              </p:cNvPr>
              <p:cNvSpPr/>
              <p:nvPr/>
            </p:nvSpPr>
            <p:spPr>
              <a:xfrm>
                <a:off x="2116537" y="2046508"/>
                <a:ext cx="1511213" cy="3372669"/>
              </a:xfrm>
              <a:custGeom>
                <a:avLst/>
                <a:gdLst>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5" fmla="*/ 91440 w 1511213"/>
                  <a:gd name="connsiteY5" fmla="*/ 91440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213" h="3372669">
                    <a:moveTo>
                      <a:pt x="0" y="0"/>
                    </a:moveTo>
                    <a:lnTo>
                      <a:pt x="156246" y="23845"/>
                    </a:lnTo>
                    <a:cubicBezTo>
                      <a:pt x="929524" y="182081"/>
                      <a:pt x="1511213" y="866277"/>
                      <a:pt x="1511213" y="1686334"/>
                    </a:cubicBezTo>
                    <a:cubicBezTo>
                      <a:pt x="1511213" y="2506391"/>
                      <a:pt x="929524" y="3190587"/>
                      <a:pt x="156246" y="3348823"/>
                    </a:cubicBezTo>
                    <a:lnTo>
                      <a:pt x="0" y="3372669"/>
                    </a:lnTo>
                  </a:path>
                </a:pathLst>
              </a:custGeom>
              <a:noFill/>
              <a:ln w="22225">
                <a:solidFill>
                  <a:srgbClr val="114A5E"/>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Oval 73">
                <a:extLst>
                  <a:ext uri="{FF2B5EF4-FFF2-40B4-BE49-F238E27FC236}">
                    <a16:creationId xmlns:a16="http://schemas.microsoft.com/office/drawing/2014/main" id="{D917CF6A-83D7-EC52-D1B4-9882092CED61}"/>
                  </a:ext>
                </a:extLst>
              </p:cNvPr>
              <p:cNvSpPr/>
              <p:nvPr/>
            </p:nvSpPr>
            <p:spPr>
              <a:xfrm>
                <a:off x="651714" y="2404071"/>
                <a:ext cx="2657544" cy="2657544"/>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20FD6587-268B-87B0-1AB0-A63538D24C16}"/>
                  </a:ext>
                </a:extLst>
              </p:cNvPr>
              <p:cNvSpPr/>
              <p:nvPr/>
            </p:nvSpPr>
            <p:spPr>
              <a:xfrm>
                <a:off x="651714" y="2404071"/>
                <a:ext cx="2558143" cy="25581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A6CD019-1CB3-A8AB-BB11-208D582F8D25}"/>
                  </a:ext>
                </a:extLst>
              </p:cNvPr>
              <p:cNvSpPr/>
              <p:nvPr/>
            </p:nvSpPr>
            <p:spPr>
              <a:xfrm>
                <a:off x="819442" y="2571799"/>
                <a:ext cx="2222687" cy="22226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C9C0D30-F1E2-45A3-D304-23C039FEED8F}"/>
                  </a:ext>
                </a:extLst>
              </p:cNvPr>
              <p:cNvSpPr/>
              <p:nvPr/>
            </p:nvSpPr>
            <p:spPr>
              <a:xfrm>
                <a:off x="1007304" y="2759662"/>
                <a:ext cx="1846963" cy="184696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D8B1D52-4661-FFEE-37E3-C701389F9EA7}"/>
                  </a:ext>
                </a:extLst>
              </p:cNvPr>
              <p:cNvSpPr/>
              <p:nvPr/>
            </p:nvSpPr>
            <p:spPr>
              <a:xfrm>
                <a:off x="1225922" y="2978280"/>
                <a:ext cx="1409726" cy="14097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031A3D41-74AF-0CBA-E8AC-196F88B7CC05}"/>
                  </a:ext>
                </a:extLst>
              </p:cNvPr>
              <p:cNvSpPr/>
              <p:nvPr/>
            </p:nvSpPr>
            <p:spPr>
              <a:xfrm>
                <a:off x="1418593" y="3170951"/>
                <a:ext cx="1024384" cy="102438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CAED93F0-19A4-3F90-4E99-9924E2631F1F}"/>
                  </a:ext>
                </a:extLst>
              </p:cNvPr>
              <p:cNvSpPr/>
              <p:nvPr/>
            </p:nvSpPr>
            <p:spPr>
              <a:xfrm>
                <a:off x="1599676" y="3352034"/>
                <a:ext cx="662218" cy="66221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F3EE47F3-0E6C-B105-1BC5-863107C5FA43}"/>
                  </a:ext>
                </a:extLst>
              </p:cNvPr>
              <p:cNvSpPr/>
              <p:nvPr/>
            </p:nvSpPr>
            <p:spPr>
              <a:xfrm rot="3291335">
                <a:off x="420938" y="2889467"/>
                <a:ext cx="1920240" cy="123848"/>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Shape 81">
                <a:extLst>
                  <a:ext uri="{FF2B5EF4-FFF2-40B4-BE49-F238E27FC236}">
                    <a16:creationId xmlns:a16="http://schemas.microsoft.com/office/drawing/2014/main" id="{8B51509D-543C-013B-CB18-AC5511328B97}"/>
                  </a:ext>
                </a:extLst>
              </p:cNvPr>
              <p:cNvSpPr/>
              <p:nvPr/>
            </p:nvSpPr>
            <p:spPr>
              <a:xfrm rot="8792440" flipV="1">
                <a:off x="804957" y="2176857"/>
                <a:ext cx="462006" cy="596691"/>
              </a:xfrm>
              <a:custGeom>
                <a:avLst/>
                <a:gdLst>
                  <a:gd name="connsiteX0" fmla="*/ 944 w 462006"/>
                  <a:gd name="connsiteY0" fmla="*/ 14588 h 596691"/>
                  <a:gd name="connsiteX1" fmla="*/ 944 w 462006"/>
                  <a:gd name="connsiteY1" fmla="*/ 319702 h 596691"/>
                  <a:gd name="connsiteX2" fmla="*/ 0 w 462006"/>
                  <a:gd name="connsiteY2" fmla="*/ 324607 h 596691"/>
                  <a:gd name="connsiteX3" fmla="*/ 956 w 462006"/>
                  <a:gd name="connsiteY3" fmla="*/ 430922 h 596691"/>
                  <a:gd name="connsiteX4" fmla="*/ 169726 w 462006"/>
                  <a:gd name="connsiteY4" fmla="*/ 596685 h 596691"/>
                  <a:gd name="connsiteX5" fmla="*/ 296238 w 462006"/>
                  <a:gd name="connsiteY5" fmla="*/ 595547 h 596691"/>
                  <a:gd name="connsiteX6" fmla="*/ 462000 w 462006"/>
                  <a:gd name="connsiteY6" fmla="*/ 426777 h 596691"/>
                  <a:gd name="connsiteX7" fmla="*/ 461673 w 462006"/>
                  <a:gd name="connsiteY7" fmla="*/ 390441 h 596691"/>
                  <a:gd name="connsiteX8" fmla="*/ 461907 w 462006"/>
                  <a:gd name="connsiteY8" fmla="*/ 390435 h 596691"/>
                  <a:gd name="connsiteX9" fmla="*/ 461555 w 462006"/>
                  <a:gd name="connsiteY9" fmla="*/ 377288 h 596691"/>
                  <a:gd name="connsiteX10" fmla="*/ 461044 w 462006"/>
                  <a:gd name="connsiteY10" fmla="*/ 320461 h 596691"/>
                  <a:gd name="connsiteX11" fmla="*/ 459886 w 462006"/>
                  <a:gd name="connsiteY11" fmla="*/ 314978 h 596691"/>
                  <a:gd name="connsiteX12" fmla="*/ 451447 w 462006"/>
                  <a:gd name="connsiteY12" fmla="*/ 0 h 596691"/>
                  <a:gd name="connsiteX13" fmla="*/ 301225 w 462006"/>
                  <a:gd name="connsiteY13" fmla="*/ 156422 h 596691"/>
                  <a:gd name="connsiteX14" fmla="*/ 292274 w 462006"/>
                  <a:gd name="connsiteY14" fmla="*/ 154699 h 596691"/>
                  <a:gd name="connsiteX15" fmla="*/ 165762 w 462006"/>
                  <a:gd name="connsiteY15" fmla="*/ 155836 h 596691"/>
                  <a:gd name="connsiteX16" fmla="*/ 147887 w 462006"/>
                  <a:gd name="connsiteY16" fmla="*/ 159613 h 59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006" h="596691">
                    <a:moveTo>
                      <a:pt x="944" y="14588"/>
                    </a:moveTo>
                    <a:lnTo>
                      <a:pt x="944" y="319702"/>
                    </a:lnTo>
                    <a:lnTo>
                      <a:pt x="0" y="324607"/>
                    </a:lnTo>
                    <a:lnTo>
                      <a:pt x="956" y="430922"/>
                    </a:lnTo>
                    <a:cubicBezTo>
                      <a:pt x="1786" y="523301"/>
                      <a:pt x="77348" y="597515"/>
                      <a:pt x="169726" y="596685"/>
                    </a:cubicBezTo>
                    <a:lnTo>
                      <a:pt x="296238" y="595547"/>
                    </a:lnTo>
                    <a:cubicBezTo>
                      <a:pt x="388616" y="594716"/>
                      <a:pt x="462831" y="519155"/>
                      <a:pt x="462000" y="426777"/>
                    </a:cubicBezTo>
                    <a:lnTo>
                      <a:pt x="461673" y="390441"/>
                    </a:lnTo>
                    <a:lnTo>
                      <a:pt x="461907" y="390435"/>
                    </a:lnTo>
                    <a:lnTo>
                      <a:pt x="461555" y="377288"/>
                    </a:lnTo>
                    <a:lnTo>
                      <a:pt x="461044" y="320461"/>
                    </a:lnTo>
                    <a:lnTo>
                      <a:pt x="459886" y="314978"/>
                    </a:lnTo>
                    <a:lnTo>
                      <a:pt x="451447" y="0"/>
                    </a:lnTo>
                    <a:lnTo>
                      <a:pt x="301225" y="156422"/>
                    </a:lnTo>
                    <a:lnTo>
                      <a:pt x="292274" y="154699"/>
                    </a:lnTo>
                    <a:lnTo>
                      <a:pt x="165762" y="155836"/>
                    </a:lnTo>
                    <a:lnTo>
                      <a:pt x="147887" y="15961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 Placeholder 2">
              <a:extLst>
                <a:ext uri="{FF2B5EF4-FFF2-40B4-BE49-F238E27FC236}">
                  <a16:creationId xmlns:a16="http://schemas.microsoft.com/office/drawing/2014/main" id="{C5BE70A1-1E46-7BA5-720D-637BA8059C91}"/>
                </a:ext>
              </a:extLst>
            </p:cNvPr>
            <p:cNvSpPr txBox="1">
              <a:spLocks/>
            </p:cNvSpPr>
            <p:nvPr/>
          </p:nvSpPr>
          <p:spPr>
            <a:xfrm>
              <a:off x="7948140" y="1319366"/>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achieve market dominance in provision of high quality and clinic mgt </a:t>
              </a:r>
            </a:p>
          </p:txBody>
        </p:sp>
        <p:sp>
          <p:nvSpPr>
            <p:cNvPr id="8" name="Rectangle 7">
              <a:extLst>
                <a:ext uri="{FF2B5EF4-FFF2-40B4-BE49-F238E27FC236}">
                  <a16:creationId xmlns:a16="http://schemas.microsoft.com/office/drawing/2014/main" id="{16AFA603-7921-4E0E-71B4-A8C4E8E6390B}"/>
                </a:ext>
              </a:extLst>
            </p:cNvPr>
            <p:cNvSpPr/>
            <p:nvPr/>
          </p:nvSpPr>
          <p:spPr>
            <a:xfrm>
              <a:off x="4404836" y="1265735"/>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564D3E36-AA8C-96B5-38AD-E599B8A6DD0E}"/>
                </a:ext>
              </a:extLst>
            </p:cNvPr>
            <p:cNvSpPr txBox="1">
              <a:spLocks/>
            </p:cNvSpPr>
            <p:nvPr/>
          </p:nvSpPr>
          <p:spPr>
            <a:xfrm>
              <a:off x="5395532" y="1484595"/>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Market Share</a:t>
              </a:r>
            </a:p>
          </p:txBody>
        </p:sp>
        <p:sp>
          <p:nvSpPr>
            <p:cNvPr id="10" name="Rectangle 9">
              <a:extLst>
                <a:ext uri="{FF2B5EF4-FFF2-40B4-BE49-F238E27FC236}">
                  <a16:creationId xmlns:a16="http://schemas.microsoft.com/office/drawing/2014/main" id="{2BB4E769-0F44-92EF-41A7-85568B693124}"/>
                </a:ext>
              </a:extLst>
            </p:cNvPr>
            <p:cNvSpPr/>
            <p:nvPr/>
          </p:nvSpPr>
          <p:spPr>
            <a:xfrm>
              <a:off x="4565812" y="1219200"/>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D5B41257-EB64-3852-E120-934AB4FAC68D}"/>
                </a:ext>
              </a:extLst>
            </p:cNvPr>
            <p:cNvSpPr/>
            <p:nvPr/>
          </p:nvSpPr>
          <p:spPr>
            <a:xfrm>
              <a:off x="5204733" y="1220016"/>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C40FBF-EC17-93B8-9AC5-8BF97484B433}"/>
                </a:ext>
              </a:extLst>
            </p:cNvPr>
            <p:cNvSpPr/>
            <p:nvPr/>
          </p:nvSpPr>
          <p:spPr>
            <a:xfrm>
              <a:off x="4404836" y="2299878"/>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9E2F0DBA-D4E6-2A14-7A8D-803A3A14AE93}"/>
                </a:ext>
              </a:extLst>
            </p:cNvPr>
            <p:cNvSpPr txBox="1">
              <a:spLocks/>
            </p:cNvSpPr>
            <p:nvPr/>
          </p:nvSpPr>
          <p:spPr>
            <a:xfrm>
              <a:off x="5395532" y="2518738"/>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Increased Sales</a:t>
              </a:r>
            </a:p>
          </p:txBody>
        </p:sp>
        <p:sp>
          <p:nvSpPr>
            <p:cNvPr id="14" name="Rectangle 13">
              <a:extLst>
                <a:ext uri="{FF2B5EF4-FFF2-40B4-BE49-F238E27FC236}">
                  <a16:creationId xmlns:a16="http://schemas.microsoft.com/office/drawing/2014/main" id="{79D5C66D-1455-534F-509F-EE8E9165694D}"/>
                </a:ext>
              </a:extLst>
            </p:cNvPr>
            <p:cNvSpPr/>
            <p:nvPr/>
          </p:nvSpPr>
          <p:spPr>
            <a:xfrm>
              <a:off x="4565812" y="2253343"/>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BEA20511-F7B3-9ABD-53AE-75A0A7A184D0}"/>
                </a:ext>
              </a:extLst>
            </p:cNvPr>
            <p:cNvSpPr/>
            <p:nvPr/>
          </p:nvSpPr>
          <p:spPr>
            <a:xfrm>
              <a:off x="5204733" y="2254159"/>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C40EF1-53FC-1618-82A7-CFA1E0F23048}"/>
                </a:ext>
              </a:extLst>
            </p:cNvPr>
            <p:cNvSpPr/>
            <p:nvPr/>
          </p:nvSpPr>
          <p:spPr>
            <a:xfrm>
              <a:off x="4404836" y="3334021"/>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2">
              <a:extLst>
                <a:ext uri="{FF2B5EF4-FFF2-40B4-BE49-F238E27FC236}">
                  <a16:creationId xmlns:a16="http://schemas.microsoft.com/office/drawing/2014/main" id="{3B0F538C-422F-0018-55BF-17A8110F3C9A}"/>
                </a:ext>
              </a:extLst>
            </p:cNvPr>
            <p:cNvSpPr txBox="1">
              <a:spLocks/>
            </p:cNvSpPr>
            <p:nvPr/>
          </p:nvSpPr>
          <p:spPr>
            <a:xfrm>
              <a:off x="5395532" y="3552881"/>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Revenue Growth</a:t>
              </a:r>
            </a:p>
          </p:txBody>
        </p:sp>
        <p:sp>
          <p:nvSpPr>
            <p:cNvPr id="18" name="Rectangle 17">
              <a:extLst>
                <a:ext uri="{FF2B5EF4-FFF2-40B4-BE49-F238E27FC236}">
                  <a16:creationId xmlns:a16="http://schemas.microsoft.com/office/drawing/2014/main" id="{5E35ED9B-1753-EBCF-64F1-07042B880752}"/>
                </a:ext>
              </a:extLst>
            </p:cNvPr>
            <p:cNvSpPr/>
            <p:nvPr/>
          </p:nvSpPr>
          <p:spPr>
            <a:xfrm>
              <a:off x="4565812" y="3287486"/>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A41A12E-E7DF-36F6-8061-DDD3B589EA52}"/>
                </a:ext>
              </a:extLst>
            </p:cNvPr>
            <p:cNvSpPr/>
            <p:nvPr/>
          </p:nvSpPr>
          <p:spPr>
            <a:xfrm>
              <a:off x="5204733" y="3288302"/>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08CECD-08FB-1F88-6F53-4808AA5B5335}"/>
                </a:ext>
              </a:extLst>
            </p:cNvPr>
            <p:cNvSpPr/>
            <p:nvPr/>
          </p:nvSpPr>
          <p:spPr>
            <a:xfrm>
              <a:off x="4404836" y="4368164"/>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2">
              <a:extLst>
                <a:ext uri="{FF2B5EF4-FFF2-40B4-BE49-F238E27FC236}">
                  <a16:creationId xmlns:a16="http://schemas.microsoft.com/office/drawing/2014/main" id="{DEFA2A94-CC98-A347-9AB5-A280B55AB9BF}"/>
                </a:ext>
              </a:extLst>
            </p:cNvPr>
            <p:cNvSpPr txBox="1">
              <a:spLocks/>
            </p:cNvSpPr>
            <p:nvPr/>
          </p:nvSpPr>
          <p:spPr>
            <a:xfrm>
              <a:off x="5395532" y="4587024"/>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Customer Acquisition</a:t>
              </a:r>
            </a:p>
          </p:txBody>
        </p:sp>
        <p:sp>
          <p:nvSpPr>
            <p:cNvPr id="22" name="Rectangle 21">
              <a:extLst>
                <a:ext uri="{FF2B5EF4-FFF2-40B4-BE49-F238E27FC236}">
                  <a16:creationId xmlns:a16="http://schemas.microsoft.com/office/drawing/2014/main" id="{FFBA500F-BBE9-D547-6E9A-400F85A2C662}"/>
                </a:ext>
              </a:extLst>
            </p:cNvPr>
            <p:cNvSpPr/>
            <p:nvPr/>
          </p:nvSpPr>
          <p:spPr>
            <a:xfrm>
              <a:off x="4565812" y="4321629"/>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DE287AD-3E02-8992-C119-372861F939FA}"/>
                </a:ext>
              </a:extLst>
            </p:cNvPr>
            <p:cNvSpPr/>
            <p:nvPr/>
          </p:nvSpPr>
          <p:spPr>
            <a:xfrm>
              <a:off x="5204733" y="4322445"/>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6EE03F-1813-C174-1B83-0CDEC47DAA0D}"/>
                </a:ext>
              </a:extLst>
            </p:cNvPr>
            <p:cNvSpPr/>
            <p:nvPr/>
          </p:nvSpPr>
          <p:spPr>
            <a:xfrm>
              <a:off x="4404836" y="5402307"/>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2">
              <a:extLst>
                <a:ext uri="{FF2B5EF4-FFF2-40B4-BE49-F238E27FC236}">
                  <a16:creationId xmlns:a16="http://schemas.microsoft.com/office/drawing/2014/main" id="{9B4ED38E-D0CD-8F31-7B3A-BBF99CF909FA}"/>
                </a:ext>
              </a:extLst>
            </p:cNvPr>
            <p:cNvSpPr txBox="1">
              <a:spLocks/>
            </p:cNvSpPr>
            <p:nvPr/>
          </p:nvSpPr>
          <p:spPr>
            <a:xfrm>
              <a:off x="5395532" y="5621167"/>
              <a:ext cx="2105198" cy="197409"/>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Capacity Development	</a:t>
              </a:r>
            </a:p>
          </p:txBody>
        </p:sp>
        <p:sp>
          <p:nvSpPr>
            <p:cNvPr id="26" name="Rectangle 25">
              <a:extLst>
                <a:ext uri="{FF2B5EF4-FFF2-40B4-BE49-F238E27FC236}">
                  <a16:creationId xmlns:a16="http://schemas.microsoft.com/office/drawing/2014/main" id="{D743D18A-8680-51CA-2004-9CB07DC30115}"/>
                </a:ext>
              </a:extLst>
            </p:cNvPr>
            <p:cNvSpPr/>
            <p:nvPr/>
          </p:nvSpPr>
          <p:spPr>
            <a:xfrm>
              <a:off x="4565812" y="5355772"/>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E3FDEAA6-42CE-4E90-96FF-08895C8ECD4C}"/>
                </a:ext>
              </a:extLst>
            </p:cNvPr>
            <p:cNvSpPr/>
            <p:nvPr/>
          </p:nvSpPr>
          <p:spPr>
            <a:xfrm>
              <a:off x="5204733" y="5356588"/>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B72419C-690F-9EBF-DED1-C985EF3264FB}"/>
                </a:ext>
              </a:extLst>
            </p:cNvPr>
            <p:cNvCxnSpPr>
              <a:cxnSpLocks/>
              <a:endCxn id="8" idx="1"/>
            </p:cNvCxnSpPr>
            <p:nvPr/>
          </p:nvCxnSpPr>
          <p:spPr>
            <a:xfrm flipV="1">
              <a:off x="2987879" y="1646496"/>
              <a:ext cx="1416957" cy="688324"/>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E477518-0F07-A378-C85E-913B6622557F}"/>
                </a:ext>
              </a:extLst>
            </p:cNvPr>
            <p:cNvCxnSpPr>
              <a:cxnSpLocks/>
            </p:cNvCxnSpPr>
            <p:nvPr/>
          </p:nvCxnSpPr>
          <p:spPr>
            <a:xfrm>
              <a:off x="3026357" y="5082625"/>
              <a:ext cx="1378479" cy="681318"/>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F5FCA2F-3EDD-B141-C766-3DE15F41CD39}"/>
                </a:ext>
              </a:extLst>
            </p:cNvPr>
            <p:cNvCxnSpPr>
              <a:cxnSpLocks/>
              <a:endCxn id="20" idx="1"/>
            </p:cNvCxnSpPr>
            <p:nvPr/>
          </p:nvCxnSpPr>
          <p:spPr>
            <a:xfrm>
              <a:off x="3514743" y="44380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C176D7B-47B3-505B-AECB-047089F5EE8A}"/>
                </a:ext>
              </a:extLst>
            </p:cNvPr>
            <p:cNvCxnSpPr>
              <a:cxnSpLocks/>
            </p:cNvCxnSpPr>
            <p:nvPr/>
          </p:nvCxnSpPr>
          <p:spPr>
            <a:xfrm flipV="1">
              <a:off x="3514743" y="26745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0A0B0A-0EF3-0B0C-C624-037BED34D176}"/>
                </a:ext>
              </a:extLst>
            </p:cNvPr>
            <p:cNvCxnSpPr>
              <a:cxnSpLocks/>
              <a:stCxn id="73" idx="2"/>
              <a:endCxn id="16" idx="1"/>
            </p:cNvCxnSpPr>
            <p:nvPr/>
          </p:nvCxnSpPr>
          <p:spPr>
            <a:xfrm flipV="1">
              <a:off x="3627750" y="3714782"/>
              <a:ext cx="777086" cy="4351"/>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3" name="Text Placeholder 2">
              <a:extLst>
                <a:ext uri="{FF2B5EF4-FFF2-40B4-BE49-F238E27FC236}">
                  <a16:creationId xmlns:a16="http://schemas.microsoft.com/office/drawing/2014/main" id="{6C4B06A5-E14C-B31F-D0DE-994FE7336BD1}"/>
                </a:ext>
              </a:extLst>
            </p:cNvPr>
            <p:cNvSpPr txBox="1">
              <a:spLocks/>
            </p:cNvSpPr>
            <p:nvPr/>
          </p:nvSpPr>
          <p:spPr>
            <a:xfrm>
              <a:off x="7948140" y="2353509"/>
              <a:ext cx="3596160" cy="654260"/>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400" dirty="0">
                <a:solidFill>
                  <a:srgbClr val="114A5E"/>
                </a:solidFill>
                <a:latin typeface="Segoe UI" panose="020B0502040204020203" pitchFamily="34" charset="0"/>
                <a:cs typeface="Segoe UI" panose="020B0502040204020203" pitchFamily="34" charset="0"/>
              </a:endParaRPr>
            </a:p>
          </p:txBody>
        </p:sp>
        <p:sp>
          <p:nvSpPr>
            <p:cNvPr id="36" name="Text Placeholder 2">
              <a:extLst>
                <a:ext uri="{FF2B5EF4-FFF2-40B4-BE49-F238E27FC236}">
                  <a16:creationId xmlns:a16="http://schemas.microsoft.com/office/drawing/2014/main" id="{69533EA4-BFD4-139E-079B-4FBE77498236}"/>
                </a:ext>
              </a:extLst>
            </p:cNvPr>
            <p:cNvSpPr txBox="1">
              <a:spLocks/>
            </p:cNvSpPr>
            <p:nvPr/>
          </p:nvSpPr>
          <p:spPr>
            <a:xfrm>
              <a:off x="7948140" y="5455938"/>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develop local capacity in Specialist Hospital Operations  </a:t>
              </a:r>
            </a:p>
          </p:txBody>
        </p:sp>
        <p:grpSp>
          <p:nvGrpSpPr>
            <p:cNvPr id="37" name="Group 36">
              <a:extLst>
                <a:ext uri="{FF2B5EF4-FFF2-40B4-BE49-F238E27FC236}">
                  <a16:creationId xmlns:a16="http://schemas.microsoft.com/office/drawing/2014/main" id="{52E84429-09C7-BC3B-8C3F-9D8042EB460C}"/>
                </a:ext>
              </a:extLst>
            </p:cNvPr>
            <p:cNvGrpSpPr/>
            <p:nvPr/>
          </p:nvGrpSpPr>
          <p:grpSpPr>
            <a:xfrm>
              <a:off x="4721759" y="1396036"/>
              <a:ext cx="327027" cy="285248"/>
              <a:chOff x="4113213" y="3640138"/>
              <a:chExt cx="360363" cy="314325"/>
            </a:xfrm>
            <a:solidFill>
              <a:schemeClr val="bg1"/>
            </a:solidFill>
          </p:grpSpPr>
          <p:sp>
            <p:nvSpPr>
              <p:cNvPr id="69" name="Freeform 1760">
                <a:extLst>
                  <a:ext uri="{FF2B5EF4-FFF2-40B4-BE49-F238E27FC236}">
                    <a16:creationId xmlns:a16="http://schemas.microsoft.com/office/drawing/2014/main" id="{883DD459-1C52-2B88-7B92-A08A7C18DA9B}"/>
                  </a:ext>
                </a:extLst>
              </p:cNvPr>
              <p:cNvSpPr>
                <a:spLocks/>
              </p:cNvSpPr>
              <p:nvPr/>
            </p:nvSpPr>
            <p:spPr bwMode="auto">
              <a:xfrm>
                <a:off x="4113213" y="3640138"/>
                <a:ext cx="360363" cy="314325"/>
              </a:xfrm>
              <a:custGeom>
                <a:avLst/>
                <a:gdLst>
                  <a:gd name="T0" fmla="*/ 94 w 96"/>
                  <a:gd name="T1" fmla="*/ 84 h 84"/>
                  <a:gd name="T2" fmla="*/ 2 w 96"/>
                  <a:gd name="T3" fmla="*/ 84 h 84"/>
                  <a:gd name="T4" fmla="*/ 0 w 96"/>
                  <a:gd name="T5" fmla="*/ 82 h 84"/>
                  <a:gd name="T6" fmla="*/ 0 w 96"/>
                  <a:gd name="T7" fmla="*/ 2 h 84"/>
                  <a:gd name="T8" fmla="*/ 2 w 96"/>
                  <a:gd name="T9" fmla="*/ 0 h 84"/>
                  <a:gd name="T10" fmla="*/ 4 w 96"/>
                  <a:gd name="T11" fmla="*/ 2 h 84"/>
                  <a:gd name="T12" fmla="*/ 4 w 96"/>
                  <a:gd name="T13" fmla="*/ 80 h 84"/>
                  <a:gd name="T14" fmla="*/ 94 w 96"/>
                  <a:gd name="T15" fmla="*/ 80 h 84"/>
                  <a:gd name="T16" fmla="*/ 96 w 96"/>
                  <a:gd name="T17" fmla="*/ 82 h 84"/>
                  <a:gd name="T18" fmla="*/ 94 w 96"/>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4">
                    <a:moveTo>
                      <a:pt x="94" y="84"/>
                    </a:moveTo>
                    <a:cubicBezTo>
                      <a:pt x="2" y="84"/>
                      <a:pt x="2" y="84"/>
                      <a:pt x="2" y="84"/>
                    </a:cubicBezTo>
                    <a:cubicBezTo>
                      <a:pt x="1" y="84"/>
                      <a:pt x="0" y="83"/>
                      <a:pt x="0" y="82"/>
                    </a:cubicBezTo>
                    <a:cubicBezTo>
                      <a:pt x="0" y="2"/>
                      <a:pt x="0" y="2"/>
                      <a:pt x="0" y="2"/>
                    </a:cubicBezTo>
                    <a:cubicBezTo>
                      <a:pt x="0" y="1"/>
                      <a:pt x="1" y="0"/>
                      <a:pt x="2" y="0"/>
                    </a:cubicBezTo>
                    <a:cubicBezTo>
                      <a:pt x="3" y="0"/>
                      <a:pt x="4" y="1"/>
                      <a:pt x="4" y="2"/>
                    </a:cubicBezTo>
                    <a:cubicBezTo>
                      <a:pt x="4" y="80"/>
                      <a:pt x="4" y="80"/>
                      <a:pt x="4" y="80"/>
                    </a:cubicBezTo>
                    <a:cubicBezTo>
                      <a:pt x="94" y="80"/>
                      <a:pt x="94" y="80"/>
                      <a:pt x="94" y="80"/>
                    </a:cubicBezTo>
                    <a:cubicBezTo>
                      <a:pt x="95" y="80"/>
                      <a:pt x="96" y="81"/>
                      <a:pt x="96" y="82"/>
                    </a:cubicBezTo>
                    <a:cubicBezTo>
                      <a:pt x="96" y="83"/>
                      <a:pt x="95" y="84"/>
                      <a:pt x="9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0" name="Freeform 1761">
                <a:extLst>
                  <a:ext uri="{FF2B5EF4-FFF2-40B4-BE49-F238E27FC236}">
                    <a16:creationId xmlns:a16="http://schemas.microsoft.com/office/drawing/2014/main" id="{360831A5-C608-26FC-1CE2-52ACE71E8CBC}"/>
                  </a:ext>
                </a:extLst>
              </p:cNvPr>
              <p:cNvSpPr>
                <a:spLocks/>
              </p:cNvSpPr>
              <p:nvPr/>
            </p:nvSpPr>
            <p:spPr bwMode="auto">
              <a:xfrm>
                <a:off x="4297363" y="3841750"/>
                <a:ext cx="63500" cy="68263"/>
              </a:xfrm>
              <a:custGeom>
                <a:avLst/>
                <a:gdLst>
                  <a:gd name="T0" fmla="*/ 15 w 17"/>
                  <a:gd name="T1" fmla="*/ 18 h 18"/>
                  <a:gd name="T2" fmla="*/ 1 w 17"/>
                  <a:gd name="T3" fmla="*/ 7 h 18"/>
                  <a:gd name="T4" fmla="*/ 1 w 17"/>
                  <a:gd name="T5" fmla="*/ 2 h 18"/>
                  <a:gd name="T6" fmla="*/ 2 w 17"/>
                  <a:gd name="T7" fmla="*/ 0 h 18"/>
                  <a:gd name="T8" fmla="*/ 4 w 17"/>
                  <a:gd name="T9" fmla="*/ 2 h 18"/>
                  <a:gd name="T10" fmla="*/ 5 w 17"/>
                  <a:gd name="T11" fmla="*/ 6 h 18"/>
                  <a:gd name="T12" fmla="*/ 15 w 17"/>
                  <a:gd name="T13" fmla="*/ 14 h 18"/>
                  <a:gd name="T14" fmla="*/ 17 w 17"/>
                  <a:gd name="T15" fmla="*/ 16 h 18"/>
                  <a:gd name="T16" fmla="*/ 15 w 17"/>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18"/>
                    </a:moveTo>
                    <a:cubicBezTo>
                      <a:pt x="8" y="18"/>
                      <a:pt x="2" y="13"/>
                      <a:pt x="1" y="7"/>
                    </a:cubicBezTo>
                    <a:cubicBezTo>
                      <a:pt x="1" y="2"/>
                      <a:pt x="1" y="2"/>
                      <a:pt x="1" y="2"/>
                    </a:cubicBezTo>
                    <a:cubicBezTo>
                      <a:pt x="0" y="1"/>
                      <a:pt x="1" y="0"/>
                      <a:pt x="2" y="0"/>
                    </a:cubicBezTo>
                    <a:cubicBezTo>
                      <a:pt x="3" y="0"/>
                      <a:pt x="4" y="1"/>
                      <a:pt x="4" y="2"/>
                    </a:cubicBezTo>
                    <a:cubicBezTo>
                      <a:pt x="5" y="6"/>
                      <a:pt x="5" y="6"/>
                      <a:pt x="5" y="6"/>
                    </a:cubicBezTo>
                    <a:cubicBezTo>
                      <a:pt x="6" y="11"/>
                      <a:pt x="10" y="14"/>
                      <a:pt x="15" y="14"/>
                    </a:cubicBezTo>
                    <a:cubicBezTo>
                      <a:pt x="16" y="14"/>
                      <a:pt x="17" y="15"/>
                      <a:pt x="17" y="16"/>
                    </a:cubicBezTo>
                    <a:cubicBezTo>
                      <a:pt x="17" y="17"/>
                      <a:pt x="16" y="18"/>
                      <a:pt x="1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1" name="Freeform 1762">
                <a:extLst>
                  <a:ext uri="{FF2B5EF4-FFF2-40B4-BE49-F238E27FC236}">
                    <a16:creationId xmlns:a16="http://schemas.microsoft.com/office/drawing/2014/main" id="{0697E1A5-9FBA-6B36-8F4F-DB31D01D3590}"/>
                  </a:ext>
                </a:extLst>
              </p:cNvPr>
              <p:cNvSpPr>
                <a:spLocks/>
              </p:cNvSpPr>
              <p:nvPr/>
            </p:nvSpPr>
            <p:spPr bwMode="auto">
              <a:xfrm>
                <a:off x="4149725" y="3729038"/>
                <a:ext cx="136525" cy="180975"/>
              </a:xfrm>
              <a:custGeom>
                <a:avLst/>
                <a:gdLst>
                  <a:gd name="T0" fmla="*/ 2 w 36"/>
                  <a:gd name="T1" fmla="*/ 48 h 48"/>
                  <a:gd name="T2" fmla="*/ 0 w 36"/>
                  <a:gd name="T3" fmla="*/ 46 h 48"/>
                  <a:gd name="T4" fmla="*/ 2 w 36"/>
                  <a:gd name="T5" fmla="*/ 44 h 48"/>
                  <a:gd name="T6" fmla="*/ 12 w 36"/>
                  <a:gd name="T7" fmla="*/ 36 h 48"/>
                  <a:gd name="T8" fmla="*/ 17 w 36"/>
                  <a:gd name="T9" fmla="*/ 10 h 48"/>
                  <a:gd name="T10" fmla="*/ 28 w 36"/>
                  <a:gd name="T11" fmla="*/ 0 h 48"/>
                  <a:gd name="T12" fmla="*/ 35 w 36"/>
                  <a:gd name="T13" fmla="*/ 2 h 48"/>
                  <a:gd name="T14" fmla="*/ 35 w 36"/>
                  <a:gd name="T15" fmla="*/ 5 h 48"/>
                  <a:gd name="T16" fmla="*/ 33 w 36"/>
                  <a:gd name="T17" fmla="*/ 6 h 48"/>
                  <a:gd name="T18" fmla="*/ 28 w 36"/>
                  <a:gd name="T19" fmla="*/ 4 h 48"/>
                  <a:gd name="T20" fmla="*/ 21 w 36"/>
                  <a:gd name="T21" fmla="*/ 10 h 48"/>
                  <a:gd name="T22" fmla="*/ 16 w 36"/>
                  <a:gd name="T23" fmla="*/ 37 h 48"/>
                  <a:gd name="T24" fmla="*/ 2 w 36"/>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8">
                    <a:moveTo>
                      <a:pt x="2" y="48"/>
                    </a:move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1" y="0"/>
                      <a:pt x="33" y="1"/>
                      <a:pt x="35" y="2"/>
                    </a:cubicBezTo>
                    <a:cubicBezTo>
                      <a:pt x="36" y="3"/>
                      <a:pt x="36" y="4"/>
                      <a:pt x="35" y="5"/>
                    </a:cubicBezTo>
                    <a:cubicBezTo>
                      <a:pt x="35" y="6"/>
                      <a:pt x="33" y="6"/>
                      <a:pt x="33" y="6"/>
                    </a:cubicBezTo>
                    <a:cubicBezTo>
                      <a:pt x="31" y="5"/>
                      <a:pt x="30" y="4"/>
                      <a:pt x="28" y="4"/>
                    </a:cubicBezTo>
                    <a:cubicBezTo>
                      <a:pt x="24" y="4"/>
                      <a:pt x="21" y="7"/>
                      <a:pt x="21" y="10"/>
                    </a:cubicBezTo>
                    <a:cubicBezTo>
                      <a:pt x="16" y="37"/>
                      <a:pt x="16" y="37"/>
                      <a:pt x="16" y="37"/>
                    </a:cubicBezTo>
                    <a:cubicBezTo>
                      <a:pt x="15" y="43"/>
                      <a:pt x="9" y="48"/>
                      <a:pt x="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2" name="Freeform 1763">
                <a:extLst>
                  <a:ext uri="{FF2B5EF4-FFF2-40B4-BE49-F238E27FC236}">
                    <a16:creationId xmlns:a16="http://schemas.microsoft.com/office/drawing/2014/main" id="{2C4111A7-8C18-BA45-42E4-5EF214FBD0B1}"/>
                  </a:ext>
                </a:extLst>
              </p:cNvPr>
              <p:cNvSpPr>
                <a:spLocks/>
              </p:cNvSpPr>
              <p:nvPr/>
            </p:nvSpPr>
            <p:spPr bwMode="auto">
              <a:xfrm>
                <a:off x="4225925" y="3729038"/>
                <a:ext cx="209550" cy="180975"/>
              </a:xfrm>
              <a:custGeom>
                <a:avLst/>
                <a:gdLst>
                  <a:gd name="T0" fmla="*/ 54 w 56"/>
                  <a:gd name="T1" fmla="*/ 48 h 48"/>
                  <a:gd name="T2" fmla="*/ 40 w 56"/>
                  <a:gd name="T3" fmla="*/ 37 h 48"/>
                  <a:gd name="T4" fmla="*/ 35 w 56"/>
                  <a:gd name="T5" fmla="*/ 10 h 48"/>
                  <a:gd name="T6" fmla="*/ 28 w 56"/>
                  <a:gd name="T7" fmla="*/ 4 h 48"/>
                  <a:gd name="T8" fmla="*/ 21 w 56"/>
                  <a:gd name="T9" fmla="*/ 10 h 48"/>
                  <a:gd name="T10" fmla="*/ 16 w 56"/>
                  <a:gd name="T11" fmla="*/ 37 h 48"/>
                  <a:gd name="T12" fmla="*/ 2 w 56"/>
                  <a:gd name="T13" fmla="*/ 48 h 48"/>
                  <a:gd name="T14" fmla="*/ 0 w 56"/>
                  <a:gd name="T15" fmla="*/ 46 h 48"/>
                  <a:gd name="T16" fmla="*/ 2 w 56"/>
                  <a:gd name="T17" fmla="*/ 44 h 48"/>
                  <a:gd name="T18" fmla="*/ 12 w 56"/>
                  <a:gd name="T19" fmla="*/ 36 h 48"/>
                  <a:gd name="T20" fmla="*/ 17 w 56"/>
                  <a:gd name="T21" fmla="*/ 10 h 48"/>
                  <a:gd name="T22" fmla="*/ 28 w 56"/>
                  <a:gd name="T23" fmla="*/ 0 h 48"/>
                  <a:gd name="T24" fmla="*/ 39 w 56"/>
                  <a:gd name="T25" fmla="*/ 10 h 48"/>
                  <a:gd name="T26" fmla="*/ 44 w 56"/>
                  <a:gd name="T27" fmla="*/ 36 h 48"/>
                  <a:gd name="T28" fmla="*/ 54 w 56"/>
                  <a:gd name="T29" fmla="*/ 44 h 48"/>
                  <a:gd name="T30" fmla="*/ 56 w 56"/>
                  <a:gd name="T31" fmla="*/ 46 h 48"/>
                  <a:gd name="T32" fmla="*/ 54 w 5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4" y="48"/>
                    </a:moveTo>
                    <a:cubicBezTo>
                      <a:pt x="47" y="48"/>
                      <a:pt x="41" y="43"/>
                      <a:pt x="40" y="37"/>
                    </a:cubicBezTo>
                    <a:cubicBezTo>
                      <a:pt x="35" y="10"/>
                      <a:pt x="35" y="10"/>
                      <a:pt x="35" y="10"/>
                    </a:cubicBezTo>
                    <a:cubicBezTo>
                      <a:pt x="35" y="7"/>
                      <a:pt x="32" y="4"/>
                      <a:pt x="28" y="4"/>
                    </a:cubicBezTo>
                    <a:cubicBezTo>
                      <a:pt x="24" y="4"/>
                      <a:pt x="21" y="7"/>
                      <a:pt x="21" y="10"/>
                    </a:cubicBezTo>
                    <a:cubicBezTo>
                      <a:pt x="16" y="37"/>
                      <a:pt x="16" y="37"/>
                      <a:pt x="16" y="37"/>
                    </a:cubicBezTo>
                    <a:cubicBezTo>
                      <a:pt x="15" y="43"/>
                      <a:pt x="9" y="48"/>
                      <a:pt x="2" y="48"/>
                    </a:cubicBez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4" y="0"/>
                      <a:pt x="38" y="4"/>
                      <a:pt x="39" y="10"/>
                    </a:cubicBezTo>
                    <a:cubicBezTo>
                      <a:pt x="44" y="36"/>
                      <a:pt x="44" y="36"/>
                      <a:pt x="44" y="36"/>
                    </a:cubicBezTo>
                    <a:cubicBezTo>
                      <a:pt x="45" y="41"/>
                      <a:pt x="49" y="44"/>
                      <a:pt x="54" y="44"/>
                    </a:cubicBezTo>
                    <a:cubicBezTo>
                      <a:pt x="55" y="44"/>
                      <a:pt x="56" y="45"/>
                      <a:pt x="56" y="46"/>
                    </a:cubicBezTo>
                    <a:cubicBezTo>
                      <a:pt x="56" y="47"/>
                      <a:pt x="55" y="48"/>
                      <a:pt x="5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8" name="Group 37">
              <a:extLst>
                <a:ext uri="{FF2B5EF4-FFF2-40B4-BE49-F238E27FC236}">
                  <a16:creationId xmlns:a16="http://schemas.microsoft.com/office/drawing/2014/main" id="{064A3EB0-C836-036F-D7A7-2E8276739056}"/>
                </a:ext>
              </a:extLst>
            </p:cNvPr>
            <p:cNvGrpSpPr/>
            <p:nvPr/>
          </p:nvGrpSpPr>
          <p:grpSpPr>
            <a:xfrm>
              <a:off x="4728962" y="2408569"/>
              <a:ext cx="312621" cy="328468"/>
              <a:chOff x="6276975" y="5051425"/>
              <a:chExt cx="344488" cy="361950"/>
            </a:xfrm>
            <a:solidFill>
              <a:schemeClr val="bg1"/>
            </a:solidFill>
          </p:grpSpPr>
          <p:sp>
            <p:nvSpPr>
              <p:cNvPr id="61" name="Freeform 1592">
                <a:extLst>
                  <a:ext uri="{FF2B5EF4-FFF2-40B4-BE49-F238E27FC236}">
                    <a16:creationId xmlns:a16="http://schemas.microsoft.com/office/drawing/2014/main" id="{DEA6C29A-4DB7-CAF8-2944-9223E2F7EEDB}"/>
                  </a:ext>
                </a:extLst>
              </p:cNvPr>
              <p:cNvSpPr>
                <a:spLocks noEditPoints="1"/>
              </p:cNvSpPr>
              <p:nvPr/>
            </p:nvSpPr>
            <p:spPr bwMode="auto">
              <a:xfrm>
                <a:off x="6276975" y="5051425"/>
                <a:ext cx="344488" cy="60325"/>
              </a:xfrm>
              <a:custGeom>
                <a:avLst/>
                <a:gdLst>
                  <a:gd name="T0" fmla="*/ 90 w 92"/>
                  <a:gd name="T1" fmla="*/ 16 h 16"/>
                  <a:gd name="T2" fmla="*/ 2 w 92"/>
                  <a:gd name="T3" fmla="*/ 16 h 16"/>
                  <a:gd name="T4" fmla="*/ 0 w 92"/>
                  <a:gd name="T5" fmla="*/ 14 h 16"/>
                  <a:gd name="T6" fmla="*/ 0 w 92"/>
                  <a:gd name="T7" fmla="*/ 2 h 16"/>
                  <a:gd name="T8" fmla="*/ 2 w 92"/>
                  <a:gd name="T9" fmla="*/ 0 h 16"/>
                  <a:gd name="T10" fmla="*/ 90 w 92"/>
                  <a:gd name="T11" fmla="*/ 0 h 16"/>
                  <a:gd name="T12" fmla="*/ 92 w 92"/>
                  <a:gd name="T13" fmla="*/ 2 h 16"/>
                  <a:gd name="T14" fmla="*/ 92 w 92"/>
                  <a:gd name="T15" fmla="*/ 14 h 16"/>
                  <a:gd name="T16" fmla="*/ 90 w 92"/>
                  <a:gd name="T17" fmla="*/ 16 h 16"/>
                  <a:gd name="T18" fmla="*/ 4 w 92"/>
                  <a:gd name="T19" fmla="*/ 12 h 16"/>
                  <a:gd name="T20" fmla="*/ 88 w 92"/>
                  <a:gd name="T21" fmla="*/ 12 h 16"/>
                  <a:gd name="T22" fmla="*/ 88 w 92"/>
                  <a:gd name="T23" fmla="*/ 4 h 16"/>
                  <a:gd name="T24" fmla="*/ 4 w 92"/>
                  <a:gd name="T25" fmla="*/ 4 h 16"/>
                  <a:gd name="T26" fmla="*/ 4 w 92"/>
                  <a:gd name="T2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16">
                    <a:moveTo>
                      <a:pt x="90" y="16"/>
                    </a:moveTo>
                    <a:cubicBezTo>
                      <a:pt x="2" y="16"/>
                      <a:pt x="2" y="16"/>
                      <a:pt x="2" y="16"/>
                    </a:cubicBezTo>
                    <a:cubicBezTo>
                      <a:pt x="1" y="16"/>
                      <a:pt x="0" y="15"/>
                      <a:pt x="0" y="14"/>
                    </a:cubicBezTo>
                    <a:cubicBezTo>
                      <a:pt x="0" y="2"/>
                      <a:pt x="0" y="2"/>
                      <a:pt x="0" y="2"/>
                    </a:cubicBezTo>
                    <a:cubicBezTo>
                      <a:pt x="0" y="1"/>
                      <a:pt x="1" y="0"/>
                      <a:pt x="2" y="0"/>
                    </a:cubicBezTo>
                    <a:cubicBezTo>
                      <a:pt x="90" y="0"/>
                      <a:pt x="90" y="0"/>
                      <a:pt x="90" y="0"/>
                    </a:cubicBezTo>
                    <a:cubicBezTo>
                      <a:pt x="91" y="0"/>
                      <a:pt x="92" y="1"/>
                      <a:pt x="92" y="2"/>
                    </a:cubicBezTo>
                    <a:cubicBezTo>
                      <a:pt x="92" y="14"/>
                      <a:pt x="92" y="14"/>
                      <a:pt x="92" y="14"/>
                    </a:cubicBezTo>
                    <a:cubicBezTo>
                      <a:pt x="92" y="15"/>
                      <a:pt x="91" y="16"/>
                      <a:pt x="90" y="16"/>
                    </a:cubicBezTo>
                    <a:close/>
                    <a:moveTo>
                      <a:pt x="4" y="12"/>
                    </a:moveTo>
                    <a:cubicBezTo>
                      <a:pt x="88" y="12"/>
                      <a:pt x="88" y="12"/>
                      <a:pt x="88" y="12"/>
                    </a:cubicBezTo>
                    <a:cubicBezTo>
                      <a:pt x="88" y="4"/>
                      <a:pt x="88" y="4"/>
                      <a:pt x="88" y="4"/>
                    </a:cubicBezTo>
                    <a:cubicBezTo>
                      <a:pt x="4" y="4"/>
                      <a:pt x="4" y="4"/>
                      <a:pt x="4" y="4"/>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2" name="Freeform 1593">
                <a:extLst>
                  <a:ext uri="{FF2B5EF4-FFF2-40B4-BE49-F238E27FC236}">
                    <a16:creationId xmlns:a16="http://schemas.microsoft.com/office/drawing/2014/main" id="{BEDF827A-546A-9BEF-CFCE-1E2CD99EDCDE}"/>
                  </a:ext>
                </a:extLst>
              </p:cNvPr>
              <p:cNvSpPr>
                <a:spLocks/>
              </p:cNvSpPr>
              <p:nvPr/>
            </p:nvSpPr>
            <p:spPr bwMode="auto">
              <a:xfrm>
                <a:off x="6276975" y="5307013"/>
                <a:ext cx="344488" cy="15875"/>
              </a:xfrm>
              <a:custGeom>
                <a:avLst/>
                <a:gdLst>
                  <a:gd name="T0" fmla="*/ 90 w 92"/>
                  <a:gd name="T1" fmla="*/ 4 h 4"/>
                  <a:gd name="T2" fmla="*/ 2 w 92"/>
                  <a:gd name="T3" fmla="*/ 4 h 4"/>
                  <a:gd name="T4" fmla="*/ 0 w 92"/>
                  <a:gd name="T5" fmla="*/ 2 h 4"/>
                  <a:gd name="T6" fmla="*/ 2 w 92"/>
                  <a:gd name="T7" fmla="*/ 0 h 4"/>
                  <a:gd name="T8" fmla="*/ 90 w 92"/>
                  <a:gd name="T9" fmla="*/ 0 h 4"/>
                  <a:gd name="T10" fmla="*/ 92 w 92"/>
                  <a:gd name="T11" fmla="*/ 2 h 4"/>
                  <a:gd name="T12" fmla="*/ 90 w 9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2" h="4">
                    <a:moveTo>
                      <a:pt x="90" y="4"/>
                    </a:moveTo>
                    <a:cubicBezTo>
                      <a:pt x="2" y="4"/>
                      <a:pt x="2" y="4"/>
                      <a:pt x="2" y="4"/>
                    </a:cubicBezTo>
                    <a:cubicBezTo>
                      <a:pt x="1" y="4"/>
                      <a:pt x="0" y="3"/>
                      <a:pt x="0" y="2"/>
                    </a:cubicBezTo>
                    <a:cubicBezTo>
                      <a:pt x="0" y="1"/>
                      <a:pt x="1" y="0"/>
                      <a:pt x="2" y="0"/>
                    </a:cubicBezTo>
                    <a:cubicBezTo>
                      <a:pt x="90" y="0"/>
                      <a:pt x="90" y="0"/>
                      <a:pt x="90" y="0"/>
                    </a:cubicBezTo>
                    <a:cubicBezTo>
                      <a:pt x="91" y="0"/>
                      <a:pt x="92" y="1"/>
                      <a:pt x="92" y="2"/>
                    </a:cubicBezTo>
                    <a:cubicBezTo>
                      <a:pt x="92" y="3"/>
                      <a:pt x="91" y="4"/>
                      <a:pt x="9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3" name="Freeform 1594">
                <a:extLst>
                  <a:ext uri="{FF2B5EF4-FFF2-40B4-BE49-F238E27FC236}">
                    <a16:creationId xmlns:a16="http://schemas.microsoft.com/office/drawing/2014/main" id="{E211CBB1-B298-8774-BE85-87A9730CD319}"/>
                  </a:ext>
                </a:extLst>
              </p:cNvPr>
              <p:cNvSpPr>
                <a:spLocks noEditPoints="1"/>
              </p:cNvSpPr>
              <p:nvPr/>
            </p:nvSpPr>
            <p:spPr bwMode="auto">
              <a:xfrm>
                <a:off x="6307138" y="5097463"/>
                <a:ext cx="284163" cy="225425"/>
              </a:xfrm>
              <a:custGeom>
                <a:avLst/>
                <a:gdLst>
                  <a:gd name="T0" fmla="*/ 74 w 76"/>
                  <a:gd name="T1" fmla="*/ 60 h 60"/>
                  <a:gd name="T2" fmla="*/ 2 w 76"/>
                  <a:gd name="T3" fmla="*/ 60 h 60"/>
                  <a:gd name="T4" fmla="*/ 0 w 76"/>
                  <a:gd name="T5" fmla="*/ 58 h 60"/>
                  <a:gd name="T6" fmla="*/ 0 w 76"/>
                  <a:gd name="T7" fmla="*/ 2 h 60"/>
                  <a:gd name="T8" fmla="*/ 2 w 76"/>
                  <a:gd name="T9" fmla="*/ 0 h 60"/>
                  <a:gd name="T10" fmla="*/ 74 w 76"/>
                  <a:gd name="T11" fmla="*/ 0 h 60"/>
                  <a:gd name="T12" fmla="*/ 76 w 76"/>
                  <a:gd name="T13" fmla="*/ 2 h 60"/>
                  <a:gd name="T14" fmla="*/ 76 w 76"/>
                  <a:gd name="T15" fmla="*/ 58 h 60"/>
                  <a:gd name="T16" fmla="*/ 74 w 76"/>
                  <a:gd name="T17" fmla="*/ 60 h 60"/>
                  <a:gd name="T18" fmla="*/ 4 w 76"/>
                  <a:gd name="T19" fmla="*/ 56 h 60"/>
                  <a:gd name="T20" fmla="*/ 72 w 76"/>
                  <a:gd name="T21" fmla="*/ 56 h 60"/>
                  <a:gd name="T22" fmla="*/ 72 w 76"/>
                  <a:gd name="T23" fmla="*/ 4 h 60"/>
                  <a:gd name="T24" fmla="*/ 4 w 76"/>
                  <a:gd name="T25" fmla="*/ 4 h 60"/>
                  <a:gd name="T26" fmla="*/ 4 w 76"/>
                  <a:gd name="T27"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60">
                    <a:moveTo>
                      <a:pt x="74" y="60"/>
                    </a:moveTo>
                    <a:cubicBezTo>
                      <a:pt x="2" y="60"/>
                      <a:pt x="2" y="60"/>
                      <a:pt x="2" y="60"/>
                    </a:cubicBezTo>
                    <a:cubicBezTo>
                      <a:pt x="1" y="60"/>
                      <a:pt x="0" y="59"/>
                      <a:pt x="0" y="58"/>
                    </a:cubicBezTo>
                    <a:cubicBezTo>
                      <a:pt x="0" y="2"/>
                      <a:pt x="0" y="2"/>
                      <a:pt x="0" y="2"/>
                    </a:cubicBezTo>
                    <a:cubicBezTo>
                      <a:pt x="0" y="1"/>
                      <a:pt x="1" y="0"/>
                      <a:pt x="2" y="0"/>
                    </a:cubicBezTo>
                    <a:cubicBezTo>
                      <a:pt x="74" y="0"/>
                      <a:pt x="74" y="0"/>
                      <a:pt x="74" y="0"/>
                    </a:cubicBezTo>
                    <a:cubicBezTo>
                      <a:pt x="75" y="0"/>
                      <a:pt x="76" y="1"/>
                      <a:pt x="76" y="2"/>
                    </a:cubicBezTo>
                    <a:cubicBezTo>
                      <a:pt x="76" y="58"/>
                      <a:pt x="76" y="58"/>
                      <a:pt x="76" y="58"/>
                    </a:cubicBezTo>
                    <a:cubicBezTo>
                      <a:pt x="76" y="59"/>
                      <a:pt x="75" y="60"/>
                      <a:pt x="74" y="60"/>
                    </a:cubicBezTo>
                    <a:close/>
                    <a:moveTo>
                      <a:pt x="4" y="56"/>
                    </a:moveTo>
                    <a:cubicBezTo>
                      <a:pt x="72" y="56"/>
                      <a:pt x="72" y="56"/>
                      <a:pt x="72" y="56"/>
                    </a:cubicBezTo>
                    <a:cubicBezTo>
                      <a:pt x="72" y="4"/>
                      <a:pt x="72" y="4"/>
                      <a:pt x="72" y="4"/>
                    </a:cubicBezTo>
                    <a:cubicBezTo>
                      <a:pt x="4" y="4"/>
                      <a:pt x="4" y="4"/>
                      <a:pt x="4" y="4"/>
                    </a:cubicBezTo>
                    <a:lnTo>
                      <a:pt x="4"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4" name="Rectangle 1595">
                <a:extLst>
                  <a:ext uri="{FF2B5EF4-FFF2-40B4-BE49-F238E27FC236}">
                    <a16:creationId xmlns:a16="http://schemas.microsoft.com/office/drawing/2014/main" id="{670E058B-68EA-1E38-F54E-E326FAA3DF76}"/>
                  </a:ext>
                </a:extLst>
              </p:cNvPr>
              <p:cNvSpPr>
                <a:spLocks noChangeArrowheads="1"/>
              </p:cNvSpPr>
              <p:nvPr/>
            </p:nvSpPr>
            <p:spPr bwMode="auto">
              <a:xfrm>
                <a:off x="6442075" y="5314950"/>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5" name="Freeform 1596">
                <a:extLst>
                  <a:ext uri="{FF2B5EF4-FFF2-40B4-BE49-F238E27FC236}">
                    <a16:creationId xmlns:a16="http://schemas.microsoft.com/office/drawing/2014/main" id="{E28C4BCE-1F04-11B8-F8F7-006EE1A395F2}"/>
                  </a:ext>
                </a:extLst>
              </p:cNvPr>
              <p:cNvSpPr>
                <a:spLocks noEditPoints="1"/>
              </p:cNvSpPr>
              <p:nvPr/>
            </p:nvSpPr>
            <p:spPr bwMode="auto">
              <a:xfrm>
                <a:off x="6419850" y="5353050"/>
                <a:ext cx="58738" cy="60325"/>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1597">
                <a:extLst>
                  <a:ext uri="{FF2B5EF4-FFF2-40B4-BE49-F238E27FC236}">
                    <a16:creationId xmlns:a16="http://schemas.microsoft.com/office/drawing/2014/main" id="{A80C6E2F-F735-9A10-6A71-C4A2E2110783}"/>
                  </a:ext>
                </a:extLst>
              </p:cNvPr>
              <p:cNvSpPr>
                <a:spLocks noEditPoints="1"/>
              </p:cNvSpPr>
              <p:nvPr/>
            </p:nvSpPr>
            <p:spPr bwMode="auto">
              <a:xfrm>
                <a:off x="6359525" y="5141913"/>
                <a:ext cx="157163" cy="106363"/>
              </a:xfrm>
              <a:custGeom>
                <a:avLst/>
                <a:gdLst>
                  <a:gd name="T0" fmla="*/ 40 w 42"/>
                  <a:gd name="T1" fmla="*/ 28 h 28"/>
                  <a:gd name="T2" fmla="*/ 12 w 42"/>
                  <a:gd name="T3" fmla="*/ 28 h 28"/>
                  <a:gd name="T4" fmla="*/ 10 w 42"/>
                  <a:gd name="T5" fmla="*/ 26 h 28"/>
                  <a:gd name="T6" fmla="*/ 10 w 42"/>
                  <a:gd name="T7" fmla="*/ 4 h 28"/>
                  <a:gd name="T8" fmla="*/ 2 w 42"/>
                  <a:gd name="T9" fmla="*/ 4 h 28"/>
                  <a:gd name="T10" fmla="*/ 0 w 42"/>
                  <a:gd name="T11" fmla="*/ 2 h 28"/>
                  <a:gd name="T12" fmla="*/ 2 w 42"/>
                  <a:gd name="T13" fmla="*/ 0 h 28"/>
                  <a:gd name="T14" fmla="*/ 12 w 42"/>
                  <a:gd name="T15" fmla="*/ 0 h 28"/>
                  <a:gd name="T16" fmla="*/ 14 w 42"/>
                  <a:gd name="T17" fmla="*/ 2 h 28"/>
                  <a:gd name="T18" fmla="*/ 14 w 42"/>
                  <a:gd name="T19" fmla="*/ 8 h 28"/>
                  <a:gd name="T20" fmla="*/ 40 w 42"/>
                  <a:gd name="T21" fmla="*/ 8 h 28"/>
                  <a:gd name="T22" fmla="*/ 42 w 42"/>
                  <a:gd name="T23" fmla="*/ 10 h 28"/>
                  <a:gd name="T24" fmla="*/ 42 w 42"/>
                  <a:gd name="T25" fmla="*/ 26 h 28"/>
                  <a:gd name="T26" fmla="*/ 40 w 42"/>
                  <a:gd name="T27" fmla="*/ 28 h 28"/>
                  <a:gd name="T28" fmla="*/ 14 w 42"/>
                  <a:gd name="T29" fmla="*/ 24 h 28"/>
                  <a:gd name="T30" fmla="*/ 38 w 42"/>
                  <a:gd name="T31" fmla="*/ 24 h 28"/>
                  <a:gd name="T32" fmla="*/ 38 w 42"/>
                  <a:gd name="T33" fmla="*/ 12 h 28"/>
                  <a:gd name="T34" fmla="*/ 14 w 42"/>
                  <a:gd name="T35" fmla="*/ 12 h 28"/>
                  <a:gd name="T36" fmla="*/ 14 w 42"/>
                  <a:gd name="T3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28">
                    <a:moveTo>
                      <a:pt x="40" y="28"/>
                    </a:moveTo>
                    <a:cubicBezTo>
                      <a:pt x="12" y="28"/>
                      <a:pt x="12" y="28"/>
                      <a:pt x="12" y="28"/>
                    </a:cubicBezTo>
                    <a:cubicBezTo>
                      <a:pt x="11" y="28"/>
                      <a:pt x="10" y="27"/>
                      <a:pt x="10" y="26"/>
                    </a:cubicBezTo>
                    <a:cubicBezTo>
                      <a:pt x="10" y="4"/>
                      <a:pt x="10" y="4"/>
                      <a:pt x="10" y="4"/>
                    </a:cubicBezTo>
                    <a:cubicBezTo>
                      <a:pt x="2" y="4"/>
                      <a:pt x="2" y="4"/>
                      <a:pt x="2" y="4"/>
                    </a:cubicBezTo>
                    <a:cubicBezTo>
                      <a:pt x="1" y="4"/>
                      <a:pt x="0" y="3"/>
                      <a:pt x="0" y="2"/>
                    </a:cubicBezTo>
                    <a:cubicBezTo>
                      <a:pt x="0" y="1"/>
                      <a:pt x="1" y="0"/>
                      <a:pt x="2" y="0"/>
                    </a:cubicBezTo>
                    <a:cubicBezTo>
                      <a:pt x="12" y="0"/>
                      <a:pt x="12" y="0"/>
                      <a:pt x="12" y="0"/>
                    </a:cubicBezTo>
                    <a:cubicBezTo>
                      <a:pt x="13" y="0"/>
                      <a:pt x="14" y="1"/>
                      <a:pt x="14" y="2"/>
                    </a:cubicBezTo>
                    <a:cubicBezTo>
                      <a:pt x="14" y="8"/>
                      <a:pt x="14" y="8"/>
                      <a:pt x="14" y="8"/>
                    </a:cubicBezTo>
                    <a:cubicBezTo>
                      <a:pt x="40" y="8"/>
                      <a:pt x="40" y="8"/>
                      <a:pt x="40" y="8"/>
                    </a:cubicBezTo>
                    <a:cubicBezTo>
                      <a:pt x="41" y="8"/>
                      <a:pt x="42" y="9"/>
                      <a:pt x="42" y="10"/>
                    </a:cubicBezTo>
                    <a:cubicBezTo>
                      <a:pt x="42" y="26"/>
                      <a:pt x="42" y="26"/>
                      <a:pt x="42" y="26"/>
                    </a:cubicBezTo>
                    <a:cubicBezTo>
                      <a:pt x="42" y="27"/>
                      <a:pt x="41" y="28"/>
                      <a:pt x="40" y="28"/>
                    </a:cubicBezTo>
                    <a:close/>
                    <a:moveTo>
                      <a:pt x="14" y="24"/>
                    </a:moveTo>
                    <a:cubicBezTo>
                      <a:pt x="38" y="24"/>
                      <a:pt x="38" y="24"/>
                      <a:pt x="38" y="24"/>
                    </a:cubicBezTo>
                    <a:cubicBezTo>
                      <a:pt x="38" y="12"/>
                      <a:pt x="38" y="12"/>
                      <a:pt x="38" y="12"/>
                    </a:cubicBezTo>
                    <a:cubicBezTo>
                      <a:pt x="14" y="12"/>
                      <a:pt x="14" y="12"/>
                      <a:pt x="14"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Oval 1598">
                <a:extLst>
                  <a:ext uri="{FF2B5EF4-FFF2-40B4-BE49-F238E27FC236}">
                    <a16:creationId xmlns:a16="http://schemas.microsoft.com/office/drawing/2014/main" id="{CC7DF1EF-B525-9A6A-63B7-1DFA98B78B37}"/>
                  </a:ext>
                </a:extLst>
              </p:cNvPr>
              <p:cNvSpPr>
                <a:spLocks noChangeArrowheads="1"/>
              </p:cNvSpPr>
              <p:nvPr/>
            </p:nvSpPr>
            <p:spPr bwMode="auto">
              <a:xfrm>
                <a:off x="6403975"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8" name="Oval 1599">
                <a:extLst>
                  <a:ext uri="{FF2B5EF4-FFF2-40B4-BE49-F238E27FC236}">
                    <a16:creationId xmlns:a16="http://schemas.microsoft.com/office/drawing/2014/main" id="{B64EA0E0-399C-3214-50B1-A170F0D40DB7}"/>
                  </a:ext>
                </a:extLst>
              </p:cNvPr>
              <p:cNvSpPr>
                <a:spLocks noChangeArrowheads="1"/>
              </p:cNvSpPr>
              <p:nvPr/>
            </p:nvSpPr>
            <p:spPr bwMode="auto">
              <a:xfrm>
                <a:off x="6478588"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9" name="Group 38">
              <a:extLst>
                <a:ext uri="{FF2B5EF4-FFF2-40B4-BE49-F238E27FC236}">
                  <a16:creationId xmlns:a16="http://schemas.microsoft.com/office/drawing/2014/main" id="{63CCD689-9808-A922-9F75-CFC6301EFC04}"/>
                </a:ext>
              </a:extLst>
            </p:cNvPr>
            <p:cNvGrpSpPr/>
            <p:nvPr/>
          </p:nvGrpSpPr>
          <p:grpSpPr>
            <a:xfrm>
              <a:off x="4728242" y="3449915"/>
              <a:ext cx="314061" cy="314062"/>
              <a:chOff x="5554663" y="723900"/>
              <a:chExt cx="346075" cy="346076"/>
            </a:xfrm>
            <a:solidFill>
              <a:schemeClr val="bg1"/>
            </a:solidFill>
          </p:grpSpPr>
          <p:sp>
            <p:nvSpPr>
              <p:cNvPr id="54" name="Freeform 1743">
                <a:extLst>
                  <a:ext uri="{FF2B5EF4-FFF2-40B4-BE49-F238E27FC236}">
                    <a16:creationId xmlns:a16="http://schemas.microsoft.com/office/drawing/2014/main" id="{007EBBDE-350A-B98E-EBD8-9B1295079AA1}"/>
                  </a:ext>
                </a:extLst>
              </p:cNvPr>
              <p:cNvSpPr>
                <a:spLocks noEditPoints="1"/>
              </p:cNvSpPr>
              <p:nvPr/>
            </p:nvSpPr>
            <p:spPr bwMode="auto">
              <a:xfrm>
                <a:off x="5595938" y="765175"/>
                <a:ext cx="263525" cy="263525"/>
              </a:xfrm>
              <a:custGeom>
                <a:avLst/>
                <a:gdLst>
                  <a:gd name="T0" fmla="*/ 35 w 70"/>
                  <a:gd name="T1" fmla="*/ 70 h 70"/>
                  <a:gd name="T2" fmla="*/ 0 w 70"/>
                  <a:gd name="T3" fmla="*/ 35 h 70"/>
                  <a:gd name="T4" fmla="*/ 35 w 70"/>
                  <a:gd name="T5" fmla="*/ 0 h 70"/>
                  <a:gd name="T6" fmla="*/ 70 w 70"/>
                  <a:gd name="T7" fmla="*/ 35 h 70"/>
                  <a:gd name="T8" fmla="*/ 35 w 70"/>
                  <a:gd name="T9" fmla="*/ 70 h 70"/>
                  <a:gd name="T10" fmla="*/ 35 w 70"/>
                  <a:gd name="T11" fmla="*/ 4 h 70"/>
                  <a:gd name="T12" fmla="*/ 4 w 70"/>
                  <a:gd name="T13" fmla="*/ 35 h 70"/>
                  <a:gd name="T14" fmla="*/ 35 w 70"/>
                  <a:gd name="T15" fmla="*/ 66 h 70"/>
                  <a:gd name="T16" fmla="*/ 66 w 70"/>
                  <a:gd name="T17" fmla="*/ 35 h 70"/>
                  <a:gd name="T18" fmla="*/ 35 w 70"/>
                  <a:gd name="T19"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70">
                    <a:moveTo>
                      <a:pt x="35" y="70"/>
                    </a:moveTo>
                    <a:cubicBezTo>
                      <a:pt x="16" y="70"/>
                      <a:pt x="0" y="54"/>
                      <a:pt x="0" y="35"/>
                    </a:cubicBezTo>
                    <a:cubicBezTo>
                      <a:pt x="0" y="16"/>
                      <a:pt x="16" y="0"/>
                      <a:pt x="35" y="0"/>
                    </a:cubicBezTo>
                    <a:cubicBezTo>
                      <a:pt x="54" y="0"/>
                      <a:pt x="70" y="16"/>
                      <a:pt x="70" y="35"/>
                    </a:cubicBezTo>
                    <a:cubicBezTo>
                      <a:pt x="70" y="54"/>
                      <a:pt x="54" y="70"/>
                      <a:pt x="35" y="70"/>
                    </a:cubicBezTo>
                    <a:close/>
                    <a:moveTo>
                      <a:pt x="35" y="4"/>
                    </a:moveTo>
                    <a:cubicBezTo>
                      <a:pt x="18" y="4"/>
                      <a:pt x="4" y="18"/>
                      <a:pt x="4" y="35"/>
                    </a:cubicBezTo>
                    <a:cubicBezTo>
                      <a:pt x="4" y="52"/>
                      <a:pt x="18" y="66"/>
                      <a:pt x="35" y="66"/>
                    </a:cubicBezTo>
                    <a:cubicBezTo>
                      <a:pt x="52" y="66"/>
                      <a:pt x="66" y="52"/>
                      <a:pt x="66" y="35"/>
                    </a:cubicBezTo>
                    <a:cubicBezTo>
                      <a:pt x="66" y="18"/>
                      <a:pt x="52" y="4"/>
                      <a:pt x="3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5" name="Freeform 1744">
                <a:extLst>
                  <a:ext uri="{FF2B5EF4-FFF2-40B4-BE49-F238E27FC236}">
                    <a16:creationId xmlns:a16="http://schemas.microsoft.com/office/drawing/2014/main" id="{106B6A51-7509-5465-8942-47199E2B2FEC}"/>
                  </a:ext>
                </a:extLst>
              </p:cNvPr>
              <p:cNvSpPr>
                <a:spLocks/>
              </p:cNvSpPr>
              <p:nvPr/>
            </p:nvSpPr>
            <p:spPr bwMode="auto">
              <a:xfrm>
                <a:off x="5719763" y="723900"/>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6" name="Freeform 1745">
                <a:extLst>
                  <a:ext uri="{FF2B5EF4-FFF2-40B4-BE49-F238E27FC236}">
                    <a16:creationId xmlns:a16="http://schemas.microsoft.com/office/drawing/2014/main" id="{7E4E865B-525D-F0A8-34A9-5B2533985969}"/>
                  </a:ext>
                </a:extLst>
              </p:cNvPr>
              <p:cNvSpPr>
                <a:spLocks/>
              </p:cNvSpPr>
              <p:nvPr/>
            </p:nvSpPr>
            <p:spPr bwMode="auto">
              <a:xfrm>
                <a:off x="5554663" y="889000"/>
                <a:ext cx="87313"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746">
                <a:extLst>
                  <a:ext uri="{FF2B5EF4-FFF2-40B4-BE49-F238E27FC236}">
                    <a16:creationId xmlns:a16="http://schemas.microsoft.com/office/drawing/2014/main" id="{B50B780F-2670-EB2F-4654-F217472F8C1E}"/>
                  </a:ext>
                </a:extLst>
              </p:cNvPr>
              <p:cNvSpPr>
                <a:spLocks/>
              </p:cNvSpPr>
              <p:nvPr/>
            </p:nvSpPr>
            <p:spPr bwMode="auto">
              <a:xfrm>
                <a:off x="5719763" y="982663"/>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8" name="Freeform 1747">
                <a:extLst>
                  <a:ext uri="{FF2B5EF4-FFF2-40B4-BE49-F238E27FC236}">
                    <a16:creationId xmlns:a16="http://schemas.microsoft.com/office/drawing/2014/main" id="{2860D1F9-29CE-580E-9957-8E9EC4FA0F5F}"/>
                  </a:ext>
                </a:extLst>
              </p:cNvPr>
              <p:cNvSpPr>
                <a:spLocks/>
              </p:cNvSpPr>
              <p:nvPr/>
            </p:nvSpPr>
            <p:spPr bwMode="auto">
              <a:xfrm>
                <a:off x="5815013" y="889000"/>
                <a:ext cx="85725"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9" name="Freeform 1748">
                <a:extLst>
                  <a:ext uri="{FF2B5EF4-FFF2-40B4-BE49-F238E27FC236}">
                    <a16:creationId xmlns:a16="http://schemas.microsoft.com/office/drawing/2014/main" id="{F2AF8A12-A080-5948-E925-E1F68E498D8A}"/>
                  </a:ext>
                </a:extLst>
              </p:cNvPr>
              <p:cNvSpPr>
                <a:spLocks/>
              </p:cNvSpPr>
              <p:nvPr/>
            </p:nvSpPr>
            <p:spPr bwMode="auto">
              <a:xfrm>
                <a:off x="5697538" y="844550"/>
                <a:ext cx="60325" cy="104775"/>
              </a:xfrm>
              <a:custGeom>
                <a:avLst/>
                <a:gdLst>
                  <a:gd name="T0" fmla="*/ 8 w 16"/>
                  <a:gd name="T1" fmla="*/ 28 h 28"/>
                  <a:gd name="T2" fmla="*/ 0 w 16"/>
                  <a:gd name="T3" fmla="*/ 20 h 28"/>
                  <a:gd name="T4" fmla="*/ 2 w 16"/>
                  <a:gd name="T5" fmla="*/ 18 h 28"/>
                  <a:gd name="T6" fmla="*/ 4 w 16"/>
                  <a:gd name="T7" fmla="*/ 20 h 28"/>
                  <a:gd name="T8" fmla="*/ 8 w 16"/>
                  <a:gd name="T9" fmla="*/ 24 h 28"/>
                  <a:gd name="T10" fmla="*/ 12 w 16"/>
                  <a:gd name="T11" fmla="*/ 20 h 28"/>
                  <a:gd name="T12" fmla="*/ 8 w 16"/>
                  <a:gd name="T13" fmla="*/ 16 h 28"/>
                  <a:gd name="T14" fmla="*/ 0 w 16"/>
                  <a:gd name="T15" fmla="*/ 8 h 28"/>
                  <a:gd name="T16" fmla="*/ 8 w 16"/>
                  <a:gd name="T17" fmla="*/ 0 h 28"/>
                  <a:gd name="T18" fmla="*/ 16 w 16"/>
                  <a:gd name="T19" fmla="*/ 8 h 28"/>
                  <a:gd name="T20" fmla="*/ 14 w 16"/>
                  <a:gd name="T21" fmla="*/ 10 h 28"/>
                  <a:gd name="T22" fmla="*/ 12 w 16"/>
                  <a:gd name="T23" fmla="*/ 8 h 28"/>
                  <a:gd name="T24" fmla="*/ 8 w 16"/>
                  <a:gd name="T25" fmla="*/ 4 h 28"/>
                  <a:gd name="T26" fmla="*/ 4 w 16"/>
                  <a:gd name="T27" fmla="*/ 8 h 28"/>
                  <a:gd name="T28" fmla="*/ 8 w 16"/>
                  <a:gd name="T29" fmla="*/ 12 h 28"/>
                  <a:gd name="T30" fmla="*/ 16 w 16"/>
                  <a:gd name="T31" fmla="*/ 20 h 28"/>
                  <a:gd name="T32" fmla="*/ 8 w 16"/>
                  <a:gd name="T3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8">
                    <a:moveTo>
                      <a:pt x="8" y="28"/>
                    </a:moveTo>
                    <a:cubicBezTo>
                      <a:pt x="4" y="28"/>
                      <a:pt x="0" y="24"/>
                      <a:pt x="0" y="20"/>
                    </a:cubicBezTo>
                    <a:cubicBezTo>
                      <a:pt x="0" y="19"/>
                      <a:pt x="1" y="18"/>
                      <a:pt x="2" y="18"/>
                    </a:cubicBezTo>
                    <a:cubicBezTo>
                      <a:pt x="3" y="18"/>
                      <a:pt x="4" y="19"/>
                      <a:pt x="4" y="20"/>
                    </a:cubicBezTo>
                    <a:cubicBezTo>
                      <a:pt x="4" y="22"/>
                      <a:pt x="6" y="24"/>
                      <a:pt x="8" y="24"/>
                    </a:cubicBezTo>
                    <a:cubicBezTo>
                      <a:pt x="10" y="24"/>
                      <a:pt x="12" y="22"/>
                      <a:pt x="12" y="20"/>
                    </a:cubicBezTo>
                    <a:cubicBezTo>
                      <a:pt x="12" y="18"/>
                      <a:pt x="10" y="16"/>
                      <a:pt x="8" y="16"/>
                    </a:cubicBezTo>
                    <a:cubicBezTo>
                      <a:pt x="4" y="16"/>
                      <a:pt x="0" y="12"/>
                      <a:pt x="0" y="8"/>
                    </a:cubicBezTo>
                    <a:cubicBezTo>
                      <a:pt x="0" y="3"/>
                      <a:pt x="4" y="0"/>
                      <a:pt x="8" y="0"/>
                    </a:cubicBezTo>
                    <a:cubicBezTo>
                      <a:pt x="12" y="0"/>
                      <a:pt x="16" y="3"/>
                      <a:pt x="16" y="8"/>
                    </a:cubicBezTo>
                    <a:cubicBezTo>
                      <a:pt x="16" y="9"/>
                      <a:pt x="15" y="10"/>
                      <a:pt x="14" y="10"/>
                    </a:cubicBezTo>
                    <a:cubicBezTo>
                      <a:pt x="13" y="10"/>
                      <a:pt x="12" y="9"/>
                      <a:pt x="12" y="8"/>
                    </a:cubicBezTo>
                    <a:cubicBezTo>
                      <a:pt x="12" y="5"/>
                      <a:pt x="10" y="4"/>
                      <a:pt x="8" y="4"/>
                    </a:cubicBezTo>
                    <a:cubicBezTo>
                      <a:pt x="6" y="4"/>
                      <a:pt x="4" y="5"/>
                      <a:pt x="4" y="8"/>
                    </a:cubicBezTo>
                    <a:cubicBezTo>
                      <a:pt x="4" y="10"/>
                      <a:pt x="6" y="12"/>
                      <a:pt x="8" y="12"/>
                    </a:cubicBezTo>
                    <a:cubicBezTo>
                      <a:pt x="12" y="12"/>
                      <a:pt x="16" y="15"/>
                      <a:pt x="16" y="20"/>
                    </a:cubicBezTo>
                    <a:cubicBezTo>
                      <a:pt x="16" y="24"/>
                      <a:pt x="12" y="28"/>
                      <a:pt x="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0" name="Freeform 1749">
                <a:extLst>
                  <a:ext uri="{FF2B5EF4-FFF2-40B4-BE49-F238E27FC236}">
                    <a16:creationId xmlns:a16="http://schemas.microsoft.com/office/drawing/2014/main" id="{BB0B7FBF-C849-E5BB-A0E7-3035EFF9240F}"/>
                  </a:ext>
                </a:extLst>
              </p:cNvPr>
              <p:cNvSpPr>
                <a:spLocks/>
              </p:cNvSpPr>
              <p:nvPr/>
            </p:nvSpPr>
            <p:spPr bwMode="auto">
              <a:xfrm>
                <a:off x="5719763" y="828675"/>
                <a:ext cx="15875" cy="136525"/>
              </a:xfrm>
              <a:custGeom>
                <a:avLst/>
                <a:gdLst>
                  <a:gd name="T0" fmla="*/ 2 w 4"/>
                  <a:gd name="T1" fmla="*/ 36 h 36"/>
                  <a:gd name="T2" fmla="*/ 0 w 4"/>
                  <a:gd name="T3" fmla="*/ 34 h 36"/>
                  <a:gd name="T4" fmla="*/ 0 w 4"/>
                  <a:gd name="T5" fmla="*/ 2 h 36"/>
                  <a:gd name="T6" fmla="*/ 2 w 4"/>
                  <a:gd name="T7" fmla="*/ 0 h 36"/>
                  <a:gd name="T8" fmla="*/ 4 w 4"/>
                  <a:gd name="T9" fmla="*/ 2 h 36"/>
                  <a:gd name="T10" fmla="*/ 4 w 4"/>
                  <a:gd name="T11" fmla="*/ 34 h 36"/>
                  <a:gd name="T12" fmla="*/ 2 w 4"/>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4" h="36">
                    <a:moveTo>
                      <a:pt x="2" y="36"/>
                    </a:moveTo>
                    <a:cubicBezTo>
                      <a:pt x="1" y="36"/>
                      <a:pt x="0" y="35"/>
                      <a:pt x="0" y="34"/>
                    </a:cubicBezTo>
                    <a:cubicBezTo>
                      <a:pt x="0" y="2"/>
                      <a:pt x="0" y="2"/>
                      <a:pt x="0" y="2"/>
                    </a:cubicBezTo>
                    <a:cubicBezTo>
                      <a:pt x="0" y="1"/>
                      <a:pt x="1" y="0"/>
                      <a:pt x="2" y="0"/>
                    </a:cubicBezTo>
                    <a:cubicBezTo>
                      <a:pt x="3" y="0"/>
                      <a:pt x="4" y="1"/>
                      <a:pt x="4" y="2"/>
                    </a:cubicBezTo>
                    <a:cubicBezTo>
                      <a:pt x="4" y="34"/>
                      <a:pt x="4" y="34"/>
                      <a:pt x="4" y="34"/>
                    </a:cubicBezTo>
                    <a:cubicBezTo>
                      <a:pt x="4" y="35"/>
                      <a:pt x="3" y="36"/>
                      <a:pt x="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0" name="Group 39">
              <a:extLst>
                <a:ext uri="{FF2B5EF4-FFF2-40B4-BE49-F238E27FC236}">
                  <a16:creationId xmlns:a16="http://schemas.microsoft.com/office/drawing/2014/main" id="{BBBC01AF-EFD2-0A10-C991-8D5A8D4CE1BB}"/>
                </a:ext>
              </a:extLst>
            </p:cNvPr>
            <p:cNvGrpSpPr/>
            <p:nvPr/>
          </p:nvGrpSpPr>
          <p:grpSpPr>
            <a:xfrm>
              <a:off x="4729683" y="4477576"/>
              <a:ext cx="311179" cy="327027"/>
              <a:chOff x="7718425" y="1082675"/>
              <a:chExt cx="342900" cy="360363"/>
            </a:xfrm>
            <a:solidFill>
              <a:schemeClr val="bg1"/>
            </a:solidFill>
          </p:grpSpPr>
          <p:sp>
            <p:nvSpPr>
              <p:cNvPr id="51" name="Freeform 656">
                <a:extLst>
                  <a:ext uri="{FF2B5EF4-FFF2-40B4-BE49-F238E27FC236}">
                    <a16:creationId xmlns:a16="http://schemas.microsoft.com/office/drawing/2014/main" id="{9AFE15F2-3065-A821-2DAE-F0844294DA04}"/>
                  </a:ext>
                </a:extLst>
              </p:cNvPr>
              <p:cNvSpPr>
                <a:spLocks noEditPoints="1"/>
              </p:cNvSpPr>
              <p:nvPr/>
            </p:nvSpPr>
            <p:spPr bwMode="auto">
              <a:xfrm>
                <a:off x="7718425" y="1203325"/>
                <a:ext cx="301625" cy="239713"/>
              </a:xfrm>
              <a:custGeom>
                <a:avLst/>
                <a:gdLst>
                  <a:gd name="T0" fmla="*/ 78 w 80"/>
                  <a:gd name="T1" fmla="*/ 64 h 64"/>
                  <a:gd name="T2" fmla="*/ 2 w 80"/>
                  <a:gd name="T3" fmla="*/ 64 h 64"/>
                  <a:gd name="T4" fmla="*/ 0 w 80"/>
                  <a:gd name="T5" fmla="*/ 62 h 64"/>
                  <a:gd name="T6" fmla="*/ 0 w 80"/>
                  <a:gd name="T7" fmla="*/ 2 h 64"/>
                  <a:gd name="T8" fmla="*/ 2 w 80"/>
                  <a:gd name="T9" fmla="*/ 0 h 64"/>
                  <a:gd name="T10" fmla="*/ 78 w 80"/>
                  <a:gd name="T11" fmla="*/ 0 h 64"/>
                  <a:gd name="T12" fmla="*/ 80 w 80"/>
                  <a:gd name="T13" fmla="*/ 2 h 64"/>
                  <a:gd name="T14" fmla="*/ 80 w 80"/>
                  <a:gd name="T15" fmla="*/ 62 h 64"/>
                  <a:gd name="T16" fmla="*/ 78 w 80"/>
                  <a:gd name="T17" fmla="*/ 64 h 64"/>
                  <a:gd name="T18" fmla="*/ 4 w 80"/>
                  <a:gd name="T19" fmla="*/ 60 h 64"/>
                  <a:gd name="T20" fmla="*/ 76 w 80"/>
                  <a:gd name="T21" fmla="*/ 60 h 64"/>
                  <a:gd name="T22" fmla="*/ 76 w 80"/>
                  <a:gd name="T23" fmla="*/ 4 h 64"/>
                  <a:gd name="T24" fmla="*/ 4 w 80"/>
                  <a:gd name="T25" fmla="*/ 4 h 64"/>
                  <a:gd name="T26" fmla="*/ 4 w 80"/>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64">
                    <a:moveTo>
                      <a:pt x="78" y="64"/>
                    </a:moveTo>
                    <a:cubicBezTo>
                      <a:pt x="2" y="64"/>
                      <a:pt x="2" y="64"/>
                      <a:pt x="2" y="64"/>
                    </a:cubicBezTo>
                    <a:cubicBezTo>
                      <a:pt x="1" y="64"/>
                      <a:pt x="0" y="63"/>
                      <a:pt x="0" y="62"/>
                    </a:cubicBezTo>
                    <a:cubicBezTo>
                      <a:pt x="0" y="2"/>
                      <a:pt x="0" y="2"/>
                      <a:pt x="0" y="2"/>
                    </a:cubicBezTo>
                    <a:cubicBezTo>
                      <a:pt x="0" y="1"/>
                      <a:pt x="1" y="0"/>
                      <a:pt x="2" y="0"/>
                    </a:cubicBezTo>
                    <a:cubicBezTo>
                      <a:pt x="78" y="0"/>
                      <a:pt x="78" y="0"/>
                      <a:pt x="78" y="0"/>
                    </a:cubicBezTo>
                    <a:cubicBezTo>
                      <a:pt x="79" y="0"/>
                      <a:pt x="80" y="1"/>
                      <a:pt x="80" y="2"/>
                    </a:cubicBezTo>
                    <a:cubicBezTo>
                      <a:pt x="80" y="62"/>
                      <a:pt x="80" y="62"/>
                      <a:pt x="80" y="62"/>
                    </a:cubicBezTo>
                    <a:cubicBezTo>
                      <a:pt x="80" y="63"/>
                      <a:pt x="79" y="64"/>
                      <a:pt x="78" y="64"/>
                    </a:cubicBezTo>
                    <a:close/>
                    <a:moveTo>
                      <a:pt x="4" y="60"/>
                    </a:moveTo>
                    <a:cubicBezTo>
                      <a:pt x="76" y="60"/>
                      <a:pt x="76" y="60"/>
                      <a:pt x="76" y="60"/>
                    </a:cubicBezTo>
                    <a:cubicBezTo>
                      <a:pt x="76" y="4"/>
                      <a:pt x="76" y="4"/>
                      <a:pt x="76" y="4"/>
                    </a:cubicBezTo>
                    <a:cubicBezTo>
                      <a:pt x="4" y="4"/>
                      <a:pt x="4" y="4"/>
                      <a:pt x="4" y="4"/>
                    </a:cubicBezTo>
                    <a:lnTo>
                      <a:pt x="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Freeform 657">
                <a:extLst>
                  <a:ext uri="{FF2B5EF4-FFF2-40B4-BE49-F238E27FC236}">
                    <a16:creationId xmlns:a16="http://schemas.microsoft.com/office/drawing/2014/main" id="{350EC060-AA29-D881-43B4-F7FA7C2A8246}"/>
                  </a:ext>
                </a:extLst>
              </p:cNvPr>
              <p:cNvSpPr>
                <a:spLocks/>
              </p:cNvSpPr>
              <p:nvPr/>
            </p:nvSpPr>
            <p:spPr bwMode="auto">
              <a:xfrm>
                <a:off x="7794625" y="1082675"/>
                <a:ext cx="149225" cy="104775"/>
              </a:xfrm>
              <a:custGeom>
                <a:avLst/>
                <a:gdLst>
                  <a:gd name="T0" fmla="*/ 38 w 40"/>
                  <a:gd name="T1" fmla="*/ 28 h 28"/>
                  <a:gd name="T2" fmla="*/ 36 w 40"/>
                  <a:gd name="T3" fmla="*/ 26 h 28"/>
                  <a:gd name="T4" fmla="*/ 36 w 40"/>
                  <a:gd name="T5" fmla="*/ 20 h 28"/>
                  <a:gd name="T6" fmla="*/ 20 w 40"/>
                  <a:gd name="T7" fmla="*/ 4 h 28"/>
                  <a:gd name="T8" fmla="*/ 4 w 40"/>
                  <a:gd name="T9" fmla="*/ 20 h 28"/>
                  <a:gd name="T10" fmla="*/ 4 w 40"/>
                  <a:gd name="T11" fmla="*/ 26 h 28"/>
                  <a:gd name="T12" fmla="*/ 2 w 40"/>
                  <a:gd name="T13" fmla="*/ 28 h 28"/>
                  <a:gd name="T14" fmla="*/ 0 w 40"/>
                  <a:gd name="T15" fmla="*/ 26 h 28"/>
                  <a:gd name="T16" fmla="*/ 0 w 40"/>
                  <a:gd name="T17" fmla="*/ 20 h 28"/>
                  <a:gd name="T18" fmla="*/ 20 w 40"/>
                  <a:gd name="T19" fmla="*/ 0 h 28"/>
                  <a:gd name="T20" fmla="*/ 40 w 40"/>
                  <a:gd name="T21" fmla="*/ 20 h 28"/>
                  <a:gd name="T22" fmla="*/ 40 w 40"/>
                  <a:gd name="T23" fmla="*/ 26 h 28"/>
                  <a:gd name="T24" fmla="*/ 38 w 40"/>
                  <a:gd name="T25"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28">
                    <a:moveTo>
                      <a:pt x="38" y="28"/>
                    </a:moveTo>
                    <a:cubicBezTo>
                      <a:pt x="37" y="28"/>
                      <a:pt x="36" y="27"/>
                      <a:pt x="36" y="26"/>
                    </a:cubicBezTo>
                    <a:cubicBezTo>
                      <a:pt x="36" y="20"/>
                      <a:pt x="36" y="20"/>
                      <a:pt x="36" y="20"/>
                    </a:cubicBezTo>
                    <a:cubicBezTo>
                      <a:pt x="36" y="11"/>
                      <a:pt x="29" y="4"/>
                      <a:pt x="20" y="4"/>
                    </a:cubicBezTo>
                    <a:cubicBezTo>
                      <a:pt x="11" y="4"/>
                      <a:pt x="4" y="11"/>
                      <a:pt x="4" y="20"/>
                    </a:cubicBezTo>
                    <a:cubicBezTo>
                      <a:pt x="4" y="26"/>
                      <a:pt x="4" y="26"/>
                      <a:pt x="4" y="26"/>
                    </a:cubicBezTo>
                    <a:cubicBezTo>
                      <a:pt x="4" y="27"/>
                      <a:pt x="3" y="28"/>
                      <a:pt x="2" y="28"/>
                    </a:cubicBezTo>
                    <a:cubicBezTo>
                      <a:pt x="1" y="28"/>
                      <a:pt x="0" y="27"/>
                      <a:pt x="0" y="26"/>
                    </a:cubicBezTo>
                    <a:cubicBezTo>
                      <a:pt x="0" y="20"/>
                      <a:pt x="0" y="20"/>
                      <a:pt x="0" y="20"/>
                    </a:cubicBezTo>
                    <a:cubicBezTo>
                      <a:pt x="0" y="9"/>
                      <a:pt x="9" y="0"/>
                      <a:pt x="20" y="0"/>
                    </a:cubicBezTo>
                    <a:cubicBezTo>
                      <a:pt x="31" y="0"/>
                      <a:pt x="40" y="9"/>
                      <a:pt x="40" y="20"/>
                    </a:cubicBezTo>
                    <a:cubicBezTo>
                      <a:pt x="40" y="26"/>
                      <a:pt x="40" y="26"/>
                      <a:pt x="40" y="26"/>
                    </a:cubicBezTo>
                    <a:cubicBezTo>
                      <a:pt x="40" y="27"/>
                      <a:pt x="39" y="28"/>
                      <a:pt x="3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3" name="Freeform 658">
                <a:extLst>
                  <a:ext uri="{FF2B5EF4-FFF2-40B4-BE49-F238E27FC236}">
                    <a16:creationId xmlns:a16="http://schemas.microsoft.com/office/drawing/2014/main" id="{C8144804-98DD-7B0A-9D73-F2CDCCA1D58A}"/>
                  </a:ext>
                </a:extLst>
              </p:cNvPr>
              <p:cNvSpPr>
                <a:spLocks noEditPoints="1"/>
              </p:cNvSpPr>
              <p:nvPr/>
            </p:nvSpPr>
            <p:spPr bwMode="auto">
              <a:xfrm>
                <a:off x="7959725" y="1093788"/>
                <a:ext cx="101600" cy="101600"/>
              </a:xfrm>
              <a:custGeom>
                <a:avLst/>
                <a:gdLst>
                  <a:gd name="T0" fmla="*/ 10 w 27"/>
                  <a:gd name="T1" fmla="*/ 27 h 27"/>
                  <a:gd name="T2" fmla="*/ 2 w 27"/>
                  <a:gd name="T3" fmla="*/ 27 h 27"/>
                  <a:gd name="T4" fmla="*/ 0 w 27"/>
                  <a:gd name="T5" fmla="*/ 25 h 27"/>
                  <a:gd name="T6" fmla="*/ 0 w 27"/>
                  <a:gd name="T7" fmla="*/ 17 h 27"/>
                  <a:gd name="T8" fmla="*/ 1 w 27"/>
                  <a:gd name="T9" fmla="*/ 15 h 27"/>
                  <a:gd name="T10" fmla="*/ 15 w 27"/>
                  <a:gd name="T11" fmla="*/ 1 h 27"/>
                  <a:gd name="T12" fmla="*/ 16 w 27"/>
                  <a:gd name="T13" fmla="*/ 0 h 27"/>
                  <a:gd name="T14" fmla="*/ 16 w 27"/>
                  <a:gd name="T15" fmla="*/ 0 h 27"/>
                  <a:gd name="T16" fmla="*/ 18 w 27"/>
                  <a:gd name="T17" fmla="*/ 1 h 27"/>
                  <a:gd name="T18" fmla="*/ 26 w 27"/>
                  <a:gd name="T19" fmla="*/ 9 h 27"/>
                  <a:gd name="T20" fmla="*/ 26 w 27"/>
                  <a:gd name="T21" fmla="*/ 12 h 27"/>
                  <a:gd name="T22" fmla="*/ 12 w 27"/>
                  <a:gd name="T23" fmla="*/ 26 h 27"/>
                  <a:gd name="T24" fmla="*/ 10 w 27"/>
                  <a:gd name="T25" fmla="*/ 27 h 27"/>
                  <a:gd name="T26" fmla="*/ 4 w 27"/>
                  <a:gd name="T27" fmla="*/ 23 h 27"/>
                  <a:gd name="T28" fmla="*/ 10 w 27"/>
                  <a:gd name="T29" fmla="*/ 23 h 27"/>
                  <a:gd name="T30" fmla="*/ 22 w 27"/>
                  <a:gd name="T31" fmla="*/ 11 h 27"/>
                  <a:gd name="T32" fmla="*/ 16 w 27"/>
                  <a:gd name="T33" fmla="*/ 5 h 27"/>
                  <a:gd name="T34" fmla="*/ 4 w 27"/>
                  <a:gd name="T35" fmla="*/ 17 h 27"/>
                  <a:gd name="T36" fmla="*/ 4 w 27"/>
                  <a:gd name="T3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7">
                    <a:moveTo>
                      <a:pt x="10" y="27"/>
                    </a:moveTo>
                    <a:cubicBezTo>
                      <a:pt x="2" y="27"/>
                      <a:pt x="2" y="27"/>
                      <a:pt x="2" y="27"/>
                    </a:cubicBezTo>
                    <a:cubicBezTo>
                      <a:pt x="1" y="27"/>
                      <a:pt x="0" y="26"/>
                      <a:pt x="0" y="25"/>
                    </a:cubicBezTo>
                    <a:cubicBezTo>
                      <a:pt x="0" y="17"/>
                      <a:pt x="0" y="17"/>
                      <a:pt x="0" y="17"/>
                    </a:cubicBezTo>
                    <a:cubicBezTo>
                      <a:pt x="0" y="16"/>
                      <a:pt x="0" y="15"/>
                      <a:pt x="1" y="15"/>
                    </a:cubicBezTo>
                    <a:cubicBezTo>
                      <a:pt x="15" y="1"/>
                      <a:pt x="15" y="1"/>
                      <a:pt x="15" y="1"/>
                    </a:cubicBezTo>
                    <a:cubicBezTo>
                      <a:pt x="15" y="1"/>
                      <a:pt x="16" y="0"/>
                      <a:pt x="16" y="0"/>
                    </a:cubicBezTo>
                    <a:cubicBezTo>
                      <a:pt x="16" y="0"/>
                      <a:pt x="16" y="0"/>
                      <a:pt x="16" y="0"/>
                    </a:cubicBezTo>
                    <a:cubicBezTo>
                      <a:pt x="17" y="0"/>
                      <a:pt x="17" y="1"/>
                      <a:pt x="18" y="1"/>
                    </a:cubicBezTo>
                    <a:cubicBezTo>
                      <a:pt x="26" y="9"/>
                      <a:pt x="26" y="9"/>
                      <a:pt x="26" y="9"/>
                    </a:cubicBezTo>
                    <a:cubicBezTo>
                      <a:pt x="27" y="10"/>
                      <a:pt x="27" y="11"/>
                      <a:pt x="26" y="12"/>
                    </a:cubicBezTo>
                    <a:cubicBezTo>
                      <a:pt x="12" y="26"/>
                      <a:pt x="12" y="26"/>
                      <a:pt x="12" y="26"/>
                    </a:cubicBezTo>
                    <a:cubicBezTo>
                      <a:pt x="12" y="27"/>
                      <a:pt x="11" y="27"/>
                      <a:pt x="10" y="27"/>
                    </a:cubicBezTo>
                    <a:close/>
                    <a:moveTo>
                      <a:pt x="4" y="23"/>
                    </a:moveTo>
                    <a:cubicBezTo>
                      <a:pt x="10" y="23"/>
                      <a:pt x="10" y="23"/>
                      <a:pt x="10" y="23"/>
                    </a:cubicBezTo>
                    <a:cubicBezTo>
                      <a:pt x="22" y="11"/>
                      <a:pt x="22" y="11"/>
                      <a:pt x="22" y="11"/>
                    </a:cubicBezTo>
                    <a:cubicBezTo>
                      <a:pt x="16" y="5"/>
                      <a:pt x="16" y="5"/>
                      <a:pt x="16" y="5"/>
                    </a:cubicBezTo>
                    <a:cubicBezTo>
                      <a:pt x="4" y="17"/>
                      <a:pt x="4" y="17"/>
                      <a:pt x="4" y="17"/>
                    </a:cubicBez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1" name="Group 40">
              <a:extLst>
                <a:ext uri="{FF2B5EF4-FFF2-40B4-BE49-F238E27FC236}">
                  <a16:creationId xmlns:a16="http://schemas.microsoft.com/office/drawing/2014/main" id="{AB52CCD4-2564-3E03-533C-652C82B48CB4}"/>
                </a:ext>
              </a:extLst>
            </p:cNvPr>
            <p:cNvGrpSpPr/>
            <p:nvPr/>
          </p:nvGrpSpPr>
          <p:grpSpPr>
            <a:xfrm>
              <a:off x="4721759" y="5531888"/>
              <a:ext cx="327027" cy="286689"/>
              <a:chOff x="2670175" y="1112838"/>
              <a:chExt cx="360363" cy="315913"/>
            </a:xfrm>
            <a:solidFill>
              <a:schemeClr val="bg1"/>
            </a:solidFill>
          </p:grpSpPr>
          <p:sp>
            <p:nvSpPr>
              <p:cNvPr id="42" name="Freeform 793">
                <a:extLst>
                  <a:ext uri="{FF2B5EF4-FFF2-40B4-BE49-F238E27FC236}">
                    <a16:creationId xmlns:a16="http://schemas.microsoft.com/office/drawing/2014/main" id="{4C8435DA-3347-74A5-8881-BA8CB21EC67F}"/>
                  </a:ext>
                </a:extLst>
              </p:cNvPr>
              <p:cNvSpPr>
                <a:spLocks/>
              </p:cNvSpPr>
              <p:nvPr/>
            </p:nvSpPr>
            <p:spPr bwMode="auto">
              <a:xfrm>
                <a:off x="2700338" y="1228725"/>
                <a:ext cx="300038" cy="200025"/>
              </a:xfrm>
              <a:custGeom>
                <a:avLst/>
                <a:gdLst>
                  <a:gd name="T0" fmla="*/ 78 w 80"/>
                  <a:gd name="T1" fmla="*/ 53 h 53"/>
                  <a:gd name="T2" fmla="*/ 2 w 80"/>
                  <a:gd name="T3" fmla="*/ 53 h 53"/>
                  <a:gd name="T4" fmla="*/ 0 w 80"/>
                  <a:gd name="T5" fmla="*/ 51 h 53"/>
                  <a:gd name="T6" fmla="*/ 0 w 80"/>
                  <a:gd name="T7" fmla="*/ 2 h 53"/>
                  <a:gd name="T8" fmla="*/ 2 w 80"/>
                  <a:gd name="T9" fmla="*/ 0 h 53"/>
                  <a:gd name="T10" fmla="*/ 4 w 80"/>
                  <a:gd name="T11" fmla="*/ 2 h 53"/>
                  <a:gd name="T12" fmla="*/ 4 w 80"/>
                  <a:gd name="T13" fmla="*/ 49 h 53"/>
                  <a:gd name="T14" fmla="*/ 76 w 80"/>
                  <a:gd name="T15" fmla="*/ 49 h 53"/>
                  <a:gd name="T16" fmla="*/ 76 w 80"/>
                  <a:gd name="T17" fmla="*/ 2 h 53"/>
                  <a:gd name="T18" fmla="*/ 78 w 80"/>
                  <a:gd name="T19" fmla="*/ 0 h 53"/>
                  <a:gd name="T20" fmla="*/ 80 w 80"/>
                  <a:gd name="T21" fmla="*/ 2 h 53"/>
                  <a:gd name="T22" fmla="*/ 80 w 80"/>
                  <a:gd name="T23" fmla="*/ 51 h 53"/>
                  <a:gd name="T24" fmla="*/ 78 w 8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3">
                    <a:moveTo>
                      <a:pt x="78" y="53"/>
                    </a:moveTo>
                    <a:cubicBezTo>
                      <a:pt x="2" y="53"/>
                      <a:pt x="2" y="53"/>
                      <a:pt x="2" y="53"/>
                    </a:cubicBezTo>
                    <a:cubicBezTo>
                      <a:pt x="1" y="53"/>
                      <a:pt x="0" y="52"/>
                      <a:pt x="0" y="51"/>
                    </a:cubicBezTo>
                    <a:cubicBezTo>
                      <a:pt x="0" y="2"/>
                      <a:pt x="0" y="2"/>
                      <a:pt x="0" y="2"/>
                    </a:cubicBezTo>
                    <a:cubicBezTo>
                      <a:pt x="0" y="1"/>
                      <a:pt x="1" y="0"/>
                      <a:pt x="2" y="0"/>
                    </a:cubicBezTo>
                    <a:cubicBezTo>
                      <a:pt x="3" y="0"/>
                      <a:pt x="4" y="1"/>
                      <a:pt x="4" y="2"/>
                    </a:cubicBezTo>
                    <a:cubicBezTo>
                      <a:pt x="4" y="49"/>
                      <a:pt x="4" y="49"/>
                      <a:pt x="4" y="49"/>
                    </a:cubicBezTo>
                    <a:cubicBezTo>
                      <a:pt x="76" y="49"/>
                      <a:pt x="76" y="49"/>
                      <a:pt x="76" y="49"/>
                    </a:cubicBezTo>
                    <a:cubicBezTo>
                      <a:pt x="76" y="2"/>
                      <a:pt x="76" y="2"/>
                      <a:pt x="76" y="2"/>
                    </a:cubicBezTo>
                    <a:cubicBezTo>
                      <a:pt x="76" y="1"/>
                      <a:pt x="77" y="0"/>
                      <a:pt x="78" y="0"/>
                    </a:cubicBezTo>
                    <a:cubicBezTo>
                      <a:pt x="79" y="0"/>
                      <a:pt x="80" y="1"/>
                      <a:pt x="80" y="2"/>
                    </a:cubicBezTo>
                    <a:cubicBezTo>
                      <a:pt x="80" y="51"/>
                      <a:pt x="80" y="51"/>
                      <a:pt x="80" y="51"/>
                    </a:cubicBezTo>
                    <a:cubicBezTo>
                      <a:pt x="80" y="52"/>
                      <a:pt x="79" y="53"/>
                      <a:pt x="7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Freeform 794">
                <a:extLst>
                  <a:ext uri="{FF2B5EF4-FFF2-40B4-BE49-F238E27FC236}">
                    <a16:creationId xmlns:a16="http://schemas.microsoft.com/office/drawing/2014/main" id="{DE47D7B8-5D00-9D19-2466-5D8157F59219}"/>
                  </a:ext>
                </a:extLst>
              </p:cNvPr>
              <p:cNvSpPr>
                <a:spLocks noEditPoints="1"/>
              </p:cNvSpPr>
              <p:nvPr/>
            </p:nvSpPr>
            <p:spPr bwMode="auto">
              <a:xfrm>
                <a:off x="2730500" y="1277938"/>
                <a:ext cx="134938" cy="106363"/>
              </a:xfrm>
              <a:custGeom>
                <a:avLst/>
                <a:gdLst>
                  <a:gd name="T0" fmla="*/ 34 w 36"/>
                  <a:gd name="T1" fmla="*/ 28 h 28"/>
                  <a:gd name="T2" fmla="*/ 2 w 36"/>
                  <a:gd name="T3" fmla="*/ 28 h 28"/>
                  <a:gd name="T4" fmla="*/ 0 w 36"/>
                  <a:gd name="T5" fmla="*/ 26 h 28"/>
                  <a:gd name="T6" fmla="*/ 0 w 36"/>
                  <a:gd name="T7" fmla="*/ 2 h 28"/>
                  <a:gd name="T8" fmla="*/ 2 w 36"/>
                  <a:gd name="T9" fmla="*/ 0 h 28"/>
                  <a:gd name="T10" fmla="*/ 34 w 36"/>
                  <a:gd name="T11" fmla="*/ 0 h 28"/>
                  <a:gd name="T12" fmla="*/ 36 w 36"/>
                  <a:gd name="T13" fmla="*/ 2 h 28"/>
                  <a:gd name="T14" fmla="*/ 36 w 36"/>
                  <a:gd name="T15" fmla="*/ 26 h 28"/>
                  <a:gd name="T16" fmla="*/ 34 w 36"/>
                  <a:gd name="T17" fmla="*/ 28 h 28"/>
                  <a:gd name="T18" fmla="*/ 4 w 36"/>
                  <a:gd name="T19" fmla="*/ 24 h 28"/>
                  <a:gd name="T20" fmla="*/ 32 w 36"/>
                  <a:gd name="T21" fmla="*/ 24 h 28"/>
                  <a:gd name="T22" fmla="*/ 32 w 36"/>
                  <a:gd name="T23" fmla="*/ 4 h 28"/>
                  <a:gd name="T24" fmla="*/ 4 w 36"/>
                  <a:gd name="T25" fmla="*/ 4 h 28"/>
                  <a:gd name="T26" fmla="*/ 4 w 36"/>
                  <a:gd name="T2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8">
                    <a:moveTo>
                      <a:pt x="34" y="28"/>
                    </a:moveTo>
                    <a:cubicBezTo>
                      <a:pt x="2" y="28"/>
                      <a:pt x="2" y="28"/>
                      <a:pt x="2" y="28"/>
                    </a:cubicBezTo>
                    <a:cubicBezTo>
                      <a:pt x="1" y="28"/>
                      <a:pt x="0" y="27"/>
                      <a:pt x="0" y="26"/>
                    </a:cubicBezTo>
                    <a:cubicBezTo>
                      <a:pt x="0" y="2"/>
                      <a:pt x="0" y="2"/>
                      <a:pt x="0" y="2"/>
                    </a:cubicBezTo>
                    <a:cubicBezTo>
                      <a:pt x="0" y="1"/>
                      <a:pt x="1" y="0"/>
                      <a:pt x="2" y="0"/>
                    </a:cubicBezTo>
                    <a:cubicBezTo>
                      <a:pt x="34" y="0"/>
                      <a:pt x="34" y="0"/>
                      <a:pt x="34" y="0"/>
                    </a:cubicBezTo>
                    <a:cubicBezTo>
                      <a:pt x="35" y="0"/>
                      <a:pt x="36" y="1"/>
                      <a:pt x="36" y="2"/>
                    </a:cubicBezTo>
                    <a:cubicBezTo>
                      <a:pt x="36" y="26"/>
                      <a:pt x="36" y="26"/>
                      <a:pt x="36" y="26"/>
                    </a:cubicBezTo>
                    <a:cubicBezTo>
                      <a:pt x="36" y="27"/>
                      <a:pt x="35" y="28"/>
                      <a:pt x="34" y="28"/>
                    </a:cubicBezTo>
                    <a:close/>
                    <a:moveTo>
                      <a:pt x="4" y="24"/>
                    </a:moveTo>
                    <a:cubicBezTo>
                      <a:pt x="32" y="24"/>
                      <a:pt x="32" y="24"/>
                      <a:pt x="32" y="24"/>
                    </a:cubicBezTo>
                    <a:cubicBezTo>
                      <a:pt x="32" y="4"/>
                      <a:pt x="32" y="4"/>
                      <a:pt x="32" y="4"/>
                    </a:cubicBezTo>
                    <a:cubicBezTo>
                      <a:pt x="4" y="4"/>
                      <a:pt x="4" y="4"/>
                      <a:pt x="4" y="4"/>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795">
                <a:extLst>
                  <a:ext uri="{FF2B5EF4-FFF2-40B4-BE49-F238E27FC236}">
                    <a16:creationId xmlns:a16="http://schemas.microsoft.com/office/drawing/2014/main" id="{F2202E50-3852-0566-ADE9-7C6C28E8BA1C}"/>
                  </a:ext>
                </a:extLst>
              </p:cNvPr>
              <p:cNvSpPr>
                <a:spLocks noEditPoints="1"/>
              </p:cNvSpPr>
              <p:nvPr/>
            </p:nvSpPr>
            <p:spPr bwMode="auto">
              <a:xfrm>
                <a:off x="2881313" y="1277938"/>
                <a:ext cx="88900" cy="150813"/>
              </a:xfrm>
              <a:custGeom>
                <a:avLst/>
                <a:gdLst>
                  <a:gd name="T0" fmla="*/ 22 w 24"/>
                  <a:gd name="T1" fmla="*/ 40 h 40"/>
                  <a:gd name="T2" fmla="*/ 2 w 24"/>
                  <a:gd name="T3" fmla="*/ 40 h 40"/>
                  <a:gd name="T4" fmla="*/ 0 w 24"/>
                  <a:gd name="T5" fmla="*/ 38 h 40"/>
                  <a:gd name="T6" fmla="*/ 0 w 24"/>
                  <a:gd name="T7" fmla="*/ 2 h 40"/>
                  <a:gd name="T8" fmla="*/ 2 w 24"/>
                  <a:gd name="T9" fmla="*/ 0 h 40"/>
                  <a:gd name="T10" fmla="*/ 22 w 24"/>
                  <a:gd name="T11" fmla="*/ 0 h 40"/>
                  <a:gd name="T12" fmla="*/ 24 w 24"/>
                  <a:gd name="T13" fmla="*/ 2 h 40"/>
                  <a:gd name="T14" fmla="*/ 24 w 24"/>
                  <a:gd name="T15" fmla="*/ 38 h 40"/>
                  <a:gd name="T16" fmla="*/ 22 w 24"/>
                  <a:gd name="T17" fmla="*/ 40 h 40"/>
                  <a:gd name="T18" fmla="*/ 4 w 24"/>
                  <a:gd name="T19" fmla="*/ 36 h 40"/>
                  <a:gd name="T20" fmla="*/ 20 w 24"/>
                  <a:gd name="T21" fmla="*/ 36 h 40"/>
                  <a:gd name="T22" fmla="*/ 20 w 24"/>
                  <a:gd name="T23" fmla="*/ 4 h 40"/>
                  <a:gd name="T24" fmla="*/ 4 w 24"/>
                  <a:gd name="T25" fmla="*/ 4 h 40"/>
                  <a:gd name="T26" fmla="*/ 4 w 24"/>
                  <a:gd name="T27"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40">
                    <a:moveTo>
                      <a:pt x="22" y="40"/>
                    </a:moveTo>
                    <a:cubicBezTo>
                      <a:pt x="2" y="40"/>
                      <a:pt x="2" y="40"/>
                      <a:pt x="2" y="40"/>
                    </a:cubicBezTo>
                    <a:cubicBezTo>
                      <a:pt x="1" y="40"/>
                      <a:pt x="0" y="39"/>
                      <a:pt x="0" y="38"/>
                    </a:cubicBezTo>
                    <a:cubicBezTo>
                      <a:pt x="0" y="2"/>
                      <a:pt x="0" y="2"/>
                      <a:pt x="0" y="2"/>
                    </a:cubicBezTo>
                    <a:cubicBezTo>
                      <a:pt x="0" y="1"/>
                      <a:pt x="1" y="0"/>
                      <a:pt x="2" y="0"/>
                    </a:cubicBezTo>
                    <a:cubicBezTo>
                      <a:pt x="22" y="0"/>
                      <a:pt x="22" y="0"/>
                      <a:pt x="22" y="0"/>
                    </a:cubicBezTo>
                    <a:cubicBezTo>
                      <a:pt x="23" y="0"/>
                      <a:pt x="24" y="1"/>
                      <a:pt x="24" y="2"/>
                    </a:cubicBezTo>
                    <a:cubicBezTo>
                      <a:pt x="24" y="38"/>
                      <a:pt x="24" y="38"/>
                      <a:pt x="24" y="38"/>
                    </a:cubicBezTo>
                    <a:cubicBezTo>
                      <a:pt x="24" y="39"/>
                      <a:pt x="23" y="40"/>
                      <a:pt x="22" y="40"/>
                    </a:cubicBezTo>
                    <a:close/>
                    <a:moveTo>
                      <a:pt x="4" y="36"/>
                    </a:moveTo>
                    <a:cubicBezTo>
                      <a:pt x="20" y="36"/>
                      <a:pt x="20" y="36"/>
                      <a:pt x="20" y="36"/>
                    </a:cubicBezTo>
                    <a:cubicBezTo>
                      <a:pt x="20" y="4"/>
                      <a:pt x="20" y="4"/>
                      <a:pt x="20" y="4"/>
                    </a:cubicBezTo>
                    <a:cubicBezTo>
                      <a:pt x="4" y="4"/>
                      <a:pt x="4" y="4"/>
                      <a:pt x="4" y="4"/>
                    </a:cubicBezTo>
                    <a:lnTo>
                      <a:pt x="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Freeform 796">
                <a:extLst>
                  <a:ext uri="{FF2B5EF4-FFF2-40B4-BE49-F238E27FC236}">
                    <a16:creationId xmlns:a16="http://schemas.microsoft.com/office/drawing/2014/main" id="{371606AB-1D0C-098A-AA39-B80C85B29EA7}"/>
                  </a:ext>
                </a:extLst>
              </p:cNvPr>
              <p:cNvSpPr>
                <a:spLocks noEditPoints="1"/>
              </p:cNvSpPr>
              <p:nvPr/>
            </p:nvSpPr>
            <p:spPr bwMode="auto">
              <a:xfrm>
                <a:off x="2670175" y="1112838"/>
                <a:ext cx="360363" cy="74613"/>
              </a:xfrm>
              <a:custGeom>
                <a:avLst/>
                <a:gdLst>
                  <a:gd name="T0" fmla="*/ 94 w 96"/>
                  <a:gd name="T1" fmla="*/ 20 h 20"/>
                  <a:gd name="T2" fmla="*/ 2 w 96"/>
                  <a:gd name="T3" fmla="*/ 20 h 20"/>
                  <a:gd name="T4" fmla="*/ 0 w 96"/>
                  <a:gd name="T5" fmla="*/ 19 h 20"/>
                  <a:gd name="T6" fmla="*/ 0 w 96"/>
                  <a:gd name="T7" fmla="*/ 17 h 20"/>
                  <a:gd name="T8" fmla="*/ 8 w 96"/>
                  <a:gd name="T9" fmla="*/ 1 h 20"/>
                  <a:gd name="T10" fmla="*/ 10 w 96"/>
                  <a:gd name="T11" fmla="*/ 0 h 20"/>
                  <a:gd name="T12" fmla="*/ 86 w 96"/>
                  <a:gd name="T13" fmla="*/ 0 h 20"/>
                  <a:gd name="T14" fmla="*/ 88 w 96"/>
                  <a:gd name="T15" fmla="*/ 1 h 20"/>
                  <a:gd name="T16" fmla="*/ 96 w 96"/>
                  <a:gd name="T17" fmla="*/ 17 h 20"/>
                  <a:gd name="T18" fmla="*/ 96 w 96"/>
                  <a:gd name="T19" fmla="*/ 19 h 20"/>
                  <a:gd name="T20" fmla="*/ 94 w 96"/>
                  <a:gd name="T21" fmla="*/ 20 h 20"/>
                  <a:gd name="T22" fmla="*/ 5 w 96"/>
                  <a:gd name="T23" fmla="*/ 16 h 20"/>
                  <a:gd name="T24" fmla="*/ 91 w 96"/>
                  <a:gd name="T25" fmla="*/ 16 h 20"/>
                  <a:gd name="T26" fmla="*/ 85 w 96"/>
                  <a:gd name="T27" fmla="*/ 4 h 20"/>
                  <a:gd name="T28" fmla="*/ 11 w 96"/>
                  <a:gd name="T29" fmla="*/ 4 h 20"/>
                  <a:gd name="T30" fmla="*/ 5 w 96"/>
                  <a:gd name="T3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6" h="20">
                    <a:moveTo>
                      <a:pt x="94" y="20"/>
                    </a:moveTo>
                    <a:cubicBezTo>
                      <a:pt x="2" y="20"/>
                      <a:pt x="2" y="20"/>
                      <a:pt x="2" y="20"/>
                    </a:cubicBezTo>
                    <a:cubicBezTo>
                      <a:pt x="1" y="20"/>
                      <a:pt x="1" y="20"/>
                      <a:pt x="0" y="19"/>
                    </a:cubicBezTo>
                    <a:cubicBezTo>
                      <a:pt x="0" y="18"/>
                      <a:pt x="0" y="18"/>
                      <a:pt x="0" y="17"/>
                    </a:cubicBezTo>
                    <a:cubicBezTo>
                      <a:pt x="8" y="1"/>
                      <a:pt x="8" y="1"/>
                      <a:pt x="8" y="1"/>
                    </a:cubicBezTo>
                    <a:cubicBezTo>
                      <a:pt x="9" y="0"/>
                      <a:pt x="9" y="0"/>
                      <a:pt x="10" y="0"/>
                    </a:cubicBezTo>
                    <a:cubicBezTo>
                      <a:pt x="86" y="0"/>
                      <a:pt x="86" y="0"/>
                      <a:pt x="86" y="0"/>
                    </a:cubicBezTo>
                    <a:cubicBezTo>
                      <a:pt x="87" y="0"/>
                      <a:pt x="87" y="0"/>
                      <a:pt x="88" y="1"/>
                    </a:cubicBezTo>
                    <a:cubicBezTo>
                      <a:pt x="96" y="17"/>
                      <a:pt x="96" y="17"/>
                      <a:pt x="96" y="17"/>
                    </a:cubicBezTo>
                    <a:cubicBezTo>
                      <a:pt x="96" y="18"/>
                      <a:pt x="96" y="18"/>
                      <a:pt x="96" y="19"/>
                    </a:cubicBezTo>
                    <a:cubicBezTo>
                      <a:pt x="95" y="20"/>
                      <a:pt x="95" y="20"/>
                      <a:pt x="94" y="20"/>
                    </a:cubicBezTo>
                    <a:close/>
                    <a:moveTo>
                      <a:pt x="5" y="16"/>
                    </a:moveTo>
                    <a:cubicBezTo>
                      <a:pt x="91" y="16"/>
                      <a:pt x="91" y="16"/>
                      <a:pt x="91" y="16"/>
                    </a:cubicBezTo>
                    <a:cubicBezTo>
                      <a:pt x="85" y="4"/>
                      <a:pt x="85" y="4"/>
                      <a:pt x="85" y="4"/>
                    </a:cubicBezTo>
                    <a:cubicBezTo>
                      <a:pt x="11" y="4"/>
                      <a:pt x="11" y="4"/>
                      <a:pt x="11" y="4"/>
                    </a:cubicBezTo>
                    <a:lnTo>
                      <a:pt x="5"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Freeform 797">
                <a:extLst>
                  <a:ext uri="{FF2B5EF4-FFF2-40B4-BE49-F238E27FC236}">
                    <a16:creationId xmlns:a16="http://schemas.microsoft.com/office/drawing/2014/main" id="{7DEC87CE-51F7-820E-8C9E-4EBDB6981BC6}"/>
                  </a:ext>
                </a:extLst>
              </p:cNvPr>
              <p:cNvSpPr>
                <a:spLocks noEditPoints="1"/>
              </p:cNvSpPr>
              <p:nvPr/>
            </p:nvSpPr>
            <p:spPr bwMode="auto">
              <a:xfrm>
                <a:off x="2670175" y="1173163"/>
                <a:ext cx="360363" cy="90488"/>
              </a:xfrm>
              <a:custGeom>
                <a:avLst/>
                <a:gdLst>
                  <a:gd name="T0" fmla="*/ 60 w 96"/>
                  <a:gd name="T1" fmla="*/ 24 h 24"/>
                  <a:gd name="T2" fmla="*/ 48 w 96"/>
                  <a:gd name="T3" fmla="*/ 19 h 24"/>
                  <a:gd name="T4" fmla="*/ 36 w 96"/>
                  <a:gd name="T5" fmla="*/ 24 h 24"/>
                  <a:gd name="T6" fmla="*/ 22 w 96"/>
                  <a:gd name="T7" fmla="*/ 17 h 24"/>
                  <a:gd name="T8" fmla="*/ 14 w 96"/>
                  <a:gd name="T9" fmla="*/ 20 h 24"/>
                  <a:gd name="T10" fmla="*/ 0 w 96"/>
                  <a:gd name="T11" fmla="*/ 6 h 24"/>
                  <a:gd name="T12" fmla="*/ 0 w 96"/>
                  <a:gd name="T13" fmla="*/ 2 h 24"/>
                  <a:gd name="T14" fmla="*/ 2 w 96"/>
                  <a:gd name="T15" fmla="*/ 0 h 24"/>
                  <a:gd name="T16" fmla="*/ 94 w 96"/>
                  <a:gd name="T17" fmla="*/ 0 h 24"/>
                  <a:gd name="T18" fmla="*/ 96 w 96"/>
                  <a:gd name="T19" fmla="*/ 2 h 24"/>
                  <a:gd name="T20" fmla="*/ 96 w 96"/>
                  <a:gd name="T21" fmla="*/ 6 h 24"/>
                  <a:gd name="T22" fmla="*/ 82 w 96"/>
                  <a:gd name="T23" fmla="*/ 20 h 24"/>
                  <a:gd name="T24" fmla="*/ 74 w 96"/>
                  <a:gd name="T25" fmla="*/ 17 h 24"/>
                  <a:gd name="T26" fmla="*/ 60 w 96"/>
                  <a:gd name="T27" fmla="*/ 24 h 24"/>
                  <a:gd name="T28" fmla="*/ 48 w 96"/>
                  <a:gd name="T29" fmla="*/ 15 h 24"/>
                  <a:gd name="T30" fmla="*/ 50 w 96"/>
                  <a:gd name="T31" fmla="*/ 15 h 24"/>
                  <a:gd name="T32" fmla="*/ 60 w 96"/>
                  <a:gd name="T33" fmla="*/ 20 h 24"/>
                  <a:gd name="T34" fmla="*/ 72 w 96"/>
                  <a:gd name="T35" fmla="*/ 13 h 24"/>
                  <a:gd name="T36" fmla="*/ 74 w 96"/>
                  <a:gd name="T37" fmla="*/ 12 h 24"/>
                  <a:gd name="T38" fmla="*/ 75 w 96"/>
                  <a:gd name="T39" fmla="*/ 13 h 24"/>
                  <a:gd name="T40" fmla="*/ 82 w 96"/>
                  <a:gd name="T41" fmla="*/ 16 h 24"/>
                  <a:gd name="T42" fmla="*/ 92 w 96"/>
                  <a:gd name="T43" fmla="*/ 6 h 24"/>
                  <a:gd name="T44" fmla="*/ 92 w 96"/>
                  <a:gd name="T45" fmla="*/ 4 h 24"/>
                  <a:gd name="T46" fmla="*/ 4 w 96"/>
                  <a:gd name="T47" fmla="*/ 4 h 24"/>
                  <a:gd name="T48" fmla="*/ 4 w 96"/>
                  <a:gd name="T49" fmla="*/ 6 h 24"/>
                  <a:gd name="T50" fmla="*/ 14 w 96"/>
                  <a:gd name="T51" fmla="*/ 16 h 24"/>
                  <a:gd name="T52" fmla="*/ 21 w 96"/>
                  <a:gd name="T53" fmla="*/ 13 h 24"/>
                  <a:gd name="T54" fmla="*/ 22 w 96"/>
                  <a:gd name="T55" fmla="*/ 12 h 24"/>
                  <a:gd name="T56" fmla="*/ 24 w 96"/>
                  <a:gd name="T57" fmla="*/ 13 h 24"/>
                  <a:gd name="T58" fmla="*/ 36 w 96"/>
                  <a:gd name="T59" fmla="*/ 20 h 24"/>
                  <a:gd name="T60" fmla="*/ 47 w 96"/>
                  <a:gd name="T61" fmla="*/ 15 h 24"/>
                  <a:gd name="T62" fmla="*/ 48 w 96"/>
                  <a:gd name="T6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24">
                    <a:moveTo>
                      <a:pt x="60" y="24"/>
                    </a:moveTo>
                    <a:cubicBezTo>
                      <a:pt x="56" y="24"/>
                      <a:pt x="51" y="22"/>
                      <a:pt x="48" y="19"/>
                    </a:cubicBezTo>
                    <a:cubicBezTo>
                      <a:pt x="45" y="22"/>
                      <a:pt x="40" y="24"/>
                      <a:pt x="36" y="24"/>
                    </a:cubicBezTo>
                    <a:cubicBezTo>
                      <a:pt x="31" y="24"/>
                      <a:pt x="25" y="21"/>
                      <a:pt x="22" y="17"/>
                    </a:cubicBezTo>
                    <a:cubicBezTo>
                      <a:pt x="20" y="19"/>
                      <a:pt x="17" y="20"/>
                      <a:pt x="14" y="20"/>
                    </a:cubicBezTo>
                    <a:cubicBezTo>
                      <a:pt x="6" y="20"/>
                      <a:pt x="0" y="14"/>
                      <a:pt x="0" y="6"/>
                    </a:cubicBezTo>
                    <a:cubicBezTo>
                      <a:pt x="0" y="2"/>
                      <a:pt x="0" y="2"/>
                      <a:pt x="0" y="2"/>
                    </a:cubicBezTo>
                    <a:cubicBezTo>
                      <a:pt x="0" y="1"/>
                      <a:pt x="1" y="0"/>
                      <a:pt x="2" y="0"/>
                    </a:cubicBezTo>
                    <a:cubicBezTo>
                      <a:pt x="94" y="0"/>
                      <a:pt x="94" y="0"/>
                      <a:pt x="94" y="0"/>
                    </a:cubicBezTo>
                    <a:cubicBezTo>
                      <a:pt x="95" y="0"/>
                      <a:pt x="96" y="1"/>
                      <a:pt x="96" y="2"/>
                    </a:cubicBezTo>
                    <a:cubicBezTo>
                      <a:pt x="96" y="6"/>
                      <a:pt x="96" y="6"/>
                      <a:pt x="96" y="6"/>
                    </a:cubicBezTo>
                    <a:cubicBezTo>
                      <a:pt x="96" y="14"/>
                      <a:pt x="90" y="20"/>
                      <a:pt x="82" y="20"/>
                    </a:cubicBezTo>
                    <a:cubicBezTo>
                      <a:pt x="79" y="20"/>
                      <a:pt x="76" y="19"/>
                      <a:pt x="74" y="17"/>
                    </a:cubicBezTo>
                    <a:cubicBezTo>
                      <a:pt x="71" y="21"/>
                      <a:pt x="65" y="24"/>
                      <a:pt x="60" y="24"/>
                    </a:cubicBezTo>
                    <a:close/>
                    <a:moveTo>
                      <a:pt x="48" y="15"/>
                    </a:moveTo>
                    <a:cubicBezTo>
                      <a:pt x="49" y="15"/>
                      <a:pt x="49" y="15"/>
                      <a:pt x="50" y="15"/>
                    </a:cubicBezTo>
                    <a:cubicBezTo>
                      <a:pt x="52" y="18"/>
                      <a:pt x="56" y="20"/>
                      <a:pt x="60" y="20"/>
                    </a:cubicBezTo>
                    <a:cubicBezTo>
                      <a:pt x="65" y="20"/>
                      <a:pt x="70" y="17"/>
                      <a:pt x="72" y="13"/>
                    </a:cubicBezTo>
                    <a:cubicBezTo>
                      <a:pt x="73" y="12"/>
                      <a:pt x="73" y="12"/>
                      <a:pt x="74" y="12"/>
                    </a:cubicBezTo>
                    <a:cubicBezTo>
                      <a:pt x="74" y="12"/>
                      <a:pt x="75" y="12"/>
                      <a:pt x="75" y="13"/>
                    </a:cubicBezTo>
                    <a:cubicBezTo>
                      <a:pt x="78" y="15"/>
                      <a:pt x="80" y="16"/>
                      <a:pt x="82" y="16"/>
                    </a:cubicBezTo>
                    <a:cubicBezTo>
                      <a:pt x="88" y="16"/>
                      <a:pt x="92" y="12"/>
                      <a:pt x="92" y="6"/>
                    </a:cubicBezTo>
                    <a:cubicBezTo>
                      <a:pt x="92" y="4"/>
                      <a:pt x="92" y="4"/>
                      <a:pt x="92" y="4"/>
                    </a:cubicBezTo>
                    <a:cubicBezTo>
                      <a:pt x="4" y="4"/>
                      <a:pt x="4" y="4"/>
                      <a:pt x="4" y="4"/>
                    </a:cubicBezTo>
                    <a:cubicBezTo>
                      <a:pt x="4" y="6"/>
                      <a:pt x="4" y="6"/>
                      <a:pt x="4" y="6"/>
                    </a:cubicBezTo>
                    <a:cubicBezTo>
                      <a:pt x="4" y="12"/>
                      <a:pt x="8" y="16"/>
                      <a:pt x="14" y="16"/>
                    </a:cubicBezTo>
                    <a:cubicBezTo>
                      <a:pt x="16" y="16"/>
                      <a:pt x="18" y="15"/>
                      <a:pt x="21" y="13"/>
                    </a:cubicBezTo>
                    <a:cubicBezTo>
                      <a:pt x="21" y="12"/>
                      <a:pt x="22" y="12"/>
                      <a:pt x="22" y="12"/>
                    </a:cubicBezTo>
                    <a:cubicBezTo>
                      <a:pt x="23" y="12"/>
                      <a:pt x="23" y="12"/>
                      <a:pt x="24" y="13"/>
                    </a:cubicBezTo>
                    <a:cubicBezTo>
                      <a:pt x="26" y="17"/>
                      <a:pt x="31" y="20"/>
                      <a:pt x="36" y="20"/>
                    </a:cubicBezTo>
                    <a:cubicBezTo>
                      <a:pt x="40" y="20"/>
                      <a:pt x="44" y="18"/>
                      <a:pt x="47" y="15"/>
                    </a:cubicBezTo>
                    <a:cubicBezTo>
                      <a:pt x="47" y="15"/>
                      <a:pt x="47" y="15"/>
                      <a:pt x="4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Freeform 798">
                <a:extLst>
                  <a:ext uri="{FF2B5EF4-FFF2-40B4-BE49-F238E27FC236}">
                    <a16:creationId xmlns:a16="http://schemas.microsoft.com/office/drawing/2014/main" id="{0CD8814D-3B0B-99D0-65C5-9F180AC73D78}"/>
                  </a:ext>
                </a:extLst>
              </p:cNvPr>
              <p:cNvSpPr>
                <a:spLocks/>
              </p:cNvSpPr>
              <p:nvPr/>
            </p:nvSpPr>
            <p:spPr bwMode="auto">
              <a:xfrm>
                <a:off x="2744788" y="1112838"/>
                <a:ext cx="30163" cy="120650"/>
              </a:xfrm>
              <a:custGeom>
                <a:avLst/>
                <a:gdLst>
                  <a:gd name="T0" fmla="*/ 2 w 8"/>
                  <a:gd name="T1" fmla="*/ 32 h 32"/>
                  <a:gd name="T2" fmla="*/ 0 w 8"/>
                  <a:gd name="T3" fmla="*/ 30 h 32"/>
                  <a:gd name="T4" fmla="*/ 0 w 8"/>
                  <a:gd name="T5" fmla="*/ 18 h 32"/>
                  <a:gd name="T6" fmla="*/ 0 w 8"/>
                  <a:gd name="T7" fmla="*/ 18 h 32"/>
                  <a:gd name="T8" fmla="*/ 4 w 8"/>
                  <a:gd name="T9" fmla="*/ 2 h 32"/>
                  <a:gd name="T10" fmla="*/ 6 w 8"/>
                  <a:gd name="T11" fmla="*/ 0 h 32"/>
                  <a:gd name="T12" fmla="*/ 8 w 8"/>
                  <a:gd name="T13" fmla="*/ 2 h 32"/>
                  <a:gd name="T14" fmla="*/ 4 w 8"/>
                  <a:gd name="T15" fmla="*/ 18 h 32"/>
                  <a:gd name="T16" fmla="*/ 4 w 8"/>
                  <a:gd name="T17" fmla="*/ 30 h 32"/>
                  <a:gd name="T18" fmla="*/ 2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2" y="32"/>
                    </a:moveTo>
                    <a:cubicBezTo>
                      <a:pt x="1" y="32"/>
                      <a:pt x="0" y="31"/>
                      <a:pt x="0" y="30"/>
                    </a:cubicBezTo>
                    <a:cubicBezTo>
                      <a:pt x="0" y="18"/>
                      <a:pt x="0" y="18"/>
                      <a:pt x="0" y="18"/>
                    </a:cubicBezTo>
                    <a:cubicBezTo>
                      <a:pt x="0" y="18"/>
                      <a:pt x="0" y="18"/>
                      <a:pt x="0" y="18"/>
                    </a:cubicBezTo>
                    <a:cubicBezTo>
                      <a:pt x="4" y="2"/>
                      <a:pt x="4" y="2"/>
                      <a:pt x="4" y="2"/>
                    </a:cubicBezTo>
                    <a:cubicBezTo>
                      <a:pt x="4" y="0"/>
                      <a:pt x="5" y="0"/>
                      <a:pt x="6" y="0"/>
                    </a:cubicBezTo>
                    <a:cubicBezTo>
                      <a:pt x="8" y="0"/>
                      <a:pt x="8" y="1"/>
                      <a:pt x="8" y="2"/>
                    </a:cubicBezTo>
                    <a:cubicBezTo>
                      <a:pt x="4" y="18"/>
                      <a:pt x="4" y="18"/>
                      <a:pt x="4" y="18"/>
                    </a:cubicBezTo>
                    <a:cubicBezTo>
                      <a:pt x="4" y="30"/>
                      <a:pt x="4" y="30"/>
                      <a:pt x="4" y="30"/>
                    </a:cubicBezTo>
                    <a:cubicBezTo>
                      <a:pt x="4" y="31"/>
                      <a:pt x="3" y="32"/>
                      <a:pt x="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Freeform 799">
                <a:extLst>
                  <a:ext uri="{FF2B5EF4-FFF2-40B4-BE49-F238E27FC236}">
                    <a16:creationId xmlns:a16="http://schemas.microsoft.com/office/drawing/2014/main" id="{C7E0ED21-A89B-0851-3CA5-34A03D557317}"/>
                  </a:ext>
                </a:extLst>
              </p:cNvPr>
              <p:cNvSpPr>
                <a:spLocks/>
              </p:cNvSpPr>
              <p:nvPr/>
            </p:nvSpPr>
            <p:spPr bwMode="auto">
              <a:xfrm>
                <a:off x="2843213" y="1112838"/>
                <a:ext cx="14288" cy="131763"/>
              </a:xfrm>
              <a:custGeom>
                <a:avLst/>
                <a:gdLst>
                  <a:gd name="T0" fmla="*/ 2 w 4"/>
                  <a:gd name="T1" fmla="*/ 35 h 35"/>
                  <a:gd name="T2" fmla="*/ 0 w 4"/>
                  <a:gd name="T3" fmla="*/ 33 h 35"/>
                  <a:gd name="T4" fmla="*/ 0 w 4"/>
                  <a:gd name="T5" fmla="*/ 2 h 35"/>
                  <a:gd name="T6" fmla="*/ 2 w 4"/>
                  <a:gd name="T7" fmla="*/ 0 h 35"/>
                  <a:gd name="T8" fmla="*/ 4 w 4"/>
                  <a:gd name="T9" fmla="*/ 2 h 35"/>
                  <a:gd name="T10" fmla="*/ 4 w 4"/>
                  <a:gd name="T11" fmla="*/ 33 h 35"/>
                  <a:gd name="T12" fmla="*/ 2 w 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4" h="35">
                    <a:moveTo>
                      <a:pt x="2" y="35"/>
                    </a:moveTo>
                    <a:cubicBezTo>
                      <a:pt x="1" y="35"/>
                      <a:pt x="0" y="34"/>
                      <a:pt x="0" y="33"/>
                    </a:cubicBezTo>
                    <a:cubicBezTo>
                      <a:pt x="0" y="2"/>
                      <a:pt x="0" y="2"/>
                      <a:pt x="0" y="2"/>
                    </a:cubicBezTo>
                    <a:cubicBezTo>
                      <a:pt x="0" y="1"/>
                      <a:pt x="1" y="0"/>
                      <a:pt x="2" y="0"/>
                    </a:cubicBezTo>
                    <a:cubicBezTo>
                      <a:pt x="3" y="0"/>
                      <a:pt x="4" y="1"/>
                      <a:pt x="4" y="2"/>
                    </a:cubicBezTo>
                    <a:cubicBezTo>
                      <a:pt x="4" y="33"/>
                      <a:pt x="4" y="33"/>
                      <a:pt x="4" y="33"/>
                    </a:cubicBezTo>
                    <a:cubicBezTo>
                      <a:pt x="4" y="34"/>
                      <a:pt x="3" y="35"/>
                      <a:pt x="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Freeform 800">
                <a:extLst>
                  <a:ext uri="{FF2B5EF4-FFF2-40B4-BE49-F238E27FC236}">
                    <a16:creationId xmlns:a16="http://schemas.microsoft.com/office/drawing/2014/main" id="{C6878618-9E5C-4B88-6FAC-F804086E1C13}"/>
                  </a:ext>
                </a:extLst>
              </p:cNvPr>
              <p:cNvSpPr>
                <a:spLocks/>
              </p:cNvSpPr>
              <p:nvPr/>
            </p:nvSpPr>
            <p:spPr bwMode="auto">
              <a:xfrm>
                <a:off x="2925763" y="1112838"/>
                <a:ext cx="30163" cy="120650"/>
              </a:xfrm>
              <a:custGeom>
                <a:avLst/>
                <a:gdLst>
                  <a:gd name="T0" fmla="*/ 6 w 8"/>
                  <a:gd name="T1" fmla="*/ 32 h 32"/>
                  <a:gd name="T2" fmla="*/ 4 w 8"/>
                  <a:gd name="T3" fmla="*/ 30 h 32"/>
                  <a:gd name="T4" fmla="*/ 4 w 8"/>
                  <a:gd name="T5" fmla="*/ 18 h 32"/>
                  <a:gd name="T6" fmla="*/ 0 w 8"/>
                  <a:gd name="T7" fmla="*/ 2 h 32"/>
                  <a:gd name="T8" fmla="*/ 2 w 8"/>
                  <a:gd name="T9" fmla="*/ 0 h 32"/>
                  <a:gd name="T10" fmla="*/ 4 w 8"/>
                  <a:gd name="T11" fmla="*/ 2 h 32"/>
                  <a:gd name="T12" fmla="*/ 8 w 8"/>
                  <a:gd name="T13" fmla="*/ 18 h 32"/>
                  <a:gd name="T14" fmla="*/ 8 w 8"/>
                  <a:gd name="T15" fmla="*/ 18 h 32"/>
                  <a:gd name="T16" fmla="*/ 8 w 8"/>
                  <a:gd name="T17" fmla="*/ 30 h 32"/>
                  <a:gd name="T18" fmla="*/ 6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6" y="32"/>
                    </a:moveTo>
                    <a:cubicBezTo>
                      <a:pt x="5" y="32"/>
                      <a:pt x="4" y="31"/>
                      <a:pt x="4" y="30"/>
                    </a:cubicBezTo>
                    <a:cubicBezTo>
                      <a:pt x="4" y="18"/>
                      <a:pt x="4" y="18"/>
                      <a:pt x="4" y="18"/>
                    </a:cubicBezTo>
                    <a:cubicBezTo>
                      <a:pt x="0" y="2"/>
                      <a:pt x="0" y="2"/>
                      <a:pt x="0" y="2"/>
                    </a:cubicBezTo>
                    <a:cubicBezTo>
                      <a:pt x="0" y="1"/>
                      <a:pt x="0" y="0"/>
                      <a:pt x="2" y="0"/>
                    </a:cubicBezTo>
                    <a:cubicBezTo>
                      <a:pt x="3" y="0"/>
                      <a:pt x="4" y="0"/>
                      <a:pt x="4" y="2"/>
                    </a:cubicBezTo>
                    <a:cubicBezTo>
                      <a:pt x="8" y="18"/>
                      <a:pt x="8" y="18"/>
                      <a:pt x="8" y="18"/>
                    </a:cubicBezTo>
                    <a:cubicBezTo>
                      <a:pt x="8" y="18"/>
                      <a:pt x="8" y="18"/>
                      <a:pt x="8" y="18"/>
                    </a:cubicBezTo>
                    <a:cubicBezTo>
                      <a:pt x="8" y="30"/>
                      <a:pt x="8" y="30"/>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Oval 801">
                <a:extLst>
                  <a:ext uri="{FF2B5EF4-FFF2-40B4-BE49-F238E27FC236}">
                    <a16:creationId xmlns:a16="http://schemas.microsoft.com/office/drawing/2014/main" id="{935686E3-16D8-D027-AC34-FCB16FE6E5B3}"/>
                  </a:ext>
                </a:extLst>
              </p:cNvPr>
              <p:cNvSpPr>
                <a:spLocks noChangeArrowheads="1"/>
              </p:cNvSpPr>
              <p:nvPr/>
            </p:nvSpPr>
            <p:spPr bwMode="auto">
              <a:xfrm>
                <a:off x="2925763" y="1354138"/>
                <a:ext cx="14288" cy="142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85" name="Text Placeholder 2">
              <a:extLst>
                <a:ext uri="{FF2B5EF4-FFF2-40B4-BE49-F238E27FC236}">
                  <a16:creationId xmlns:a16="http://schemas.microsoft.com/office/drawing/2014/main" id="{8A0FB597-0198-CDA4-780D-9AB474ADDCBB}"/>
                </a:ext>
              </a:extLst>
            </p:cNvPr>
            <p:cNvSpPr txBox="1">
              <a:spLocks/>
            </p:cNvSpPr>
            <p:nvPr/>
          </p:nvSpPr>
          <p:spPr>
            <a:xfrm>
              <a:off x="7944126" y="2299878"/>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achieve 10% month-on-month sales growth across revenue lines.</a:t>
              </a:r>
            </a:p>
          </p:txBody>
        </p:sp>
      </p:grpSp>
      <p:sp>
        <p:nvSpPr>
          <p:cNvPr id="83" name="Text Placeholder 2">
            <a:extLst>
              <a:ext uri="{FF2B5EF4-FFF2-40B4-BE49-F238E27FC236}">
                <a16:creationId xmlns:a16="http://schemas.microsoft.com/office/drawing/2014/main" id="{B0BA935F-A860-A5CD-2AD5-0B0D384C39E7}"/>
              </a:ext>
            </a:extLst>
          </p:cNvPr>
          <p:cNvSpPr txBox="1">
            <a:spLocks/>
          </p:cNvSpPr>
          <p:nvPr/>
        </p:nvSpPr>
        <p:spPr>
          <a:xfrm>
            <a:off x="7944126" y="3435790"/>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increase the revenue by 20% by year end 2025</a:t>
            </a:r>
          </a:p>
        </p:txBody>
      </p:sp>
      <p:sp>
        <p:nvSpPr>
          <p:cNvPr id="84" name="Text Placeholder 2">
            <a:extLst>
              <a:ext uri="{FF2B5EF4-FFF2-40B4-BE49-F238E27FC236}">
                <a16:creationId xmlns:a16="http://schemas.microsoft.com/office/drawing/2014/main" id="{56549306-69B1-6AAD-8A61-0A66EE6504FC}"/>
              </a:ext>
            </a:extLst>
          </p:cNvPr>
          <p:cNvSpPr txBox="1">
            <a:spLocks/>
          </p:cNvSpPr>
          <p:nvPr/>
        </p:nvSpPr>
        <p:spPr>
          <a:xfrm>
            <a:off x="7944126" y="4520319"/>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grow the client base from by 50% by end of 2025</a:t>
            </a:r>
          </a:p>
        </p:txBody>
      </p:sp>
    </p:spTree>
    <p:extLst>
      <p:ext uri="{BB962C8B-B14F-4D97-AF65-F5344CB8AC3E}">
        <p14:creationId xmlns:p14="http://schemas.microsoft.com/office/powerpoint/2010/main" val="336088160"/>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1142-9268-3178-2F1C-B3014106C490}"/>
              </a:ext>
            </a:extLst>
          </p:cNvPr>
          <p:cNvSpPr>
            <a:spLocks noGrp="1"/>
          </p:cNvSpPr>
          <p:nvPr>
            <p:ph type="title"/>
          </p:nvPr>
        </p:nvSpPr>
        <p:spPr/>
        <p:txBody>
          <a:bodyPr/>
          <a:lstStyle/>
          <a:p>
            <a:r>
              <a:rPr lang="en-US" dirty="0"/>
              <a:t>Business Objectives ; MEDPROJECT</a:t>
            </a:r>
            <a:endParaRPr lang="aa-ET" dirty="0"/>
          </a:p>
        </p:txBody>
      </p:sp>
      <p:sp>
        <p:nvSpPr>
          <p:cNvPr id="4" name="Slide Number Placeholder 3">
            <a:extLst>
              <a:ext uri="{FF2B5EF4-FFF2-40B4-BE49-F238E27FC236}">
                <a16:creationId xmlns:a16="http://schemas.microsoft.com/office/drawing/2014/main" id="{5502FC75-B2FD-E6A3-3A36-593865FC713D}"/>
              </a:ext>
            </a:extLst>
          </p:cNvPr>
          <p:cNvSpPr>
            <a:spLocks noGrp="1"/>
          </p:cNvSpPr>
          <p:nvPr>
            <p:ph type="sldNum" sz="quarter" idx="12"/>
          </p:nvPr>
        </p:nvSpPr>
        <p:spPr/>
        <p:txBody>
          <a:bodyPr/>
          <a:lstStyle/>
          <a:p>
            <a:fld id="{88DB5A6F-883B-4080-A811-FB5B8D05AFA3}" type="slidenum">
              <a:rPr lang="en-GB" smtClean="0"/>
              <a:pPr/>
              <a:t>29</a:t>
            </a:fld>
            <a:endParaRPr lang="en-GB"/>
          </a:p>
        </p:txBody>
      </p:sp>
      <p:grpSp>
        <p:nvGrpSpPr>
          <p:cNvPr id="5" name="Group 4">
            <a:extLst>
              <a:ext uri="{FF2B5EF4-FFF2-40B4-BE49-F238E27FC236}">
                <a16:creationId xmlns:a16="http://schemas.microsoft.com/office/drawing/2014/main" id="{02FEA639-DABD-91FE-1F44-347C5F5BE2FD}"/>
              </a:ext>
            </a:extLst>
          </p:cNvPr>
          <p:cNvGrpSpPr/>
          <p:nvPr/>
        </p:nvGrpSpPr>
        <p:grpSpPr>
          <a:xfrm>
            <a:off x="651714" y="1251858"/>
            <a:ext cx="10892586" cy="4944629"/>
            <a:chOff x="651714" y="1219200"/>
            <a:chExt cx="10892586" cy="4944629"/>
          </a:xfrm>
        </p:grpSpPr>
        <p:grpSp>
          <p:nvGrpSpPr>
            <p:cNvPr id="6" name="Group 5">
              <a:extLst>
                <a:ext uri="{FF2B5EF4-FFF2-40B4-BE49-F238E27FC236}">
                  <a16:creationId xmlns:a16="http://schemas.microsoft.com/office/drawing/2014/main" id="{2C1FD7D6-29E7-204D-0248-E7A3B6BB583F}"/>
                </a:ext>
              </a:extLst>
            </p:cNvPr>
            <p:cNvGrpSpPr/>
            <p:nvPr/>
          </p:nvGrpSpPr>
          <p:grpSpPr>
            <a:xfrm>
              <a:off x="651714" y="1977562"/>
              <a:ext cx="2976036" cy="3427906"/>
              <a:chOff x="651714" y="1991271"/>
              <a:chExt cx="2976036" cy="3427906"/>
            </a:xfrm>
          </p:grpSpPr>
          <p:sp>
            <p:nvSpPr>
              <p:cNvPr id="73" name="Freeform: Shape 72">
                <a:extLst>
                  <a:ext uri="{FF2B5EF4-FFF2-40B4-BE49-F238E27FC236}">
                    <a16:creationId xmlns:a16="http://schemas.microsoft.com/office/drawing/2014/main" id="{E8E5695B-8BDA-66BB-C5DD-8A7CD772031B}"/>
                  </a:ext>
                </a:extLst>
              </p:cNvPr>
              <p:cNvSpPr/>
              <p:nvPr/>
            </p:nvSpPr>
            <p:spPr>
              <a:xfrm>
                <a:off x="2116537" y="2046508"/>
                <a:ext cx="1511213" cy="3372669"/>
              </a:xfrm>
              <a:custGeom>
                <a:avLst/>
                <a:gdLst>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5" fmla="*/ 91440 w 1511213"/>
                  <a:gd name="connsiteY5" fmla="*/ 91440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213" h="3372669">
                    <a:moveTo>
                      <a:pt x="0" y="0"/>
                    </a:moveTo>
                    <a:lnTo>
                      <a:pt x="156246" y="23845"/>
                    </a:lnTo>
                    <a:cubicBezTo>
                      <a:pt x="929524" y="182081"/>
                      <a:pt x="1511213" y="866277"/>
                      <a:pt x="1511213" y="1686334"/>
                    </a:cubicBezTo>
                    <a:cubicBezTo>
                      <a:pt x="1511213" y="2506391"/>
                      <a:pt x="929524" y="3190587"/>
                      <a:pt x="156246" y="3348823"/>
                    </a:cubicBezTo>
                    <a:lnTo>
                      <a:pt x="0" y="3372669"/>
                    </a:lnTo>
                  </a:path>
                </a:pathLst>
              </a:custGeom>
              <a:noFill/>
              <a:ln w="22225">
                <a:solidFill>
                  <a:srgbClr val="114A5E"/>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Oval 73">
                <a:extLst>
                  <a:ext uri="{FF2B5EF4-FFF2-40B4-BE49-F238E27FC236}">
                    <a16:creationId xmlns:a16="http://schemas.microsoft.com/office/drawing/2014/main" id="{D917CF6A-83D7-EC52-D1B4-9882092CED61}"/>
                  </a:ext>
                </a:extLst>
              </p:cNvPr>
              <p:cNvSpPr/>
              <p:nvPr/>
            </p:nvSpPr>
            <p:spPr>
              <a:xfrm>
                <a:off x="651714" y="2404071"/>
                <a:ext cx="2657544" cy="2657544"/>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20FD6587-268B-87B0-1AB0-A63538D24C16}"/>
                  </a:ext>
                </a:extLst>
              </p:cNvPr>
              <p:cNvSpPr/>
              <p:nvPr/>
            </p:nvSpPr>
            <p:spPr>
              <a:xfrm>
                <a:off x="651714" y="2404071"/>
                <a:ext cx="2558143" cy="25581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A6CD019-1CB3-A8AB-BB11-208D582F8D25}"/>
                  </a:ext>
                </a:extLst>
              </p:cNvPr>
              <p:cNvSpPr/>
              <p:nvPr/>
            </p:nvSpPr>
            <p:spPr>
              <a:xfrm>
                <a:off x="819442" y="2571799"/>
                <a:ext cx="2222687" cy="22226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C9C0D30-F1E2-45A3-D304-23C039FEED8F}"/>
                  </a:ext>
                </a:extLst>
              </p:cNvPr>
              <p:cNvSpPr/>
              <p:nvPr/>
            </p:nvSpPr>
            <p:spPr>
              <a:xfrm>
                <a:off x="1007304" y="2759662"/>
                <a:ext cx="1846963" cy="184696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D8B1D52-4661-FFEE-37E3-C701389F9EA7}"/>
                  </a:ext>
                </a:extLst>
              </p:cNvPr>
              <p:cNvSpPr/>
              <p:nvPr/>
            </p:nvSpPr>
            <p:spPr>
              <a:xfrm>
                <a:off x="1225922" y="2978280"/>
                <a:ext cx="1409726" cy="14097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031A3D41-74AF-0CBA-E8AC-196F88B7CC05}"/>
                  </a:ext>
                </a:extLst>
              </p:cNvPr>
              <p:cNvSpPr/>
              <p:nvPr/>
            </p:nvSpPr>
            <p:spPr>
              <a:xfrm>
                <a:off x="1418593" y="3170951"/>
                <a:ext cx="1024384" cy="102438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CAED93F0-19A4-3F90-4E99-9924E2631F1F}"/>
                  </a:ext>
                </a:extLst>
              </p:cNvPr>
              <p:cNvSpPr/>
              <p:nvPr/>
            </p:nvSpPr>
            <p:spPr>
              <a:xfrm>
                <a:off x="1599676" y="3352034"/>
                <a:ext cx="662218" cy="66221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F3EE47F3-0E6C-B105-1BC5-863107C5FA43}"/>
                  </a:ext>
                </a:extLst>
              </p:cNvPr>
              <p:cNvSpPr/>
              <p:nvPr/>
            </p:nvSpPr>
            <p:spPr>
              <a:xfrm rot="3291335">
                <a:off x="420938" y="2889467"/>
                <a:ext cx="1920240" cy="123848"/>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Shape 81">
                <a:extLst>
                  <a:ext uri="{FF2B5EF4-FFF2-40B4-BE49-F238E27FC236}">
                    <a16:creationId xmlns:a16="http://schemas.microsoft.com/office/drawing/2014/main" id="{8B51509D-543C-013B-CB18-AC5511328B97}"/>
                  </a:ext>
                </a:extLst>
              </p:cNvPr>
              <p:cNvSpPr/>
              <p:nvPr/>
            </p:nvSpPr>
            <p:spPr>
              <a:xfrm rot="8792440" flipV="1">
                <a:off x="804957" y="2176857"/>
                <a:ext cx="462006" cy="596691"/>
              </a:xfrm>
              <a:custGeom>
                <a:avLst/>
                <a:gdLst>
                  <a:gd name="connsiteX0" fmla="*/ 944 w 462006"/>
                  <a:gd name="connsiteY0" fmla="*/ 14588 h 596691"/>
                  <a:gd name="connsiteX1" fmla="*/ 944 w 462006"/>
                  <a:gd name="connsiteY1" fmla="*/ 319702 h 596691"/>
                  <a:gd name="connsiteX2" fmla="*/ 0 w 462006"/>
                  <a:gd name="connsiteY2" fmla="*/ 324607 h 596691"/>
                  <a:gd name="connsiteX3" fmla="*/ 956 w 462006"/>
                  <a:gd name="connsiteY3" fmla="*/ 430922 h 596691"/>
                  <a:gd name="connsiteX4" fmla="*/ 169726 w 462006"/>
                  <a:gd name="connsiteY4" fmla="*/ 596685 h 596691"/>
                  <a:gd name="connsiteX5" fmla="*/ 296238 w 462006"/>
                  <a:gd name="connsiteY5" fmla="*/ 595547 h 596691"/>
                  <a:gd name="connsiteX6" fmla="*/ 462000 w 462006"/>
                  <a:gd name="connsiteY6" fmla="*/ 426777 h 596691"/>
                  <a:gd name="connsiteX7" fmla="*/ 461673 w 462006"/>
                  <a:gd name="connsiteY7" fmla="*/ 390441 h 596691"/>
                  <a:gd name="connsiteX8" fmla="*/ 461907 w 462006"/>
                  <a:gd name="connsiteY8" fmla="*/ 390435 h 596691"/>
                  <a:gd name="connsiteX9" fmla="*/ 461555 w 462006"/>
                  <a:gd name="connsiteY9" fmla="*/ 377288 h 596691"/>
                  <a:gd name="connsiteX10" fmla="*/ 461044 w 462006"/>
                  <a:gd name="connsiteY10" fmla="*/ 320461 h 596691"/>
                  <a:gd name="connsiteX11" fmla="*/ 459886 w 462006"/>
                  <a:gd name="connsiteY11" fmla="*/ 314978 h 596691"/>
                  <a:gd name="connsiteX12" fmla="*/ 451447 w 462006"/>
                  <a:gd name="connsiteY12" fmla="*/ 0 h 596691"/>
                  <a:gd name="connsiteX13" fmla="*/ 301225 w 462006"/>
                  <a:gd name="connsiteY13" fmla="*/ 156422 h 596691"/>
                  <a:gd name="connsiteX14" fmla="*/ 292274 w 462006"/>
                  <a:gd name="connsiteY14" fmla="*/ 154699 h 596691"/>
                  <a:gd name="connsiteX15" fmla="*/ 165762 w 462006"/>
                  <a:gd name="connsiteY15" fmla="*/ 155836 h 596691"/>
                  <a:gd name="connsiteX16" fmla="*/ 147887 w 462006"/>
                  <a:gd name="connsiteY16" fmla="*/ 159613 h 59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006" h="596691">
                    <a:moveTo>
                      <a:pt x="944" y="14588"/>
                    </a:moveTo>
                    <a:lnTo>
                      <a:pt x="944" y="319702"/>
                    </a:lnTo>
                    <a:lnTo>
                      <a:pt x="0" y="324607"/>
                    </a:lnTo>
                    <a:lnTo>
                      <a:pt x="956" y="430922"/>
                    </a:lnTo>
                    <a:cubicBezTo>
                      <a:pt x="1786" y="523301"/>
                      <a:pt x="77348" y="597515"/>
                      <a:pt x="169726" y="596685"/>
                    </a:cubicBezTo>
                    <a:lnTo>
                      <a:pt x="296238" y="595547"/>
                    </a:lnTo>
                    <a:cubicBezTo>
                      <a:pt x="388616" y="594716"/>
                      <a:pt x="462831" y="519155"/>
                      <a:pt x="462000" y="426777"/>
                    </a:cubicBezTo>
                    <a:lnTo>
                      <a:pt x="461673" y="390441"/>
                    </a:lnTo>
                    <a:lnTo>
                      <a:pt x="461907" y="390435"/>
                    </a:lnTo>
                    <a:lnTo>
                      <a:pt x="461555" y="377288"/>
                    </a:lnTo>
                    <a:lnTo>
                      <a:pt x="461044" y="320461"/>
                    </a:lnTo>
                    <a:lnTo>
                      <a:pt x="459886" y="314978"/>
                    </a:lnTo>
                    <a:lnTo>
                      <a:pt x="451447" y="0"/>
                    </a:lnTo>
                    <a:lnTo>
                      <a:pt x="301225" y="156422"/>
                    </a:lnTo>
                    <a:lnTo>
                      <a:pt x="292274" y="154699"/>
                    </a:lnTo>
                    <a:lnTo>
                      <a:pt x="165762" y="155836"/>
                    </a:lnTo>
                    <a:lnTo>
                      <a:pt x="147887" y="15961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 Placeholder 2">
              <a:extLst>
                <a:ext uri="{FF2B5EF4-FFF2-40B4-BE49-F238E27FC236}">
                  <a16:creationId xmlns:a16="http://schemas.microsoft.com/office/drawing/2014/main" id="{C5BE70A1-1E46-7BA5-720D-637BA8059C91}"/>
                </a:ext>
              </a:extLst>
            </p:cNvPr>
            <p:cNvSpPr txBox="1">
              <a:spLocks/>
            </p:cNvSpPr>
            <p:nvPr/>
          </p:nvSpPr>
          <p:spPr>
            <a:xfrm>
              <a:off x="7948140" y="1319366"/>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attain No 1 position in the provision of high quality Onsite Medical Assessment </a:t>
              </a:r>
            </a:p>
          </p:txBody>
        </p:sp>
        <p:sp>
          <p:nvSpPr>
            <p:cNvPr id="8" name="Rectangle 7">
              <a:extLst>
                <a:ext uri="{FF2B5EF4-FFF2-40B4-BE49-F238E27FC236}">
                  <a16:creationId xmlns:a16="http://schemas.microsoft.com/office/drawing/2014/main" id="{16AFA603-7921-4E0E-71B4-A8C4E8E6390B}"/>
                </a:ext>
              </a:extLst>
            </p:cNvPr>
            <p:cNvSpPr/>
            <p:nvPr/>
          </p:nvSpPr>
          <p:spPr>
            <a:xfrm>
              <a:off x="4404836" y="1265735"/>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564D3E36-AA8C-96B5-38AD-E599B8A6DD0E}"/>
                </a:ext>
              </a:extLst>
            </p:cNvPr>
            <p:cNvSpPr txBox="1">
              <a:spLocks/>
            </p:cNvSpPr>
            <p:nvPr/>
          </p:nvSpPr>
          <p:spPr>
            <a:xfrm>
              <a:off x="5395532" y="1484595"/>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Market Share</a:t>
              </a:r>
            </a:p>
          </p:txBody>
        </p:sp>
        <p:sp>
          <p:nvSpPr>
            <p:cNvPr id="10" name="Rectangle 9">
              <a:extLst>
                <a:ext uri="{FF2B5EF4-FFF2-40B4-BE49-F238E27FC236}">
                  <a16:creationId xmlns:a16="http://schemas.microsoft.com/office/drawing/2014/main" id="{2BB4E769-0F44-92EF-41A7-85568B693124}"/>
                </a:ext>
              </a:extLst>
            </p:cNvPr>
            <p:cNvSpPr/>
            <p:nvPr/>
          </p:nvSpPr>
          <p:spPr>
            <a:xfrm>
              <a:off x="4565812" y="1219200"/>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D5B41257-EB64-3852-E120-934AB4FAC68D}"/>
                </a:ext>
              </a:extLst>
            </p:cNvPr>
            <p:cNvSpPr/>
            <p:nvPr/>
          </p:nvSpPr>
          <p:spPr>
            <a:xfrm>
              <a:off x="5204733" y="1220016"/>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C40FBF-EC17-93B8-9AC5-8BF97484B433}"/>
                </a:ext>
              </a:extLst>
            </p:cNvPr>
            <p:cNvSpPr/>
            <p:nvPr/>
          </p:nvSpPr>
          <p:spPr>
            <a:xfrm>
              <a:off x="4404836" y="2299878"/>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9E2F0DBA-D4E6-2A14-7A8D-803A3A14AE93}"/>
                </a:ext>
              </a:extLst>
            </p:cNvPr>
            <p:cNvSpPr txBox="1">
              <a:spLocks/>
            </p:cNvSpPr>
            <p:nvPr/>
          </p:nvSpPr>
          <p:spPr>
            <a:xfrm>
              <a:off x="5395532" y="2518738"/>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Increased Sales</a:t>
              </a:r>
            </a:p>
          </p:txBody>
        </p:sp>
        <p:sp>
          <p:nvSpPr>
            <p:cNvPr id="14" name="Rectangle 13">
              <a:extLst>
                <a:ext uri="{FF2B5EF4-FFF2-40B4-BE49-F238E27FC236}">
                  <a16:creationId xmlns:a16="http://schemas.microsoft.com/office/drawing/2014/main" id="{79D5C66D-1455-534F-509F-EE8E9165694D}"/>
                </a:ext>
              </a:extLst>
            </p:cNvPr>
            <p:cNvSpPr/>
            <p:nvPr/>
          </p:nvSpPr>
          <p:spPr>
            <a:xfrm>
              <a:off x="4565812" y="2253343"/>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BEA20511-F7B3-9ABD-53AE-75A0A7A184D0}"/>
                </a:ext>
              </a:extLst>
            </p:cNvPr>
            <p:cNvSpPr/>
            <p:nvPr/>
          </p:nvSpPr>
          <p:spPr>
            <a:xfrm>
              <a:off x="5204733" y="2254159"/>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C40EF1-53FC-1618-82A7-CFA1E0F23048}"/>
                </a:ext>
              </a:extLst>
            </p:cNvPr>
            <p:cNvSpPr/>
            <p:nvPr/>
          </p:nvSpPr>
          <p:spPr>
            <a:xfrm>
              <a:off x="4404836" y="3334021"/>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2">
              <a:extLst>
                <a:ext uri="{FF2B5EF4-FFF2-40B4-BE49-F238E27FC236}">
                  <a16:creationId xmlns:a16="http://schemas.microsoft.com/office/drawing/2014/main" id="{3B0F538C-422F-0018-55BF-17A8110F3C9A}"/>
                </a:ext>
              </a:extLst>
            </p:cNvPr>
            <p:cNvSpPr txBox="1">
              <a:spLocks/>
            </p:cNvSpPr>
            <p:nvPr/>
          </p:nvSpPr>
          <p:spPr>
            <a:xfrm>
              <a:off x="5395532" y="3552881"/>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Revenue Growth</a:t>
              </a:r>
            </a:p>
          </p:txBody>
        </p:sp>
        <p:sp>
          <p:nvSpPr>
            <p:cNvPr id="18" name="Rectangle 17">
              <a:extLst>
                <a:ext uri="{FF2B5EF4-FFF2-40B4-BE49-F238E27FC236}">
                  <a16:creationId xmlns:a16="http://schemas.microsoft.com/office/drawing/2014/main" id="{5E35ED9B-1753-EBCF-64F1-07042B880752}"/>
                </a:ext>
              </a:extLst>
            </p:cNvPr>
            <p:cNvSpPr/>
            <p:nvPr/>
          </p:nvSpPr>
          <p:spPr>
            <a:xfrm>
              <a:off x="4565812" y="3287486"/>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A41A12E-E7DF-36F6-8061-DDD3B589EA52}"/>
                </a:ext>
              </a:extLst>
            </p:cNvPr>
            <p:cNvSpPr/>
            <p:nvPr/>
          </p:nvSpPr>
          <p:spPr>
            <a:xfrm>
              <a:off x="5204733" y="3288302"/>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08CECD-08FB-1F88-6F53-4808AA5B5335}"/>
                </a:ext>
              </a:extLst>
            </p:cNvPr>
            <p:cNvSpPr/>
            <p:nvPr/>
          </p:nvSpPr>
          <p:spPr>
            <a:xfrm>
              <a:off x="4404836" y="4368164"/>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2">
              <a:extLst>
                <a:ext uri="{FF2B5EF4-FFF2-40B4-BE49-F238E27FC236}">
                  <a16:creationId xmlns:a16="http://schemas.microsoft.com/office/drawing/2014/main" id="{DEFA2A94-CC98-A347-9AB5-A280B55AB9BF}"/>
                </a:ext>
              </a:extLst>
            </p:cNvPr>
            <p:cNvSpPr txBox="1">
              <a:spLocks/>
            </p:cNvSpPr>
            <p:nvPr/>
          </p:nvSpPr>
          <p:spPr>
            <a:xfrm>
              <a:off x="5395532" y="4587024"/>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Customer Acquisition</a:t>
              </a:r>
            </a:p>
          </p:txBody>
        </p:sp>
        <p:sp>
          <p:nvSpPr>
            <p:cNvPr id="22" name="Rectangle 21">
              <a:extLst>
                <a:ext uri="{FF2B5EF4-FFF2-40B4-BE49-F238E27FC236}">
                  <a16:creationId xmlns:a16="http://schemas.microsoft.com/office/drawing/2014/main" id="{FFBA500F-BBE9-D547-6E9A-400F85A2C662}"/>
                </a:ext>
              </a:extLst>
            </p:cNvPr>
            <p:cNvSpPr/>
            <p:nvPr/>
          </p:nvSpPr>
          <p:spPr>
            <a:xfrm>
              <a:off x="4565812" y="4321629"/>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DE287AD-3E02-8992-C119-372861F939FA}"/>
                </a:ext>
              </a:extLst>
            </p:cNvPr>
            <p:cNvSpPr/>
            <p:nvPr/>
          </p:nvSpPr>
          <p:spPr>
            <a:xfrm>
              <a:off x="5204733" y="4322445"/>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6EE03F-1813-C174-1B83-0CDEC47DAA0D}"/>
                </a:ext>
              </a:extLst>
            </p:cNvPr>
            <p:cNvSpPr/>
            <p:nvPr/>
          </p:nvSpPr>
          <p:spPr>
            <a:xfrm>
              <a:off x="4404836" y="5402307"/>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2">
              <a:extLst>
                <a:ext uri="{FF2B5EF4-FFF2-40B4-BE49-F238E27FC236}">
                  <a16:creationId xmlns:a16="http://schemas.microsoft.com/office/drawing/2014/main" id="{9B4ED38E-D0CD-8F31-7B3A-BBF99CF909FA}"/>
                </a:ext>
              </a:extLst>
            </p:cNvPr>
            <p:cNvSpPr txBox="1">
              <a:spLocks/>
            </p:cNvSpPr>
            <p:nvPr/>
          </p:nvSpPr>
          <p:spPr>
            <a:xfrm>
              <a:off x="5395532" y="5621167"/>
              <a:ext cx="2105198" cy="197409"/>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Capacity Development	</a:t>
              </a:r>
            </a:p>
          </p:txBody>
        </p:sp>
        <p:sp>
          <p:nvSpPr>
            <p:cNvPr id="26" name="Rectangle 25">
              <a:extLst>
                <a:ext uri="{FF2B5EF4-FFF2-40B4-BE49-F238E27FC236}">
                  <a16:creationId xmlns:a16="http://schemas.microsoft.com/office/drawing/2014/main" id="{D743D18A-8680-51CA-2004-9CB07DC30115}"/>
                </a:ext>
              </a:extLst>
            </p:cNvPr>
            <p:cNvSpPr/>
            <p:nvPr/>
          </p:nvSpPr>
          <p:spPr>
            <a:xfrm>
              <a:off x="4565812" y="5355772"/>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E3FDEAA6-42CE-4E90-96FF-08895C8ECD4C}"/>
                </a:ext>
              </a:extLst>
            </p:cNvPr>
            <p:cNvSpPr/>
            <p:nvPr/>
          </p:nvSpPr>
          <p:spPr>
            <a:xfrm>
              <a:off x="5204733" y="5356588"/>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B72419C-690F-9EBF-DED1-C985EF3264FB}"/>
                </a:ext>
              </a:extLst>
            </p:cNvPr>
            <p:cNvCxnSpPr>
              <a:cxnSpLocks/>
              <a:endCxn id="8" idx="1"/>
            </p:cNvCxnSpPr>
            <p:nvPr/>
          </p:nvCxnSpPr>
          <p:spPr>
            <a:xfrm flipV="1">
              <a:off x="2987879" y="1646496"/>
              <a:ext cx="1416957" cy="688324"/>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E477518-0F07-A378-C85E-913B6622557F}"/>
                </a:ext>
              </a:extLst>
            </p:cNvPr>
            <p:cNvCxnSpPr>
              <a:cxnSpLocks/>
            </p:cNvCxnSpPr>
            <p:nvPr/>
          </p:nvCxnSpPr>
          <p:spPr>
            <a:xfrm>
              <a:off x="3026357" y="5082625"/>
              <a:ext cx="1378479" cy="681318"/>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F5FCA2F-3EDD-B141-C766-3DE15F41CD39}"/>
                </a:ext>
              </a:extLst>
            </p:cNvPr>
            <p:cNvCxnSpPr>
              <a:cxnSpLocks/>
              <a:endCxn id="20" idx="1"/>
            </p:cNvCxnSpPr>
            <p:nvPr/>
          </p:nvCxnSpPr>
          <p:spPr>
            <a:xfrm>
              <a:off x="3514743" y="44380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C176D7B-47B3-505B-AECB-047089F5EE8A}"/>
                </a:ext>
              </a:extLst>
            </p:cNvPr>
            <p:cNvCxnSpPr>
              <a:cxnSpLocks/>
            </p:cNvCxnSpPr>
            <p:nvPr/>
          </p:nvCxnSpPr>
          <p:spPr>
            <a:xfrm flipV="1">
              <a:off x="3514743" y="26745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0A0B0A-0EF3-0B0C-C624-037BED34D176}"/>
                </a:ext>
              </a:extLst>
            </p:cNvPr>
            <p:cNvCxnSpPr>
              <a:cxnSpLocks/>
              <a:stCxn id="73" idx="2"/>
              <a:endCxn id="16" idx="1"/>
            </p:cNvCxnSpPr>
            <p:nvPr/>
          </p:nvCxnSpPr>
          <p:spPr>
            <a:xfrm flipV="1">
              <a:off x="3627750" y="3714782"/>
              <a:ext cx="777086" cy="4351"/>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3" name="Text Placeholder 2">
              <a:extLst>
                <a:ext uri="{FF2B5EF4-FFF2-40B4-BE49-F238E27FC236}">
                  <a16:creationId xmlns:a16="http://schemas.microsoft.com/office/drawing/2014/main" id="{6C4B06A5-E14C-B31F-D0DE-994FE7336BD1}"/>
                </a:ext>
              </a:extLst>
            </p:cNvPr>
            <p:cNvSpPr txBox="1">
              <a:spLocks/>
            </p:cNvSpPr>
            <p:nvPr/>
          </p:nvSpPr>
          <p:spPr>
            <a:xfrm>
              <a:off x="7948140" y="2353509"/>
              <a:ext cx="3596160" cy="654260"/>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400" dirty="0">
                <a:solidFill>
                  <a:srgbClr val="114A5E"/>
                </a:solidFill>
                <a:latin typeface="Segoe UI" panose="020B0502040204020203" pitchFamily="34" charset="0"/>
                <a:cs typeface="Segoe UI" panose="020B0502040204020203" pitchFamily="34" charset="0"/>
              </a:endParaRPr>
            </a:p>
          </p:txBody>
        </p:sp>
        <p:sp>
          <p:nvSpPr>
            <p:cNvPr id="36" name="Text Placeholder 2">
              <a:extLst>
                <a:ext uri="{FF2B5EF4-FFF2-40B4-BE49-F238E27FC236}">
                  <a16:creationId xmlns:a16="http://schemas.microsoft.com/office/drawing/2014/main" id="{69533EA4-BFD4-139E-079B-4FBE77498236}"/>
                </a:ext>
              </a:extLst>
            </p:cNvPr>
            <p:cNvSpPr txBox="1">
              <a:spLocks/>
            </p:cNvSpPr>
            <p:nvPr/>
          </p:nvSpPr>
          <p:spPr>
            <a:xfrm>
              <a:off x="7948140" y="5455938"/>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develop own infrastructure &amp; Team for mobile clinic / onsite medical assessment across Nigeria</a:t>
              </a:r>
            </a:p>
          </p:txBody>
        </p:sp>
        <p:grpSp>
          <p:nvGrpSpPr>
            <p:cNvPr id="37" name="Group 36">
              <a:extLst>
                <a:ext uri="{FF2B5EF4-FFF2-40B4-BE49-F238E27FC236}">
                  <a16:creationId xmlns:a16="http://schemas.microsoft.com/office/drawing/2014/main" id="{52E84429-09C7-BC3B-8C3F-9D8042EB460C}"/>
                </a:ext>
              </a:extLst>
            </p:cNvPr>
            <p:cNvGrpSpPr/>
            <p:nvPr/>
          </p:nvGrpSpPr>
          <p:grpSpPr>
            <a:xfrm>
              <a:off x="4721759" y="1396036"/>
              <a:ext cx="327027" cy="285248"/>
              <a:chOff x="4113213" y="3640138"/>
              <a:chExt cx="360363" cy="314325"/>
            </a:xfrm>
            <a:solidFill>
              <a:schemeClr val="bg1"/>
            </a:solidFill>
          </p:grpSpPr>
          <p:sp>
            <p:nvSpPr>
              <p:cNvPr id="69" name="Freeform 1760">
                <a:extLst>
                  <a:ext uri="{FF2B5EF4-FFF2-40B4-BE49-F238E27FC236}">
                    <a16:creationId xmlns:a16="http://schemas.microsoft.com/office/drawing/2014/main" id="{883DD459-1C52-2B88-7B92-A08A7C18DA9B}"/>
                  </a:ext>
                </a:extLst>
              </p:cNvPr>
              <p:cNvSpPr>
                <a:spLocks/>
              </p:cNvSpPr>
              <p:nvPr/>
            </p:nvSpPr>
            <p:spPr bwMode="auto">
              <a:xfrm>
                <a:off x="4113213" y="3640138"/>
                <a:ext cx="360363" cy="314325"/>
              </a:xfrm>
              <a:custGeom>
                <a:avLst/>
                <a:gdLst>
                  <a:gd name="T0" fmla="*/ 94 w 96"/>
                  <a:gd name="T1" fmla="*/ 84 h 84"/>
                  <a:gd name="T2" fmla="*/ 2 w 96"/>
                  <a:gd name="T3" fmla="*/ 84 h 84"/>
                  <a:gd name="T4" fmla="*/ 0 w 96"/>
                  <a:gd name="T5" fmla="*/ 82 h 84"/>
                  <a:gd name="T6" fmla="*/ 0 w 96"/>
                  <a:gd name="T7" fmla="*/ 2 h 84"/>
                  <a:gd name="T8" fmla="*/ 2 w 96"/>
                  <a:gd name="T9" fmla="*/ 0 h 84"/>
                  <a:gd name="T10" fmla="*/ 4 w 96"/>
                  <a:gd name="T11" fmla="*/ 2 h 84"/>
                  <a:gd name="T12" fmla="*/ 4 w 96"/>
                  <a:gd name="T13" fmla="*/ 80 h 84"/>
                  <a:gd name="T14" fmla="*/ 94 w 96"/>
                  <a:gd name="T15" fmla="*/ 80 h 84"/>
                  <a:gd name="T16" fmla="*/ 96 w 96"/>
                  <a:gd name="T17" fmla="*/ 82 h 84"/>
                  <a:gd name="T18" fmla="*/ 94 w 96"/>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4">
                    <a:moveTo>
                      <a:pt x="94" y="84"/>
                    </a:moveTo>
                    <a:cubicBezTo>
                      <a:pt x="2" y="84"/>
                      <a:pt x="2" y="84"/>
                      <a:pt x="2" y="84"/>
                    </a:cubicBezTo>
                    <a:cubicBezTo>
                      <a:pt x="1" y="84"/>
                      <a:pt x="0" y="83"/>
                      <a:pt x="0" y="82"/>
                    </a:cubicBezTo>
                    <a:cubicBezTo>
                      <a:pt x="0" y="2"/>
                      <a:pt x="0" y="2"/>
                      <a:pt x="0" y="2"/>
                    </a:cubicBezTo>
                    <a:cubicBezTo>
                      <a:pt x="0" y="1"/>
                      <a:pt x="1" y="0"/>
                      <a:pt x="2" y="0"/>
                    </a:cubicBezTo>
                    <a:cubicBezTo>
                      <a:pt x="3" y="0"/>
                      <a:pt x="4" y="1"/>
                      <a:pt x="4" y="2"/>
                    </a:cubicBezTo>
                    <a:cubicBezTo>
                      <a:pt x="4" y="80"/>
                      <a:pt x="4" y="80"/>
                      <a:pt x="4" y="80"/>
                    </a:cubicBezTo>
                    <a:cubicBezTo>
                      <a:pt x="94" y="80"/>
                      <a:pt x="94" y="80"/>
                      <a:pt x="94" y="80"/>
                    </a:cubicBezTo>
                    <a:cubicBezTo>
                      <a:pt x="95" y="80"/>
                      <a:pt x="96" y="81"/>
                      <a:pt x="96" y="82"/>
                    </a:cubicBezTo>
                    <a:cubicBezTo>
                      <a:pt x="96" y="83"/>
                      <a:pt x="95" y="84"/>
                      <a:pt x="9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0" name="Freeform 1761">
                <a:extLst>
                  <a:ext uri="{FF2B5EF4-FFF2-40B4-BE49-F238E27FC236}">
                    <a16:creationId xmlns:a16="http://schemas.microsoft.com/office/drawing/2014/main" id="{360831A5-C608-26FC-1CE2-52ACE71E8CBC}"/>
                  </a:ext>
                </a:extLst>
              </p:cNvPr>
              <p:cNvSpPr>
                <a:spLocks/>
              </p:cNvSpPr>
              <p:nvPr/>
            </p:nvSpPr>
            <p:spPr bwMode="auto">
              <a:xfrm>
                <a:off x="4297363" y="3841750"/>
                <a:ext cx="63500" cy="68263"/>
              </a:xfrm>
              <a:custGeom>
                <a:avLst/>
                <a:gdLst>
                  <a:gd name="T0" fmla="*/ 15 w 17"/>
                  <a:gd name="T1" fmla="*/ 18 h 18"/>
                  <a:gd name="T2" fmla="*/ 1 w 17"/>
                  <a:gd name="T3" fmla="*/ 7 h 18"/>
                  <a:gd name="T4" fmla="*/ 1 w 17"/>
                  <a:gd name="T5" fmla="*/ 2 h 18"/>
                  <a:gd name="T6" fmla="*/ 2 w 17"/>
                  <a:gd name="T7" fmla="*/ 0 h 18"/>
                  <a:gd name="T8" fmla="*/ 4 w 17"/>
                  <a:gd name="T9" fmla="*/ 2 h 18"/>
                  <a:gd name="T10" fmla="*/ 5 w 17"/>
                  <a:gd name="T11" fmla="*/ 6 h 18"/>
                  <a:gd name="T12" fmla="*/ 15 w 17"/>
                  <a:gd name="T13" fmla="*/ 14 h 18"/>
                  <a:gd name="T14" fmla="*/ 17 w 17"/>
                  <a:gd name="T15" fmla="*/ 16 h 18"/>
                  <a:gd name="T16" fmla="*/ 15 w 17"/>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18"/>
                    </a:moveTo>
                    <a:cubicBezTo>
                      <a:pt x="8" y="18"/>
                      <a:pt x="2" y="13"/>
                      <a:pt x="1" y="7"/>
                    </a:cubicBezTo>
                    <a:cubicBezTo>
                      <a:pt x="1" y="2"/>
                      <a:pt x="1" y="2"/>
                      <a:pt x="1" y="2"/>
                    </a:cubicBezTo>
                    <a:cubicBezTo>
                      <a:pt x="0" y="1"/>
                      <a:pt x="1" y="0"/>
                      <a:pt x="2" y="0"/>
                    </a:cubicBezTo>
                    <a:cubicBezTo>
                      <a:pt x="3" y="0"/>
                      <a:pt x="4" y="1"/>
                      <a:pt x="4" y="2"/>
                    </a:cubicBezTo>
                    <a:cubicBezTo>
                      <a:pt x="5" y="6"/>
                      <a:pt x="5" y="6"/>
                      <a:pt x="5" y="6"/>
                    </a:cubicBezTo>
                    <a:cubicBezTo>
                      <a:pt x="6" y="11"/>
                      <a:pt x="10" y="14"/>
                      <a:pt x="15" y="14"/>
                    </a:cubicBezTo>
                    <a:cubicBezTo>
                      <a:pt x="16" y="14"/>
                      <a:pt x="17" y="15"/>
                      <a:pt x="17" y="16"/>
                    </a:cubicBezTo>
                    <a:cubicBezTo>
                      <a:pt x="17" y="17"/>
                      <a:pt x="16" y="18"/>
                      <a:pt x="1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1" name="Freeform 1762">
                <a:extLst>
                  <a:ext uri="{FF2B5EF4-FFF2-40B4-BE49-F238E27FC236}">
                    <a16:creationId xmlns:a16="http://schemas.microsoft.com/office/drawing/2014/main" id="{0697E1A5-9FBA-6B36-8F4F-DB31D01D3590}"/>
                  </a:ext>
                </a:extLst>
              </p:cNvPr>
              <p:cNvSpPr>
                <a:spLocks/>
              </p:cNvSpPr>
              <p:nvPr/>
            </p:nvSpPr>
            <p:spPr bwMode="auto">
              <a:xfrm>
                <a:off x="4149725" y="3729038"/>
                <a:ext cx="136525" cy="180975"/>
              </a:xfrm>
              <a:custGeom>
                <a:avLst/>
                <a:gdLst>
                  <a:gd name="T0" fmla="*/ 2 w 36"/>
                  <a:gd name="T1" fmla="*/ 48 h 48"/>
                  <a:gd name="T2" fmla="*/ 0 w 36"/>
                  <a:gd name="T3" fmla="*/ 46 h 48"/>
                  <a:gd name="T4" fmla="*/ 2 w 36"/>
                  <a:gd name="T5" fmla="*/ 44 h 48"/>
                  <a:gd name="T6" fmla="*/ 12 w 36"/>
                  <a:gd name="T7" fmla="*/ 36 h 48"/>
                  <a:gd name="T8" fmla="*/ 17 w 36"/>
                  <a:gd name="T9" fmla="*/ 10 h 48"/>
                  <a:gd name="T10" fmla="*/ 28 w 36"/>
                  <a:gd name="T11" fmla="*/ 0 h 48"/>
                  <a:gd name="T12" fmla="*/ 35 w 36"/>
                  <a:gd name="T13" fmla="*/ 2 h 48"/>
                  <a:gd name="T14" fmla="*/ 35 w 36"/>
                  <a:gd name="T15" fmla="*/ 5 h 48"/>
                  <a:gd name="T16" fmla="*/ 33 w 36"/>
                  <a:gd name="T17" fmla="*/ 6 h 48"/>
                  <a:gd name="T18" fmla="*/ 28 w 36"/>
                  <a:gd name="T19" fmla="*/ 4 h 48"/>
                  <a:gd name="T20" fmla="*/ 21 w 36"/>
                  <a:gd name="T21" fmla="*/ 10 h 48"/>
                  <a:gd name="T22" fmla="*/ 16 w 36"/>
                  <a:gd name="T23" fmla="*/ 37 h 48"/>
                  <a:gd name="T24" fmla="*/ 2 w 36"/>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8">
                    <a:moveTo>
                      <a:pt x="2" y="48"/>
                    </a:move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1" y="0"/>
                      <a:pt x="33" y="1"/>
                      <a:pt x="35" y="2"/>
                    </a:cubicBezTo>
                    <a:cubicBezTo>
                      <a:pt x="36" y="3"/>
                      <a:pt x="36" y="4"/>
                      <a:pt x="35" y="5"/>
                    </a:cubicBezTo>
                    <a:cubicBezTo>
                      <a:pt x="35" y="6"/>
                      <a:pt x="33" y="6"/>
                      <a:pt x="33" y="6"/>
                    </a:cubicBezTo>
                    <a:cubicBezTo>
                      <a:pt x="31" y="5"/>
                      <a:pt x="30" y="4"/>
                      <a:pt x="28" y="4"/>
                    </a:cubicBezTo>
                    <a:cubicBezTo>
                      <a:pt x="24" y="4"/>
                      <a:pt x="21" y="7"/>
                      <a:pt x="21" y="10"/>
                    </a:cubicBezTo>
                    <a:cubicBezTo>
                      <a:pt x="16" y="37"/>
                      <a:pt x="16" y="37"/>
                      <a:pt x="16" y="37"/>
                    </a:cubicBezTo>
                    <a:cubicBezTo>
                      <a:pt x="15" y="43"/>
                      <a:pt x="9" y="48"/>
                      <a:pt x="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2" name="Freeform 1763">
                <a:extLst>
                  <a:ext uri="{FF2B5EF4-FFF2-40B4-BE49-F238E27FC236}">
                    <a16:creationId xmlns:a16="http://schemas.microsoft.com/office/drawing/2014/main" id="{2C4111A7-8C18-BA45-42E4-5EF214FBD0B1}"/>
                  </a:ext>
                </a:extLst>
              </p:cNvPr>
              <p:cNvSpPr>
                <a:spLocks/>
              </p:cNvSpPr>
              <p:nvPr/>
            </p:nvSpPr>
            <p:spPr bwMode="auto">
              <a:xfrm>
                <a:off x="4225925" y="3729038"/>
                <a:ext cx="209550" cy="180975"/>
              </a:xfrm>
              <a:custGeom>
                <a:avLst/>
                <a:gdLst>
                  <a:gd name="T0" fmla="*/ 54 w 56"/>
                  <a:gd name="T1" fmla="*/ 48 h 48"/>
                  <a:gd name="T2" fmla="*/ 40 w 56"/>
                  <a:gd name="T3" fmla="*/ 37 h 48"/>
                  <a:gd name="T4" fmla="*/ 35 w 56"/>
                  <a:gd name="T5" fmla="*/ 10 h 48"/>
                  <a:gd name="T6" fmla="*/ 28 w 56"/>
                  <a:gd name="T7" fmla="*/ 4 h 48"/>
                  <a:gd name="T8" fmla="*/ 21 w 56"/>
                  <a:gd name="T9" fmla="*/ 10 h 48"/>
                  <a:gd name="T10" fmla="*/ 16 w 56"/>
                  <a:gd name="T11" fmla="*/ 37 h 48"/>
                  <a:gd name="T12" fmla="*/ 2 w 56"/>
                  <a:gd name="T13" fmla="*/ 48 h 48"/>
                  <a:gd name="T14" fmla="*/ 0 w 56"/>
                  <a:gd name="T15" fmla="*/ 46 h 48"/>
                  <a:gd name="T16" fmla="*/ 2 w 56"/>
                  <a:gd name="T17" fmla="*/ 44 h 48"/>
                  <a:gd name="T18" fmla="*/ 12 w 56"/>
                  <a:gd name="T19" fmla="*/ 36 h 48"/>
                  <a:gd name="T20" fmla="*/ 17 w 56"/>
                  <a:gd name="T21" fmla="*/ 10 h 48"/>
                  <a:gd name="T22" fmla="*/ 28 w 56"/>
                  <a:gd name="T23" fmla="*/ 0 h 48"/>
                  <a:gd name="T24" fmla="*/ 39 w 56"/>
                  <a:gd name="T25" fmla="*/ 10 h 48"/>
                  <a:gd name="T26" fmla="*/ 44 w 56"/>
                  <a:gd name="T27" fmla="*/ 36 h 48"/>
                  <a:gd name="T28" fmla="*/ 54 w 56"/>
                  <a:gd name="T29" fmla="*/ 44 h 48"/>
                  <a:gd name="T30" fmla="*/ 56 w 56"/>
                  <a:gd name="T31" fmla="*/ 46 h 48"/>
                  <a:gd name="T32" fmla="*/ 54 w 5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4" y="48"/>
                    </a:moveTo>
                    <a:cubicBezTo>
                      <a:pt x="47" y="48"/>
                      <a:pt x="41" y="43"/>
                      <a:pt x="40" y="37"/>
                    </a:cubicBezTo>
                    <a:cubicBezTo>
                      <a:pt x="35" y="10"/>
                      <a:pt x="35" y="10"/>
                      <a:pt x="35" y="10"/>
                    </a:cubicBezTo>
                    <a:cubicBezTo>
                      <a:pt x="35" y="7"/>
                      <a:pt x="32" y="4"/>
                      <a:pt x="28" y="4"/>
                    </a:cubicBezTo>
                    <a:cubicBezTo>
                      <a:pt x="24" y="4"/>
                      <a:pt x="21" y="7"/>
                      <a:pt x="21" y="10"/>
                    </a:cubicBezTo>
                    <a:cubicBezTo>
                      <a:pt x="16" y="37"/>
                      <a:pt x="16" y="37"/>
                      <a:pt x="16" y="37"/>
                    </a:cubicBezTo>
                    <a:cubicBezTo>
                      <a:pt x="15" y="43"/>
                      <a:pt x="9" y="48"/>
                      <a:pt x="2" y="48"/>
                    </a:cubicBez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4" y="0"/>
                      <a:pt x="38" y="4"/>
                      <a:pt x="39" y="10"/>
                    </a:cubicBezTo>
                    <a:cubicBezTo>
                      <a:pt x="44" y="36"/>
                      <a:pt x="44" y="36"/>
                      <a:pt x="44" y="36"/>
                    </a:cubicBezTo>
                    <a:cubicBezTo>
                      <a:pt x="45" y="41"/>
                      <a:pt x="49" y="44"/>
                      <a:pt x="54" y="44"/>
                    </a:cubicBezTo>
                    <a:cubicBezTo>
                      <a:pt x="55" y="44"/>
                      <a:pt x="56" y="45"/>
                      <a:pt x="56" y="46"/>
                    </a:cubicBezTo>
                    <a:cubicBezTo>
                      <a:pt x="56" y="47"/>
                      <a:pt x="55" y="48"/>
                      <a:pt x="5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8" name="Group 37">
              <a:extLst>
                <a:ext uri="{FF2B5EF4-FFF2-40B4-BE49-F238E27FC236}">
                  <a16:creationId xmlns:a16="http://schemas.microsoft.com/office/drawing/2014/main" id="{064A3EB0-C836-036F-D7A7-2E8276739056}"/>
                </a:ext>
              </a:extLst>
            </p:cNvPr>
            <p:cNvGrpSpPr/>
            <p:nvPr/>
          </p:nvGrpSpPr>
          <p:grpSpPr>
            <a:xfrm>
              <a:off x="4728962" y="2408569"/>
              <a:ext cx="312621" cy="328468"/>
              <a:chOff x="6276975" y="5051425"/>
              <a:chExt cx="344488" cy="361950"/>
            </a:xfrm>
            <a:solidFill>
              <a:schemeClr val="bg1"/>
            </a:solidFill>
          </p:grpSpPr>
          <p:sp>
            <p:nvSpPr>
              <p:cNvPr id="61" name="Freeform 1592">
                <a:extLst>
                  <a:ext uri="{FF2B5EF4-FFF2-40B4-BE49-F238E27FC236}">
                    <a16:creationId xmlns:a16="http://schemas.microsoft.com/office/drawing/2014/main" id="{DEA6C29A-4DB7-CAF8-2944-9223E2F7EEDB}"/>
                  </a:ext>
                </a:extLst>
              </p:cNvPr>
              <p:cNvSpPr>
                <a:spLocks noEditPoints="1"/>
              </p:cNvSpPr>
              <p:nvPr/>
            </p:nvSpPr>
            <p:spPr bwMode="auto">
              <a:xfrm>
                <a:off x="6276975" y="5051425"/>
                <a:ext cx="344488" cy="60325"/>
              </a:xfrm>
              <a:custGeom>
                <a:avLst/>
                <a:gdLst>
                  <a:gd name="T0" fmla="*/ 90 w 92"/>
                  <a:gd name="T1" fmla="*/ 16 h 16"/>
                  <a:gd name="T2" fmla="*/ 2 w 92"/>
                  <a:gd name="T3" fmla="*/ 16 h 16"/>
                  <a:gd name="T4" fmla="*/ 0 w 92"/>
                  <a:gd name="T5" fmla="*/ 14 h 16"/>
                  <a:gd name="T6" fmla="*/ 0 w 92"/>
                  <a:gd name="T7" fmla="*/ 2 h 16"/>
                  <a:gd name="T8" fmla="*/ 2 w 92"/>
                  <a:gd name="T9" fmla="*/ 0 h 16"/>
                  <a:gd name="T10" fmla="*/ 90 w 92"/>
                  <a:gd name="T11" fmla="*/ 0 h 16"/>
                  <a:gd name="T12" fmla="*/ 92 w 92"/>
                  <a:gd name="T13" fmla="*/ 2 h 16"/>
                  <a:gd name="T14" fmla="*/ 92 w 92"/>
                  <a:gd name="T15" fmla="*/ 14 h 16"/>
                  <a:gd name="T16" fmla="*/ 90 w 92"/>
                  <a:gd name="T17" fmla="*/ 16 h 16"/>
                  <a:gd name="T18" fmla="*/ 4 w 92"/>
                  <a:gd name="T19" fmla="*/ 12 h 16"/>
                  <a:gd name="T20" fmla="*/ 88 w 92"/>
                  <a:gd name="T21" fmla="*/ 12 h 16"/>
                  <a:gd name="T22" fmla="*/ 88 w 92"/>
                  <a:gd name="T23" fmla="*/ 4 h 16"/>
                  <a:gd name="T24" fmla="*/ 4 w 92"/>
                  <a:gd name="T25" fmla="*/ 4 h 16"/>
                  <a:gd name="T26" fmla="*/ 4 w 92"/>
                  <a:gd name="T2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16">
                    <a:moveTo>
                      <a:pt x="90" y="16"/>
                    </a:moveTo>
                    <a:cubicBezTo>
                      <a:pt x="2" y="16"/>
                      <a:pt x="2" y="16"/>
                      <a:pt x="2" y="16"/>
                    </a:cubicBezTo>
                    <a:cubicBezTo>
                      <a:pt x="1" y="16"/>
                      <a:pt x="0" y="15"/>
                      <a:pt x="0" y="14"/>
                    </a:cubicBezTo>
                    <a:cubicBezTo>
                      <a:pt x="0" y="2"/>
                      <a:pt x="0" y="2"/>
                      <a:pt x="0" y="2"/>
                    </a:cubicBezTo>
                    <a:cubicBezTo>
                      <a:pt x="0" y="1"/>
                      <a:pt x="1" y="0"/>
                      <a:pt x="2" y="0"/>
                    </a:cubicBezTo>
                    <a:cubicBezTo>
                      <a:pt x="90" y="0"/>
                      <a:pt x="90" y="0"/>
                      <a:pt x="90" y="0"/>
                    </a:cubicBezTo>
                    <a:cubicBezTo>
                      <a:pt x="91" y="0"/>
                      <a:pt x="92" y="1"/>
                      <a:pt x="92" y="2"/>
                    </a:cubicBezTo>
                    <a:cubicBezTo>
                      <a:pt x="92" y="14"/>
                      <a:pt x="92" y="14"/>
                      <a:pt x="92" y="14"/>
                    </a:cubicBezTo>
                    <a:cubicBezTo>
                      <a:pt x="92" y="15"/>
                      <a:pt x="91" y="16"/>
                      <a:pt x="90" y="16"/>
                    </a:cubicBezTo>
                    <a:close/>
                    <a:moveTo>
                      <a:pt x="4" y="12"/>
                    </a:moveTo>
                    <a:cubicBezTo>
                      <a:pt x="88" y="12"/>
                      <a:pt x="88" y="12"/>
                      <a:pt x="88" y="12"/>
                    </a:cubicBezTo>
                    <a:cubicBezTo>
                      <a:pt x="88" y="4"/>
                      <a:pt x="88" y="4"/>
                      <a:pt x="88" y="4"/>
                    </a:cubicBezTo>
                    <a:cubicBezTo>
                      <a:pt x="4" y="4"/>
                      <a:pt x="4" y="4"/>
                      <a:pt x="4" y="4"/>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2" name="Freeform 1593">
                <a:extLst>
                  <a:ext uri="{FF2B5EF4-FFF2-40B4-BE49-F238E27FC236}">
                    <a16:creationId xmlns:a16="http://schemas.microsoft.com/office/drawing/2014/main" id="{BEDF827A-546A-9BEF-CFCE-1E2CD99EDCDE}"/>
                  </a:ext>
                </a:extLst>
              </p:cNvPr>
              <p:cNvSpPr>
                <a:spLocks/>
              </p:cNvSpPr>
              <p:nvPr/>
            </p:nvSpPr>
            <p:spPr bwMode="auto">
              <a:xfrm>
                <a:off x="6276975" y="5307013"/>
                <a:ext cx="344488" cy="15875"/>
              </a:xfrm>
              <a:custGeom>
                <a:avLst/>
                <a:gdLst>
                  <a:gd name="T0" fmla="*/ 90 w 92"/>
                  <a:gd name="T1" fmla="*/ 4 h 4"/>
                  <a:gd name="T2" fmla="*/ 2 w 92"/>
                  <a:gd name="T3" fmla="*/ 4 h 4"/>
                  <a:gd name="T4" fmla="*/ 0 w 92"/>
                  <a:gd name="T5" fmla="*/ 2 h 4"/>
                  <a:gd name="T6" fmla="*/ 2 w 92"/>
                  <a:gd name="T7" fmla="*/ 0 h 4"/>
                  <a:gd name="T8" fmla="*/ 90 w 92"/>
                  <a:gd name="T9" fmla="*/ 0 h 4"/>
                  <a:gd name="T10" fmla="*/ 92 w 92"/>
                  <a:gd name="T11" fmla="*/ 2 h 4"/>
                  <a:gd name="T12" fmla="*/ 90 w 9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2" h="4">
                    <a:moveTo>
                      <a:pt x="90" y="4"/>
                    </a:moveTo>
                    <a:cubicBezTo>
                      <a:pt x="2" y="4"/>
                      <a:pt x="2" y="4"/>
                      <a:pt x="2" y="4"/>
                    </a:cubicBezTo>
                    <a:cubicBezTo>
                      <a:pt x="1" y="4"/>
                      <a:pt x="0" y="3"/>
                      <a:pt x="0" y="2"/>
                    </a:cubicBezTo>
                    <a:cubicBezTo>
                      <a:pt x="0" y="1"/>
                      <a:pt x="1" y="0"/>
                      <a:pt x="2" y="0"/>
                    </a:cubicBezTo>
                    <a:cubicBezTo>
                      <a:pt x="90" y="0"/>
                      <a:pt x="90" y="0"/>
                      <a:pt x="90" y="0"/>
                    </a:cubicBezTo>
                    <a:cubicBezTo>
                      <a:pt x="91" y="0"/>
                      <a:pt x="92" y="1"/>
                      <a:pt x="92" y="2"/>
                    </a:cubicBezTo>
                    <a:cubicBezTo>
                      <a:pt x="92" y="3"/>
                      <a:pt x="91" y="4"/>
                      <a:pt x="9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3" name="Freeform 1594">
                <a:extLst>
                  <a:ext uri="{FF2B5EF4-FFF2-40B4-BE49-F238E27FC236}">
                    <a16:creationId xmlns:a16="http://schemas.microsoft.com/office/drawing/2014/main" id="{E211CBB1-B298-8774-BE85-87A9730CD319}"/>
                  </a:ext>
                </a:extLst>
              </p:cNvPr>
              <p:cNvSpPr>
                <a:spLocks noEditPoints="1"/>
              </p:cNvSpPr>
              <p:nvPr/>
            </p:nvSpPr>
            <p:spPr bwMode="auto">
              <a:xfrm>
                <a:off x="6307138" y="5097463"/>
                <a:ext cx="284163" cy="225425"/>
              </a:xfrm>
              <a:custGeom>
                <a:avLst/>
                <a:gdLst>
                  <a:gd name="T0" fmla="*/ 74 w 76"/>
                  <a:gd name="T1" fmla="*/ 60 h 60"/>
                  <a:gd name="T2" fmla="*/ 2 w 76"/>
                  <a:gd name="T3" fmla="*/ 60 h 60"/>
                  <a:gd name="T4" fmla="*/ 0 w 76"/>
                  <a:gd name="T5" fmla="*/ 58 h 60"/>
                  <a:gd name="T6" fmla="*/ 0 w 76"/>
                  <a:gd name="T7" fmla="*/ 2 h 60"/>
                  <a:gd name="T8" fmla="*/ 2 w 76"/>
                  <a:gd name="T9" fmla="*/ 0 h 60"/>
                  <a:gd name="T10" fmla="*/ 74 w 76"/>
                  <a:gd name="T11" fmla="*/ 0 h 60"/>
                  <a:gd name="T12" fmla="*/ 76 w 76"/>
                  <a:gd name="T13" fmla="*/ 2 h 60"/>
                  <a:gd name="T14" fmla="*/ 76 w 76"/>
                  <a:gd name="T15" fmla="*/ 58 h 60"/>
                  <a:gd name="T16" fmla="*/ 74 w 76"/>
                  <a:gd name="T17" fmla="*/ 60 h 60"/>
                  <a:gd name="T18" fmla="*/ 4 w 76"/>
                  <a:gd name="T19" fmla="*/ 56 h 60"/>
                  <a:gd name="T20" fmla="*/ 72 w 76"/>
                  <a:gd name="T21" fmla="*/ 56 h 60"/>
                  <a:gd name="T22" fmla="*/ 72 w 76"/>
                  <a:gd name="T23" fmla="*/ 4 h 60"/>
                  <a:gd name="T24" fmla="*/ 4 w 76"/>
                  <a:gd name="T25" fmla="*/ 4 h 60"/>
                  <a:gd name="T26" fmla="*/ 4 w 76"/>
                  <a:gd name="T27"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60">
                    <a:moveTo>
                      <a:pt x="74" y="60"/>
                    </a:moveTo>
                    <a:cubicBezTo>
                      <a:pt x="2" y="60"/>
                      <a:pt x="2" y="60"/>
                      <a:pt x="2" y="60"/>
                    </a:cubicBezTo>
                    <a:cubicBezTo>
                      <a:pt x="1" y="60"/>
                      <a:pt x="0" y="59"/>
                      <a:pt x="0" y="58"/>
                    </a:cubicBezTo>
                    <a:cubicBezTo>
                      <a:pt x="0" y="2"/>
                      <a:pt x="0" y="2"/>
                      <a:pt x="0" y="2"/>
                    </a:cubicBezTo>
                    <a:cubicBezTo>
                      <a:pt x="0" y="1"/>
                      <a:pt x="1" y="0"/>
                      <a:pt x="2" y="0"/>
                    </a:cubicBezTo>
                    <a:cubicBezTo>
                      <a:pt x="74" y="0"/>
                      <a:pt x="74" y="0"/>
                      <a:pt x="74" y="0"/>
                    </a:cubicBezTo>
                    <a:cubicBezTo>
                      <a:pt x="75" y="0"/>
                      <a:pt x="76" y="1"/>
                      <a:pt x="76" y="2"/>
                    </a:cubicBezTo>
                    <a:cubicBezTo>
                      <a:pt x="76" y="58"/>
                      <a:pt x="76" y="58"/>
                      <a:pt x="76" y="58"/>
                    </a:cubicBezTo>
                    <a:cubicBezTo>
                      <a:pt x="76" y="59"/>
                      <a:pt x="75" y="60"/>
                      <a:pt x="74" y="60"/>
                    </a:cubicBezTo>
                    <a:close/>
                    <a:moveTo>
                      <a:pt x="4" y="56"/>
                    </a:moveTo>
                    <a:cubicBezTo>
                      <a:pt x="72" y="56"/>
                      <a:pt x="72" y="56"/>
                      <a:pt x="72" y="56"/>
                    </a:cubicBezTo>
                    <a:cubicBezTo>
                      <a:pt x="72" y="4"/>
                      <a:pt x="72" y="4"/>
                      <a:pt x="72" y="4"/>
                    </a:cubicBezTo>
                    <a:cubicBezTo>
                      <a:pt x="4" y="4"/>
                      <a:pt x="4" y="4"/>
                      <a:pt x="4" y="4"/>
                    </a:cubicBezTo>
                    <a:lnTo>
                      <a:pt x="4"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4" name="Rectangle 1595">
                <a:extLst>
                  <a:ext uri="{FF2B5EF4-FFF2-40B4-BE49-F238E27FC236}">
                    <a16:creationId xmlns:a16="http://schemas.microsoft.com/office/drawing/2014/main" id="{670E058B-68EA-1E38-F54E-E326FAA3DF76}"/>
                  </a:ext>
                </a:extLst>
              </p:cNvPr>
              <p:cNvSpPr>
                <a:spLocks noChangeArrowheads="1"/>
              </p:cNvSpPr>
              <p:nvPr/>
            </p:nvSpPr>
            <p:spPr bwMode="auto">
              <a:xfrm>
                <a:off x="6442075" y="5314950"/>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5" name="Freeform 1596">
                <a:extLst>
                  <a:ext uri="{FF2B5EF4-FFF2-40B4-BE49-F238E27FC236}">
                    <a16:creationId xmlns:a16="http://schemas.microsoft.com/office/drawing/2014/main" id="{E28C4BCE-1F04-11B8-F8F7-006EE1A395F2}"/>
                  </a:ext>
                </a:extLst>
              </p:cNvPr>
              <p:cNvSpPr>
                <a:spLocks noEditPoints="1"/>
              </p:cNvSpPr>
              <p:nvPr/>
            </p:nvSpPr>
            <p:spPr bwMode="auto">
              <a:xfrm>
                <a:off x="6419850" y="5353050"/>
                <a:ext cx="58738" cy="60325"/>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1597">
                <a:extLst>
                  <a:ext uri="{FF2B5EF4-FFF2-40B4-BE49-F238E27FC236}">
                    <a16:creationId xmlns:a16="http://schemas.microsoft.com/office/drawing/2014/main" id="{A80C6E2F-F735-9A10-6A71-C4A2E2110783}"/>
                  </a:ext>
                </a:extLst>
              </p:cNvPr>
              <p:cNvSpPr>
                <a:spLocks noEditPoints="1"/>
              </p:cNvSpPr>
              <p:nvPr/>
            </p:nvSpPr>
            <p:spPr bwMode="auto">
              <a:xfrm>
                <a:off x="6359525" y="5141913"/>
                <a:ext cx="157163" cy="106363"/>
              </a:xfrm>
              <a:custGeom>
                <a:avLst/>
                <a:gdLst>
                  <a:gd name="T0" fmla="*/ 40 w 42"/>
                  <a:gd name="T1" fmla="*/ 28 h 28"/>
                  <a:gd name="T2" fmla="*/ 12 w 42"/>
                  <a:gd name="T3" fmla="*/ 28 h 28"/>
                  <a:gd name="T4" fmla="*/ 10 w 42"/>
                  <a:gd name="T5" fmla="*/ 26 h 28"/>
                  <a:gd name="T6" fmla="*/ 10 w 42"/>
                  <a:gd name="T7" fmla="*/ 4 h 28"/>
                  <a:gd name="T8" fmla="*/ 2 w 42"/>
                  <a:gd name="T9" fmla="*/ 4 h 28"/>
                  <a:gd name="T10" fmla="*/ 0 w 42"/>
                  <a:gd name="T11" fmla="*/ 2 h 28"/>
                  <a:gd name="T12" fmla="*/ 2 w 42"/>
                  <a:gd name="T13" fmla="*/ 0 h 28"/>
                  <a:gd name="T14" fmla="*/ 12 w 42"/>
                  <a:gd name="T15" fmla="*/ 0 h 28"/>
                  <a:gd name="T16" fmla="*/ 14 w 42"/>
                  <a:gd name="T17" fmla="*/ 2 h 28"/>
                  <a:gd name="T18" fmla="*/ 14 w 42"/>
                  <a:gd name="T19" fmla="*/ 8 h 28"/>
                  <a:gd name="T20" fmla="*/ 40 w 42"/>
                  <a:gd name="T21" fmla="*/ 8 h 28"/>
                  <a:gd name="T22" fmla="*/ 42 w 42"/>
                  <a:gd name="T23" fmla="*/ 10 h 28"/>
                  <a:gd name="T24" fmla="*/ 42 w 42"/>
                  <a:gd name="T25" fmla="*/ 26 h 28"/>
                  <a:gd name="T26" fmla="*/ 40 w 42"/>
                  <a:gd name="T27" fmla="*/ 28 h 28"/>
                  <a:gd name="T28" fmla="*/ 14 w 42"/>
                  <a:gd name="T29" fmla="*/ 24 h 28"/>
                  <a:gd name="T30" fmla="*/ 38 w 42"/>
                  <a:gd name="T31" fmla="*/ 24 h 28"/>
                  <a:gd name="T32" fmla="*/ 38 w 42"/>
                  <a:gd name="T33" fmla="*/ 12 h 28"/>
                  <a:gd name="T34" fmla="*/ 14 w 42"/>
                  <a:gd name="T35" fmla="*/ 12 h 28"/>
                  <a:gd name="T36" fmla="*/ 14 w 42"/>
                  <a:gd name="T3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28">
                    <a:moveTo>
                      <a:pt x="40" y="28"/>
                    </a:moveTo>
                    <a:cubicBezTo>
                      <a:pt x="12" y="28"/>
                      <a:pt x="12" y="28"/>
                      <a:pt x="12" y="28"/>
                    </a:cubicBezTo>
                    <a:cubicBezTo>
                      <a:pt x="11" y="28"/>
                      <a:pt x="10" y="27"/>
                      <a:pt x="10" y="26"/>
                    </a:cubicBezTo>
                    <a:cubicBezTo>
                      <a:pt x="10" y="4"/>
                      <a:pt x="10" y="4"/>
                      <a:pt x="10" y="4"/>
                    </a:cubicBezTo>
                    <a:cubicBezTo>
                      <a:pt x="2" y="4"/>
                      <a:pt x="2" y="4"/>
                      <a:pt x="2" y="4"/>
                    </a:cubicBezTo>
                    <a:cubicBezTo>
                      <a:pt x="1" y="4"/>
                      <a:pt x="0" y="3"/>
                      <a:pt x="0" y="2"/>
                    </a:cubicBezTo>
                    <a:cubicBezTo>
                      <a:pt x="0" y="1"/>
                      <a:pt x="1" y="0"/>
                      <a:pt x="2" y="0"/>
                    </a:cubicBezTo>
                    <a:cubicBezTo>
                      <a:pt x="12" y="0"/>
                      <a:pt x="12" y="0"/>
                      <a:pt x="12" y="0"/>
                    </a:cubicBezTo>
                    <a:cubicBezTo>
                      <a:pt x="13" y="0"/>
                      <a:pt x="14" y="1"/>
                      <a:pt x="14" y="2"/>
                    </a:cubicBezTo>
                    <a:cubicBezTo>
                      <a:pt x="14" y="8"/>
                      <a:pt x="14" y="8"/>
                      <a:pt x="14" y="8"/>
                    </a:cubicBezTo>
                    <a:cubicBezTo>
                      <a:pt x="40" y="8"/>
                      <a:pt x="40" y="8"/>
                      <a:pt x="40" y="8"/>
                    </a:cubicBezTo>
                    <a:cubicBezTo>
                      <a:pt x="41" y="8"/>
                      <a:pt x="42" y="9"/>
                      <a:pt x="42" y="10"/>
                    </a:cubicBezTo>
                    <a:cubicBezTo>
                      <a:pt x="42" y="26"/>
                      <a:pt x="42" y="26"/>
                      <a:pt x="42" y="26"/>
                    </a:cubicBezTo>
                    <a:cubicBezTo>
                      <a:pt x="42" y="27"/>
                      <a:pt x="41" y="28"/>
                      <a:pt x="40" y="28"/>
                    </a:cubicBezTo>
                    <a:close/>
                    <a:moveTo>
                      <a:pt x="14" y="24"/>
                    </a:moveTo>
                    <a:cubicBezTo>
                      <a:pt x="38" y="24"/>
                      <a:pt x="38" y="24"/>
                      <a:pt x="38" y="24"/>
                    </a:cubicBezTo>
                    <a:cubicBezTo>
                      <a:pt x="38" y="12"/>
                      <a:pt x="38" y="12"/>
                      <a:pt x="38" y="12"/>
                    </a:cubicBezTo>
                    <a:cubicBezTo>
                      <a:pt x="14" y="12"/>
                      <a:pt x="14" y="12"/>
                      <a:pt x="14"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Oval 1598">
                <a:extLst>
                  <a:ext uri="{FF2B5EF4-FFF2-40B4-BE49-F238E27FC236}">
                    <a16:creationId xmlns:a16="http://schemas.microsoft.com/office/drawing/2014/main" id="{CC7DF1EF-B525-9A6A-63B7-1DFA98B78B37}"/>
                  </a:ext>
                </a:extLst>
              </p:cNvPr>
              <p:cNvSpPr>
                <a:spLocks noChangeArrowheads="1"/>
              </p:cNvSpPr>
              <p:nvPr/>
            </p:nvSpPr>
            <p:spPr bwMode="auto">
              <a:xfrm>
                <a:off x="6403975"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8" name="Oval 1599">
                <a:extLst>
                  <a:ext uri="{FF2B5EF4-FFF2-40B4-BE49-F238E27FC236}">
                    <a16:creationId xmlns:a16="http://schemas.microsoft.com/office/drawing/2014/main" id="{B64EA0E0-399C-3214-50B1-A170F0D40DB7}"/>
                  </a:ext>
                </a:extLst>
              </p:cNvPr>
              <p:cNvSpPr>
                <a:spLocks noChangeArrowheads="1"/>
              </p:cNvSpPr>
              <p:nvPr/>
            </p:nvSpPr>
            <p:spPr bwMode="auto">
              <a:xfrm>
                <a:off x="6478588"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9" name="Group 38">
              <a:extLst>
                <a:ext uri="{FF2B5EF4-FFF2-40B4-BE49-F238E27FC236}">
                  <a16:creationId xmlns:a16="http://schemas.microsoft.com/office/drawing/2014/main" id="{63CCD689-9808-A922-9F75-CFC6301EFC04}"/>
                </a:ext>
              </a:extLst>
            </p:cNvPr>
            <p:cNvGrpSpPr/>
            <p:nvPr/>
          </p:nvGrpSpPr>
          <p:grpSpPr>
            <a:xfrm>
              <a:off x="4728242" y="3449915"/>
              <a:ext cx="314061" cy="314062"/>
              <a:chOff x="5554663" y="723900"/>
              <a:chExt cx="346075" cy="346076"/>
            </a:xfrm>
            <a:solidFill>
              <a:schemeClr val="bg1"/>
            </a:solidFill>
          </p:grpSpPr>
          <p:sp>
            <p:nvSpPr>
              <p:cNvPr id="54" name="Freeform 1743">
                <a:extLst>
                  <a:ext uri="{FF2B5EF4-FFF2-40B4-BE49-F238E27FC236}">
                    <a16:creationId xmlns:a16="http://schemas.microsoft.com/office/drawing/2014/main" id="{007EBBDE-350A-B98E-EBD8-9B1295079AA1}"/>
                  </a:ext>
                </a:extLst>
              </p:cNvPr>
              <p:cNvSpPr>
                <a:spLocks noEditPoints="1"/>
              </p:cNvSpPr>
              <p:nvPr/>
            </p:nvSpPr>
            <p:spPr bwMode="auto">
              <a:xfrm>
                <a:off x="5595938" y="765175"/>
                <a:ext cx="263525" cy="263525"/>
              </a:xfrm>
              <a:custGeom>
                <a:avLst/>
                <a:gdLst>
                  <a:gd name="T0" fmla="*/ 35 w 70"/>
                  <a:gd name="T1" fmla="*/ 70 h 70"/>
                  <a:gd name="T2" fmla="*/ 0 w 70"/>
                  <a:gd name="T3" fmla="*/ 35 h 70"/>
                  <a:gd name="T4" fmla="*/ 35 w 70"/>
                  <a:gd name="T5" fmla="*/ 0 h 70"/>
                  <a:gd name="T6" fmla="*/ 70 w 70"/>
                  <a:gd name="T7" fmla="*/ 35 h 70"/>
                  <a:gd name="T8" fmla="*/ 35 w 70"/>
                  <a:gd name="T9" fmla="*/ 70 h 70"/>
                  <a:gd name="T10" fmla="*/ 35 w 70"/>
                  <a:gd name="T11" fmla="*/ 4 h 70"/>
                  <a:gd name="T12" fmla="*/ 4 w 70"/>
                  <a:gd name="T13" fmla="*/ 35 h 70"/>
                  <a:gd name="T14" fmla="*/ 35 w 70"/>
                  <a:gd name="T15" fmla="*/ 66 h 70"/>
                  <a:gd name="T16" fmla="*/ 66 w 70"/>
                  <a:gd name="T17" fmla="*/ 35 h 70"/>
                  <a:gd name="T18" fmla="*/ 35 w 70"/>
                  <a:gd name="T19"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70">
                    <a:moveTo>
                      <a:pt x="35" y="70"/>
                    </a:moveTo>
                    <a:cubicBezTo>
                      <a:pt x="16" y="70"/>
                      <a:pt x="0" y="54"/>
                      <a:pt x="0" y="35"/>
                    </a:cubicBezTo>
                    <a:cubicBezTo>
                      <a:pt x="0" y="16"/>
                      <a:pt x="16" y="0"/>
                      <a:pt x="35" y="0"/>
                    </a:cubicBezTo>
                    <a:cubicBezTo>
                      <a:pt x="54" y="0"/>
                      <a:pt x="70" y="16"/>
                      <a:pt x="70" y="35"/>
                    </a:cubicBezTo>
                    <a:cubicBezTo>
                      <a:pt x="70" y="54"/>
                      <a:pt x="54" y="70"/>
                      <a:pt x="35" y="70"/>
                    </a:cubicBezTo>
                    <a:close/>
                    <a:moveTo>
                      <a:pt x="35" y="4"/>
                    </a:moveTo>
                    <a:cubicBezTo>
                      <a:pt x="18" y="4"/>
                      <a:pt x="4" y="18"/>
                      <a:pt x="4" y="35"/>
                    </a:cubicBezTo>
                    <a:cubicBezTo>
                      <a:pt x="4" y="52"/>
                      <a:pt x="18" y="66"/>
                      <a:pt x="35" y="66"/>
                    </a:cubicBezTo>
                    <a:cubicBezTo>
                      <a:pt x="52" y="66"/>
                      <a:pt x="66" y="52"/>
                      <a:pt x="66" y="35"/>
                    </a:cubicBezTo>
                    <a:cubicBezTo>
                      <a:pt x="66" y="18"/>
                      <a:pt x="52" y="4"/>
                      <a:pt x="3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5" name="Freeform 1744">
                <a:extLst>
                  <a:ext uri="{FF2B5EF4-FFF2-40B4-BE49-F238E27FC236}">
                    <a16:creationId xmlns:a16="http://schemas.microsoft.com/office/drawing/2014/main" id="{106B6A51-7509-5465-8942-47199E2B2FEC}"/>
                  </a:ext>
                </a:extLst>
              </p:cNvPr>
              <p:cNvSpPr>
                <a:spLocks/>
              </p:cNvSpPr>
              <p:nvPr/>
            </p:nvSpPr>
            <p:spPr bwMode="auto">
              <a:xfrm>
                <a:off x="5719763" y="723900"/>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6" name="Freeform 1745">
                <a:extLst>
                  <a:ext uri="{FF2B5EF4-FFF2-40B4-BE49-F238E27FC236}">
                    <a16:creationId xmlns:a16="http://schemas.microsoft.com/office/drawing/2014/main" id="{7E4E865B-525D-F0A8-34A9-5B2533985969}"/>
                  </a:ext>
                </a:extLst>
              </p:cNvPr>
              <p:cNvSpPr>
                <a:spLocks/>
              </p:cNvSpPr>
              <p:nvPr/>
            </p:nvSpPr>
            <p:spPr bwMode="auto">
              <a:xfrm>
                <a:off x="5554663" y="889000"/>
                <a:ext cx="87313"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746">
                <a:extLst>
                  <a:ext uri="{FF2B5EF4-FFF2-40B4-BE49-F238E27FC236}">
                    <a16:creationId xmlns:a16="http://schemas.microsoft.com/office/drawing/2014/main" id="{B50B780F-2670-EB2F-4654-F217472F8C1E}"/>
                  </a:ext>
                </a:extLst>
              </p:cNvPr>
              <p:cNvSpPr>
                <a:spLocks/>
              </p:cNvSpPr>
              <p:nvPr/>
            </p:nvSpPr>
            <p:spPr bwMode="auto">
              <a:xfrm>
                <a:off x="5719763" y="982663"/>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8" name="Freeform 1747">
                <a:extLst>
                  <a:ext uri="{FF2B5EF4-FFF2-40B4-BE49-F238E27FC236}">
                    <a16:creationId xmlns:a16="http://schemas.microsoft.com/office/drawing/2014/main" id="{2860D1F9-29CE-580E-9957-8E9EC4FA0F5F}"/>
                  </a:ext>
                </a:extLst>
              </p:cNvPr>
              <p:cNvSpPr>
                <a:spLocks/>
              </p:cNvSpPr>
              <p:nvPr/>
            </p:nvSpPr>
            <p:spPr bwMode="auto">
              <a:xfrm>
                <a:off x="5815013" y="889000"/>
                <a:ext cx="85725"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9" name="Freeform 1748">
                <a:extLst>
                  <a:ext uri="{FF2B5EF4-FFF2-40B4-BE49-F238E27FC236}">
                    <a16:creationId xmlns:a16="http://schemas.microsoft.com/office/drawing/2014/main" id="{F2AF8A12-A080-5948-E925-E1F68E498D8A}"/>
                  </a:ext>
                </a:extLst>
              </p:cNvPr>
              <p:cNvSpPr>
                <a:spLocks/>
              </p:cNvSpPr>
              <p:nvPr/>
            </p:nvSpPr>
            <p:spPr bwMode="auto">
              <a:xfrm>
                <a:off x="5697538" y="844550"/>
                <a:ext cx="60325" cy="104775"/>
              </a:xfrm>
              <a:custGeom>
                <a:avLst/>
                <a:gdLst>
                  <a:gd name="T0" fmla="*/ 8 w 16"/>
                  <a:gd name="T1" fmla="*/ 28 h 28"/>
                  <a:gd name="T2" fmla="*/ 0 w 16"/>
                  <a:gd name="T3" fmla="*/ 20 h 28"/>
                  <a:gd name="T4" fmla="*/ 2 w 16"/>
                  <a:gd name="T5" fmla="*/ 18 h 28"/>
                  <a:gd name="T6" fmla="*/ 4 w 16"/>
                  <a:gd name="T7" fmla="*/ 20 h 28"/>
                  <a:gd name="T8" fmla="*/ 8 w 16"/>
                  <a:gd name="T9" fmla="*/ 24 h 28"/>
                  <a:gd name="T10" fmla="*/ 12 w 16"/>
                  <a:gd name="T11" fmla="*/ 20 h 28"/>
                  <a:gd name="T12" fmla="*/ 8 w 16"/>
                  <a:gd name="T13" fmla="*/ 16 h 28"/>
                  <a:gd name="T14" fmla="*/ 0 w 16"/>
                  <a:gd name="T15" fmla="*/ 8 h 28"/>
                  <a:gd name="T16" fmla="*/ 8 w 16"/>
                  <a:gd name="T17" fmla="*/ 0 h 28"/>
                  <a:gd name="T18" fmla="*/ 16 w 16"/>
                  <a:gd name="T19" fmla="*/ 8 h 28"/>
                  <a:gd name="T20" fmla="*/ 14 w 16"/>
                  <a:gd name="T21" fmla="*/ 10 h 28"/>
                  <a:gd name="T22" fmla="*/ 12 w 16"/>
                  <a:gd name="T23" fmla="*/ 8 h 28"/>
                  <a:gd name="T24" fmla="*/ 8 w 16"/>
                  <a:gd name="T25" fmla="*/ 4 h 28"/>
                  <a:gd name="T26" fmla="*/ 4 w 16"/>
                  <a:gd name="T27" fmla="*/ 8 h 28"/>
                  <a:gd name="T28" fmla="*/ 8 w 16"/>
                  <a:gd name="T29" fmla="*/ 12 h 28"/>
                  <a:gd name="T30" fmla="*/ 16 w 16"/>
                  <a:gd name="T31" fmla="*/ 20 h 28"/>
                  <a:gd name="T32" fmla="*/ 8 w 16"/>
                  <a:gd name="T3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8">
                    <a:moveTo>
                      <a:pt x="8" y="28"/>
                    </a:moveTo>
                    <a:cubicBezTo>
                      <a:pt x="4" y="28"/>
                      <a:pt x="0" y="24"/>
                      <a:pt x="0" y="20"/>
                    </a:cubicBezTo>
                    <a:cubicBezTo>
                      <a:pt x="0" y="19"/>
                      <a:pt x="1" y="18"/>
                      <a:pt x="2" y="18"/>
                    </a:cubicBezTo>
                    <a:cubicBezTo>
                      <a:pt x="3" y="18"/>
                      <a:pt x="4" y="19"/>
                      <a:pt x="4" y="20"/>
                    </a:cubicBezTo>
                    <a:cubicBezTo>
                      <a:pt x="4" y="22"/>
                      <a:pt x="6" y="24"/>
                      <a:pt x="8" y="24"/>
                    </a:cubicBezTo>
                    <a:cubicBezTo>
                      <a:pt x="10" y="24"/>
                      <a:pt x="12" y="22"/>
                      <a:pt x="12" y="20"/>
                    </a:cubicBezTo>
                    <a:cubicBezTo>
                      <a:pt x="12" y="18"/>
                      <a:pt x="10" y="16"/>
                      <a:pt x="8" y="16"/>
                    </a:cubicBezTo>
                    <a:cubicBezTo>
                      <a:pt x="4" y="16"/>
                      <a:pt x="0" y="12"/>
                      <a:pt x="0" y="8"/>
                    </a:cubicBezTo>
                    <a:cubicBezTo>
                      <a:pt x="0" y="3"/>
                      <a:pt x="4" y="0"/>
                      <a:pt x="8" y="0"/>
                    </a:cubicBezTo>
                    <a:cubicBezTo>
                      <a:pt x="12" y="0"/>
                      <a:pt x="16" y="3"/>
                      <a:pt x="16" y="8"/>
                    </a:cubicBezTo>
                    <a:cubicBezTo>
                      <a:pt x="16" y="9"/>
                      <a:pt x="15" y="10"/>
                      <a:pt x="14" y="10"/>
                    </a:cubicBezTo>
                    <a:cubicBezTo>
                      <a:pt x="13" y="10"/>
                      <a:pt x="12" y="9"/>
                      <a:pt x="12" y="8"/>
                    </a:cubicBezTo>
                    <a:cubicBezTo>
                      <a:pt x="12" y="5"/>
                      <a:pt x="10" y="4"/>
                      <a:pt x="8" y="4"/>
                    </a:cubicBezTo>
                    <a:cubicBezTo>
                      <a:pt x="6" y="4"/>
                      <a:pt x="4" y="5"/>
                      <a:pt x="4" y="8"/>
                    </a:cubicBezTo>
                    <a:cubicBezTo>
                      <a:pt x="4" y="10"/>
                      <a:pt x="6" y="12"/>
                      <a:pt x="8" y="12"/>
                    </a:cubicBezTo>
                    <a:cubicBezTo>
                      <a:pt x="12" y="12"/>
                      <a:pt x="16" y="15"/>
                      <a:pt x="16" y="20"/>
                    </a:cubicBezTo>
                    <a:cubicBezTo>
                      <a:pt x="16" y="24"/>
                      <a:pt x="12" y="28"/>
                      <a:pt x="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0" name="Freeform 1749">
                <a:extLst>
                  <a:ext uri="{FF2B5EF4-FFF2-40B4-BE49-F238E27FC236}">
                    <a16:creationId xmlns:a16="http://schemas.microsoft.com/office/drawing/2014/main" id="{BB0B7FBF-C849-E5BB-A0E7-3035EFF9240F}"/>
                  </a:ext>
                </a:extLst>
              </p:cNvPr>
              <p:cNvSpPr>
                <a:spLocks/>
              </p:cNvSpPr>
              <p:nvPr/>
            </p:nvSpPr>
            <p:spPr bwMode="auto">
              <a:xfrm>
                <a:off x="5719763" y="828675"/>
                <a:ext cx="15875" cy="136525"/>
              </a:xfrm>
              <a:custGeom>
                <a:avLst/>
                <a:gdLst>
                  <a:gd name="T0" fmla="*/ 2 w 4"/>
                  <a:gd name="T1" fmla="*/ 36 h 36"/>
                  <a:gd name="T2" fmla="*/ 0 w 4"/>
                  <a:gd name="T3" fmla="*/ 34 h 36"/>
                  <a:gd name="T4" fmla="*/ 0 w 4"/>
                  <a:gd name="T5" fmla="*/ 2 h 36"/>
                  <a:gd name="T6" fmla="*/ 2 w 4"/>
                  <a:gd name="T7" fmla="*/ 0 h 36"/>
                  <a:gd name="T8" fmla="*/ 4 w 4"/>
                  <a:gd name="T9" fmla="*/ 2 h 36"/>
                  <a:gd name="T10" fmla="*/ 4 w 4"/>
                  <a:gd name="T11" fmla="*/ 34 h 36"/>
                  <a:gd name="T12" fmla="*/ 2 w 4"/>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4" h="36">
                    <a:moveTo>
                      <a:pt x="2" y="36"/>
                    </a:moveTo>
                    <a:cubicBezTo>
                      <a:pt x="1" y="36"/>
                      <a:pt x="0" y="35"/>
                      <a:pt x="0" y="34"/>
                    </a:cubicBezTo>
                    <a:cubicBezTo>
                      <a:pt x="0" y="2"/>
                      <a:pt x="0" y="2"/>
                      <a:pt x="0" y="2"/>
                    </a:cubicBezTo>
                    <a:cubicBezTo>
                      <a:pt x="0" y="1"/>
                      <a:pt x="1" y="0"/>
                      <a:pt x="2" y="0"/>
                    </a:cubicBezTo>
                    <a:cubicBezTo>
                      <a:pt x="3" y="0"/>
                      <a:pt x="4" y="1"/>
                      <a:pt x="4" y="2"/>
                    </a:cubicBezTo>
                    <a:cubicBezTo>
                      <a:pt x="4" y="34"/>
                      <a:pt x="4" y="34"/>
                      <a:pt x="4" y="34"/>
                    </a:cubicBezTo>
                    <a:cubicBezTo>
                      <a:pt x="4" y="35"/>
                      <a:pt x="3" y="36"/>
                      <a:pt x="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0" name="Group 39">
              <a:extLst>
                <a:ext uri="{FF2B5EF4-FFF2-40B4-BE49-F238E27FC236}">
                  <a16:creationId xmlns:a16="http://schemas.microsoft.com/office/drawing/2014/main" id="{BBBC01AF-EFD2-0A10-C991-8D5A8D4CE1BB}"/>
                </a:ext>
              </a:extLst>
            </p:cNvPr>
            <p:cNvGrpSpPr/>
            <p:nvPr/>
          </p:nvGrpSpPr>
          <p:grpSpPr>
            <a:xfrm>
              <a:off x="4729683" y="4477576"/>
              <a:ext cx="311179" cy="327027"/>
              <a:chOff x="7718425" y="1082675"/>
              <a:chExt cx="342900" cy="360363"/>
            </a:xfrm>
            <a:solidFill>
              <a:schemeClr val="bg1"/>
            </a:solidFill>
          </p:grpSpPr>
          <p:sp>
            <p:nvSpPr>
              <p:cNvPr id="51" name="Freeform 656">
                <a:extLst>
                  <a:ext uri="{FF2B5EF4-FFF2-40B4-BE49-F238E27FC236}">
                    <a16:creationId xmlns:a16="http://schemas.microsoft.com/office/drawing/2014/main" id="{9AFE15F2-3065-A821-2DAE-F0844294DA04}"/>
                  </a:ext>
                </a:extLst>
              </p:cNvPr>
              <p:cNvSpPr>
                <a:spLocks noEditPoints="1"/>
              </p:cNvSpPr>
              <p:nvPr/>
            </p:nvSpPr>
            <p:spPr bwMode="auto">
              <a:xfrm>
                <a:off x="7718425" y="1203325"/>
                <a:ext cx="301625" cy="239713"/>
              </a:xfrm>
              <a:custGeom>
                <a:avLst/>
                <a:gdLst>
                  <a:gd name="T0" fmla="*/ 78 w 80"/>
                  <a:gd name="T1" fmla="*/ 64 h 64"/>
                  <a:gd name="T2" fmla="*/ 2 w 80"/>
                  <a:gd name="T3" fmla="*/ 64 h 64"/>
                  <a:gd name="T4" fmla="*/ 0 w 80"/>
                  <a:gd name="T5" fmla="*/ 62 h 64"/>
                  <a:gd name="T6" fmla="*/ 0 w 80"/>
                  <a:gd name="T7" fmla="*/ 2 h 64"/>
                  <a:gd name="T8" fmla="*/ 2 w 80"/>
                  <a:gd name="T9" fmla="*/ 0 h 64"/>
                  <a:gd name="T10" fmla="*/ 78 w 80"/>
                  <a:gd name="T11" fmla="*/ 0 h 64"/>
                  <a:gd name="T12" fmla="*/ 80 w 80"/>
                  <a:gd name="T13" fmla="*/ 2 h 64"/>
                  <a:gd name="T14" fmla="*/ 80 w 80"/>
                  <a:gd name="T15" fmla="*/ 62 h 64"/>
                  <a:gd name="T16" fmla="*/ 78 w 80"/>
                  <a:gd name="T17" fmla="*/ 64 h 64"/>
                  <a:gd name="T18" fmla="*/ 4 w 80"/>
                  <a:gd name="T19" fmla="*/ 60 h 64"/>
                  <a:gd name="T20" fmla="*/ 76 w 80"/>
                  <a:gd name="T21" fmla="*/ 60 h 64"/>
                  <a:gd name="T22" fmla="*/ 76 w 80"/>
                  <a:gd name="T23" fmla="*/ 4 h 64"/>
                  <a:gd name="T24" fmla="*/ 4 w 80"/>
                  <a:gd name="T25" fmla="*/ 4 h 64"/>
                  <a:gd name="T26" fmla="*/ 4 w 80"/>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64">
                    <a:moveTo>
                      <a:pt x="78" y="64"/>
                    </a:moveTo>
                    <a:cubicBezTo>
                      <a:pt x="2" y="64"/>
                      <a:pt x="2" y="64"/>
                      <a:pt x="2" y="64"/>
                    </a:cubicBezTo>
                    <a:cubicBezTo>
                      <a:pt x="1" y="64"/>
                      <a:pt x="0" y="63"/>
                      <a:pt x="0" y="62"/>
                    </a:cubicBezTo>
                    <a:cubicBezTo>
                      <a:pt x="0" y="2"/>
                      <a:pt x="0" y="2"/>
                      <a:pt x="0" y="2"/>
                    </a:cubicBezTo>
                    <a:cubicBezTo>
                      <a:pt x="0" y="1"/>
                      <a:pt x="1" y="0"/>
                      <a:pt x="2" y="0"/>
                    </a:cubicBezTo>
                    <a:cubicBezTo>
                      <a:pt x="78" y="0"/>
                      <a:pt x="78" y="0"/>
                      <a:pt x="78" y="0"/>
                    </a:cubicBezTo>
                    <a:cubicBezTo>
                      <a:pt x="79" y="0"/>
                      <a:pt x="80" y="1"/>
                      <a:pt x="80" y="2"/>
                    </a:cubicBezTo>
                    <a:cubicBezTo>
                      <a:pt x="80" y="62"/>
                      <a:pt x="80" y="62"/>
                      <a:pt x="80" y="62"/>
                    </a:cubicBezTo>
                    <a:cubicBezTo>
                      <a:pt x="80" y="63"/>
                      <a:pt x="79" y="64"/>
                      <a:pt x="78" y="64"/>
                    </a:cubicBezTo>
                    <a:close/>
                    <a:moveTo>
                      <a:pt x="4" y="60"/>
                    </a:moveTo>
                    <a:cubicBezTo>
                      <a:pt x="76" y="60"/>
                      <a:pt x="76" y="60"/>
                      <a:pt x="76" y="60"/>
                    </a:cubicBezTo>
                    <a:cubicBezTo>
                      <a:pt x="76" y="4"/>
                      <a:pt x="76" y="4"/>
                      <a:pt x="76" y="4"/>
                    </a:cubicBezTo>
                    <a:cubicBezTo>
                      <a:pt x="4" y="4"/>
                      <a:pt x="4" y="4"/>
                      <a:pt x="4" y="4"/>
                    </a:cubicBezTo>
                    <a:lnTo>
                      <a:pt x="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Freeform 657">
                <a:extLst>
                  <a:ext uri="{FF2B5EF4-FFF2-40B4-BE49-F238E27FC236}">
                    <a16:creationId xmlns:a16="http://schemas.microsoft.com/office/drawing/2014/main" id="{350EC060-AA29-D881-43B4-F7FA7C2A8246}"/>
                  </a:ext>
                </a:extLst>
              </p:cNvPr>
              <p:cNvSpPr>
                <a:spLocks/>
              </p:cNvSpPr>
              <p:nvPr/>
            </p:nvSpPr>
            <p:spPr bwMode="auto">
              <a:xfrm>
                <a:off x="7794625" y="1082675"/>
                <a:ext cx="149225" cy="104775"/>
              </a:xfrm>
              <a:custGeom>
                <a:avLst/>
                <a:gdLst>
                  <a:gd name="T0" fmla="*/ 38 w 40"/>
                  <a:gd name="T1" fmla="*/ 28 h 28"/>
                  <a:gd name="T2" fmla="*/ 36 w 40"/>
                  <a:gd name="T3" fmla="*/ 26 h 28"/>
                  <a:gd name="T4" fmla="*/ 36 w 40"/>
                  <a:gd name="T5" fmla="*/ 20 h 28"/>
                  <a:gd name="T6" fmla="*/ 20 w 40"/>
                  <a:gd name="T7" fmla="*/ 4 h 28"/>
                  <a:gd name="T8" fmla="*/ 4 w 40"/>
                  <a:gd name="T9" fmla="*/ 20 h 28"/>
                  <a:gd name="T10" fmla="*/ 4 w 40"/>
                  <a:gd name="T11" fmla="*/ 26 h 28"/>
                  <a:gd name="T12" fmla="*/ 2 w 40"/>
                  <a:gd name="T13" fmla="*/ 28 h 28"/>
                  <a:gd name="T14" fmla="*/ 0 w 40"/>
                  <a:gd name="T15" fmla="*/ 26 h 28"/>
                  <a:gd name="T16" fmla="*/ 0 w 40"/>
                  <a:gd name="T17" fmla="*/ 20 h 28"/>
                  <a:gd name="T18" fmla="*/ 20 w 40"/>
                  <a:gd name="T19" fmla="*/ 0 h 28"/>
                  <a:gd name="T20" fmla="*/ 40 w 40"/>
                  <a:gd name="T21" fmla="*/ 20 h 28"/>
                  <a:gd name="T22" fmla="*/ 40 w 40"/>
                  <a:gd name="T23" fmla="*/ 26 h 28"/>
                  <a:gd name="T24" fmla="*/ 38 w 40"/>
                  <a:gd name="T25"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28">
                    <a:moveTo>
                      <a:pt x="38" y="28"/>
                    </a:moveTo>
                    <a:cubicBezTo>
                      <a:pt x="37" y="28"/>
                      <a:pt x="36" y="27"/>
                      <a:pt x="36" y="26"/>
                    </a:cubicBezTo>
                    <a:cubicBezTo>
                      <a:pt x="36" y="20"/>
                      <a:pt x="36" y="20"/>
                      <a:pt x="36" y="20"/>
                    </a:cubicBezTo>
                    <a:cubicBezTo>
                      <a:pt x="36" y="11"/>
                      <a:pt x="29" y="4"/>
                      <a:pt x="20" y="4"/>
                    </a:cubicBezTo>
                    <a:cubicBezTo>
                      <a:pt x="11" y="4"/>
                      <a:pt x="4" y="11"/>
                      <a:pt x="4" y="20"/>
                    </a:cubicBezTo>
                    <a:cubicBezTo>
                      <a:pt x="4" y="26"/>
                      <a:pt x="4" y="26"/>
                      <a:pt x="4" y="26"/>
                    </a:cubicBezTo>
                    <a:cubicBezTo>
                      <a:pt x="4" y="27"/>
                      <a:pt x="3" y="28"/>
                      <a:pt x="2" y="28"/>
                    </a:cubicBezTo>
                    <a:cubicBezTo>
                      <a:pt x="1" y="28"/>
                      <a:pt x="0" y="27"/>
                      <a:pt x="0" y="26"/>
                    </a:cubicBezTo>
                    <a:cubicBezTo>
                      <a:pt x="0" y="20"/>
                      <a:pt x="0" y="20"/>
                      <a:pt x="0" y="20"/>
                    </a:cubicBezTo>
                    <a:cubicBezTo>
                      <a:pt x="0" y="9"/>
                      <a:pt x="9" y="0"/>
                      <a:pt x="20" y="0"/>
                    </a:cubicBezTo>
                    <a:cubicBezTo>
                      <a:pt x="31" y="0"/>
                      <a:pt x="40" y="9"/>
                      <a:pt x="40" y="20"/>
                    </a:cubicBezTo>
                    <a:cubicBezTo>
                      <a:pt x="40" y="26"/>
                      <a:pt x="40" y="26"/>
                      <a:pt x="40" y="26"/>
                    </a:cubicBezTo>
                    <a:cubicBezTo>
                      <a:pt x="40" y="27"/>
                      <a:pt x="39" y="28"/>
                      <a:pt x="3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3" name="Freeform 658">
                <a:extLst>
                  <a:ext uri="{FF2B5EF4-FFF2-40B4-BE49-F238E27FC236}">
                    <a16:creationId xmlns:a16="http://schemas.microsoft.com/office/drawing/2014/main" id="{C8144804-98DD-7B0A-9D73-F2CDCCA1D58A}"/>
                  </a:ext>
                </a:extLst>
              </p:cNvPr>
              <p:cNvSpPr>
                <a:spLocks noEditPoints="1"/>
              </p:cNvSpPr>
              <p:nvPr/>
            </p:nvSpPr>
            <p:spPr bwMode="auto">
              <a:xfrm>
                <a:off x="7959725" y="1093788"/>
                <a:ext cx="101600" cy="101600"/>
              </a:xfrm>
              <a:custGeom>
                <a:avLst/>
                <a:gdLst>
                  <a:gd name="T0" fmla="*/ 10 w 27"/>
                  <a:gd name="T1" fmla="*/ 27 h 27"/>
                  <a:gd name="T2" fmla="*/ 2 w 27"/>
                  <a:gd name="T3" fmla="*/ 27 h 27"/>
                  <a:gd name="T4" fmla="*/ 0 w 27"/>
                  <a:gd name="T5" fmla="*/ 25 h 27"/>
                  <a:gd name="T6" fmla="*/ 0 w 27"/>
                  <a:gd name="T7" fmla="*/ 17 h 27"/>
                  <a:gd name="T8" fmla="*/ 1 w 27"/>
                  <a:gd name="T9" fmla="*/ 15 h 27"/>
                  <a:gd name="T10" fmla="*/ 15 w 27"/>
                  <a:gd name="T11" fmla="*/ 1 h 27"/>
                  <a:gd name="T12" fmla="*/ 16 w 27"/>
                  <a:gd name="T13" fmla="*/ 0 h 27"/>
                  <a:gd name="T14" fmla="*/ 16 w 27"/>
                  <a:gd name="T15" fmla="*/ 0 h 27"/>
                  <a:gd name="T16" fmla="*/ 18 w 27"/>
                  <a:gd name="T17" fmla="*/ 1 h 27"/>
                  <a:gd name="T18" fmla="*/ 26 w 27"/>
                  <a:gd name="T19" fmla="*/ 9 h 27"/>
                  <a:gd name="T20" fmla="*/ 26 w 27"/>
                  <a:gd name="T21" fmla="*/ 12 h 27"/>
                  <a:gd name="T22" fmla="*/ 12 w 27"/>
                  <a:gd name="T23" fmla="*/ 26 h 27"/>
                  <a:gd name="T24" fmla="*/ 10 w 27"/>
                  <a:gd name="T25" fmla="*/ 27 h 27"/>
                  <a:gd name="T26" fmla="*/ 4 w 27"/>
                  <a:gd name="T27" fmla="*/ 23 h 27"/>
                  <a:gd name="T28" fmla="*/ 10 w 27"/>
                  <a:gd name="T29" fmla="*/ 23 h 27"/>
                  <a:gd name="T30" fmla="*/ 22 w 27"/>
                  <a:gd name="T31" fmla="*/ 11 h 27"/>
                  <a:gd name="T32" fmla="*/ 16 w 27"/>
                  <a:gd name="T33" fmla="*/ 5 h 27"/>
                  <a:gd name="T34" fmla="*/ 4 w 27"/>
                  <a:gd name="T35" fmla="*/ 17 h 27"/>
                  <a:gd name="T36" fmla="*/ 4 w 27"/>
                  <a:gd name="T3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7">
                    <a:moveTo>
                      <a:pt x="10" y="27"/>
                    </a:moveTo>
                    <a:cubicBezTo>
                      <a:pt x="2" y="27"/>
                      <a:pt x="2" y="27"/>
                      <a:pt x="2" y="27"/>
                    </a:cubicBezTo>
                    <a:cubicBezTo>
                      <a:pt x="1" y="27"/>
                      <a:pt x="0" y="26"/>
                      <a:pt x="0" y="25"/>
                    </a:cubicBezTo>
                    <a:cubicBezTo>
                      <a:pt x="0" y="17"/>
                      <a:pt x="0" y="17"/>
                      <a:pt x="0" y="17"/>
                    </a:cubicBezTo>
                    <a:cubicBezTo>
                      <a:pt x="0" y="16"/>
                      <a:pt x="0" y="15"/>
                      <a:pt x="1" y="15"/>
                    </a:cubicBezTo>
                    <a:cubicBezTo>
                      <a:pt x="15" y="1"/>
                      <a:pt x="15" y="1"/>
                      <a:pt x="15" y="1"/>
                    </a:cubicBezTo>
                    <a:cubicBezTo>
                      <a:pt x="15" y="1"/>
                      <a:pt x="16" y="0"/>
                      <a:pt x="16" y="0"/>
                    </a:cubicBezTo>
                    <a:cubicBezTo>
                      <a:pt x="16" y="0"/>
                      <a:pt x="16" y="0"/>
                      <a:pt x="16" y="0"/>
                    </a:cubicBezTo>
                    <a:cubicBezTo>
                      <a:pt x="17" y="0"/>
                      <a:pt x="17" y="1"/>
                      <a:pt x="18" y="1"/>
                    </a:cubicBezTo>
                    <a:cubicBezTo>
                      <a:pt x="26" y="9"/>
                      <a:pt x="26" y="9"/>
                      <a:pt x="26" y="9"/>
                    </a:cubicBezTo>
                    <a:cubicBezTo>
                      <a:pt x="27" y="10"/>
                      <a:pt x="27" y="11"/>
                      <a:pt x="26" y="12"/>
                    </a:cubicBezTo>
                    <a:cubicBezTo>
                      <a:pt x="12" y="26"/>
                      <a:pt x="12" y="26"/>
                      <a:pt x="12" y="26"/>
                    </a:cubicBezTo>
                    <a:cubicBezTo>
                      <a:pt x="12" y="27"/>
                      <a:pt x="11" y="27"/>
                      <a:pt x="10" y="27"/>
                    </a:cubicBezTo>
                    <a:close/>
                    <a:moveTo>
                      <a:pt x="4" y="23"/>
                    </a:moveTo>
                    <a:cubicBezTo>
                      <a:pt x="10" y="23"/>
                      <a:pt x="10" y="23"/>
                      <a:pt x="10" y="23"/>
                    </a:cubicBezTo>
                    <a:cubicBezTo>
                      <a:pt x="22" y="11"/>
                      <a:pt x="22" y="11"/>
                      <a:pt x="22" y="11"/>
                    </a:cubicBezTo>
                    <a:cubicBezTo>
                      <a:pt x="16" y="5"/>
                      <a:pt x="16" y="5"/>
                      <a:pt x="16" y="5"/>
                    </a:cubicBezTo>
                    <a:cubicBezTo>
                      <a:pt x="4" y="17"/>
                      <a:pt x="4" y="17"/>
                      <a:pt x="4" y="17"/>
                    </a:cubicBez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1" name="Group 40">
              <a:extLst>
                <a:ext uri="{FF2B5EF4-FFF2-40B4-BE49-F238E27FC236}">
                  <a16:creationId xmlns:a16="http://schemas.microsoft.com/office/drawing/2014/main" id="{AB52CCD4-2564-3E03-533C-652C82B48CB4}"/>
                </a:ext>
              </a:extLst>
            </p:cNvPr>
            <p:cNvGrpSpPr/>
            <p:nvPr/>
          </p:nvGrpSpPr>
          <p:grpSpPr>
            <a:xfrm>
              <a:off x="4721759" y="5531888"/>
              <a:ext cx="327027" cy="286689"/>
              <a:chOff x="2670175" y="1112838"/>
              <a:chExt cx="360363" cy="315913"/>
            </a:xfrm>
            <a:solidFill>
              <a:schemeClr val="bg1"/>
            </a:solidFill>
          </p:grpSpPr>
          <p:sp>
            <p:nvSpPr>
              <p:cNvPr id="42" name="Freeform 793">
                <a:extLst>
                  <a:ext uri="{FF2B5EF4-FFF2-40B4-BE49-F238E27FC236}">
                    <a16:creationId xmlns:a16="http://schemas.microsoft.com/office/drawing/2014/main" id="{4C8435DA-3347-74A5-8881-BA8CB21EC67F}"/>
                  </a:ext>
                </a:extLst>
              </p:cNvPr>
              <p:cNvSpPr>
                <a:spLocks/>
              </p:cNvSpPr>
              <p:nvPr/>
            </p:nvSpPr>
            <p:spPr bwMode="auto">
              <a:xfrm>
                <a:off x="2700338" y="1228725"/>
                <a:ext cx="300038" cy="200025"/>
              </a:xfrm>
              <a:custGeom>
                <a:avLst/>
                <a:gdLst>
                  <a:gd name="T0" fmla="*/ 78 w 80"/>
                  <a:gd name="T1" fmla="*/ 53 h 53"/>
                  <a:gd name="T2" fmla="*/ 2 w 80"/>
                  <a:gd name="T3" fmla="*/ 53 h 53"/>
                  <a:gd name="T4" fmla="*/ 0 w 80"/>
                  <a:gd name="T5" fmla="*/ 51 h 53"/>
                  <a:gd name="T6" fmla="*/ 0 w 80"/>
                  <a:gd name="T7" fmla="*/ 2 h 53"/>
                  <a:gd name="T8" fmla="*/ 2 w 80"/>
                  <a:gd name="T9" fmla="*/ 0 h 53"/>
                  <a:gd name="T10" fmla="*/ 4 w 80"/>
                  <a:gd name="T11" fmla="*/ 2 h 53"/>
                  <a:gd name="T12" fmla="*/ 4 w 80"/>
                  <a:gd name="T13" fmla="*/ 49 h 53"/>
                  <a:gd name="T14" fmla="*/ 76 w 80"/>
                  <a:gd name="T15" fmla="*/ 49 h 53"/>
                  <a:gd name="T16" fmla="*/ 76 w 80"/>
                  <a:gd name="T17" fmla="*/ 2 h 53"/>
                  <a:gd name="T18" fmla="*/ 78 w 80"/>
                  <a:gd name="T19" fmla="*/ 0 h 53"/>
                  <a:gd name="T20" fmla="*/ 80 w 80"/>
                  <a:gd name="T21" fmla="*/ 2 h 53"/>
                  <a:gd name="T22" fmla="*/ 80 w 80"/>
                  <a:gd name="T23" fmla="*/ 51 h 53"/>
                  <a:gd name="T24" fmla="*/ 78 w 8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3">
                    <a:moveTo>
                      <a:pt x="78" y="53"/>
                    </a:moveTo>
                    <a:cubicBezTo>
                      <a:pt x="2" y="53"/>
                      <a:pt x="2" y="53"/>
                      <a:pt x="2" y="53"/>
                    </a:cubicBezTo>
                    <a:cubicBezTo>
                      <a:pt x="1" y="53"/>
                      <a:pt x="0" y="52"/>
                      <a:pt x="0" y="51"/>
                    </a:cubicBezTo>
                    <a:cubicBezTo>
                      <a:pt x="0" y="2"/>
                      <a:pt x="0" y="2"/>
                      <a:pt x="0" y="2"/>
                    </a:cubicBezTo>
                    <a:cubicBezTo>
                      <a:pt x="0" y="1"/>
                      <a:pt x="1" y="0"/>
                      <a:pt x="2" y="0"/>
                    </a:cubicBezTo>
                    <a:cubicBezTo>
                      <a:pt x="3" y="0"/>
                      <a:pt x="4" y="1"/>
                      <a:pt x="4" y="2"/>
                    </a:cubicBezTo>
                    <a:cubicBezTo>
                      <a:pt x="4" y="49"/>
                      <a:pt x="4" y="49"/>
                      <a:pt x="4" y="49"/>
                    </a:cubicBezTo>
                    <a:cubicBezTo>
                      <a:pt x="76" y="49"/>
                      <a:pt x="76" y="49"/>
                      <a:pt x="76" y="49"/>
                    </a:cubicBezTo>
                    <a:cubicBezTo>
                      <a:pt x="76" y="2"/>
                      <a:pt x="76" y="2"/>
                      <a:pt x="76" y="2"/>
                    </a:cubicBezTo>
                    <a:cubicBezTo>
                      <a:pt x="76" y="1"/>
                      <a:pt x="77" y="0"/>
                      <a:pt x="78" y="0"/>
                    </a:cubicBezTo>
                    <a:cubicBezTo>
                      <a:pt x="79" y="0"/>
                      <a:pt x="80" y="1"/>
                      <a:pt x="80" y="2"/>
                    </a:cubicBezTo>
                    <a:cubicBezTo>
                      <a:pt x="80" y="51"/>
                      <a:pt x="80" y="51"/>
                      <a:pt x="80" y="51"/>
                    </a:cubicBezTo>
                    <a:cubicBezTo>
                      <a:pt x="80" y="52"/>
                      <a:pt x="79" y="53"/>
                      <a:pt x="7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Freeform 794">
                <a:extLst>
                  <a:ext uri="{FF2B5EF4-FFF2-40B4-BE49-F238E27FC236}">
                    <a16:creationId xmlns:a16="http://schemas.microsoft.com/office/drawing/2014/main" id="{DE47D7B8-5D00-9D19-2466-5D8157F59219}"/>
                  </a:ext>
                </a:extLst>
              </p:cNvPr>
              <p:cNvSpPr>
                <a:spLocks noEditPoints="1"/>
              </p:cNvSpPr>
              <p:nvPr/>
            </p:nvSpPr>
            <p:spPr bwMode="auto">
              <a:xfrm>
                <a:off x="2730500" y="1277938"/>
                <a:ext cx="134938" cy="106363"/>
              </a:xfrm>
              <a:custGeom>
                <a:avLst/>
                <a:gdLst>
                  <a:gd name="T0" fmla="*/ 34 w 36"/>
                  <a:gd name="T1" fmla="*/ 28 h 28"/>
                  <a:gd name="T2" fmla="*/ 2 w 36"/>
                  <a:gd name="T3" fmla="*/ 28 h 28"/>
                  <a:gd name="T4" fmla="*/ 0 w 36"/>
                  <a:gd name="T5" fmla="*/ 26 h 28"/>
                  <a:gd name="T6" fmla="*/ 0 w 36"/>
                  <a:gd name="T7" fmla="*/ 2 h 28"/>
                  <a:gd name="T8" fmla="*/ 2 w 36"/>
                  <a:gd name="T9" fmla="*/ 0 h 28"/>
                  <a:gd name="T10" fmla="*/ 34 w 36"/>
                  <a:gd name="T11" fmla="*/ 0 h 28"/>
                  <a:gd name="T12" fmla="*/ 36 w 36"/>
                  <a:gd name="T13" fmla="*/ 2 h 28"/>
                  <a:gd name="T14" fmla="*/ 36 w 36"/>
                  <a:gd name="T15" fmla="*/ 26 h 28"/>
                  <a:gd name="T16" fmla="*/ 34 w 36"/>
                  <a:gd name="T17" fmla="*/ 28 h 28"/>
                  <a:gd name="T18" fmla="*/ 4 w 36"/>
                  <a:gd name="T19" fmla="*/ 24 h 28"/>
                  <a:gd name="T20" fmla="*/ 32 w 36"/>
                  <a:gd name="T21" fmla="*/ 24 h 28"/>
                  <a:gd name="T22" fmla="*/ 32 w 36"/>
                  <a:gd name="T23" fmla="*/ 4 h 28"/>
                  <a:gd name="T24" fmla="*/ 4 w 36"/>
                  <a:gd name="T25" fmla="*/ 4 h 28"/>
                  <a:gd name="T26" fmla="*/ 4 w 36"/>
                  <a:gd name="T2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8">
                    <a:moveTo>
                      <a:pt x="34" y="28"/>
                    </a:moveTo>
                    <a:cubicBezTo>
                      <a:pt x="2" y="28"/>
                      <a:pt x="2" y="28"/>
                      <a:pt x="2" y="28"/>
                    </a:cubicBezTo>
                    <a:cubicBezTo>
                      <a:pt x="1" y="28"/>
                      <a:pt x="0" y="27"/>
                      <a:pt x="0" y="26"/>
                    </a:cubicBezTo>
                    <a:cubicBezTo>
                      <a:pt x="0" y="2"/>
                      <a:pt x="0" y="2"/>
                      <a:pt x="0" y="2"/>
                    </a:cubicBezTo>
                    <a:cubicBezTo>
                      <a:pt x="0" y="1"/>
                      <a:pt x="1" y="0"/>
                      <a:pt x="2" y="0"/>
                    </a:cubicBezTo>
                    <a:cubicBezTo>
                      <a:pt x="34" y="0"/>
                      <a:pt x="34" y="0"/>
                      <a:pt x="34" y="0"/>
                    </a:cubicBezTo>
                    <a:cubicBezTo>
                      <a:pt x="35" y="0"/>
                      <a:pt x="36" y="1"/>
                      <a:pt x="36" y="2"/>
                    </a:cubicBezTo>
                    <a:cubicBezTo>
                      <a:pt x="36" y="26"/>
                      <a:pt x="36" y="26"/>
                      <a:pt x="36" y="26"/>
                    </a:cubicBezTo>
                    <a:cubicBezTo>
                      <a:pt x="36" y="27"/>
                      <a:pt x="35" y="28"/>
                      <a:pt x="34" y="28"/>
                    </a:cubicBezTo>
                    <a:close/>
                    <a:moveTo>
                      <a:pt x="4" y="24"/>
                    </a:moveTo>
                    <a:cubicBezTo>
                      <a:pt x="32" y="24"/>
                      <a:pt x="32" y="24"/>
                      <a:pt x="32" y="24"/>
                    </a:cubicBezTo>
                    <a:cubicBezTo>
                      <a:pt x="32" y="4"/>
                      <a:pt x="32" y="4"/>
                      <a:pt x="32" y="4"/>
                    </a:cubicBezTo>
                    <a:cubicBezTo>
                      <a:pt x="4" y="4"/>
                      <a:pt x="4" y="4"/>
                      <a:pt x="4" y="4"/>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795">
                <a:extLst>
                  <a:ext uri="{FF2B5EF4-FFF2-40B4-BE49-F238E27FC236}">
                    <a16:creationId xmlns:a16="http://schemas.microsoft.com/office/drawing/2014/main" id="{F2202E50-3852-0566-ADE9-7C6C28E8BA1C}"/>
                  </a:ext>
                </a:extLst>
              </p:cNvPr>
              <p:cNvSpPr>
                <a:spLocks noEditPoints="1"/>
              </p:cNvSpPr>
              <p:nvPr/>
            </p:nvSpPr>
            <p:spPr bwMode="auto">
              <a:xfrm>
                <a:off x="2881313" y="1277938"/>
                <a:ext cx="88900" cy="150813"/>
              </a:xfrm>
              <a:custGeom>
                <a:avLst/>
                <a:gdLst>
                  <a:gd name="T0" fmla="*/ 22 w 24"/>
                  <a:gd name="T1" fmla="*/ 40 h 40"/>
                  <a:gd name="T2" fmla="*/ 2 w 24"/>
                  <a:gd name="T3" fmla="*/ 40 h 40"/>
                  <a:gd name="T4" fmla="*/ 0 w 24"/>
                  <a:gd name="T5" fmla="*/ 38 h 40"/>
                  <a:gd name="T6" fmla="*/ 0 w 24"/>
                  <a:gd name="T7" fmla="*/ 2 h 40"/>
                  <a:gd name="T8" fmla="*/ 2 w 24"/>
                  <a:gd name="T9" fmla="*/ 0 h 40"/>
                  <a:gd name="T10" fmla="*/ 22 w 24"/>
                  <a:gd name="T11" fmla="*/ 0 h 40"/>
                  <a:gd name="T12" fmla="*/ 24 w 24"/>
                  <a:gd name="T13" fmla="*/ 2 h 40"/>
                  <a:gd name="T14" fmla="*/ 24 w 24"/>
                  <a:gd name="T15" fmla="*/ 38 h 40"/>
                  <a:gd name="T16" fmla="*/ 22 w 24"/>
                  <a:gd name="T17" fmla="*/ 40 h 40"/>
                  <a:gd name="T18" fmla="*/ 4 w 24"/>
                  <a:gd name="T19" fmla="*/ 36 h 40"/>
                  <a:gd name="T20" fmla="*/ 20 w 24"/>
                  <a:gd name="T21" fmla="*/ 36 h 40"/>
                  <a:gd name="T22" fmla="*/ 20 w 24"/>
                  <a:gd name="T23" fmla="*/ 4 h 40"/>
                  <a:gd name="T24" fmla="*/ 4 w 24"/>
                  <a:gd name="T25" fmla="*/ 4 h 40"/>
                  <a:gd name="T26" fmla="*/ 4 w 24"/>
                  <a:gd name="T27"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40">
                    <a:moveTo>
                      <a:pt x="22" y="40"/>
                    </a:moveTo>
                    <a:cubicBezTo>
                      <a:pt x="2" y="40"/>
                      <a:pt x="2" y="40"/>
                      <a:pt x="2" y="40"/>
                    </a:cubicBezTo>
                    <a:cubicBezTo>
                      <a:pt x="1" y="40"/>
                      <a:pt x="0" y="39"/>
                      <a:pt x="0" y="38"/>
                    </a:cubicBezTo>
                    <a:cubicBezTo>
                      <a:pt x="0" y="2"/>
                      <a:pt x="0" y="2"/>
                      <a:pt x="0" y="2"/>
                    </a:cubicBezTo>
                    <a:cubicBezTo>
                      <a:pt x="0" y="1"/>
                      <a:pt x="1" y="0"/>
                      <a:pt x="2" y="0"/>
                    </a:cubicBezTo>
                    <a:cubicBezTo>
                      <a:pt x="22" y="0"/>
                      <a:pt x="22" y="0"/>
                      <a:pt x="22" y="0"/>
                    </a:cubicBezTo>
                    <a:cubicBezTo>
                      <a:pt x="23" y="0"/>
                      <a:pt x="24" y="1"/>
                      <a:pt x="24" y="2"/>
                    </a:cubicBezTo>
                    <a:cubicBezTo>
                      <a:pt x="24" y="38"/>
                      <a:pt x="24" y="38"/>
                      <a:pt x="24" y="38"/>
                    </a:cubicBezTo>
                    <a:cubicBezTo>
                      <a:pt x="24" y="39"/>
                      <a:pt x="23" y="40"/>
                      <a:pt x="22" y="40"/>
                    </a:cubicBezTo>
                    <a:close/>
                    <a:moveTo>
                      <a:pt x="4" y="36"/>
                    </a:moveTo>
                    <a:cubicBezTo>
                      <a:pt x="20" y="36"/>
                      <a:pt x="20" y="36"/>
                      <a:pt x="20" y="36"/>
                    </a:cubicBezTo>
                    <a:cubicBezTo>
                      <a:pt x="20" y="4"/>
                      <a:pt x="20" y="4"/>
                      <a:pt x="20" y="4"/>
                    </a:cubicBezTo>
                    <a:cubicBezTo>
                      <a:pt x="4" y="4"/>
                      <a:pt x="4" y="4"/>
                      <a:pt x="4" y="4"/>
                    </a:cubicBezTo>
                    <a:lnTo>
                      <a:pt x="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Freeform 796">
                <a:extLst>
                  <a:ext uri="{FF2B5EF4-FFF2-40B4-BE49-F238E27FC236}">
                    <a16:creationId xmlns:a16="http://schemas.microsoft.com/office/drawing/2014/main" id="{371606AB-1D0C-098A-AA39-B80C85B29EA7}"/>
                  </a:ext>
                </a:extLst>
              </p:cNvPr>
              <p:cNvSpPr>
                <a:spLocks noEditPoints="1"/>
              </p:cNvSpPr>
              <p:nvPr/>
            </p:nvSpPr>
            <p:spPr bwMode="auto">
              <a:xfrm>
                <a:off x="2670175" y="1112838"/>
                <a:ext cx="360363" cy="74613"/>
              </a:xfrm>
              <a:custGeom>
                <a:avLst/>
                <a:gdLst>
                  <a:gd name="T0" fmla="*/ 94 w 96"/>
                  <a:gd name="T1" fmla="*/ 20 h 20"/>
                  <a:gd name="T2" fmla="*/ 2 w 96"/>
                  <a:gd name="T3" fmla="*/ 20 h 20"/>
                  <a:gd name="T4" fmla="*/ 0 w 96"/>
                  <a:gd name="T5" fmla="*/ 19 h 20"/>
                  <a:gd name="T6" fmla="*/ 0 w 96"/>
                  <a:gd name="T7" fmla="*/ 17 h 20"/>
                  <a:gd name="T8" fmla="*/ 8 w 96"/>
                  <a:gd name="T9" fmla="*/ 1 h 20"/>
                  <a:gd name="T10" fmla="*/ 10 w 96"/>
                  <a:gd name="T11" fmla="*/ 0 h 20"/>
                  <a:gd name="T12" fmla="*/ 86 w 96"/>
                  <a:gd name="T13" fmla="*/ 0 h 20"/>
                  <a:gd name="T14" fmla="*/ 88 w 96"/>
                  <a:gd name="T15" fmla="*/ 1 h 20"/>
                  <a:gd name="T16" fmla="*/ 96 w 96"/>
                  <a:gd name="T17" fmla="*/ 17 h 20"/>
                  <a:gd name="T18" fmla="*/ 96 w 96"/>
                  <a:gd name="T19" fmla="*/ 19 h 20"/>
                  <a:gd name="T20" fmla="*/ 94 w 96"/>
                  <a:gd name="T21" fmla="*/ 20 h 20"/>
                  <a:gd name="T22" fmla="*/ 5 w 96"/>
                  <a:gd name="T23" fmla="*/ 16 h 20"/>
                  <a:gd name="T24" fmla="*/ 91 w 96"/>
                  <a:gd name="T25" fmla="*/ 16 h 20"/>
                  <a:gd name="T26" fmla="*/ 85 w 96"/>
                  <a:gd name="T27" fmla="*/ 4 h 20"/>
                  <a:gd name="T28" fmla="*/ 11 w 96"/>
                  <a:gd name="T29" fmla="*/ 4 h 20"/>
                  <a:gd name="T30" fmla="*/ 5 w 96"/>
                  <a:gd name="T3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6" h="20">
                    <a:moveTo>
                      <a:pt x="94" y="20"/>
                    </a:moveTo>
                    <a:cubicBezTo>
                      <a:pt x="2" y="20"/>
                      <a:pt x="2" y="20"/>
                      <a:pt x="2" y="20"/>
                    </a:cubicBezTo>
                    <a:cubicBezTo>
                      <a:pt x="1" y="20"/>
                      <a:pt x="1" y="20"/>
                      <a:pt x="0" y="19"/>
                    </a:cubicBezTo>
                    <a:cubicBezTo>
                      <a:pt x="0" y="18"/>
                      <a:pt x="0" y="18"/>
                      <a:pt x="0" y="17"/>
                    </a:cubicBezTo>
                    <a:cubicBezTo>
                      <a:pt x="8" y="1"/>
                      <a:pt x="8" y="1"/>
                      <a:pt x="8" y="1"/>
                    </a:cubicBezTo>
                    <a:cubicBezTo>
                      <a:pt x="9" y="0"/>
                      <a:pt x="9" y="0"/>
                      <a:pt x="10" y="0"/>
                    </a:cubicBezTo>
                    <a:cubicBezTo>
                      <a:pt x="86" y="0"/>
                      <a:pt x="86" y="0"/>
                      <a:pt x="86" y="0"/>
                    </a:cubicBezTo>
                    <a:cubicBezTo>
                      <a:pt x="87" y="0"/>
                      <a:pt x="87" y="0"/>
                      <a:pt x="88" y="1"/>
                    </a:cubicBezTo>
                    <a:cubicBezTo>
                      <a:pt x="96" y="17"/>
                      <a:pt x="96" y="17"/>
                      <a:pt x="96" y="17"/>
                    </a:cubicBezTo>
                    <a:cubicBezTo>
                      <a:pt x="96" y="18"/>
                      <a:pt x="96" y="18"/>
                      <a:pt x="96" y="19"/>
                    </a:cubicBezTo>
                    <a:cubicBezTo>
                      <a:pt x="95" y="20"/>
                      <a:pt x="95" y="20"/>
                      <a:pt x="94" y="20"/>
                    </a:cubicBezTo>
                    <a:close/>
                    <a:moveTo>
                      <a:pt x="5" y="16"/>
                    </a:moveTo>
                    <a:cubicBezTo>
                      <a:pt x="91" y="16"/>
                      <a:pt x="91" y="16"/>
                      <a:pt x="91" y="16"/>
                    </a:cubicBezTo>
                    <a:cubicBezTo>
                      <a:pt x="85" y="4"/>
                      <a:pt x="85" y="4"/>
                      <a:pt x="85" y="4"/>
                    </a:cubicBezTo>
                    <a:cubicBezTo>
                      <a:pt x="11" y="4"/>
                      <a:pt x="11" y="4"/>
                      <a:pt x="11" y="4"/>
                    </a:cubicBezTo>
                    <a:lnTo>
                      <a:pt x="5"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Freeform 797">
                <a:extLst>
                  <a:ext uri="{FF2B5EF4-FFF2-40B4-BE49-F238E27FC236}">
                    <a16:creationId xmlns:a16="http://schemas.microsoft.com/office/drawing/2014/main" id="{7DEC87CE-51F7-820E-8C9E-4EBDB6981BC6}"/>
                  </a:ext>
                </a:extLst>
              </p:cNvPr>
              <p:cNvSpPr>
                <a:spLocks noEditPoints="1"/>
              </p:cNvSpPr>
              <p:nvPr/>
            </p:nvSpPr>
            <p:spPr bwMode="auto">
              <a:xfrm>
                <a:off x="2670175" y="1173163"/>
                <a:ext cx="360363" cy="90488"/>
              </a:xfrm>
              <a:custGeom>
                <a:avLst/>
                <a:gdLst>
                  <a:gd name="T0" fmla="*/ 60 w 96"/>
                  <a:gd name="T1" fmla="*/ 24 h 24"/>
                  <a:gd name="T2" fmla="*/ 48 w 96"/>
                  <a:gd name="T3" fmla="*/ 19 h 24"/>
                  <a:gd name="T4" fmla="*/ 36 w 96"/>
                  <a:gd name="T5" fmla="*/ 24 h 24"/>
                  <a:gd name="T6" fmla="*/ 22 w 96"/>
                  <a:gd name="T7" fmla="*/ 17 h 24"/>
                  <a:gd name="T8" fmla="*/ 14 w 96"/>
                  <a:gd name="T9" fmla="*/ 20 h 24"/>
                  <a:gd name="T10" fmla="*/ 0 w 96"/>
                  <a:gd name="T11" fmla="*/ 6 h 24"/>
                  <a:gd name="T12" fmla="*/ 0 w 96"/>
                  <a:gd name="T13" fmla="*/ 2 h 24"/>
                  <a:gd name="T14" fmla="*/ 2 w 96"/>
                  <a:gd name="T15" fmla="*/ 0 h 24"/>
                  <a:gd name="T16" fmla="*/ 94 w 96"/>
                  <a:gd name="T17" fmla="*/ 0 h 24"/>
                  <a:gd name="T18" fmla="*/ 96 w 96"/>
                  <a:gd name="T19" fmla="*/ 2 h 24"/>
                  <a:gd name="T20" fmla="*/ 96 w 96"/>
                  <a:gd name="T21" fmla="*/ 6 h 24"/>
                  <a:gd name="T22" fmla="*/ 82 w 96"/>
                  <a:gd name="T23" fmla="*/ 20 h 24"/>
                  <a:gd name="T24" fmla="*/ 74 w 96"/>
                  <a:gd name="T25" fmla="*/ 17 h 24"/>
                  <a:gd name="T26" fmla="*/ 60 w 96"/>
                  <a:gd name="T27" fmla="*/ 24 h 24"/>
                  <a:gd name="T28" fmla="*/ 48 w 96"/>
                  <a:gd name="T29" fmla="*/ 15 h 24"/>
                  <a:gd name="T30" fmla="*/ 50 w 96"/>
                  <a:gd name="T31" fmla="*/ 15 h 24"/>
                  <a:gd name="T32" fmla="*/ 60 w 96"/>
                  <a:gd name="T33" fmla="*/ 20 h 24"/>
                  <a:gd name="T34" fmla="*/ 72 w 96"/>
                  <a:gd name="T35" fmla="*/ 13 h 24"/>
                  <a:gd name="T36" fmla="*/ 74 w 96"/>
                  <a:gd name="T37" fmla="*/ 12 h 24"/>
                  <a:gd name="T38" fmla="*/ 75 w 96"/>
                  <a:gd name="T39" fmla="*/ 13 h 24"/>
                  <a:gd name="T40" fmla="*/ 82 w 96"/>
                  <a:gd name="T41" fmla="*/ 16 h 24"/>
                  <a:gd name="T42" fmla="*/ 92 w 96"/>
                  <a:gd name="T43" fmla="*/ 6 h 24"/>
                  <a:gd name="T44" fmla="*/ 92 w 96"/>
                  <a:gd name="T45" fmla="*/ 4 h 24"/>
                  <a:gd name="T46" fmla="*/ 4 w 96"/>
                  <a:gd name="T47" fmla="*/ 4 h 24"/>
                  <a:gd name="T48" fmla="*/ 4 w 96"/>
                  <a:gd name="T49" fmla="*/ 6 h 24"/>
                  <a:gd name="T50" fmla="*/ 14 w 96"/>
                  <a:gd name="T51" fmla="*/ 16 h 24"/>
                  <a:gd name="T52" fmla="*/ 21 w 96"/>
                  <a:gd name="T53" fmla="*/ 13 h 24"/>
                  <a:gd name="T54" fmla="*/ 22 w 96"/>
                  <a:gd name="T55" fmla="*/ 12 h 24"/>
                  <a:gd name="T56" fmla="*/ 24 w 96"/>
                  <a:gd name="T57" fmla="*/ 13 h 24"/>
                  <a:gd name="T58" fmla="*/ 36 w 96"/>
                  <a:gd name="T59" fmla="*/ 20 h 24"/>
                  <a:gd name="T60" fmla="*/ 47 w 96"/>
                  <a:gd name="T61" fmla="*/ 15 h 24"/>
                  <a:gd name="T62" fmla="*/ 48 w 96"/>
                  <a:gd name="T6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24">
                    <a:moveTo>
                      <a:pt x="60" y="24"/>
                    </a:moveTo>
                    <a:cubicBezTo>
                      <a:pt x="56" y="24"/>
                      <a:pt x="51" y="22"/>
                      <a:pt x="48" y="19"/>
                    </a:cubicBezTo>
                    <a:cubicBezTo>
                      <a:pt x="45" y="22"/>
                      <a:pt x="40" y="24"/>
                      <a:pt x="36" y="24"/>
                    </a:cubicBezTo>
                    <a:cubicBezTo>
                      <a:pt x="31" y="24"/>
                      <a:pt x="25" y="21"/>
                      <a:pt x="22" y="17"/>
                    </a:cubicBezTo>
                    <a:cubicBezTo>
                      <a:pt x="20" y="19"/>
                      <a:pt x="17" y="20"/>
                      <a:pt x="14" y="20"/>
                    </a:cubicBezTo>
                    <a:cubicBezTo>
                      <a:pt x="6" y="20"/>
                      <a:pt x="0" y="14"/>
                      <a:pt x="0" y="6"/>
                    </a:cubicBezTo>
                    <a:cubicBezTo>
                      <a:pt x="0" y="2"/>
                      <a:pt x="0" y="2"/>
                      <a:pt x="0" y="2"/>
                    </a:cubicBezTo>
                    <a:cubicBezTo>
                      <a:pt x="0" y="1"/>
                      <a:pt x="1" y="0"/>
                      <a:pt x="2" y="0"/>
                    </a:cubicBezTo>
                    <a:cubicBezTo>
                      <a:pt x="94" y="0"/>
                      <a:pt x="94" y="0"/>
                      <a:pt x="94" y="0"/>
                    </a:cubicBezTo>
                    <a:cubicBezTo>
                      <a:pt x="95" y="0"/>
                      <a:pt x="96" y="1"/>
                      <a:pt x="96" y="2"/>
                    </a:cubicBezTo>
                    <a:cubicBezTo>
                      <a:pt x="96" y="6"/>
                      <a:pt x="96" y="6"/>
                      <a:pt x="96" y="6"/>
                    </a:cubicBezTo>
                    <a:cubicBezTo>
                      <a:pt x="96" y="14"/>
                      <a:pt x="90" y="20"/>
                      <a:pt x="82" y="20"/>
                    </a:cubicBezTo>
                    <a:cubicBezTo>
                      <a:pt x="79" y="20"/>
                      <a:pt x="76" y="19"/>
                      <a:pt x="74" y="17"/>
                    </a:cubicBezTo>
                    <a:cubicBezTo>
                      <a:pt x="71" y="21"/>
                      <a:pt x="65" y="24"/>
                      <a:pt x="60" y="24"/>
                    </a:cubicBezTo>
                    <a:close/>
                    <a:moveTo>
                      <a:pt x="48" y="15"/>
                    </a:moveTo>
                    <a:cubicBezTo>
                      <a:pt x="49" y="15"/>
                      <a:pt x="49" y="15"/>
                      <a:pt x="50" y="15"/>
                    </a:cubicBezTo>
                    <a:cubicBezTo>
                      <a:pt x="52" y="18"/>
                      <a:pt x="56" y="20"/>
                      <a:pt x="60" y="20"/>
                    </a:cubicBezTo>
                    <a:cubicBezTo>
                      <a:pt x="65" y="20"/>
                      <a:pt x="70" y="17"/>
                      <a:pt x="72" y="13"/>
                    </a:cubicBezTo>
                    <a:cubicBezTo>
                      <a:pt x="73" y="12"/>
                      <a:pt x="73" y="12"/>
                      <a:pt x="74" y="12"/>
                    </a:cubicBezTo>
                    <a:cubicBezTo>
                      <a:pt x="74" y="12"/>
                      <a:pt x="75" y="12"/>
                      <a:pt x="75" y="13"/>
                    </a:cubicBezTo>
                    <a:cubicBezTo>
                      <a:pt x="78" y="15"/>
                      <a:pt x="80" y="16"/>
                      <a:pt x="82" y="16"/>
                    </a:cubicBezTo>
                    <a:cubicBezTo>
                      <a:pt x="88" y="16"/>
                      <a:pt x="92" y="12"/>
                      <a:pt x="92" y="6"/>
                    </a:cubicBezTo>
                    <a:cubicBezTo>
                      <a:pt x="92" y="4"/>
                      <a:pt x="92" y="4"/>
                      <a:pt x="92" y="4"/>
                    </a:cubicBezTo>
                    <a:cubicBezTo>
                      <a:pt x="4" y="4"/>
                      <a:pt x="4" y="4"/>
                      <a:pt x="4" y="4"/>
                    </a:cubicBezTo>
                    <a:cubicBezTo>
                      <a:pt x="4" y="6"/>
                      <a:pt x="4" y="6"/>
                      <a:pt x="4" y="6"/>
                    </a:cubicBezTo>
                    <a:cubicBezTo>
                      <a:pt x="4" y="12"/>
                      <a:pt x="8" y="16"/>
                      <a:pt x="14" y="16"/>
                    </a:cubicBezTo>
                    <a:cubicBezTo>
                      <a:pt x="16" y="16"/>
                      <a:pt x="18" y="15"/>
                      <a:pt x="21" y="13"/>
                    </a:cubicBezTo>
                    <a:cubicBezTo>
                      <a:pt x="21" y="12"/>
                      <a:pt x="22" y="12"/>
                      <a:pt x="22" y="12"/>
                    </a:cubicBezTo>
                    <a:cubicBezTo>
                      <a:pt x="23" y="12"/>
                      <a:pt x="23" y="12"/>
                      <a:pt x="24" y="13"/>
                    </a:cubicBezTo>
                    <a:cubicBezTo>
                      <a:pt x="26" y="17"/>
                      <a:pt x="31" y="20"/>
                      <a:pt x="36" y="20"/>
                    </a:cubicBezTo>
                    <a:cubicBezTo>
                      <a:pt x="40" y="20"/>
                      <a:pt x="44" y="18"/>
                      <a:pt x="47" y="15"/>
                    </a:cubicBezTo>
                    <a:cubicBezTo>
                      <a:pt x="47" y="15"/>
                      <a:pt x="47" y="15"/>
                      <a:pt x="4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Freeform 798">
                <a:extLst>
                  <a:ext uri="{FF2B5EF4-FFF2-40B4-BE49-F238E27FC236}">
                    <a16:creationId xmlns:a16="http://schemas.microsoft.com/office/drawing/2014/main" id="{0CD8814D-3B0B-99D0-65C5-9F180AC73D78}"/>
                  </a:ext>
                </a:extLst>
              </p:cNvPr>
              <p:cNvSpPr>
                <a:spLocks/>
              </p:cNvSpPr>
              <p:nvPr/>
            </p:nvSpPr>
            <p:spPr bwMode="auto">
              <a:xfrm>
                <a:off x="2744788" y="1112838"/>
                <a:ext cx="30163" cy="120650"/>
              </a:xfrm>
              <a:custGeom>
                <a:avLst/>
                <a:gdLst>
                  <a:gd name="T0" fmla="*/ 2 w 8"/>
                  <a:gd name="T1" fmla="*/ 32 h 32"/>
                  <a:gd name="T2" fmla="*/ 0 w 8"/>
                  <a:gd name="T3" fmla="*/ 30 h 32"/>
                  <a:gd name="T4" fmla="*/ 0 w 8"/>
                  <a:gd name="T5" fmla="*/ 18 h 32"/>
                  <a:gd name="T6" fmla="*/ 0 w 8"/>
                  <a:gd name="T7" fmla="*/ 18 h 32"/>
                  <a:gd name="T8" fmla="*/ 4 w 8"/>
                  <a:gd name="T9" fmla="*/ 2 h 32"/>
                  <a:gd name="T10" fmla="*/ 6 w 8"/>
                  <a:gd name="T11" fmla="*/ 0 h 32"/>
                  <a:gd name="T12" fmla="*/ 8 w 8"/>
                  <a:gd name="T13" fmla="*/ 2 h 32"/>
                  <a:gd name="T14" fmla="*/ 4 w 8"/>
                  <a:gd name="T15" fmla="*/ 18 h 32"/>
                  <a:gd name="T16" fmla="*/ 4 w 8"/>
                  <a:gd name="T17" fmla="*/ 30 h 32"/>
                  <a:gd name="T18" fmla="*/ 2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2" y="32"/>
                    </a:moveTo>
                    <a:cubicBezTo>
                      <a:pt x="1" y="32"/>
                      <a:pt x="0" y="31"/>
                      <a:pt x="0" y="30"/>
                    </a:cubicBezTo>
                    <a:cubicBezTo>
                      <a:pt x="0" y="18"/>
                      <a:pt x="0" y="18"/>
                      <a:pt x="0" y="18"/>
                    </a:cubicBezTo>
                    <a:cubicBezTo>
                      <a:pt x="0" y="18"/>
                      <a:pt x="0" y="18"/>
                      <a:pt x="0" y="18"/>
                    </a:cubicBezTo>
                    <a:cubicBezTo>
                      <a:pt x="4" y="2"/>
                      <a:pt x="4" y="2"/>
                      <a:pt x="4" y="2"/>
                    </a:cubicBezTo>
                    <a:cubicBezTo>
                      <a:pt x="4" y="0"/>
                      <a:pt x="5" y="0"/>
                      <a:pt x="6" y="0"/>
                    </a:cubicBezTo>
                    <a:cubicBezTo>
                      <a:pt x="8" y="0"/>
                      <a:pt x="8" y="1"/>
                      <a:pt x="8" y="2"/>
                    </a:cubicBezTo>
                    <a:cubicBezTo>
                      <a:pt x="4" y="18"/>
                      <a:pt x="4" y="18"/>
                      <a:pt x="4" y="18"/>
                    </a:cubicBezTo>
                    <a:cubicBezTo>
                      <a:pt x="4" y="30"/>
                      <a:pt x="4" y="30"/>
                      <a:pt x="4" y="30"/>
                    </a:cubicBezTo>
                    <a:cubicBezTo>
                      <a:pt x="4" y="31"/>
                      <a:pt x="3" y="32"/>
                      <a:pt x="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Freeform 799">
                <a:extLst>
                  <a:ext uri="{FF2B5EF4-FFF2-40B4-BE49-F238E27FC236}">
                    <a16:creationId xmlns:a16="http://schemas.microsoft.com/office/drawing/2014/main" id="{C7E0ED21-A89B-0851-3CA5-34A03D557317}"/>
                  </a:ext>
                </a:extLst>
              </p:cNvPr>
              <p:cNvSpPr>
                <a:spLocks/>
              </p:cNvSpPr>
              <p:nvPr/>
            </p:nvSpPr>
            <p:spPr bwMode="auto">
              <a:xfrm>
                <a:off x="2843213" y="1112838"/>
                <a:ext cx="14288" cy="131763"/>
              </a:xfrm>
              <a:custGeom>
                <a:avLst/>
                <a:gdLst>
                  <a:gd name="T0" fmla="*/ 2 w 4"/>
                  <a:gd name="T1" fmla="*/ 35 h 35"/>
                  <a:gd name="T2" fmla="*/ 0 w 4"/>
                  <a:gd name="T3" fmla="*/ 33 h 35"/>
                  <a:gd name="T4" fmla="*/ 0 w 4"/>
                  <a:gd name="T5" fmla="*/ 2 h 35"/>
                  <a:gd name="T6" fmla="*/ 2 w 4"/>
                  <a:gd name="T7" fmla="*/ 0 h 35"/>
                  <a:gd name="T8" fmla="*/ 4 w 4"/>
                  <a:gd name="T9" fmla="*/ 2 h 35"/>
                  <a:gd name="T10" fmla="*/ 4 w 4"/>
                  <a:gd name="T11" fmla="*/ 33 h 35"/>
                  <a:gd name="T12" fmla="*/ 2 w 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4" h="35">
                    <a:moveTo>
                      <a:pt x="2" y="35"/>
                    </a:moveTo>
                    <a:cubicBezTo>
                      <a:pt x="1" y="35"/>
                      <a:pt x="0" y="34"/>
                      <a:pt x="0" y="33"/>
                    </a:cubicBezTo>
                    <a:cubicBezTo>
                      <a:pt x="0" y="2"/>
                      <a:pt x="0" y="2"/>
                      <a:pt x="0" y="2"/>
                    </a:cubicBezTo>
                    <a:cubicBezTo>
                      <a:pt x="0" y="1"/>
                      <a:pt x="1" y="0"/>
                      <a:pt x="2" y="0"/>
                    </a:cubicBezTo>
                    <a:cubicBezTo>
                      <a:pt x="3" y="0"/>
                      <a:pt x="4" y="1"/>
                      <a:pt x="4" y="2"/>
                    </a:cubicBezTo>
                    <a:cubicBezTo>
                      <a:pt x="4" y="33"/>
                      <a:pt x="4" y="33"/>
                      <a:pt x="4" y="33"/>
                    </a:cubicBezTo>
                    <a:cubicBezTo>
                      <a:pt x="4" y="34"/>
                      <a:pt x="3" y="35"/>
                      <a:pt x="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Freeform 800">
                <a:extLst>
                  <a:ext uri="{FF2B5EF4-FFF2-40B4-BE49-F238E27FC236}">
                    <a16:creationId xmlns:a16="http://schemas.microsoft.com/office/drawing/2014/main" id="{C6878618-9E5C-4B88-6FAC-F804086E1C13}"/>
                  </a:ext>
                </a:extLst>
              </p:cNvPr>
              <p:cNvSpPr>
                <a:spLocks/>
              </p:cNvSpPr>
              <p:nvPr/>
            </p:nvSpPr>
            <p:spPr bwMode="auto">
              <a:xfrm>
                <a:off x="2925763" y="1112838"/>
                <a:ext cx="30163" cy="120650"/>
              </a:xfrm>
              <a:custGeom>
                <a:avLst/>
                <a:gdLst>
                  <a:gd name="T0" fmla="*/ 6 w 8"/>
                  <a:gd name="T1" fmla="*/ 32 h 32"/>
                  <a:gd name="T2" fmla="*/ 4 w 8"/>
                  <a:gd name="T3" fmla="*/ 30 h 32"/>
                  <a:gd name="T4" fmla="*/ 4 w 8"/>
                  <a:gd name="T5" fmla="*/ 18 h 32"/>
                  <a:gd name="T6" fmla="*/ 0 w 8"/>
                  <a:gd name="T7" fmla="*/ 2 h 32"/>
                  <a:gd name="T8" fmla="*/ 2 w 8"/>
                  <a:gd name="T9" fmla="*/ 0 h 32"/>
                  <a:gd name="T10" fmla="*/ 4 w 8"/>
                  <a:gd name="T11" fmla="*/ 2 h 32"/>
                  <a:gd name="T12" fmla="*/ 8 w 8"/>
                  <a:gd name="T13" fmla="*/ 18 h 32"/>
                  <a:gd name="T14" fmla="*/ 8 w 8"/>
                  <a:gd name="T15" fmla="*/ 18 h 32"/>
                  <a:gd name="T16" fmla="*/ 8 w 8"/>
                  <a:gd name="T17" fmla="*/ 30 h 32"/>
                  <a:gd name="T18" fmla="*/ 6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6" y="32"/>
                    </a:moveTo>
                    <a:cubicBezTo>
                      <a:pt x="5" y="32"/>
                      <a:pt x="4" y="31"/>
                      <a:pt x="4" y="30"/>
                    </a:cubicBezTo>
                    <a:cubicBezTo>
                      <a:pt x="4" y="18"/>
                      <a:pt x="4" y="18"/>
                      <a:pt x="4" y="18"/>
                    </a:cubicBezTo>
                    <a:cubicBezTo>
                      <a:pt x="0" y="2"/>
                      <a:pt x="0" y="2"/>
                      <a:pt x="0" y="2"/>
                    </a:cubicBezTo>
                    <a:cubicBezTo>
                      <a:pt x="0" y="1"/>
                      <a:pt x="0" y="0"/>
                      <a:pt x="2" y="0"/>
                    </a:cubicBezTo>
                    <a:cubicBezTo>
                      <a:pt x="3" y="0"/>
                      <a:pt x="4" y="0"/>
                      <a:pt x="4" y="2"/>
                    </a:cubicBezTo>
                    <a:cubicBezTo>
                      <a:pt x="8" y="18"/>
                      <a:pt x="8" y="18"/>
                      <a:pt x="8" y="18"/>
                    </a:cubicBezTo>
                    <a:cubicBezTo>
                      <a:pt x="8" y="18"/>
                      <a:pt x="8" y="18"/>
                      <a:pt x="8" y="18"/>
                    </a:cubicBezTo>
                    <a:cubicBezTo>
                      <a:pt x="8" y="30"/>
                      <a:pt x="8" y="30"/>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Oval 801">
                <a:extLst>
                  <a:ext uri="{FF2B5EF4-FFF2-40B4-BE49-F238E27FC236}">
                    <a16:creationId xmlns:a16="http://schemas.microsoft.com/office/drawing/2014/main" id="{935686E3-16D8-D027-AC34-FCB16FE6E5B3}"/>
                  </a:ext>
                </a:extLst>
              </p:cNvPr>
              <p:cNvSpPr>
                <a:spLocks noChangeArrowheads="1"/>
              </p:cNvSpPr>
              <p:nvPr/>
            </p:nvSpPr>
            <p:spPr bwMode="auto">
              <a:xfrm>
                <a:off x="2925763" y="1354138"/>
                <a:ext cx="14288" cy="142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85" name="Text Placeholder 2">
              <a:extLst>
                <a:ext uri="{FF2B5EF4-FFF2-40B4-BE49-F238E27FC236}">
                  <a16:creationId xmlns:a16="http://schemas.microsoft.com/office/drawing/2014/main" id="{8A0FB597-0198-CDA4-780D-9AB474ADDCBB}"/>
                </a:ext>
              </a:extLst>
            </p:cNvPr>
            <p:cNvSpPr txBox="1">
              <a:spLocks/>
            </p:cNvSpPr>
            <p:nvPr/>
          </p:nvSpPr>
          <p:spPr>
            <a:xfrm>
              <a:off x="7944126" y="2299878"/>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achieve 10% month-on-month sales growth across revenue lines.</a:t>
              </a:r>
            </a:p>
          </p:txBody>
        </p:sp>
      </p:grpSp>
      <p:sp>
        <p:nvSpPr>
          <p:cNvPr id="83" name="Text Placeholder 2">
            <a:extLst>
              <a:ext uri="{FF2B5EF4-FFF2-40B4-BE49-F238E27FC236}">
                <a16:creationId xmlns:a16="http://schemas.microsoft.com/office/drawing/2014/main" id="{B0BA935F-A860-A5CD-2AD5-0B0D384C39E7}"/>
              </a:ext>
            </a:extLst>
          </p:cNvPr>
          <p:cNvSpPr txBox="1">
            <a:spLocks/>
          </p:cNvSpPr>
          <p:nvPr/>
        </p:nvSpPr>
        <p:spPr>
          <a:xfrm>
            <a:off x="7944126" y="3435790"/>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increase the revenue by 20% by year end 2025</a:t>
            </a:r>
          </a:p>
        </p:txBody>
      </p:sp>
      <p:sp>
        <p:nvSpPr>
          <p:cNvPr id="84" name="Text Placeholder 2">
            <a:extLst>
              <a:ext uri="{FF2B5EF4-FFF2-40B4-BE49-F238E27FC236}">
                <a16:creationId xmlns:a16="http://schemas.microsoft.com/office/drawing/2014/main" id="{56549306-69B1-6AAD-8A61-0A66EE6504FC}"/>
              </a:ext>
            </a:extLst>
          </p:cNvPr>
          <p:cNvSpPr txBox="1">
            <a:spLocks/>
          </p:cNvSpPr>
          <p:nvPr/>
        </p:nvSpPr>
        <p:spPr>
          <a:xfrm>
            <a:off x="7944126" y="4520319"/>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grow the client base from by 50% by end of 2025</a:t>
            </a:r>
          </a:p>
          <a:p>
            <a:pPr algn="ctr">
              <a:lnSpc>
                <a:spcPct val="100000"/>
              </a:lnSpc>
            </a:pPr>
            <a:endParaRPr lang="en-US" sz="1400" b="1" dirty="0">
              <a:solidFill>
                <a:srgbClr val="114A5E"/>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259348164"/>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1142-9268-3178-2F1C-B3014106C490}"/>
              </a:ext>
            </a:extLst>
          </p:cNvPr>
          <p:cNvSpPr>
            <a:spLocks noGrp="1"/>
          </p:cNvSpPr>
          <p:nvPr>
            <p:ph type="title"/>
          </p:nvPr>
        </p:nvSpPr>
        <p:spPr/>
        <p:txBody>
          <a:bodyPr/>
          <a:lstStyle/>
          <a:p>
            <a:r>
              <a:rPr lang="en-US" dirty="0"/>
              <a:t>Business Objectives ; MEDADVISORY  </a:t>
            </a:r>
            <a:endParaRPr lang="aa-ET" dirty="0"/>
          </a:p>
        </p:txBody>
      </p:sp>
      <p:sp>
        <p:nvSpPr>
          <p:cNvPr id="4" name="Slide Number Placeholder 3">
            <a:extLst>
              <a:ext uri="{FF2B5EF4-FFF2-40B4-BE49-F238E27FC236}">
                <a16:creationId xmlns:a16="http://schemas.microsoft.com/office/drawing/2014/main" id="{5502FC75-B2FD-E6A3-3A36-593865FC713D}"/>
              </a:ext>
            </a:extLst>
          </p:cNvPr>
          <p:cNvSpPr>
            <a:spLocks noGrp="1"/>
          </p:cNvSpPr>
          <p:nvPr>
            <p:ph type="sldNum" sz="quarter" idx="12"/>
          </p:nvPr>
        </p:nvSpPr>
        <p:spPr/>
        <p:txBody>
          <a:bodyPr/>
          <a:lstStyle/>
          <a:p>
            <a:fld id="{88DB5A6F-883B-4080-A811-FB5B8D05AFA3}" type="slidenum">
              <a:rPr lang="en-GB" smtClean="0"/>
              <a:pPr/>
              <a:t>30</a:t>
            </a:fld>
            <a:endParaRPr lang="en-GB" dirty="0"/>
          </a:p>
        </p:txBody>
      </p:sp>
      <p:grpSp>
        <p:nvGrpSpPr>
          <p:cNvPr id="5" name="Group 4">
            <a:extLst>
              <a:ext uri="{FF2B5EF4-FFF2-40B4-BE49-F238E27FC236}">
                <a16:creationId xmlns:a16="http://schemas.microsoft.com/office/drawing/2014/main" id="{02FEA639-DABD-91FE-1F44-347C5F5BE2FD}"/>
              </a:ext>
            </a:extLst>
          </p:cNvPr>
          <p:cNvGrpSpPr/>
          <p:nvPr/>
        </p:nvGrpSpPr>
        <p:grpSpPr>
          <a:xfrm>
            <a:off x="651714" y="1251858"/>
            <a:ext cx="10892586" cy="4944629"/>
            <a:chOff x="651714" y="1219200"/>
            <a:chExt cx="10892586" cy="4944629"/>
          </a:xfrm>
        </p:grpSpPr>
        <p:grpSp>
          <p:nvGrpSpPr>
            <p:cNvPr id="6" name="Group 5">
              <a:extLst>
                <a:ext uri="{FF2B5EF4-FFF2-40B4-BE49-F238E27FC236}">
                  <a16:creationId xmlns:a16="http://schemas.microsoft.com/office/drawing/2014/main" id="{2C1FD7D6-29E7-204D-0248-E7A3B6BB583F}"/>
                </a:ext>
              </a:extLst>
            </p:cNvPr>
            <p:cNvGrpSpPr/>
            <p:nvPr/>
          </p:nvGrpSpPr>
          <p:grpSpPr>
            <a:xfrm>
              <a:off x="651714" y="1977562"/>
              <a:ext cx="2976036" cy="3427906"/>
              <a:chOff x="651714" y="1991271"/>
              <a:chExt cx="2976036" cy="3427906"/>
            </a:xfrm>
          </p:grpSpPr>
          <p:sp>
            <p:nvSpPr>
              <p:cNvPr id="73" name="Freeform: Shape 72">
                <a:extLst>
                  <a:ext uri="{FF2B5EF4-FFF2-40B4-BE49-F238E27FC236}">
                    <a16:creationId xmlns:a16="http://schemas.microsoft.com/office/drawing/2014/main" id="{E8E5695B-8BDA-66BB-C5DD-8A7CD772031B}"/>
                  </a:ext>
                </a:extLst>
              </p:cNvPr>
              <p:cNvSpPr/>
              <p:nvPr/>
            </p:nvSpPr>
            <p:spPr>
              <a:xfrm>
                <a:off x="2116537" y="2046508"/>
                <a:ext cx="1511213" cy="3372669"/>
              </a:xfrm>
              <a:custGeom>
                <a:avLst/>
                <a:gdLst>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5" fmla="*/ 91440 w 1511213"/>
                  <a:gd name="connsiteY5" fmla="*/ 91440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213" h="3372669">
                    <a:moveTo>
                      <a:pt x="0" y="0"/>
                    </a:moveTo>
                    <a:lnTo>
                      <a:pt x="156246" y="23845"/>
                    </a:lnTo>
                    <a:cubicBezTo>
                      <a:pt x="929524" y="182081"/>
                      <a:pt x="1511213" y="866277"/>
                      <a:pt x="1511213" y="1686334"/>
                    </a:cubicBezTo>
                    <a:cubicBezTo>
                      <a:pt x="1511213" y="2506391"/>
                      <a:pt x="929524" y="3190587"/>
                      <a:pt x="156246" y="3348823"/>
                    </a:cubicBezTo>
                    <a:lnTo>
                      <a:pt x="0" y="3372669"/>
                    </a:lnTo>
                  </a:path>
                </a:pathLst>
              </a:custGeom>
              <a:noFill/>
              <a:ln w="22225">
                <a:solidFill>
                  <a:srgbClr val="114A5E"/>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Oval 73">
                <a:extLst>
                  <a:ext uri="{FF2B5EF4-FFF2-40B4-BE49-F238E27FC236}">
                    <a16:creationId xmlns:a16="http://schemas.microsoft.com/office/drawing/2014/main" id="{D917CF6A-83D7-EC52-D1B4-9882092CED61}"/>
                  </a:ext>
                </a:extLst>
              </p:cNvPr>
              <p:cNvSpPr/>
              <p:nvPr/>
            </p:nvSpPr>
            <p:spPr>
              <a:xfrm>
                <a:off x="651714" y="2404071"/>
                <a:ext cx="2657544" cy="2657544"/>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20FD6587-268B-87B0-1AB0-A63538D24C16}"/>
                  </a:ext>
                </a:extLst>
              </p:cNvPr>
              <p:cNvSpPr/>
              <p:nvPr/>
            </p:nvSpPr>
            <p:spPr>
              <a:xfrm>
                <a:off x="651714" y="2404071"/>
                <a:ext cx="2558143" cy="25581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A6CD019-1CB3-A8AB-BB11-208D582F8D25}"/>
                  </a:ext>
                </a:extLst>
              </p:cNvPr>
              <p:cNvSpPr/>
              <p:nvPr/>
            </p:nvSpPr>
            <p:spPr>
              <a:xfrm>
                <a:off x="819442" y="2571799"/>
                <a:ext cx="2222687" cy="22226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C9C0D30-F1E2-45A3-D304-23C039FEED8F}"/>
                  </a:ext>
                </a:extLst>
              </p:cNvPr>
              <p:cNvSpPr/>
              <p:nvPr/>
            </p:nvSpPr>
            <p:spPr>
              <a:xfrm>
                <a:off x="1007304" y="2759662"/>
                <a:ext cx="1846963" cy="184696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D8B1D52-4661-FFEE-37E3-C701389F9EA7}"/>
                  </a:ext>
                </a:extLst>
              </p:cNvPr>
              <p:cNvSpPr/>
              <p:nvPr/>
            </p:nvSpPr>
            <p:spPr>
              <a:xfrm>
                <a:off x="1225922" y="2978280"/>
                <a:ext cx="1409726" cy="14097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031A3D41-74AF-0CBA-E8AC-196F88B7CC05}"/>
                  </a:ext>
                </a:extLst>
              </p:cNvPr>
              <p:cNvSpPr/>
              <p:nvPr/>
            </p:nvSpPr>
            <p:spPr>
              <a:xfrm>
                <a:off x="1418593" y="3170951"/>
                <a:ext cx="1024384" cy="102438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CAED93F0-19A4-3F90-4E99-9924E2631F1F}"/>
                  </a:ext>
                </a:extLst>
              </p:cNvPr>
              <p:cNvSpPr/>
              <p:nvPr/>
            </p:nvSpPr>
            <p:spPr>
              <a:xfrm>
                <a:off x="1599676" y="3352034"/>
                <a:ext cx="662218" cy="66221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F3EE47F3-0E6C-B105-1BC5-863107C5FA43}"/>
                  </a:ext>
                </a:extLst>
              </p:cNvPr>
              <p:cNvSpPr/>
              <p:nvPr/>
            </p:nvSpPr>
            <p:spPr>
              <a:xfrm rot="3291335">
                <a:off x="420938" y="2889467"/>
                <a:ext cx="1920240" cy="123848"/>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Shape 81">
                <a:extLst>
                  <a:ext uri="{FF2B5EF4-FFF2-40B4-BE49-F238E27FC236}">
                    <a16:creationId xmlns:a16="http://schemas.microsoft.com/office/drawing/2014/main" id="{8B51509D-543C-013B-CB18-AC5511328B97}"/>
                  </a:ext>
                </a:extLst>
              </p:cNvPr>
              <p:cNvSpPr/>
              <p:nvPr/>
            </p:nvSpPr>
            <p:spPr>
              <a:xfrm rot="8792440" flipV="1">
                <a:off x="804957" y="2176857"/>
                <a:ext cx="462006" cy="596691"/>
              </a:xfrm>
              <a:custGeom>
                <a:avLst/>
                <a:gdLst>
                  <a:gd name="connsiteX0" fmla="*/ 944 w 462006"/>
                  <a:gd name="connsiteY0" fmla="*/ 14588 h 596691"/>
                  <a:gd name="connsiteX1" fmla="*/ 944 w 462006"/>
                  <a:gd name="connsiteY1" fmla="*/ 319702 h 596691"/>
                  <a:gd name="connsiteX2" fmla="*/ 0 w 462006"/>
                  <a:gd name="connsiteY2" fmla="*/ 324607 h 596691"/>
                  <a:gd name="connsiteX3" fmla="*/ 956 w 462006"/>
                  <a:gd name="connsiteY3" fmla="*/ 430922 h 596691"/>
                  <a:gd name="connsiteX4" fmla="*/ 169726 w 462006"/>
                  <a:gd name="connsiteY4" fmla="*/ 596685 h 596691"/>
                  <a:gd name="connsiteX5" fmla="*/ 296238 w 462006"/>
                  <a:gd name="connsiteY5" fmla="*/ 595547 h 596691"/>
                  <a:gd name="connsiteX6" fmla="*/ 462000 w 462006"/>
                  <a:gd name="connsiteY6" fmla="*/ 426777 h 596691"/>
                  <a:gd name="connsiteX7" fmla="*/ 461673 w 462006"/>
                  <a:gd name="connsiteY7" fmla="*/ 390441 h 596691"/>
                  <a:gd name="connsiteX8" fmla="*/ 461907 w 462006"/>
                  <a:gd name="connsiteY8" fmla="*/ 390435 h 596691"/>
                  <a:gd name="connsiteX9" fmla="*/ 461555 w 462006"/>
                  <a:gd name="connsiteY9" fmla="*/ 377288 h 596691"/>
                  <a:gd name="connsiteX10" fmla="*/ 461044 w 462006"/>
                  <a:gd name="connsiteY10" fmla="*/ 320461 h 596691"/>
                  <a:gd name="connsiteX11" fmla="*/ 459886 w 462006"/>
                  <a:gd name="connsiteY11" fmla="*/ 314978 h 596691"/>
                  <a:gd name="connsiteX12" fmla="*/ 451447 w 462006"/>
                  <a:gd name="connsiteY12" fmla="*/ 0 h 596691"/>
                  <a:gd name="connsiteX13" fmla="*/ 301225 w 462006"/>
                  <a:gd name="connsiteY13" fmla="*/ 156422 h 596691"/>
                  <a:gd name="connsiteX14" fmla="*/ 292274 w 462006"/>
                  <a:gd name="connsiteY14" fmla="*/ 154699 h 596691"/>
                  <a:gd name="connsiteX15" fmla="*/ 165762 w 462006"/>
                  <a:gd name="connsiteY15" fmla="*/ 155836 h 596691"/>
                  <a:gd name="connsiteX16" fmla="*/ 147887 w 462006"/>
                  <a:gd name="connsiteY16" fmla="*/ 159613 h 59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006" h="596691">
                    <a:moveTo>
                      <a:pt x="944" y="14588"/>
                    </a:moveTo>
                    <a:lnTo>
                      <a:pt x="944" y="319702"/>
                    </a:lnTo>
                    <a:lnTo>
                      <a:pt x="0" y="324607"/>
                    </a:lnTo>
                    <a:lnTo>
                      <a:pt x="956" y="430922"/>
                    </a:lnTo>
                    <a:cubicBezTo>
                      <a:pt x="1786" y="523301"/>
                      <a:pt x="77348" y="597515"/>
                      <a:pt x="169726" y="596685"/>
                    </a:cubicBezTo>
                    <a:lnTo>
                      <a:pt x="296238" y="595547"/>
                    </a:lnTo>
                    <a:cubicBezTo>
                      <a:pt x="388616" y="594716"/>
                      <a:pt x="462831" y="519155"/>
                      <a:pt x="462000" y="426777"/>
                    </a:cubicBezTo>
                    <a:lnTo>
                      <a:pt x="461673" y="390441"/>
                    </a:lnTo>
                    <a:lnTo>
                      <a:pt x="461907" y="390435"/>
                    </a:lnTo>
                    <a:lnTo>
                      <a:pt x="461555" y="377288"/>
                    </a:lnTo>
                    <a:lnTo>
                      <a:pt x="461044" y="320461"/>
                    </a:lnTo>
                    <a:lnTo>
                      <a:pt x="459886" y="314978"/>
                    </a:lnTo>
                    <a:lnTo>
                      <a:pt x="451447" y="0"/>
                    </a:lnTo>
                    <a:lnTo>
                      <a:pt x="301225" y="156422"/>
                    </a:lnTo>
                    <a:lnTo>
                      <a:pt x="292274" y="154699"/>
                    </a:lnTo>
                    <a:lnTo>
                      <a:pt x="165762" y="155836"/>
                    </a:lnTo>
                    <a:lnTo>
                      <a:pt x="147887" y="15961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 Placeholder 2">
              <a:extLst>
                <a:ext uri="{FF2B5EF4-FFF2-40B4-BE49-F238E27FC236}">
                  <a16:creationId xmlns:a16="http://schemas.microsoft.com/office/drawing/2014/main" id="{C5BE70A1-1E46-7BA5-720D-637BA8059C91}"/>
                </a:ext>
              </a:extLst>
            </p:cNvPr>
            <p:cNvSpPr txBox="1">
              <a:spLocks/>
            </p:cNvSpPr>
            <p:nvPr/>
          </p:nvSpPr>
          <p:spPr>
            <a:xfrm>
              <a:off x="7948140" y="1319366"/>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attain No 1 position in the Occupational Health Consultancy industry</a:t>
              </a:r>
            </a:p>
          </p:txBody>
        </p:sp>
        <p:sp>
          <p:nvSpPr>
            <p:cNvPr id="8" name="Rectangle 7">
              <a:extLst>
                <a:ext uri="{FF2B5EF4-FFF2-40B4-BE49-F238E27FC236}">
                  <a16:creationId xmlns:a16="http://schemas.microsoft.com/office/drawing/2014/main" id="{16AFA603-7921-4E0E-71B4-A8C4E8E6390B}"/>
                </a:ext>
              </a:extLst>
            </p:cNvPr>
            <p:cNvSpPr/>
            <p:nvPr/>
          </p:nvSpPr>
          <p:spPr>
            <a:xfrm>
              <a:off x="4404836" y="1265735"/>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564D3E36-AA8C-96B5-38AD-E599B8A6DD0E}"/>
                </a:ext>
              </a:extLst>
            </p:cNvPr>
            <p:cNvSpPr txBox="1">
              <a:spLocks/>
            </p:cNvSpPr>
            <p:nvPr/>
          </p:nvSpPr>
          <p:spPr>
            <a:xfrm>
              <a:off x="5395532" y="1484595"/>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Market Share</a:t>
              </a:r>
            </a:p>
          </p:txBody>
        </p:sp>
        <p:sp>
          <p:nvSpPr>
            <p:cNvPr id="10" name="Rectangle 9">
              <a:extLst>
                <a:ext uri="{FF2B5EF4-FFF2-40B4-BE49-F238E27FC236}">
                  <a16:creationId xmlns:a16="http://schemas.microsoft.com/office/drawing/2014/main" id="{2BB4E769-0F44-92EF-41A7-85568B693124}"/>
                </a:ext>
              </a:extLst>
            </p:cNvPr>
            <p:cNvSpPr/>
            <p:nvPr/>
          </p:nvSpPr>
          <p:spPr>
            <a:xfrm>
              <a:off x="4565812" y="1219200"/>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D5B41257-EB64-3852-E120-934AB4FAC68D}"/>
                </a:ext>
              </a:extLst>
            </p:cNvPr>
            <p:cNvSpPr/>
            <p:nvPr/>
          </p:nvSpPr>
          <p:spPr>
            <a:xfrm>
              <a:off x="5204733" y="1220016"/>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C40FBF-EC17-93B8-9AC5-8BF97484B433}"/>
                </a:ext>
              </a:extLst>
            </p:cNvPr>
            <p:cNvSpPr/>
            <p:nvPr/>
          </p:nvSpPr>
          <p:spPr>
            <a:xfrm>
              <a:off x="4404836" y="2299878"/>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9E2F0DBA-D4E6-2A14-7A8D-803A3A14AE93}"/>
                </a:ext>
              </a:extLst>
            </p:cNvPr>
            <p:cNvSpPr txBox="1">
              <a:spLocks/>
            </p:cNvSpPr>
            <p:nvPr/>
          </p:nvSpPr>
          <p:spPr>
            <a:xfrm>
              <a:off x="5395532" y="2518738"/>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Increased Sales</a:t>
              </a:r>
            </a:p>
          </p:txBody>
        </p:sp>
        <p:sp>
          <p:nvSpPr>
            <p:cNvPr id="14" name="Rectangle 13">
              <a:extLst>
                <a:ext uri="{FF2B5EF4-FFF2-40B4-BE49-F238E27FC236}">
                  <a16:creationId xmlns:a16="http://schemas.microsoft.com/office/drawing/2014/main" id="{79D5C66D-1455-534F-509F-EE8E9165694D}"/>
                </a:ext>
              </a:extLst>
            </p:cNvPr>
            <p:cNvSpPr/>
            <p:nvPr/>
          </p:nvSpPr>
          <p:spPr>
            <a:xfrm>
              <a:off x="4565812" y="2253343"/>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BEA20511-F7B3-9ABD-53AE-75A0A7A184D0}"/>
                </a:ext>
              </a:extLst>
            </p:cNvPr>
            <p:cNvSpPr/>
            <p:nvPr/>
          </p:nvSpPr>
          <p:spPr>
            <a:xfrm>
              <a:off x="5204733" y="2254159"/>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C40EF1-53FC-1618-82A7-CFA1E0F23048}"/>
                </a:ext>
              </a:extLst>
            </p:cNvPr>
            <p:cNvSpPr/>
            <p:nvPr/>
          </p:nvSpPr>
          <p:spPr>
            <a:xfrm>
              <a:off x="4404836" y="3334021"/>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2">
              <a:extLst>
                <a:ext uri="{FF2B5EF4-FFF2-40B4-BE49-F238E27FC236}">
                  <a16:creationId xmlns:a16="http://schemas.microsoft.com/office/drawing/2014/main" id="{3B0F538C-422F-0018-55BF-17A8110F3C9A}"/>
                </a:ext>
              </a:extLst>
            </p:cNvPr>
            <p:cNvSpPr txBox="1">
              <a:spLocks/>
            </p:cNvSpPr>
            <p:nvPr/>
          </p:nvSpPr>
          <p:spPr>
            <a:xfrm>
              <a:off x="5395532" y="3552881"/>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Revenue Growth</a:t>
              </a:r>
            </a:p>
          </p:txBody>
        </p:sp>
        <p:sp>
          <p:nvSpPr>
            <p:cNvPr id="18" name="Rectangle 17">
              <a:extLst>
                <a:ext uri="{FF2B5EF4-FFF2-40B4-BE49-F238E27FC236}">
                  <a16:creationId xmlns:a16="http://schemas.microsoft.com/office/drawing/2014/main" id="{5E35ED9B-1753-EBCF-64F1-07042B880752}"/>
                </a:ext>
              </a:extLst>
            </p:cNvPr>
            <p:cNvSpPr/>
            <p:nvPr/>
          </p:nvSpPr>
          <p:spPr>
            <a:xfrm>
              <a:off x="4565812" y="3287486"/>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A41A12E-E7DF-36F6-8061-DDD3B589EA52}"/>
                </a:ext>
              </a:extLst>
            </p:cNvPr>
            <p:cNvSpPr/>
            <p:nvPr/>
          </p:nvSpPr>
          <p:spPr>
            <a:xfrm>
              <a:off x="5204733" y="3288302"/>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08CECD-08FB-1F88-6F53-4808AA5B5335}"/>
                </a:ext>
              </a:extLst>
            </p:cNvPr>
            <p:cNvSpPr/>
            <p:nvPr/>
          </p:nvSpPr>
          <p:spPr>
            <a:xfrm>
              <a:off x="4404836" y="4368164"/>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2">
              <a:extLst>
                <a:ext uri="{FF2B5EF4-FFF2-40B4-BE49-F238E27FC236}">
                  <a16:creationId xmlns:a16="http://schemas.microsoft.com/office/drawing/2014/main" id="{DEFA2A94-CC98-A347-9AB5-A280B55AB9BF}"/>
                </a:ext>
              </a:extLst>
            </p:cNvPr>
            <p:cNvSpPr txBox="1">
              <a:spLocks/>
            </p:cNvSpPr>
            <p:nvPr/>
          </p:nvSpPr>
          <p:spPr>
            <a:xfrm>
              <a:off x="5395532" y="4587024"/>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Customer Acquisition</a:t>
              </a:r>
            </a:p>
          </p:txBody>
        </p:sp>
        <p:sp>
          <p:nvSpPr>
            <p:cNvPr id="22" name="Rectangle 21">
              <a:extLst>
                <a:ext uri="{FF2B5EF4-FFF2-40B4-BE49-F238E27FC236}">
                  <a16:creationId xmlns:a16="http://schemas.microsoft.com/office/drawing/2014/main" id="{FFBA500F-BBE9-D547-6E9A-400F85A2C662}"/>
                </a:ext>
              </a:extLst>
            </p:cNvPr>
            <p:cNvSpPr/>
            <p:nvPr/>
          </p:nvSpPr>
          <p:spPr>
            <a:xfrm>
              <a:off x="4565812" y="4321629"/>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DE287AD-3E02-8992-C119-372861F939FA}"/>
                </a:ext>
              </a:extLst>
            </p:cNvPr>
            <p:cNvSpPr/>
            <p:nvPr/>
          </p:nvSpPr>
          <p:spPr>
            <a:xfrm>
              <a:off x="5204733" y="4322445"/>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6EE03F-1813-C174-1B83-0CDEC47DAA0D}"/>
                </a:ext>
              </a:extLst>
            </p:cNvPr>
            <p:cNvSpPr/>
            <p:nvPr/>
          </p:nvSpPr>
          <p:spPr>
            <a:xfrm>
              <a:off x="4404836" y="5402307"/>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2">
              <a:extLst>
                <a:ext uri="{FF2B5EF4-FFF2-40B4-BE49-F238E27FC236}">
                  <a16:creationId xmlns:a16="http://schemas.microsoft.com/office/drawing/2014/main" id="{9B4ED38E-D0CD-8F31-7B3A-BBF99CF909FA}"/>
                </a:ext>
              </a:extLst>
            </p:cNvPr>
            <p:cNvSpPr txBox="1">
              <a:spLocks/>
            </p:cNvSpPr>
            <p:nvPr/>
          </p:nvSpPr>
          <p:spPr>
            <a:xfrm>
              <a:off x="5395532" y="5621167"/>
              <a:ext cx="2105198" cy="197409"/>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Capacity Development	</a:t>
              </a:r>
            </a:p>
          </p:txBody>
        </p:sp>
        <p:sp>
          <p:nvSpPr>
            <p:cNvPr id="26" name="Rectangle 25">
              <a:extLst>
                <a:ext uri="{FF2B5EF4-FFF2-40B4-BE49-F238E27FC236}">
                  <a16:creationId xmlns:a16="http://schemas.microsoft.com/office/drawing/2014/main" id="{D743D18A-8680-51CA-2004-9CB07DC30115}"/>
                </a:ext>
              </a:extLst>
            </p:cNvPr>
            <p:cNvSpPr/>
            <p:nvPr/>
          </p:nvSpPr>
          <p:spPr>
            <a:xfrm>
              <a:off x="4565812" y="5355772"/>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E3FDEAA6-42CE-4E90-96FF-08895C8ECD4C}"/>
                </a:ext>
              </a:extLst>
            </p:cNvPr>
            <p:cNvSpPr/>
            <p:nvPr/>
          </p:nvSpPr>
          <p:spPr>
            <a:xfrm>
              <a:off x="5204733" y="5356588"/>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B72419C-690F-9EBF-DED1-C985EF3264FB}"/>
                </a:ext>
              </a:extLst>
            </p:cNvPr>
            <p:cNvCxnSpPr>
              <a:cxnSpLocks/>
              <a:endCxn id="8" idx="1"/>
            </p:cNvCxnSpPr>
            <p:nvPr/>
          </p:nvCxnSpPr>
          <p:spPr>
            <a:xfrm flipV="1">
              <a:off x="2987879" y="1646496"/>
              <a:ext cx="1416957" cy="688324"/>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E477518-0F07-A378-C85E-913B6622557F}"/>
                </a:ext>
              </a:extLst>
            </p:cNvPr>
            <p:cNvCxnSpPr>
              <a:cxnSpLocks/>
            </p:cNvCxnSpPr>
            <p:nvPr/>
          </p:nvCxnSpPr>
          <p:spPr>
            <a:xfrm>
              <a:off x="3026357" y="5082625"/>
              <a:ext cx="1378479" cy="681318"/>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F5FCA2F-3EDD-B141-C766-3DE15F41CD39}"/>
                </a:ext>
              </a:extLst>
            </p:cNvPr>
            <p:cNvCxnSpPr>
              <a:cxnSpLocks/>
              <a:endCxn id="20" idx="1"/>
            </p:cNvCxnSpPr>
            <p:nvPr/>
          </p:nvCxnSpPr>
          <p:spPr>
            <a:xfrm>
              <a:off x="3514743" y="44380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C176D7B-47B3-505B-AECB-047089F5EE8A}"/>
                </a:ext>
              </a:extLst>
            </p:cNvPr>
            <p:cNvCxnSpPr>
              <a:cxnSpLocks/>
            </p:cNvCxnSpPr>
            <p:nvPr/>
          </p:nvCxnSpPr>
          <p:spPr>
            <a:xfrm flipV="1">
              <a:off x="3514743" y="26745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0A0B0A-0EF3-0B0C-C624-037BED34D176}"/>
                </a:ext>
              </a:extLst>
            </p:cNvPr>
            <p:cNvCxnSpPr>
              <a:cxnSpLocks/>
              <a:stCxn id="73" idx="2"/>
              <a:endCxn id="16" idx="1"/>
            </p:cNvCxnSpPr>
            <p:nvPr/>
          </p:nvCxnSpPr>
          <p:spPr>
            <a:xfrm flipV="1">
              <a:off x="3627750" y="3714782"/>
              <a:ext cx="777086" cy="4351"/>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3" name="Text Placeholder 2">
              <a:extLst>
                <a:ext uri="{FF2B5EF4-FFF2-40B4-BE49-F238E27FC236}">
                  <a16:creationId xmlns:a16="http://schemas.microsoft.com/office/drawing/2014/main" id="{6C4B06A5-E14C-B31F-D0DE-994FE7336BD1}"/>
                </a:ext>
              </a:extLst>
            </p:cNvPr>
            <p:cNvSpPr txBox="1">
              <a:spLocks/>
            </p:cNvSpPr>
            <p:nvPr/>
          </p:nvSpPr>
          <p:spPr>
            <a:xfrm>
              <a:off x="7948140" y="2353509"/>
              <a:ext cx="3596160" cy="654260"/>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400" dirty="0">
                <a:solidFill>
                  <a:srgbClr val="114A5E"/>
                </a:solidFill>
                <a:latin typeface="Segoe UI" panose="020B0502040204020203" pitchFamily="34" charset="0"/>
                <a:cs typeface="Segoe UI" panose="020B0502040204020203" pitchFamily="34" charset="0"/>
              </a:endParaRPr>
            </a:p>
          </p:txBody>
        </p:sp>
        <p:sp>
          <p:nvSpPr>
            <p:cNvPr id="36" name="Text Placeholder 2">
              <a:extLst>
                <a:ext uri="{FF2B5EF4-FFF2-40B4-BE49-F238E27FC236}">
                  <a16:creationId xmlns:a16="http://schemas.microsoft.com/office/drawing/2014/main" id="{69533EA4-BFD4-139E-079B-4FBE77498236}"/>
                </a:ext>
              </a:extLst>
            </p:cNvPr>
            <p:cNvSpPr txBox="1">
              <a:spLocks/>
            </p:cNvSpPr>
            <p:nvPr/>
          </p:nvSpPr>
          <p:spPr>
            <a:xfrm>
              <a:off x="7948140" y="5455938"/>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endParaRPr lang="en-US" sz="1400" b="1" dirty="0">
                <a:solidFill>
                  <a:srgbClr val="114A5E"/>
                </a:solidFill>
                <a:latin typeface="Segoe UI" panose="020B0502040204020203" pitchFamily="34" charset="0"/>
                <a:cs typeface="Segoe UI" panose="020B0502040204020203" pitchFamily="34" charset="0"/>
              </a:endParaRPr>
            </a:p>
          </p:txBody>
        </p:sp>
        <p:grpSp>
          <p:nvGrpSpPr>
            <p:cNvPr id="37" name="Group 36">
              <a:extLst>
                <a:ext uri="{FF2B5EF4-FFF2-40B4-BE49-F238E27FC236}">
                  <a16:creationId xmlns:a16="http://schemas.microsoft.com/office/drawing/2014/main" id="{52E84429-09C7-BC3B-8C3F-9D8042EB460C}"/>
                </a:ext>
              </a:extLst>
            </p:cNvPr>
            <p:cNvGrpSpPr/>
            <p:nvPr/>
          </p:nvGrpSpPr>
          <p:grpSpPr>
            <a:xfrm>
              <a:off x="4721759" y="1396036"/>
              <a:ext cx="327027" cy="285248"/>
              <a:chOff x="4113213" y="3640138"/>
              <a:chExt cx="360363" cy="314325"/>
            </a:xfrm>
            <a:solidFill>
              <a:schemeClr val="bg1"/>
            </a:solidFill>
          </p:grpSpPr>
          <p:sp>
            <p:nvSpPr>
              <p:cNvPr id="69" name="Freeform 1760">
                <a:extLst>
                  <a:ext uri="{FF2B5EF4-FFF2-40B4-BE49-F238E27FC236}">
                    <a16:creationId xmlns:a16="http://schemas.microsoft.com/office/drawing/2014/main" id="{883DD459-1C52-2B88-7B92-A08A7C18DA9B}"/>
                  </a:ext>
                </a:extLst>
              </p:cNvPr>
              <p:cNvSpPr>
                <a:spLocks/>
              </p:cNvSpPr>
              <p:nvPr/>
            </p:nvSpPr>
            <p:spPr bwMode="auto">
              <a:xfrm>
                <a:off x="4113213" y="3640138"/>
                <a:ext cx="360363" cy="314325"/>
              </a:xfrm>
              <a:custGeom>
                <a:avLst/>
                <a:gdLst>
                  <a:gd name="T0" fmla="*/ 94 w 96"/>
                  <a:gd name="T1" fmla="*/ 84 h 84"/>
                  <a:gd name="T2" fmla="*/ 2 w 96"/>
                  <a:gd name="T3" fmla="*/ 84 h 84"/>
                  <a:gd name="T4" fmla="*/ 0 w 96"/>
                  <a:gd name="T5" fmla="*/ 82 h 84"/>
                  <a:gd name="T6" fmla="*/ 0 w 96"/>
                  <a:gd name="T7" fmla="*/ 2 h 84"/>
                  <a:gd name="T8" fmla="*/ 2 w 96"/>
                  <a:gd name="T9" fmla="*/ 0 h 84"/>
                  <a:gd name="T10" fmla="*/ 4 w 96"/>
                  <a:gd name="T11" fmla="*/ 2 h 84"/>
                  <a:gd name="T12" fmla="*/ 4 w 96"/>
                  <a:gd name="T13" fmla="*/ 80 h 84"/>
                  <a:gd name="T14" fmla="*/ 94 w 96"/>
                  <a:gd name="T15" fmla="*/ 80 h 84"/>
                  <a:gd name="T16" fmla="*/ 96 w 96"/>
                  <a:gd name="T17" fmla="*/ 82 h 84"/>
                  <a:gd name="T18" fmla="*/ 94 w 96"/>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4">
                    <a:moveTo>
                      <a:pt x="94" y="84"/>
                    </a:moveTo>
                    <a:cubicBezTo>
                      <a:pt x="2" y="84"/>
                      <a:pt x="2" y="84"/>
                      <a:pt x="2" y="84"/>
                    </a:cubicBezTo>
                    <a:cubicBezTo>
                      <a:pt x="1" y="84"/>
                      <a:pt x="0" y="83"/>
                      <a:pt x="0" y="82"/>
                    </a:cubicBezTo>
                    <a:cubicBezTo>
                      <a:pt x="0" y="2"/>
                      <a:pt x="0" y="2"/>
                      <a:pt x="0" y="2"/>
                    </a:cubicBezTo>
                    <a:cubicBezTo>
                      <a:pt x="0" y="1"/>
                      <a:pt x="1" y="0"/>
                      <a:pt x="2" y="0"/>
                    </a:cubicBezTo>
                    <a:cubicBezTo>
                      <a:pt x="3" y="0"/>
                      <a:pt x="4" y="1"/>
                      <a:pt x="4" y="2"/>
                    </a:cubicBezTo>
                    <a:cubicBezTo>
                      <a:pt x="4" y="80"/>
                      <a:pt x="4" y="80"/>
                      <a:pt x="4" y="80"/>
                    </a:cubicBezTo>
                    <a:cubicBezTo>
                      <a:pt x="94" y="80"/>
                      <a:pt x="94" y="80"/>
                      <a:pt x="94" y="80"/>
                    </a:cubicBezTo>
                    <a:cubicBezTo>
                      <a:pt x="95" y="80"/>
                      <a:pt x="96" y="81"/>
                      <a:pt x="96" y="82"/>
                    </a:cubicBezTo>
                    <a:cubicBezTo>
                      <a:pt x="96" y="83"/>
                      <a:pt x="95" y="84"/>
                      <a:pt x="9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0" name="Freeform 1761">
                <a:extLst>
                  <a:ext uri="{FF2B5EF4-FFF2-40B4-BE49-F238E27FC236}">
                    <a16:creationId xmlns:a16="http://schemas.microsoft.com/office/drawing/2014/main" id="{360831A5-C608-26FC-1CE2-52ACE71E8CBC}"/>
                  </a:ext>
                </a:extLst>
              </p:cNvPr>
              <p:cNvSpPr>
                <a:spLocks/>
              </p:cNvSpPr>
              <p:nvPr/>
            </p:nvSpPr>
            <p:spPr bwMode="auto">
              <a:xfrm>
                <a:off x="4297363" y="3841750"/>
                <a:ext cx="63500" cy="68263"/>
              </a:xfrm>
              <a:custGeom>
                <a:avLst/>
                <a:gdLst>
                  <a:gd name="T0" fmla="*/ 15 w 17"/>
                  <a:gd name="T1" fmla="*/ 18 h 18"/>
                  <a:gd name="T2" fmla="*/ 1 w 17"/>
                  <a:gd name="T3" fmla="*/ 7 h 18"/>
                  <a:gd name="T4" fmla="*/ 1 w 17"/>
                  <a:gd name="T5" fmla="*/ 2 h 18"/>
                  <a:gd name="T6" fmla="*/ 2 w 17"/>
                  <a:gd name="T7" fmla="*/ 0 h 18"/>
                  <a:gd name="T8" fmla="*/ 4 w 17"/>
                  <a:gd name="T9" fmla="*/ 2 h 18"/>
                  <a:gd name="T10" fmla="*/ 5 w 17"/>
                  <a:gd name="T11" fmla="*/ 6 h 18"/>
                  <a:gd name="T12" fmla="*/ 15 w 17"/>
                  <a:gd name="T13" fmla="*/ 14 h 18"/>
                  <a:gd name="T14" fmla="*/ 17 w 17"/>
                  <a:gd name="T15" fmla="*/ 16 h 18"/>
                  <a:gd name="T16" fmla="*/ 15 w 17"/>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18"/>
                    </a:moveTo>
                    <a:cubicBezTo>
                      <a:pt x="8" y="18"/>
                      <a:pt x="2" y="13"/>
                      <a:pt x="1" y="7"/>
                    </a:cubicBezTo>
                    <a:cubicBezTo>
                      <a:pt x="1" y="2"/>
                      <a:pt x="1" y="2"/>
                      <a:pt x="1" y="2"/>
                    </a:cubicBezTo>
                    <a:cubicBezTo>
                      <a:pt x="0" y="1"/>
                      <a:pt x="1" y="0"/>
                      <a:pt x="2" y="0"/>
                    </a:cubicBezTo>
                    <a:cubicBezTo>
                      <a:pt x="3" y="0"/>
                      <a:pt x="4" y="1"/>
                      <a:pt x="4" y="2"/>
                    </a:cubicBezTo>
                    <a:cubicBezTo>
                      <a:pt x="5" y="6"/>
                      <a:pt x="5" y="6"/>
                      <a:pt x="5" y="6"/>
                    </a:cubicBezTo>
                    <a:cubicBezTo>
                      <a:pt x="6" y="11"/>
                      <a:pt x="10" y="14"/>
                      <a:pt x="15" y="14"/>
                    </a:cubicBezTo>
                    <a:cubicBezTo>
                      <a:pt x="16" y="14"/>
                      <a:pt x="17" y="15"/>
                      <a:pt x="17" y="16"/>
                    </a:cubicBezTo>
                    <a:cubicBezTo>
                      <a:pt x="17" y="17"/>
                      <a:pt x="16" y="18"/>
                      <a:pt x="1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1" name="Freeform 1762">
                <a:extLst>
                  <a:ext uri="{FF2B5EF4-FFF2-40B4-BE49-F238E27FC236}">
                    <a16:creationId xmlns:a16="http://schemas.microsoft.com/office/drawing/2014/main" id="{0697E1A5-9FBA-6B36-8F4F-DB31D01D3590}"/>
                  </a:ext>
                </a:extLst>
              </p:cNvPr>
              <p:cNvSpPr>
                <a:spLocks/>
              </p:cNvSpPr>
              <p:nvPr/>
            </p:nvSpPr>
            <p:spPr bwMode="auto">
              <a:xfrm>
                <a:off x="4149725" y="3729038"/>
                <a:ext cx="136525" cy="180975"/>
              </a:xfrm>
              <a:custGeom>
                <a:avLst/>
                <a:gdLst>
                  <a:gd name="T0" fmla="*/ 2 w 36"/>
                  <a:gd name="T1" fmla="*/ 48 h 48"/>
                  <a:gd name="T2" fmla="*/ 0 w 36"/>
                  <a:gd name="T3" fmla="*/ 46 h 48"/>
                  <a:gd name="T4" fmla="*/ 2 w 36"/>
                  <a:gd name="T5" fmla="*/ 44 h 48"/>
                  <a:gd name="T6" fmla="*/ 12 w 36"/>
                  <a:gd name="T7" fmla="*/ 36 h 48"/>
                  <a:gd name="T8" fmla="*/ 17 w 36"/>
                  <a:gd name="T9" fmla="*/ 10 h 48"/>
                  <a:gd name="T10" fmla="*/ 28 w 36"/>
                  <a:gd name="T11" fmla="*/ 0 h 48"/>
                  <a:gd name="T12" fmla="*/ 35 w 36"/>
                  <a:gd name="T13" fmla="*/ 2 h 48"/>
                  <a:gd name="T14" fmla="*/ 35 w 36"/>
                  <a:gd name="T15" fmla="*/ 5 h 48"/>
                  <a:gd name="T16" fmla="*/ 33 w 36"/>
                  <a:gd name="T17" fmla="*/ 6 h 48"/>
                  <a:gd name="T18" fmla="*/ 28 w 36"/>
                  <a:gd name="T19" fmla="*/ 4 h 48"/>
                  <a:gd name="T20" fmla="*/ 21 w 36"/>
                  <a:gd name="T21" fmla="*/ 10 h 48"/>
                  <a:gd name="T22" fmla="*/ 16 w 36"/>
                  <a:gd name="T23" fmla="*/ 37 h 48"/>
                  <a:gd name="T24" fmla="*/ 2 w 36"/>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8">
                    <a:moveTo>
                      <a:pt x="2" y="48"/>
                    </a:move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1" y="0"/>
                      <a:pt x="33" y="1"/>
                      <a:pt x="35" y="2"/>
                    </a:cubicBezTo>
                    <a:cubicBezTo>
                      <a:pt x="36" y="3"/>
                      <a:pt x="36" y="4"/>
                      <a:pt x="35" y="5"/>
                    </a:cubicBezTo>
                    <a:cubicBezTo>
                      <a:pt x="35" y="6"/>
                      <a:pt x="33" y="6"/>
                      <a:pt x="33" y="6"/>
                    </a:cubicBezTo>
                    <a:cubicBezTo>
                      <a:pt x="31" y="5"/>
                      <a:pt x="30" y="4"/>
                      <a:pt x="28" y="4"/>
                    </a:cubicBezTo>
                    <a:cubicBezTo>
                      <a:pt x="24" y="4"/>
                      <a:pt x="21" y="7"/>
                      <a:pt x="21" y="10"/>
                    </a:cubicBezTo>
                    <a:cubicBezTo>
                      <a:pt x="16" y="37"/>
                      <a:pt x="16" y="37"/>
                      <a:pt x="16" y="37"/>
                    </a:cubicBezTo>
                    <a:cubicBezTo>
                      <a:pt x="15" y="43"/>
                      <a:pt x="9" y="48"/>
                      <a:pt x="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2" name="Freeform 1763">
                <a:extLst>
                  <a:ext uri="{FF2B5EF4-FFF2-40B4-BE49-F238E27FC236}">
                    <a16:creationId xmlns:a16="http://schemas.microsoft.com/office/drawing/2014/main" id="{2C4111A7-8C18-BA45-42E4-5EF214FBD0B1}"/>
                  </a:ext>
                </a:extLst>
              </p:cNvPr>
              <p:cNvSpPr>
                <a:spLocks/>
              </p:cNvSpPr>
              <p:nvPr/>
            </p:nvSpPr>
            <p:spPr bwMode="auto">
              <a:xfrm>
                <a:off x="4225925" y="3729038"/>
                <a:ext cx="209550" cy="180975"/>
              </a:xfrm>
              <a:custGeom>
                <a:avLst/>
                <a:gdLst>
                  <a:gd name="T0" fmla="*/ 54 w 56"/>
                  <a:gd name="T1" fmla="*/ 48 h 48"/>
                  <a:gd name="T2" fmla="*/ 40 w 56"/>
                  <a:gd name="T3" fmla="*/ 37 h 48"/>
                  <a:gd name="T4" fmla="*/ 35 w 56"/>
                  <a:gd name="T5" fmla="*/ 10 h 48"/>
                  <a:gd name="T6" fmla="*/ 28 w 56"/>
                  <a:gd name="T7" fmla="*/ 4 h 48"/>
                  <a:gd name="T8" fmla="*/ 21 w 56"/>
                  <a:gd name="T9" fmla="*/ 10 h 48"/>
                  <a:gd name="T10" fmla="*/ 16 w 56"/>
                  <a:gd name="T11" fmla="*/ 37 h 48"/>
                  <a:gd name="T12" fmla="*/ 2 w 56"/>
                  <a:gd name="T13" fmla="*/ 48 h 48"/>
                  <a:gd name="T14" fmla="*/ 0 w 56"/>
                  <a:gd name="T15" fmla="*/ 46 h 48"/>
                  <a:gd name="T16" fmla="*/ 2 w 56"/>
                  <a:gd name="T17" fmla="*/ 44 h 48"/>
                  <a:gd name="T18" fmla="*/ 12 w 56"/>
                  <a:gd name="T19" fmla="*/ 36 h 48"/>
                  <a:gd name="T20" fmla="*/ 17 w 56"/>
                  <a:gd name="T21" fmla="*/ 10 h 48"/>
                  <a:gd name="T22" fmla="*/ 28 w 56"/>
                  <a:gd name="T23" fmla="*/ 0 h 48"/>
                  <a:gd name="T24" fmla="*/ 39 w 56"/>
                  <a:gd name="T25" fmla="*/ 10 h 48"/>
                  <a:gd name="T26" fmla="*/ 44 w 56"/>
                  <a:gd name="T27" fmla="*/ 36 h 48"/>
                  <a:gd name="T28" fmla="*/ 54 w 56"/>
                  <a:gd name="T29" fmla="*/ 44 h 48"/>
                  <a:gd name="T30" fmla="*/ 56 w 56"/>
                  <a:gd name="T31" fmla="*/ 46 h 48"/>
                  <a:gd name="T32" fmla="*/ 54 w 5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4" y="48"/>
                    </a:moveTo>
                    <a:cubicBezTo>
                      <a:pt x="47" y="48"/>
                      <a:pt x="41" y="43"/>
                      <a:pt x="40" y="37"/>
                    </a:cubicBezTo>
                    <a:cubicBezTo>
                      <a:pt x="35" y="10"/>
                      <a:pt x="35" y="10"/>
                      <a:pt x="35" y="10"/>
                    </a:cubicBezTo>
                    <a:cubicBezTo>
                      <a:pt x="35" y="7"/>
                      <a:pt x="32" y="4"/>
                      <a:pt x="28" y="4"/>
                    </a:cubicBezTo>
                    <a:cubicBezTo>
                      <a:pt x="24" y="4"/>
                      <a:pt x="21" y="7"/>
                      <a:pt x="21" y="10"/>
                    </a:cubicBezTo>
                    <a:cubicBezTo>
                      <a:pt x="16" y="37"/>
                      <a:pt x="16" y="37"/>
                      <a:pt x="16" y="37"/>
                    </a:cubicBezTo>
                    <a:cubicBezTo>
                      <a:pt x="15" y="43"/>
                      <a:pt x="9" y="48"/>
                      <a:pt x="2" y="48"/>
                    </a:cubicBez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4" y="0"/>
                      <a:pt x="38" y="4"/>
                      <a:pt x="39" y="10"/>
                    </a:cubicBezTo>
                    <a:cubicBezTo>
                      <a:pt x="44" y="36"/>
                      <a:pt x="44" y="36"/>
                      <a:pt x="44" y="36"/>
                    </a:cubicBezTo>
                    <a:cubicBezTo>
                      <a:pt x="45" y="41"/>
                      <a:pt x="49" y="44"/>
                      <a:pt x="54" y="44"/>
                    </a:cubicBezTo>
                    <a:cubicBezTo>
                      <a:pt x="55" y="44"/>
                      <a:pt x="56" y="45"/>
                      <a:pt x="56" y="46"/>
                    </a:cubicBezTo>
                    <a:cubicBezTo>
                      <a:pt x="56" y="47"/>
                      <a:pt x="55" y="48"/>
                      <a:pt x="5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8" name="Group 37">
              <a:extLst>
                <a:ext uri="{FF2B5EF4-FFF2-40B4-BE49-F238E27FC236}">
                  <a16:creationId xmlns:a16="http://schemas.microsoft.com/office/drawing/2014/main" id="{064A3EB0-C836-036F-D7A7-2E8276739056}"/>
                </a:ext>
              </a:extLst>
            </p:cNvPr>
            <p:cNvGrpSpPr/>
            <p:nvPr/>
          </p:nvGrpSpPr>
          <p:grpSpPr>
            <a:xfrm>
              <a:off x="4728962" y="2408569"/>
              <a:ext cx="312621" cy="328468"/>
              <a:chOff x="6276975" y="5051425"/>
              <a:chExt cx="344488" cy="361950"/>
            </a:xfrm>
            <a:solidFill>
              <a:schemeClr val="bg1"/>
            </a:solidFill>
          </p:grpSpPr>
          <p:sp>
            <p:nvSpPr>
              <p:cNvPr id="61" name="Freeform 1592">
                <a:extLst>
                  <a:ext uri="{FF2B5EF4-FFF2-40B4-BE49-F238E27FC236}">
                    <a16:creationId xmlns:a16="http://schemas.microsoft.com/office/drawing/2014/main" id="{DEA6C29A-4DB7-CAF8-2944-9223E2F7EEDB}"/>
                  </a:ext>
                </a:extLst>
              </p:cNvPr>
              <p:cNvSpPr>
                <a:spLocks noEditPoints="1"/>
              </p:cNvSpPr>
              <p:nvPr/>
            </p:nvSpPr>
            <p:spPr bwMode="auto">
              <a:xfrm>
                <a:off x="6276975" y="5051425"/>
                <a:ext cx="344488" cy="60325"/>
              </a:xfrm>
              <a:custGeom>
                <a:avLst/>
                <a:gdLst>
                  <a:gd name="T0" fmla="*/ 90 w 92"/>
                  <a:gd name="T1" fmla="*/ 16 h 16"/>
                  <a:gd name="T2" fmla="*/ 2 w 92"/>
                  <a:gd name="T3" fmla="*/ 16 h 16"/>
                  <a:gd name="T4" fmla="*/ 0 w 92"/>
                  <a:gd name="T5" fmla="*/ 14 h 16"/>
                  <a:gd name="T6" fmla="*/ 0 w 92"/>
                  <a:gd name="T7" fmla="*/ 2 h 16"/>
                  <a:gd name="T8" fmla="*/ 2 w 92"/>
                  <a:gd name="T9" fmla="*/ 0 h 16"/>
                  <a:gd name="T10" fmla="*/ 90 w 92"/>
                  <a:gd name="T11" fmla="*/ 0 h 16"/>
                  <a:gd name="T12" fmla="*/ 92 w 92"/>
                  <a:gd name="T13" fmla="*/ 2 h 16"/>
                  <a:gd name="T14" fmla="*/ 92 w 92"/>
                  <a:gd name="T15" fmla="*/ 14 h 16"/>
                  <a:gd name="T16" fmla="*/ 90 w 92"/>
                  <a:gd name="T17" fmla="*/ 16 h 16"/>
                  <a:gd name="T18" fmla="*/ 4 w 92"/>
                  <a:gd name="T19" fmla="*/ 12 h 16"/>
                  <a:gd name="T20" fmla="*/ 88 w 92"/>
                  <a:gd name="T21" fmla="*/ 12 h 16"/>
                  <a:gd name="T22" fmla="*/ 88 w 92"/>
                  <a:gd name="T23" fmla="*/ 4 h 16"/>
                  <a:gd name="T24" fmla="*/ 4 w 92"/>
                  <a:gd name="T25" fmla="*/ 4 h 16"/>
                  <a:gd name="T26" fmla="*/ 4 w 92"/>
                  <a:gd name="T2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16">
                    <a:moveTo>
                      <a:pt x="90" y="16"/>
                    </a:moveTo>
                    <a:cubicBezTo>
                      <a:pt x="2" y="16"/>
                      <a:pt x="2" y="16"/>
                      <a:pt x="2" y="16"/>
                    </a:cubicBezTo>
                    <a:cubicBezTo>
                      <a:pt x="1" y="16"/>
                      <a:pt x="0" y="15"/>
                      <a:pt x="0" y="14"/>
                    </a:cubicBezTo>
                    <a:cubicBezTo>
                      <a:pt x="0" y="2"/>
                      <a:pt x="0" y="2"/>
                      <a:pt x="0" y="2"/>
                    </a:cubicBezTo>
                    <a:cubicBezTo>
                      <a:pt x="0" y="1"/>
                      <a:pt x="1" y="0"/>
                      <a:pt x="2" y="0"/>
                    </a:cubicBezTo>
                    <a:cubicBezTo>
                      <a:pt x="90" y="0"/>
                      <a:pt x="90" y="0"/>
                      <a:pt x="90" y="0"/>
                    </a:cubicBezTo>
                    <a:cubicBezTo>
                      <a:pt x="91" y="0"/>
                      <a:pt x="92" y="1"/>
                      <a:pt x="92" y="2"/>
                    </a:cubicBezTo>
                    <a:cubicBezTo>
                      <a:pt x="92" y="14"/>
                      <a:pt x="92" y="14"/>
                      <a:pt x="92" y="14"/>
                    </a:cubicBezTo>
                    <a:cubicBezTo>
                      <a:pt x="92" y="15"/>
                      <a:pt x="91" y="16"/>
                      <a:pt x="90" y="16"/>
                    </a:cubicBezTo>
                    <a:close/>
                    <a:moveTo>
                      <a:pt x="4" y="12"/>
                    </a:moveTo>
                    <a:cubicBezTo>
                      <a:pt x="88" y="12"/>
                      <a:pt x="88" y="12"/>
                      <a:pt x="88" y="12"/>
                    </a:cubicBezTo>
                    <a:cubicBezTo>
                      <a:pt x="88" y="4"/>
                      <a:pt x="88" y="4"/>
                      <a:pt x="88" y="4"/>
                    </a:cubicBezTo>
                    <a:cubicBezTo>
                      <a:pt x="4" y="4"/>
                      <a:pt x="4" y="4"/>
                      <a:pt x="4" y="4"/>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2" name="Freeform 1593">
                <a:extLst>
                  <a:ext uri="{FF2B5EF4-FFF2-40B4-BE49-F238E27FC236}">
                    <a16:creationId xmlns:a16="http://schemas.microsoft.com/office/drawing/2014/main" id="{BEDF827A-546A-9BEF-CFCE-1E2CD99EDCDE}"/>
                  </a:ext>
                </a:extLst>
              </p:cNvPr>
              <p:cNvSpPr>
                <a:spLocks/>
              </p:cNvSpPr>
              <p:nvPr/>
            </p:nvSpPr>
            <p:spPr bwMode="auto">
              <a:xfrm>
                <a:off x="6276975" y="5307013"/>
                <a:ext cx="344488" cy="15875"/>
              </a:xfrm>
              <a:custGeom>
                <a:avLst/>
                <a:gdLst>
                  <a:gd name="T0" fmla="*/ 90 w 92"/>
                  <a:gd name="T1" fmla="*/ 4 h 4"/>
                  <a:gd name="T2" fmla="*/ 2 w 92"/>
                  <a:gd name="T3" fmla="*/ 4 h 4"/>
                  <a:gd name="T4" fmla="*/ 0 w 92"/>
                  <a:gd name="T5" fmla="*/ 2 h 4"/>
                  <a:gd name="T6" fmla="*/ 2 w 92"/>
                  <a:gd name="T7" fmla="*/ 0 h 4"/>
                  <a:gd name="T8" fmla="*/ 90 w 92"/>
                  <a:gd name="T9" fmla="*/ 0 h 4"/>
                  <a:gd name="T10" fmla="*/ 92 w 92"/>
                  <a:gd name="T11" fmla="*/ 2 h 4"/>
                  <a:gd name="T12" fmla="*/ 90 w 9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2" h="4">
                    <a:moveTo>
                      <a:pt x="90" y="4"/>
                    </a:moveTo>
                    <a:cubicBezTo>
                      <a:pt x="2" y="4"/>
                      <a:pt x="2" y="4"/>
                      <a:pt x="2" y="4"/>
                    </a:cubicBezTo>
                    <a:cubicBezTo>
                      <a:pt x="1" y="4"/>
                      <a:pt x="0" y="3"/>
                      <a:pt x="0" y="2"/>
                    </a:cubicBezTo>
                    <a:cubicBezTo>
                      <a:pt x="0" y="1"/>
                      <a:pt x="1" y="0"/>
                      <a:pt x="2" y="0"/>
                    </a:cubicBezTo>
                    <a:cubicBezTo>
                      <a:pt x="90" y="0"/>
                      <a:pt x="90" y="0"/>
                      <a:pt x="90" y="0"/>
                    </a:cubicBezTo>
                    <a:cubicBezTo>
                      <a:pt x="91" y="0"/>
                      <a:pt x="92" y="1"/>
                      <a:pt x="92" y="2"/>
                    </a:cubicBezTo>
                    <a:cubicBezTo>
                      <a:pt x="92" y="3"/>
                      <a:pt x="91" y="4"/>
                      <a:pt x="9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3" name="Freeform 1594">
                <a:extLst>
                  <a:ext uri="{FF2B5EF4-FFF2-40B4-BE49-F238E27FC236}">
                    <a16:creationId xmlns:a16="http://schemas.microsoft.com/office/drawing/2014/main" id="{E211CBB1-B298-8774-BE85-87A9730CD319}"/>
                  </a:ext>
                </a:extLst>
              </p:cNvPr>
              <p:cNvSpPr>
                <a:spLocks noEditPoints="1"/>
              </p:cNvSpPr>
              <p:nvPr/>
            </p:nvSpPr>
            <p:spPr bwMode="auto">
              <a:xfrm>
                <a:off x="6307138" y="5097463"/>
                <a:ext cx="284163" cy="225425"/>
              </a:xfrm>
              <a:custGeom>
                <a:avLst/>
                <a:gdLst>
                  <a:gd name="T0" fmla="*/ 74 w 76"/>
                  <a:gd name="T1" fmla="*/ 60 h 60"/>
                  <a:gd name="T2" fmla="*/ 2 w 76"/>
                  <a:gd name="T3" fmla="*/ 60 h 60"/>
                  <a:gd name="T4" fmla="*/ 0 w 76"/>
                  <a:gd name="T5" fmla="*/ 58 h 60"/>
                  <a:gd name="T6" fmla="*/ 0 w 76"/>
                  <a:gd name="T7" fmla="*/ 2 h 60"/>
                  <a:gd name="T8" fmla="*/ 2 w 76"/>
                  <a:gd name="T9" fmla="*/ 0 h 60"/>
                  <a:gd name="T10" fmla="*/ 74 w 76"/>
                  <a:gd name="T11" fmla="*/ 0 h 60"/>
                  <a:gd name="T12" fmla="*/ 76 w 76"/>
                  <a:gd name="T13" fmla="*/ 2 h 60"/>
                  <a:gd name="T14" fmla="*/ 76 w 76"/>
                  <a:gd name="T15" fmla="*/ 58 h 60"/>
                  <a:gd name="T16" fmla="*/ 74 w 76"/>
                  <a:gd name="T17" fmla="*/ 60 h 60"/>
                  <a:gd name="T18" fmla="*/ 4 w 76"/>
                  <a:gd name="T19" fmla="*/ 56 h 60"/>
                  <a:gd name="T20" fmla="*/ 72 w 76"/>
                  <a:gd name="T21" fmla="*/ 56 h 60"/>
                  <a:gd name="T22" fmla="*/ 72 w 76"/>
                  <a:gd name="T23" fmla="*/ 4 h 60"/>
                  <a:gd name="T24" fmla="*/ 4 w 76"/>
                  <a:gd name="T25" fmla="*/ 4 h 60"/>
                  <a:gd name="T26" fmla="*/ 4 w 76"/>
                  <a:gd name="T27"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60">
                    <a:moveTo>
                      <a:pt x="74" y="60"/>
                    </a:moveTo>
                    <a:cubicBezTo>
                      <a:pt x="2" y="60"/>
                      <a:pt x="2" y="60"/>
                      <a:pt x="2" y="60"/>
                    </a:cubicBezTo>
                    <a:cubicBezTo>
                      <a:pt x="1" y="60"/>
                      <a:pt x="0" y="59"/>
                      <a:pt x="0" y="58"/>
                    </a:cubicBezTo>
                    <a:cubicBezTo>
                      <a:pt x="0" y="2"/>
                      <a:pt x="0" y="2"/>
                      <a:pt x="0" y="2"/>
                    </a:cubicBezTo>
                    <a:cubicBezTo>
                      <a:pt x="0" y="1"/>
                      <a:pt x="1" y="0"/>
                      <a:pt x="2" y="0"/>
                    </a:cubicBezTo>
                    <a:cubicBezTo>
                      <a:pt x="74" y="0"/>
                      <a:pt x="74" y="0"/>
                      <a:pt x="74" y="0"/>
                    </a:cubicBezTo>
                    <a:cubicBezTo>
                      <a:pt x="75" y="0"/>
                      <a:pt x="76" y="1"/>
                      <a:pt x="76" y="2"/>
                    </a:cubicBezTo>
                    <a:cubicBezTo>
                      <a:pt x="76" y="58"/>
                      <a:pt x="76" y="58"/>
                      <a:pt x="76" y="58"/>
                    </a:cubicBezTo>
                    <a:cubicBezTo>
                      <a:pt x="76" y="59"/>
                      <a:pt x="75" y="60"/>
                      <a:pt x="74" y="60"/>
                    </a:cubicBezTo>
                    <a:close/>
                    <a:moveTo>
                      <a:pt x="4" y="56"/>
                    </a:moveTo>
                    <a:cubicBezTo>
                      <a:pt x="72" y="56"/>
                      <a:pt x="72" y="56"/>
                      <a:pt x="72" y="56"/>
                    </a:cubicBezTo>
                    <a:cubicBezTo>
                      <a:pt x="72" y="4"/>
                      <a:pt x="72" y="4"/>
                      <a:pt x="72" y="4"/>
                    </a:cubicBezTo>
                    <a:cubicBezTo>
                      <a:pt x="4" y="4"/>
                      <a:pt x="4" y="4"/>
                      <a:pt x="4" y="4"/>
                    </a:cubicBezTo>
                    <a:lnTo>
                      <a:pt x="4"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4" name="Rectangle 1595">
                <a:extLst>
                  <a:ext uri="{FF2B5EF4-FFF2-40B4-BE49-F238E27FC236}">
                    <a16:creationId xmlns:a16="http://schemas.microsoft.com/office/drawing/2014/main" id="{670E058B-68EA-1E38-F54E-E326FAA3DF76}"/>
                  </a:ext>
                </a:extLst>
              </p:cNvPr>
              <p:cNvSpPr>
                <a:spLocks noChangeArrowheads="1"/>
              </p:cNvSpPr>
              <p:nvPr/>
            </p:nvSpPr>
            <p:spPr bwMode="auto">
              <a:xfrm>
                <a:off x="6442075" y="5314950"/>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5" name="Freeform 1596">
                <a:extLst>
                  <a:ext uri="{FF2B5EF4-FFF2-40B4-BE49-F238E27FC236}">
                    <a16:creationId xmlns:a16="http://schemas.microsoft.com/office/drawing/2014/main" id="{E28C4BCE-1F04-11B8-F8F7-006EE1A395F2}"/>
                  </a:ext>
                </a:extLst>
              </p:cNvPr>
              <p:cNvSpPr>
                <a:spLocks noEditPoints="1"/>
              </p:cNvSpPr>
              <p:nvPr/>
            </p:nvSpPr>
            <p:spPr bwMode="auto">
              <a:xfrm>
                <a:off x="6419850" y="5353050"/>
                <a:ext cx="58738" cy="60325"/>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1597">
                <a:extLst>
                  <a:ext uri="{FF2B5EF4-FFF2-40B4-BE49-F238E27FC236}">
                    <a16:creationId xmlns:a16="http://schemas.microsoft.com/office/drawing/2014/main" id="{A80C6E2F-F735-9A10-6A71-C4A2E2110783}"/>
                  </a:ext>
                </a:extLst>
              </p:cNvPr>
              <p:cNvSpPr>
                <a:spLocks noEditPoints="1"/>
              </p:cNvSpPr>
              <p:nvPr/>
            </p:nvSpPr>
            <p:spPr bwMode="auto">
              <a:xfrm>
                <a:off x="6359525" y="5141913"/>
                <a:ext cx="157163" cy="106363"/>
              </a:xfrm>
              <a:custGeom>
                <a:avLst/>
                <a:gdLst>
                  <a:gd name="T0" fmla="*/ 40 w 42"/>
                  <a:gd name="T1" fmla="*/ 28 h 28"/>
                  <a:gd name="T2" fmla="*/ 12 w 42"/>
                  <a:gd name="T3" fmla="*/ 28 h 28"/>
                  <a:gd name="T4" fmla="*/ 10 w 42"/>
                  <a:gd name="T5" fmla="*/ 26 h 28"/>
                  <a:gd name="T6" fmla="*/ 10 w 42"/>
                  <a:gd name="T7" fmla="*/ 4 h 28"/>
                  <a:gd name="T8" fmla="*/ 2 w 42"/>
                  <a:gd name="T9" fmla="*/ 4 h 28"/>
                  <a:gd name="T10" fmla="*/ 0 w 42"/>
                  <a:gd name="T11" fmla="*/ 2 h 28"/>
                  <a:gd name="T12" fmla="*/ 2 w 42"/>
                  <a:gd name="T13" fmla="*/ 0 h 28"/>
                  <a:gd name="T14" fmla="*/ 12 w 42"/>
                  <a:gd name="T15" fmla="*/ 0 h 28"/>
                  <a:gd name="T16" fmla="*/ 14 w 42"/>
                  <a:gd name="T17" fmla="*/ 2 h 28"/>
                  <a:gd name="T18" fmla="*/ 14 w 42"/>
                  <a:gd name="T19" fmla="*/ 8 h 28"/>
                  <a:gd name="T20" fmla="*/ 40 w 42"/>
                  <a:gd name="T21" fmla="*/ 8 h 28"/>
                  <a:gd name="T22" fmla="*/ 42 w 42"/>
                  <a:gd name="T23" fmla="*/ 10 h 28"/>
                  <a:gd name="T24" fmla="*/ 42 w 42"/>
                  <a:gd name="T25" fmla="*/ 26 h 28"/>
                  <a:gd name="T26" fmla="*/ 40 w 42"/>
                  <a:gd name="T27" fmla="*/ 28 h 28"/>
                  <a:gd name="T28" fmla="*/ 14 w 42"/>
                  <a:gd name="T29" fmla="*/ 24 h 28"/>
                  <a:gd name="T30" fmla="*/ 38 w 42"/>
                  <a:gd name="T31" fmla="*/ 24 h 28"/>
                  <a:gd name="T32" fmla="*/ 38 w 42"/>
                  <a:gd name="T33" fmla="*/ 12 h 28"/>
                  <a:gd name="T34" fmla="*/ 14 w 42"/>
                  <a:gd name="T35" fmla="*/ 12 h 28"/>
                  <a:gd name="T36" fmla="*/ 14 w 42"/>
                  <a:gd name="T3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28">
                    <a:moveTo>
                      <a:pt x="40" y="28"/>
                    </a:moveTo>
                    <a:cubicBezTo>
                      <a:pt x="12" y="28"/>
                      <a:pt x="12" y="28"/>
                      <a:pt x="12" y="28"/>
                    </a:cubicBezTo>
                    <a:cubicBezTo>
                      <a:pt x="11" y="28"/>
                      <a:pt x="10" y="27"/>
                      <a:pt x="10" y="26"/>
                    </a:cubicBezTo>
                    <a:cubicBezTo>
                      <a:pt x="10" y="4"/>
                      <a:pt x="10" y="4"/>
                      <a:pt x="10" y="4"/>
                    </a:cubicBezTo>
                    <a:cubicBezTo>
                      <a:pt x="2" y="4"/>
                      <a:pt x="2" y="4"/>
                      <a:pt x="2" y="4"/>
                    </a:cubicBezTo>
                    <a:cubicBezTo>
                      <a:pt x="1" y="4"/>
                      <a:pt x="0" y="3"/>
                      <a:pt x="0" y="2"/>
                    </a:cubicBezTo>
                    <a:cubicBezTo>
                      <a:pt x="0" y="1"/>
                      <a:pt x="1" y="0"/>
                      <a:pt x="2" y="0"/>
                    </a:cubicBezTo>
                    <a:cubicBezTo>
                      <a:pt x="12" y="0"/>
                      <a:pt x="12" y="0"/>
                      <a:pt x="12" y="0"/>
                    </a:cubicBezTo>
                    <a:cubicBezTo>
                      <a:pt x="13" y="0"/>
                      <a:pt x="14" y="1"/>
                      <a:pt x="14" y="2"/>
                    </a:cubicBezTo>
                    <a:cubicBezTo>
                      <a:pt x="14" y="8"/>
                      <a:pt x="14" y="8"/>
                      <a:pt x="14" y="8"/>
                    </a:cubicBezTo>
                    <a:cubicBezTo>
                      <a:pt x="40" y="8"/>
                      <a:pt x="40" y="8"/>
                      <a:pt x="40" y="8"/>
                    </a:cubicBezTo>
                    <a:cubicBezTo>
                      <a:pt x="41" y="8"/>
                      <a:pt x="42" y="9"/>
                      <a:pt x="42" y="10"/>
                    </a:cubicBezTo>
                    <a:cubicBezTo>
                      <a:pt x="42" y="26"/>
                      <a:pt x="42" y="26"/>
                      <a:pt x="42" y="26"/>
                    </a:cubicBezTo>
                    <a:cubicBezTo>
                      <a:pt x="42" y="27"/>
                      <a:pt x="41" y="28"/>
                      <a:pt x="40" y="28"/>
                    </a:cubicBezTo>
                    <a:close/>
                    <a:moveTo>
                      <a:pt x="14" y="24"/>
                    </a:moveTo>
                    <a:cubicBezTo>
                      <a:pt x="38" y="24"/>
                      <a:pt x="38" y="24"/>
                      <a:pt x="38" y="24"/>
                    </a:cubicBezTo>
                    <a:cubicBezTo>
                      <a:pt x="38" y="12"/>
                      <a:pt x="38" y="12"/>
                      <a:pt x="38" y="12"/>
                    </a:cubicBezTo>
                    <a:cubicBezTo>
                      <a:pt x="14" y="12"/>
                      <a:pt x="14" y="12"/>
                      <a:pt x="14"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Oval 1598">
                <a:extLst>
                  <a:ext uri="{FF2B5EF4-FFF2-40B4-BE49-F238E27FC236}">
                    <a16:creationId xmlns:a16="http://schemas.microsoft.com/office/drawing/2014/main" id="{CC7DF1EF-B525-9A6A-63B7-1DFA98B78B37}"/>
                  </a:ext>
                </a:extLst>
              </p:cNvPr>
              <p:cNvSpPr>
                <a:spLocks noChangeArrowheads="1"/>
              </p:cNvSpPr>
              <p:nvPr/>
            </p:nvSpPr>
            <p:spPr bwMode="auto">
              <a:xfrm>
                <a:off x="6403975"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8" name="Oval 1599">
                <a:extLst>
                  <a:ext uri="{FF2B5EF4-FFF2-40B4-BE49-F238E27FC236}">
                    <a16:creationId xmlns:a16="http://schemas.microsoft.com/office/drawing/2014/main" id="{B64EA0E0-399C-3214-50B1-A170F0D40DB7}"/>
                  </a:ext>
                </a:extLst>
              </p:cNvPr>
              <p:cNvSpPr>
                <a:spLocks noChangeArrowheads="1"/>
              </p:cNvSpPr>
              <p:nvPr/>
            </p:nvSpPr>
            <p:spPr bwMode="auto">
              <a:xfrm>
                <a:off x="6478588"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9" name="Group 38">
              <a:extLst>
                <a:ext uri="{FF2B5EF4-FFF2-40B4-BE49-F238E27FC236}">
                  <a16:creationId xmlns:a16="http://schemas.microsoft.com/office/drawing/2014/main" id="{63CCD689-9808-A922-9F75-CFC6301EFC04}"/>
                </a:ext>
              </a:extLst>
            </p:cNvPr>
            <p:cNvGrpSpPr/>
            <p:nvPr/>
          </p:nvGrpSpPr>
          <p:grpSpPr>
            <a:xfrm>
              <a:off x="4728242" y="3449915"/>
              <a:ext cx="314061" cy="314062"/>
              <a:chOff x="5554663" y="723900"/>
              <a:chExt cx="346075" cy="346076"/>
            </a:xfrm>
            <a:solidFill>
              <a:schemeClr val="bg1"/>
            </a:solidFill>
          </p:grpSpPr>
          <p:sp>
            <p:nvSpPr>
              <p:cNvPr id="54" name="Freeform 1743">
                <a:extLst>
                  <a:ext uri="{FF2B5EF4-FFF2-40B4-BE49-F238E27FC236}">
                    <a16:creationId xmlns:a16="http://schemas.microsoft.com/office/drawing/2014/main" id="{007EBBDE-350A-B98E-EBD8-9B1295079AA1}"/>
                  </a:ext>
                </a:extLst>
              </p:cNvPr>
              <p:cNvSpPr>
                <a:spLocks noEditPoints="1"/>
              </p:cNvSpPr>
              <p:nvPr/>
            </p:nvSpPr>
            <p:spPr bwMode="auto">
              <a:xfrm>
                <a:off x="5595938" y="765175"/>
                <a:ext cx="263525" cy="263525"/>
              </a:xfrm>
              <a:custGeom>
                <a:avLst/>
                <a:gdLst>
                  <a:gd name="T0" fmla="*/ 35 w 70"/>
                  <a:gd name="T1" fmla="*/ 70 h 70"/>
                  <a:gd name="T2" fmla="*/ 0 w 70"/>
                  <a:gd name="T3" fmla="*/ 35 h 70"/>
                  <a:gd name="T4" fmla="*/ 35 w 70"/>
                  <a:gd name="T5" fmla="*/ 0 h 70"/>
                  <a:gd name="T6" fmla="*/ 70 w 70"/>
                  <a:gd name="T7" fmla="*/ 35 h 70"/>
                  <a:gd name="T8" fmla="*/ 35 w 70"/>
                  <a:gd name="T9" fmla="*/ 70 h 70"/>
                  <a:gd name="T10" fmla="*/ 35 w 70"/>
                  <a:gd name="T11" fmla="*/ 4 h 70"/>
                  <a:gd name="T12" fmla="*/ 4 w 70"/>
                  <a:gd name="T13" fmla="*/ 35 h 70"/>
                  <a:gd name="T14" fmla="*/ 35 w 70"/>
                  <a:gd name="T15" fmla="*/ 66 h 70"/>
                  <a:gd name="T16" fmla="*/ 66 w 70"/>
                  <a:gd name="T17" fmla="*/ 35 h 70"/>
                  <a:gd name="T18" fmla="*/ 35 w 70"/>
                  <a:gd name="T19"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70">
                    <a:moveTo>
                      <a:pt x="35" y="70"/>
                    </a:moveTo>
                    <a:cubicBezTo>
                      <a:pt x="16" y="70"/>
                      <a:pt x="0" y="54"/>
                      <a:pt x="0" y="35"/>
                    </a:cubicBezTo>
                    <a:cubicBezTo>
                      <a:pt x="0" y="16"/>
                      <a:pt x="16" y="0"/>
                      <a:pt x="35" y="0"/>
                    </a:cubicBezTo>
                    <a:cubicBezTo>
                      <a:pt x="54" y="0"/>
                      <a:pt x="70" y="16"/>
                      <a:pt x="70" y="35"/>
                    </a:cubicBezTo>
                    <a:cubicBezTo>
                      <a:pt x="70" y="54"/>
                      <a:pt x="54" y="70"/>
                      <a:pt x="35" y="70"/>
                    </a:cubicBezTo>
                    <a:close/>
                    <a:moveTo>
                      <a:pt x="35" y="4"/>
                    </a:moveTo>
                    <a:cubicBezTo>
                      <a:pt x="18" y="4"/>
                      <a:pt x="4" y="18"/>
                      <a:pt x="4" y="35"/>
                    </a:cubicBezTo>
                    <a:cubicBezTo>
                      <a:pt x="4" y="52"/>
                      <a:pt x="18" y="66"/>
                      <a:pt x="35" y="66"/>
                    </a:cubicBezTo>
                    <a:cubicBezTo>
                      <a:pt x="52" y="66"/>
                      <a:pt x="66" y="52"/>
                      <a:pt x="66" y="35"/>
                    </a:cubicBezTo>
                    <a:cubicBezTo>
                      <a:pt x="66" y="18"/>
                      <a:pt x="52" y="4"/>
                      <a:pt x="3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5" name="Freeform 1744">
                <a:extLst>
                  <a:ext uri="{FF2B5EF4-FFF2-40B4-BE49-F238E27FC236}">
                    <a16:creationId xmlns:a16="http://schemas.microsoft.com/office/drawing/2014/main" id="{106B6A51-7509-5465-8942-47199E2B2FEC}"/>
                  </a:ext>
                </a:extLst>
              </p:cNvPr>
              <p:cNvSpPr>
                <a:spLocks/>
              </p:cNvSpPr>
              <p:nvPr/>
            </p:nvSpPr>
            <p:spPr bwMode="auto">
              <a:xfrm>
                <a:off x="5719763" y="723900"/>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6" name="Freeform 1745">
                <a:extLst>
                  <a:ext uri="{FF2B5EF4-FFF2-40B4-BE49-F238E27FC236}">
                    <a16:creationId xmlns:a16="http://schemas.microsoft.com/office/drawing/2014/main" id="{7E4E865B-525D-F0A8-34A9-5B2533985969}"/>
                  </a:ext>
                </a:extLst>
              </p:cNvPr>
              <p:cNvSpPr>
                <a:spLocks/>
              </p:cNvSpPr>
              <p:nvPr/>
            </p:nvSpPr>
            <p:spPr bwMode="auto">
              <a:xfrm>
                <a:off x="5554663" y="889000"/>
                <a:ext cx="87313"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746">
                <a:extLst>
                  <a:ext uri="{FF2B5EF4-FFF2-40B4-BE49-F238E27FC236}">
                    <a16:creationId xmlns:a16="http://schemas.microsoft.com/office/drawing/2014/main" id="{B50B780F-2670-EB2F-4654-F217472F8C1E}"/>
                  </a:ext>
                </a:extLst>
              </p:cNvPr>
              <p:cNvSpPr>
                <a:spLocks/>
              </p:cNvSpPr>
              <p:nvPr/>
            </p:nvSpPr>
            <p:spPr bwMode="auto">
              <a:xfrm>
                <a:off x="5719763" y="982663"/>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8" name="Freeform 1747">
                <a:extLst>
                  <a:ext uri="{FF2B5EF4-FFF2-40B4-BE49-F238E27FC236}">
                    <a16:creationId xmlns:a16="http://schemas.microsoft.com/office/drawing/2014/main" id="{2860D1F9-29CE-580E-9957-8E9EC4FA0F5F}"/>
                  </a:ext>
                </a:extLst>
              </p:cNvPr>
              <p:cNvSpPr>
                <a:spLocks/>
              </p:cNvSpPr>
              <p:nvPr/>
            </p:nvSpPr>
            <p:spPr bwMode="auto">
              <a:xfrm>
                <a:off x="5815013" y="889000"/>
                <a:ext cx="85725"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9" name="Freeform 1748">
                <a:extLst>
                  <a:ext uri="{FF2B5EF4-FFF2-40B4-BE49-F238E27FC236}">
                    <a16:creationId xmlns:a16="http://schemas.microsoft.com/office/drawing/2014/main" id="{F2AF8A12-A080-5948-E925-E1F68E498D8A}"/>
                  </a:ext>
                </a:extLst>
              </p:cNvPr>
              <p:cNvSpPr>
                <a:spLocks/>
              </p:cNvSpPr>
              <p:nvPr/>
            </p:nvSpPr>
            <p:spPr bwMode="auto">
              <a:xfrm>
                <a:off x="5697538" y="844550"/>
                <a:ext cx="60325" cy="104775"/>
              </a:xfrm>
              <a:custGeom>
                <a:avLst/>
                <a:gdLst>
                  <a:gd name="T0" fmla="*/ 8 w 16"/>
                  <a:gd name="T1" fmla="*/ 28 h 28"/>
                  <a:gd name="T2" fmla="*/ 0 w 16"/>
                  <a:gd name="T3" fmla="*/ 20 h 28"/>
                  <a:gd name="T4" fmla="*/ 2 w 16"/>
                  <a:gd name="T5" fmla="*/ 18 h 28"/>
                  <a:gd name="T6" fmla="*/ 4 w 16"/>
                  <a:gd name="T7" fmla="*/ 20 h 28"/>
                  <a:gd name="T8" fmla="*/ 8 w 16"/>
                  <a:gd name="T9" fmla="*/ 24 h 28"/>
                  <a:gd name="T10" fmla="*/ 12 w 16"/>
                  <a:gd name="T11" fmla="*/ 20 h 28"/>
                  <a:gd name="T12" fmla="*/ 8 w 16"/>
                  <a:gd name="T13" fmla="*/ 16 h 28"/>
                  <a:gd name="T14" fmla="*/ 0 w 16"/>
                  <a:gd name="T15" fmla="*/ 8 h 28"/>
                  <a:gd name="T16" fmla="*/ 8 w 16"/>
                  <a:gd name="T17" fmla="*/ 0 h 28"/>
                  <a:gd name="T18" fmla="*/ 16 w 16"/>
                  <a:gd name="T19" fmla="*/ 8 h 28"/>
                  <a:gd name="T20" fmla="*/ 14 w 16"/>
                  <a:gd name="T21" fmla="*/ 10 h 28"/>
                  <a:gd name="T22" fmla="*/ 12 w 16"/>
                  <a:gd name="T23" fmla="*/ 8 h 28"/>
                  <a:gd name="T24" fmla="*/ 8 w 16"/>
                  <a:gd name="T25" fmla="*/ 4 h 28"/>
                  <a:gd name="T26" fmla="*/ 4 w 16"/>
                  <a:gd name="T27" fmla="*/ 8 h 28"/>
                  <a:gd name="T28" fmla="*/ 8 w 16"/>
                  <a:gd name="T29" fmla="*/ 12 h 28"/>
                  <a:gd name="T30" fmla="*/ 16 w 16"/>
                  <a:gd name="T31" fmla="*/ 20 h 28"/>
                  <a:gd name="T32" fmla="*/ 8 w 16"/>
                  <a:gd name="T3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8">
                    <a:moveTo>
                      <a:pt x="8" y="28"/>
                    </a:moveTo>
                    <a:cubicBezTo>
                      <a:pt x="4" y="28"/>
                      <a:pt x="0" y="24"/>
                      <a:pt x="0" y="20"/>
                    </a:cubicBezTo>
                    <a:cubicBezTo>
                      <a:pt x="0" y="19"/>
                      <a:pt x="1" y="18"/>
                      <a:pt x="2" y="18"/>
                    </a:cubicBezTo>
                    <a:cubicBezTo>
                      <a:pt x="3" y="18"/>
                      <a:pt x="4" y="19"/>
                      <a:pt x="4" y="20"/>
                    </a:cubicBezTo>
                    <a:cubicBezTo>
                      <a:pt x="4" y="22"/>
                      <a:pt x="6" y="24"/>
                      <a:pt x="8" y="24"/>
                    </a:cubicBezTo>
                    <a:cubicBezTo>
                      <a:pt x="10" y="24"/>
                      <a:pt x="12" y="22"/>
                      <a:pt x="12" y="20"/>
                    </a:cubicBezTo>
                    <a:cubicBezTo>
                      <a:pt x="12" y="18"/>
                      <a:pt x="10" y="16"/>
                      <a:pt x="8" y="16"/>
                    </a:cubicBezTo>
                    <a:cubicBezTo>
                      <a:pt x="4" y="16"/>
                      <a:pt x="0" y="12"/>
                      <a:pt x="0" y="8"/>
                    </a:cubicBezTo>
                    <a:cubicBezTo>
                      <a:pt x="0" y="3"/>
                      <a:pt x="4" y="0"/>
                      <a:pt x="8" y="0"/>
                    </a:cubicBezTo>
                    <a:cubicBezTo>
                      <a:pt x="12" y="0"/>
                      <a:pt x="16" y="3"/>
                      <a:pt x="16" y="8"/>
                    </a:cubicBezTo>
                    <a:cubicBezTo>
                      <a:pt x="16" y="9"/>
                      <a:pt x="15" y="10"/>
                      <a:pt x="14" y="10"/>
                    </a:cubicBezTo>
                    <a:cubicBezTo>
                      <a:pt x="13" y="10"/>
                      <a:pt x="12" y="9"/>
                      <a:pt x="12" y="8"/>
                    </a:cubicBezTo>
                    <a:cubicBezTo>
                      <a:pt x="12" y="5"/>
                      <a:pt x="10" y="4"/>
                      <a:pt x="8" y="4"/>
                    </a:cubicBezTo>
                    <a:cubicBezTo>
                      <a:pt x="6" y="4"/>
                      <a:pt x="4" y="5"/>
                      <a:pt x="4" y="8"/>
                    </a:cubicBezTo>
                    <a:cubicBezTo>
                      <a:pt x="4" y="10"/>
                      <a:pt x="6" y="12"/>
                      <a:pt x="8" y="12"/>
                    </a:cubicBezTo>
                    <a:cubicBezTo>
                      <a:pt x="12" y="12"/>
                      <a:pt x="16" y="15"/>
                      <a:pt x="16" y="20"/>
                    </a:cubicBezTo>
                    <a:cubicBezTo>
                      <a:pt x="16" y="24"/>
                      <a:pt x="12" y="28"/>
                      <a:pt x="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0" name="Freeform 1749">
                <a:extLst>
                  <a:ext uri="{FF2B5EF4-FFF2-40B4-BE49-F238E27FC236}">
                    <a16:creationId xmlns:a16="http://schemas.microsoft.com/office/drawing/2014/main" id="{BB0B7FBF-C849-E5BB-A0E7-3035EFF9240F}"/>
                  </a:ext>
                </a:extLst>
              </p:cNvPr>
              <p:cNvSpPr>
                <a:spLocks/>
              </p:cNvSpPr>
              <p:nvPr/>
            </p:nvSpPr>
            <p:spPr bwMode="auto">
              <a:xfrm>
                <a:off x="5719763" y="828675"/>
                <a:ext cx="15875" cy="136525"/>
              </a:xfrm>
              <a:custGeom>
                <a:avLst/>
                <a:gdLst>
                  <a:gd name="T0" fmla="*/ 2 w 4"/>
                  <a:gd name="T1" fmla="*/ 36 h 36"/>
                  <a:gd name="T2" fmla="*/ 0 w 4"/>
                  <a:gd name="T3" fmla="*/ 34 h 36"/>
                  <a:gd name="T4" fmla="*/ 0 w 4"/>
                  <a:gd name="T5" fmla="*/ 2 h 36"/>
                  <a:gd name="T6" fmla="*/ 2 w 4"/>
                  <a:gd name="T7" fmla="*/ 0 h 36"/>
                  <a:gd name="T8" fmla="*/ 4 w 4"/>
                  <a:gd name="T9" fmla="*/ 2 h 36"/>
                  <a:gd name="T10" fmla="*/ 4 w 4"/>
                  <a:gd name="T11" fmla="*/ 34 h 36"/>
                  <a:gd name="T12" fmla="*/ 2 w 4"/>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4" h="36">
                    <a:moveTo>
                      <a:pt x="2" y="36"/>
                    </a:moveTo>
                    <a:cubicBezTo>
                      <a:pt x="1" y="36"/>
                      <a:pt x="0" y="35"/>
                      <a:pt x="0" y="34"/>
                    </a:cubicBezTo>
                    <a:cubicBezTo>
                      <a:pt x="0" y="2"/>
                      <a:pt x="0" y="2"/>
                      <a:pt x="0" y="2"/>
                    </a:cubicBezTo>
                    <a:cubicBezTo>
                      <a:pt x="0" y="1"/>
                      <a:pt x="1" y="0"/>
                      <a:pt x="2" y="0"/>
                    </a:cubicBezTo>
                    <a:cubicBezTo>
                      <a:pt x="3" y="0"/>
                      <a:pt x="4" y="1"/>
                      <a:pt x="4" y="2"/>
                    </a:cubicBezTo>
                    <a:cubicBezTo>
                      <a:pt x="4" y="34"/>
                      <a:pt x="4" y="34"/>
                      <a:pt x="4" y="34"/>
                    </a:cubicBezTo>
                    <a:cubicBezTo>
                      <a:pt x="4" y="35"/>
                      <a:pt x="3" y="36"/>
                      <a:pt x="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0" name="Group 39">
              <a:extLst>
                <a:ext uri="{FF2B5EF4-FFF2-40B4-BE49-F238E27FC236}">
                  <a16:creationId xmlns:a16="http://schemas.microsoft.com/office/drawing/2014/main" id="{BBBC01AF-EFD2-0A10-C991-8D5A8D4CE1BB}"/>
                </a:ext>
              </a:extLst>
            </p:cNvPr>
            <p:cNvGrpSpPr/>
            <p:nvPr/>
          </p:nvGrpSpPr>
          <p:grpSpPr>
            <a:xfrm>
              <a:off x="4729683" y="4477576"/>
              <a:ext cx="311179" cy="327027"/>
              <a:chOff x="7718425" y="1082675"/>
              <a:chExt cx="342900" cy="360363"/>
            </a:xfrm>
            <a:solidFill>
              <a:schemeClr val="bg1"/>
            </a:solidFill>
          </p:grpSpPr>
          <p:sp>
            <p:nvSpPr>
              <p:cNvPr id="51" name="Freeform 656">
                <a:extLst>
                  <a:ext uri="{FF2B5EF4-FFF2-40B4-BE49-F238E27FC236}">
                    <a16:creationId xmlns:a16="http://schemas.microsoft.com/office/drawing/2014/main" id="{9AFE15F2-3065-A821-2DAE-F0844294DA04}"/>
                  </a:ext>
                </a:extLst>
              </p:cNvPr>
              <p:cNvSpPr>
                <a:spLocks noEditPoints="1"/>
              </p:cNvSpPr>
              <p:nvPr/>
            </p:nvSpPr>
            <p:spPr bwMode="auto">
              <a:xfrm>
                <a:off x="7718425" y="1203325"/>
                <a:ext cx="301625" cy="239713"/>
              </a:xfrm>
              <a:custGeom>
                <a:avLst/>
                <a:gdLst>
                  <a:gd name="T0" fmla="*/ 78 w 80"/>
                  <a:gd name="T1" fmla="*/ 64 h 64"/>
                  <a:gd name="T2" fmla="*/ 2 w 80"/>
                  <a:gd name="T3" fmla="*/ 64 h 64"/>
                  <a:gd name="T4" fmla="*/ 0 w 80"/>
                  <a:gd name="T5" fmla="*/ 62 h 64"/>
                  <a:gd name="T6" fmla="*/ 0 w 80"/>
                  <a:gd name="T7" fmla="*/ 2 h 64"/>
                  <a:gd name="T8" fmla="*/ 2 w 80"/>
                  <a:gd name="T9" fmla="*/ 0 h 64"/>
                  <a:gd name="T10" fmla="*/ 78 w 80"/>
                  <a:gd name="T11" fmla="*/ 0 h 64"/>
                  <a:gd name="T12" fmla="*/ 80 w 80"/>
                  <a:gd name="T13" fmla="*/ 2 h 64"/>
                  <a:gd name="T14" fmla="*/ 80 w 80"/>
                  <a:gd name="T15" fmla="*/ 62 h 64"/>
                  <a:gd name="T16" fmla="*/ 78 w 80"/>
                  <a:gd name="T17" fmla="*/ 64 h 64"/>
                  <a:gd name="T18" fmla="*/ 4 w 80"/>
                  <a:gd name="T19" fmla="*/ 60 h 64"/>
                  <a:gd name="T20" fmla="*/ 76 w 80"/>
                  <a:gd name="T21" fmla="*/ 60 h 64"/>
                  <a:gd name="T22" fmla="*/ 76 w 80"/>
                  <a:gd name="T23" fmla="*/ 4 h 64"/>
                  <a:gd name="T24" fmla="*/ 4 w 80"/>
                  <a:gd name="T25" fmla="*/ 4 h 64"/>
                  <a:gd name="T26" fmla="*/ 4 w 80"/>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64">
                    <a:moveTo>
                      <a:pt x="78" y="64"/>
                    </a:moveTo>
                    <a:cubicBezTo>
                      <a:pt x="2" y="64"/>
                      <a:pt x="2" y="64"/>
                      <a:pt x="2" y="64"/>
                    </a:cubicBezTo>
                    <a:cubicBezTo>
                      <a:pt x="1" y="64"/>
                      <a:pt x="0" y="63"/>
                      <a:pt x="0" y="62"/>
                    </a:cubicBezTo>
                    <a:cubicBezTo>
                      <a:pt x="0" y="2"/>
                      <a:pt x="0" y="2"/>
                      <a:pt x="0" y="2"/>
                    </a:cubicBezTo>
                    <a:cubicBezTo>
                      <a:pt x="0" y="1"/>
                      <a:pt x="1" y="0"/>
                      <a:pt x="2" y="0"/>
                    </a:cubicBezTo>
                    <a:cubicBezTo>
                      <a:pt x="78" y="0"/>
                      <a:pt x="78" y="0"/>
                      <a:pt x="78" y="0"/>
                    </a:cubicBezTo>
                    <a:cubicBezTo>
                      <a:pt x="79" y="0"/>
                      <a:pt x="80" y="1"/>
                      <a:pt x="80" y="2"/>
                    </a:cubicBezTo>
                    <a:cubicBezTo>
                      <a:pt x="80" y="62"/>
                      <a:pt x="80" y="62"/>
                      <a:pt x="80" y="62"/>
                    </a:cubicBezTo>
                    <a:cubicBezTo>
                      <a:pt x="80" y="63"/>
                      <a:pt x="79" y="64"/>
                      <a:pt x="78" y="64"/>
                    </a:cubicBezTo>
                    <a:close/>
                    <a:moveTo>
                      <a:pt x="4" y="60"/>
                    </a:moveTo>
                    <a:cubicBezTo>
                      <a:pt x="76" y="60"/>
                      <a:pt x="76" y="60"/>
                      <a:pt x="76" y="60"/>
                    </a:cubicBezTo>
                    <a:cubicBezTo>
                      <a:pt x="76" y="4"/>
                      <a:pt x="76" y="4"/>
                      <a:pt x="76" y="4"/>
                    </a:cubicBezTo>
                    <a:cubicBezTo>
                      <a:pt x="4" y="4"/>
                      <a:pt x="4" y="4"/>
                      <a:pt x="4" y="4"/>
                    </a:cubicBezTo>
                    <a:lnTo>
                      <a:pt x="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Freeform 657">
                <a:extLst>
                  <a:ext uri="{FF2B5EF4-FFF2-40B4-BE49-F238E27FC236}">
                    <a16:creationId xmlns:a16="http://schemas.microsoft.com/office/drawing/2014/main" id="{350EC060-AA29-D881-43B4-F7FA7C2A8246}"/>
                  </a:ext>
                </a:extLst>
              </p:cNvPr>
              <p:cNvSpPr>
                <a:spLocks/>
              </p:cNvSpPr>
              <p:nvPr/>
            </p:nvSpPr>
            <p:spPr bwMode="auto">
              <a:xfrm>
                <a:off x="7794625" y="1082675"/>
                <a:ext cx="149225" cy="104775"/>
              </a:xfrm>
              <a:custGeom>
                <a:avLst/>
                <a:gdLst>
                  <a:gd name="T0" fmla="*/ 38 w 40"/>
                  <a:gd name="T1" fmla="*/ 28 h 28"/>
                  <a:gd name="T2" fmla="*/ 36 w 40"/>
                  <a:gd name="T3" fmla="*/ 26 h 28"/>
                  <a:gd name="T4" fmla="*/ 36 w 40"/>
                  <a:gd name="T5" fmla="*/ 20 h 28"/>
                  <a:gd name="T6" fmla="*/ 20 w 40"/>
                  <a:gd name="T7" fmla="*/ 4 h 28"/>
                  <a:gd name="T8" fmla="*/ 4 w 40"/>
                  <a:gd name="T9" fmla="*/ 20 h 28"/>
                  <a:gd name="T10" fmla="*/ 4 w 40"/>
                  <a:gd name="T11" fmla="*/ 26 h 28"/>
                  <a:gd name="T12" fmla="*/ 2 w 40"/>
                  <a:gd name="T13" fmla="*/ 28 h 28"/>
                  <a:gd name="T14" fmla="*/ 0 w 40"/>
                  <a:gd name="T15" fmla="*/ 26 h 28"/>
                  <a:gd name="T16" fmla="*/ 0 w 40"/>
                  <a:gd name="T17" fmla="*/ 20 h 28"/>
                  <a:gd name="T18" fmla="*/ 20 w 40"/>
                  <a:gd name="T19" fmla="*/ 0 h 28"/>
                  <a:gd name="T20" fmla="*/ 40 w 40"/>
                  <a:gd name="T21" fmla="*/ 20 h 28"/>
                  <a:gd name="T22" fmla="*/ 40 w 40"/>
                  <a:gd name="T23" fmla="*/ 26 h 28"/>
                  <a:gd name="T24" fmla="*/ 38 w 40"/>
                  <a:gd name="T25"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28">
                    <a:moveTo>
                      <a:pt x="38" y="28"/>
                    </a:moveTo>
                    <a:cubicBezTo>
                      <a:pt x="37" y="28"/>
                      <a:pt x="36" y="27"/>
                      <a:pt x="36" y="26"/>
                    </a:cubicBezTo>
                    <a:cubicBezTo>
                      <a:pt x="36" y="20"/>
                      <a:pt x="36" y="20"/>
                      <a:pt x="36" y="20"/>
                    </a:cubicBezTo>
                    <a:cubicBezTo>
                      <a:pt x="36" y="11"/>
                      <a:pt x="29" y="4"/>
                      <a:pt x="20" y="4"/>
                    </a:cubicBezTo>
                    <a:cubicBezTo>
                      <a:pt x="11" y="4"/>
                      <a:pt x="4" y="11"/>
                      <a:pt x="4" y="20"/>
                    </a:cubicBezTo>
                    <a:cubicBezTo>
                      <a:pt x="4" y="26"/>
                      <a:pt x="4" y="26"/>
                      <a:pt x="4" y="26"/>
                    </a:cubicBezTo>
                    <a:cubicBezTo>
                      <a:pt x="4" y="27"/>
                      <a:pt x="3" y="28"/>
                      <a:pt x="2" y="28"/>
                    </a:cubicBezTo>
                    <a:cubicBezTo>
                      <a:pt x="1" y="28"/>
                      <a:pt x="0" y="27"/>
                      <a:pt x="0" y="26"/>
                    </a:cubicBezTo>
                    <a:cubicBezTo>
                      <a:pt x="0" y="20"/>
                      <a:pt x="0" y="20"/>
                      <a:pt x="0" y="20"/>
                    </a:cubicBezTo>
                    <a:cubicBezTo>
                      <a:pt x="0" y="9"/>
                      <a:pt x="9" y="0"/>
                      <a:pt x="20" y="0"/>
                    </a:cubicBezTo>
                    <a:cubicBezTo>
                      <a:pt x="31" y="0"/>
                      <a:pt x="40" y="9"/>
                      <a:pt x="40" y="20"/>
                    </a:cubicBezTo>
                    <a:cubicBezTo>
                      <a:pt x="40" y="26"/>
                      <a:pt x="40" y="26"/>
                      <a:pt x="40" y="26"/>
                    </a:cubicBezTo>
                    <a:cubicBezTo>
                      <a:pt x="40" y="27"/>
                      <a:pt x="39" y="28"/>
                      <a:pt x="3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3" name="Freeform 658">
                <a:extLst>
                  <a:ext uri="{FF2B5EF4-FFF2-40B4-BE49-F238E27FC236}">
                    <a16:creationId xmlns:a16="http://schemas.microsoft.com/office/drawing/2014/main" id="{C8144804-98DD-7B0A-9D73-F2CDCCA1D58A}"/>
                  </a:ext>
                </a:extLst>
              </p:cNvPr>
              <p:cNvSpPr>
                <a:spLocks noEditPoints="1"/>
              </p:cNvSpPr>
              <p:nvPr/>
            </p:nvSpPr>
            <p:spPr bwMode="auto">
              <a:xfrm>
                <a:off x="7959725" y="1093788"/>
                <a:ext cx="101600" cy="101600"/>
              </a:xfrm>
              <a:custGeom>
                <a:avLst/>
                <a:gdLst>
                  <a:gd name="T0" fmla="*/ 10 w 27"/>
                  <a:gd name="T1" fmla="*/ 27 h 27"/>
                  <a:gd name="T2" fmla="*/ 2 w 27"/>
                  <a:gd name="T3" fmla="*/ 27 h 27"/>
                  <a:gd name="T4" fmla="*/ 0 w 27"/>
                  <a:gd name="T5" fmla="*/ 25 h 27"/>
                  <a:gd name="T6" fmla="*/ 0 w 27"/>
                  <a:gd name="T7" fmla="*/ 17 h 27"/>
                  <a:gd name="T8" fmla="*/ 1 w 27"/>
                  <a:gd name="T9" fmla="*/ 15 h 27"/>
                  <a:gd name="T10" fmla="*/ 15 w 27"/>
                  <a:gd name="T11" fmla="*/ 1 h 27"/>
                  <a:gd name="T12" fmla="*/ 16 w 27"/>
                  <a:gd name="T13" fmla="*/ 0 h 27"/>
                  <a:gd name="T14" fmla="*/ 16 w 27"/>
                  <a:gd name="T15" fmla="*/ 0 h 27"/>
                  <a:gd name="T16" fmla="*/ 18 w 27"/>
                  <a:gd name="T17" fmla="*/ 1 h 27"/>
                  <a:gd name="T18" fmla="*/ 26 w 27"/>
                  <a:gd name="T19" fmla="*/ 9 h 27"/>
                  <a:gd name="T20" fmla="*/ 26 w 27"/>
                  <a:gd name="T21" fmla="*/ 12 h 27"/>
                  <a:gd name="T22" fmla="*/ 12 w 27"/>
                  <a:gd name="T23" fmla="*/ 26 h 27"/>
                  <a:gd name="T24" fmla="*/ 10 w 27"/>
                  <a:gd name="T25" fmla="*/ 27 h 27"/>
                  <a:gd name="T26" fmla="*/ 4 w 27"/>
                  <a:gd name="T27" fmla="*/ 23 h 27"/>
                  <a:gd name="T28" fmla="*/ 10 w 27"/>
                  <a:gd name="T29" fmla="*/ 23 h 27"/>
                  <a:gd name="T30" fmla="*/ 22 w 27"/>
                  <a:gd name="T31" fmla="*/ 11 h 27"/>
                  <a:gd name="T32" fmla="*/ 16 w 27"/>
                  <a:gd name="T33" fmla="*/ 5 h 27"/>
                  <a:gd name="T34" fmla="*/ 4 w 27"/>
                  <a:gd name="T35" fmla="*/ 17 h 27"/>
                  <a:gd name="T36" fmla="*/ 4 w 27"/>
                  <a:gd name="T3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7">
                    <a:moveTo>
                      <a:pt x="10" y="27"/>
                    </a:moveTo>
                    <a:cubicBezTo>
                      <a:pt x="2" y="27"/>
                      <a:pt x="2" y="27"/>
                      <a:pt x="2" y="27"/>
                    </a:cubicBezTo>
                    <a:cubicBezTo>
                      <a:pt x="1" y="27"/>
                      <a:pt x="0" y="26"/>
                      <a:pt x="0" y="25"/>
                    </a:cubicBezTo>
                    <a:cubicBezTo>
                      <a:pt x="0" y="17"/>
                      <a:pt x="0" y="17"/>
                      <a:pt x="0" y="17"/>
                    </a:cubicBezTo>
                    <a:cubicBezTo>
                      <a:pt x="0" y="16"/>
                      <a:pt x="0" y="15"/>
                      <a:pt x="1" y="15"/>
                    </a:cubicBezTo>
                    <a:cubicBezTo>
                      <a:pt x="15" y="1"/>
                      <a:pt x="15" y="1"/>
                      <a:pt x="15" y="1"/>
                    </a:cubicBezTo>
                    <a:cubicBezTo>
                      <a:pt x="15" y="1"/>
                      <a:pt x="16" y="0"/>
                      <a:pt x="16" y="0"/>
                    </a:cubicBezTo>
                    <a:cubicBezTo>
                      <a:pt x="16" y="0"/>
                      <a:pt x="16" y="0"/>
                      <a:pt x="16" y="0"/>
                    </a:cubicBezTo>
                    <a:cubicBezTo>
                      <a:pt x="17" y="0"/>
                      <a:pt x="17" y="1"/>
                      <a:pt x="18" y="1"/>
                    </a:cubicBezTo>
                    <a:cubicBezTo>
                      <a:pt x="26" y="9"/>
                      <a:pt x="26" y="9"/>
                      <a:pt x="26" y="9"/>
                    </a:cubicBezTo>
                    <a:cubicBezTo>
                      <a:pt x="27" y="10"/>
                      <a:pt x="27" y="11"/>
                      <a:pt x="26" y="12"/>
                    </a:cubicBezTo>
                    <a:cubicBezTo>
                      <a:pt x="12" y="26"/>
                      <a:pt x="12" y="26"/>
                      <a:pt x="12" y="26"/>
                    </a:cubicBezTo>
                    <a:cubicBezTo>
                      <a:pt x="12" y="27"/>
                      <a:pt x="11" y="27"/>
                      <a:pt x="10" y="27"/>
                    </a:cubicBezTo>
                    <a:close/>
                    <a:moveTo>
                      <a:pt x="4" y="23"/>
                    </a:moveTo>
                    <a:cubicBezTo>
                      <a:pt x="10" y="23"/>
                      <a:pt x="10" y="23"/>
                      <a:pt x="10" y="23"/>
                    </a:cubicBezTo>
                    <a:cubicBezTo>
                      <a:pt x="22" y="11"/>
                      <a:pt x="22" y="11"/>
                      <a:pt x="22" y="11"/>
                    </a:cubicBezTo>
                    <a:cubicBezTo>
                      <a:pt x="16" y="5"/>
                      <a:pt x="16" y="5"/>
                      <a:pt x="16" y="5"/>
                    </a:cubicBezTo>
                    <a:cubicBezTo>
                      <a:pt x="4" y="17"/>
                      <a:pt x="4" y="17"/>
                      <a:pt x="4" y="17"/>
                    </a:cubicBez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1" name="Group 40">
              <a:extLst>
                <a:ext uri="{FF2B5EF4-FFF2-40B4-BE49-F238E27FC236}">
                  <a16:creationId xmlns:a16="http://schemas.microsoft.com/office/drawing/2014/main" id="{AB52CCD4-2564-3E03-533C-652C82B48CB4}"/>
                </a:ext>
              </a:extLst>
            </p:cNvPr>
            <p:cNvGrpSpPr/>
            <p:nvPr/>
          </p:nvGrpSpPr>
          <p:grpSpPr>
            <a:xfrm>
              <a:off x="4721759" y="5531888"/>
              <a:ext cx="327027" cy="286689"/>
              <a:chOff x="2670175" y="1112838"/>
              <a:chExt cx="360363" cy="315913"/>
            </a:xfrm>
            <a:solidFill>
              <a:schemeClr val="bg1"/>
            </a:solidFill>
          </p:grpSpPr>
          <p:sp>
            <p:nvSpPr>
              <p:cNvPr id="42" name="Freeform 793">
                <a:extLst>
                  <a:ext uri="{FF2B5EF4-FFF2-40B4-BE49-F238E27FC236}">
                    <a16:creationId xmlns:a16="http://schemas.microsoft.com/office/drawing/2014/main" id="{4C8435DA-3347-74A5-8881-BA8CB21EC67F}"/>
                  </a:ext>
                </a:extLst>
              </p:cNvPr>
              <p:cNvSpPr>
                <a:spLocks/>
              </p:cNvSpPr>
              <p:nvPr/>
            </p:nvSpPr>
            <p:spPr bwMode="auto">
              <a:xfrm>
                <a:off x="2700338" y="1228725"/>
                <a:ext cx="300038" cy="200025"/>
              </a:xfrm>
              <a:custGeom>
                <a:avLst/>
                <a:gdLst>
                  <a:gd name="T0" fmla="*/ 78 w 80"/>
                  <a:gd name="T1" fmla="*/ 53 h 53"/>
                  <a:gd name="T2" fmla="*/ 2 w 80"/>
                  <a:gd name="T3" fmla="*/ 53 h 53"/>
                  <a:gd name="T4" fmla="*/ 0 w 80"/>
                  <a:gd name="T5" fmla="*/ 51 h 53"/>
                  <a:gd name="T6" fmla="*/ 0 w 80"/>
                  <a:gd name="T7" fmla="*/ 2 h 53"/>
                  <a:gd name="T8" fmla="*/ 2 w 80"/>
                  <a:gd name="T9" fmla="*/ 0 h 53"/>
                  <a:gd name="T10" fmla="*/ 4 w 80"/>
                  <a:gd name="T11" fmla="*/ 2 h 53"/>
                  <a:gd name="T12" fmla="*/ 4 w 80"/>
                  <a:gd name="T13" fmla="*/ 49 h 53"/>
                  <a:gd name="T14" fmla="*/ 76 w 80"/>
                  <a:gd name="T15" fmla="*/ 49 h 53"/>
                  <a:gd name="T16" fmla="*/ 76 w 80"/>
                  <a:gd name="T17" fmla="*/ 2 h 53"/>
                  <a:gd name="T18" fmla="*/ 78 w 80"/>
                  <a:gd name="T19" fmla="*/ 0 h 53"/>
                  <a:gd name="T20" fmla="*/ 80 w 80"/>
                  <a:gd name="T21" fmla="*/ 2 h 53"/>
                  <a:gd name="T22" fmla="*/ 80 w 80"/>
                  <a:gd name="T23" fmla="*/ 51 h 53"/>
                  <a:gd name="T24" fmla="*/ 78 w 8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3">
                    <a:moveTo>
                      <a:pt x="78" y="53"/>
                    </a:moveTo>
                    <a:cubicBezTo>
                      <a:pt x="2" y="53"/>
                      <a:pt x="2" y="53"/>
                      <a:pt x="2" y="53"/>
                    </a:cubicBezTo>
                    <a:cubicBezTo>
                      <a:pt x="1" y="53"/>
                      <a:pt x="0" y="52"/>
                      <a:pt x="0" y="51"/>
                    </a:cubicBezTo>
                    <a:cubicBezTo>
                      <a:pt x="0" y="2"/>
                      <a:pt x="0" y="2"/>
                      <a:pt x="0" y="2"/>
                    </a:cubicBezTo>
                    <a:cubicBezTo>
                      <a:pt x="0" y="1"/>
                      <a:pt x="1" y="0"/>
                      <a:pt x="2" y="0"/>
                    </a:cubicBezTo>
                    <a:cubicBezTo>
                      <a:pt x="3" y="0"/>
                      <a:pt x="4" y="1"/>
                      <a:pt x="4" y="2"/>
                    </a:cubicBezTo>
                    <a:cubicBezTo>
                      <a:pt x="4" y="49"/>
                      <a:pt x="4" y="49"/>
                      <a:pt x="4" y="49"/>
                    </a:cubicBezTo>
                    <a:cubicBezTo>
                      <a:pt x="76" y="49"/>
                      <a:pt x="76" y="49"/>
                      <a:pt x="76" y="49"/>
                    </a:cubicBezTo>
                    <a:cubicBezTo>
                      <a:pt x="76" y="2"/>
                      <a:pt x="76" y="2"/>
                      <a:pt x="76" y="2"/>
                    </a:cubicBezTo>
                    <a:cubicBezTo>
                      <a:pt x="76" y="1"/>
                      <a:pt x="77" y="0"/>
                      <a:pt x="78" y="0"/>
                    </a:cubicBezTo>
                    <a:cubicBezTo>
                      <a:pt x="79" y="0"/>
                      <a:pt x="80" y="1"/>
                      <a:pt x="80" y="2"/>
                    </a:cubicBezTo>
                    <a:cubicBezTo>
                      <a:pt x="80" y="51"/>
                      <a:pt x="80" y="51"/>
                      <a:pt x="80" y="51"/>
                    </a:cubicBezTo>
                    <a:cubicBezTo>
                      <a:pt x="80" y="52"/>
                      <a:pt x="79" y="53"/>
                      <a:pt x="7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Freeform 794">
                <a:extLst>
                  <a:ext uri="{FF2B5EF4-FFF2-40B4-BE49-F238E27FC236}">
                    <a16:creationId xmlns:a16="http://schemas.microsoft.com/office/drawing/2014/main" id="{DE47D7B8-5D00-9D19-2466-5D8157F59219}"/>
                  </a:ext>
                </a:extLst>
              </p:cNvPr>
              <p:cNvSpPr>
                <a:spLocks noEditPoints="1"/>
              </p:cNvSpPr>
              <p:nvPr/>
            </p:nvSpPr>
            <p:spPr bwMode="auto">
              <a:xfrm>
                <a:off x="2730500" y="1277938"/>
                <a:ext cx="134938" cy="106363"/>
              </a:xfrm>
              <a:custGeom>
                <a:avLst/>
                <a:gdLst>
                  <a:gd name="T0" fmla="*/ 34 w 36"/>
                  <a:gd name="T1" fmla="*/ 28 h 28"/>
                  <a:gd name="T2" fmla="*/ 2 w 36"/>
                  <a:gd name="T3" fmla="*/ 28 h 28"/>
                  <a:gd name="T4" fmla="*/ 0 w 36"/>
                  <a:gd name="T5" fmla="*/ 26 h 28"/>
                  <a:gd name="T6" fmla="*/ 0 w 36"/>
                  <a:gd name="T7" fmla="*/ 2 h 28"/>
                  <a:gd name="T8" fmla="*/ 2 w 36"/>
                  <a:gd name="T9" fmla="*/ 0 h 28"/>
                  <a:gd name="T10" fmla="*/ 34 w 36"/>
                  <a:gd name="T11" fmla="*/ 0 h 28"/>
                  <a:gd name="T12" fmla="*/ 36 w 36"/>
                  <a:gd name="T13" fmla="*/ 2 h 28"/>
                  <a:gd name="T14" fmla="*/ 36 w 36"/>
                  <a:gd name="T15" fmla="*/ 26 h 28"/>
                  <a:gd name="T16" fmla="*/ 34 w 36"/>
                  <a:gd name="T17" fmla="*/ 28 h 28"/>
                  <a:gd name="T18" fmla="*/ 4 w 36"/>
                  <a:gd name="T19" fmla="*/ 24 h 28"/>
                  <a:gd name="T20" fmla="*/ 32 w 36"/>
                  <a:gd name="T21" fmla="*/ 24 h 28"/>
                  <a:gd name="T22" fmla="*/ 32 w 36"/>
                  <a:gd name="T23" fmla="*/ 4 h 28"/>
                  <a:gd name="T24" fmla="*/ 4 w 36"/>
                  <a:gd name="T25" fmla="*/ 4 h 28"/>
                  <a:gd name="T26" fmla="*/ 4 w 36"/>
                  <a:gd name="T2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8">
                    <a:moveTo>
                      <a:pt x="34" y="28"/>
                    </a:moveTo>
                    <a:cubicBezTo>
                      <a:pt x="2" y="28"/>
                      <a:pt x="2" y="28"/>
                      <a:pt x="2" y="28"/>
                    </a:cubicBezTo>
                    <a:cubicBezTo>
                      <a:pt x="1" y="28"/>
                      <a:pt x="0" y="27"/>
                      <a:pt x="0" y="26"/>
                    </a:cubicBezTo>
                    <a:cubicBezTo>
                      <a:pt x="0" y="2"/>
                      <a:pt x="0" y="2"/>
                      <a:pt x="0" y="2"/>
                    </a:cubicBezTo>
                    <a:cubicBezTo>
                      <a:pt x="0" y="1"/>
                      <a:pt x="1" y="0"/>
                      <a:pt x="2" y="0"/>
                    </a:cubicBezTo>
                    <a:cubicBezTo>
                      <a:pt x="34" y="0"/>
                      <a:pt x="34" y="0"/>
                      <a:pt x="34" y="0"/>
                    </a:cubicBezTo>
                    <a:cubicBezTo>
                      <a:pt x="35" y="0"/>
                      <a:pt x="36" y="1"/>
                      <a:pt x="36" y="2"/>
                    </a:cubicBezTo>
                    <a:cubicBezTo>
                      <a:pt x="36" y="26"/>
                      <a:pt x="36" y="26"/>
                      <a:pt x="36" y="26"/>
                    </a:cubicBezTo>
                    <a:cubicBezTo>
                      <a:pt x="36" y="27"/>
                      <a:pt x="35" y="28"/>
                      <a:pt x="34" y="28"/>
                    </a:cubicBezTo>
                    <a:close/>
                    <a:moveTo>
                      <a:pt x="4" y="24"/>
                    </a:moveTo>
                    <a:cubicBezTo>
                      <a:pt x="32" y="24"/>
                      <a:pt x="32" y="24"/>
                      <a:pt x="32" y="24"/>
                    </a:cubicBezTo>
                    <a:cubicBezTo>
                      <a:pt x="32" y="4"/>
                      <a:pt x="32" y="4"/>
                      <a:pt x="32" y="4"/>
                    </a:cubicBezTo>
                    <a:cubicBezTo>
                      <a:pt x="4" y="4"/>
                      <a:pt x="4" y="4"/>
                      <a:pt x="4" y="4"/>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795">
                <a:extLst>
                  <a:ext uri="{FF2B5EF4-FFF2-40B4-BE49-F238E27FC236}">
                    <a16:creationId xmlns:a16="http://schemas.microsoft.com/office/drawing/2014/main" id="{F2202E50-3852-0566-ADE9-7C6C28E8BA1C}"/>
                  </a:ext>
                </a:extLst>
              </p:cNvPr>
              <p:cNvSpPr>
                <a:spLocks noEditPoints="1"/>
              </p:cNvSpPr>
              <p:nvPr/>
            </p:nvSpPr>
            <p:spPr bwMode="auto">
              <a:xfrm>
                <a:off x="2881313" y="1277938"/>
                <a:ext cx="88900" cy="150813"/>
              </a:xfrm>
              <a:custGeom>
                <a:avLst/>
                <a:gdLst>
                  <a:gd name="T0" fmla="*/ 22 w 24"/>
                  <a:gd name="T1" fmla="*/ 40 h 40"/>
                  <a:gd name="T2" fmla="*/ 2 w 24"/>
                  <a:gd name="T3" fmla="*/ 40 h 40"/>
                  <a:gd name="T4" fmla="*/ 0 w 24"/>
                  <a:gd name="T5" fmla="*/ 38 h 40"/>
                  <a:gd name="T6" fmla="*/ 0 w 24"/>
                  <a:gd name="T7" fmla="*/ 2 h 40"/>
                  <a:gd name="T8" fmla="*/ 2 w 24"/>
                  <a:gd name="T9" fmla="*/ 0 h 40"/>
                  <a:gd name="T10" fmla="*/ 22 w 24"/>
                  <a:gd name="T11" fmla="*/ 0 h 40"/>
                  <a:gd name="T12" fmla="*/ 24 w 24"/>
                  <a:gd name="T13" fmla="*/ 2 h 40"/>
                  <a:gd name="T14" fmla="*/ 24 w 24"/>
                  <a:gd name="T15" fmla="*/ 38 h 40"/>
                  <a:gd name="T16" fmla="*/ 22 w 24"/>
                  <a:gd name="T17" fmla="*/ 40 h 40"/>
                  <a:gd name="T18" fmla="*/ 4 w 24"/>
                  <a:gd name="T19" fmla="*/ 36 h 40"/>
                  <a:gd name="T20" fmla="*/ 20 w 24"/>
                  <a:gd name="T21" fmla="*/ 36 h 40"/>
                  <a:gd name="T22" fmla="*/ 20 w 24"/>
                  <a:gd name="T23" fmla="*/ 4 h 40"/>
                  <a:gd name="T24" fmla="*/ 4 w 24"/>
                  <a:gd name="T25" fmla="*/ 4 h 40"/>
                  <a:gd name="T26" fmla="*/ 4 w 24"/>
                  <a:gd name="T27"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40">
                    <a:moveTo>
                      <a:pt x="22" y="40"/>
                    </a:moveTo>
                    <a:cubicBezTo>
                      <a:pt x="2" y="40"/>
                      <a:pt x="2" y="40"/>
                      <a:pt x="2" y="40"/>
                    </a:cubicBezTo>
                    <a:cubicBezTo>
                      <a:pt x="1" y="40"/>
                      <a:pt x="0" y="39"/>
                      <a:pt x="0" y="38"/>
                    </a:cubicBezTo>
                    <a:cubicBezTo>
                      <a:pt x="0" y="2"/>
                      <a:pt x="0" y="2"/>
                      <a:pt x="0" y="2"/>
                    </a:cubicBezTo>
                    <a:cubicBezTo>
                      <a:pt x="0" y="1"/>
                      <a:pt x="1" y="0"/>
                      <a:pt x="2" y="0"/>
                    </a:cubicBezTo>
                    <a:cubicBezTo>
                      <a:pt x="22" y="0"/>
                      <a:pt x="22" y="0"/>
                      <a:pt x="22" y="0"/>
                    </a:cubicBezTo>
                    <a:cubicBezTo>
                      <a:pt x="23" y="0"/>
                      <a:pt x="24" y="1"/>
                      <a:pt x="24" y="2"/>
                    </a:cubicBezTo>
                    <a:cubicBezTo>
                      <a:pt x="24" y="38"/>
                      <a:pt x="24" y="38"/>
                      <a:pt x="24" y="38"/>
                    </a:cubicBezTo>
                    <a:cubicBezTo>
                      <a:pt x="24" y="39"/>
                      <a:pt x="23" y="40"/>
                      <a:pt x="22" y="40"/>
                    </a:cubicBezTo>
                    <a:close/>
                    <a:moveTo>
                      <a:pt x="4" y="36"/>
                    </a:moveTo>
                    <a:cubicBezTo>
                      <a:pt x="20" y="36"/>
                      <a:pt x="20" y="36"/>
                      <a:pt x="20" y="36"/>
                    </a:cubicBezTo>
                    <a:cubicBezTo>
                      <a:pt x="20" y="4"/>
                      <a:pt x="20" y="4"/>
                      <a:pt x="20" y="4"/>
                    </a:cubicBezTo>
                    <a:cubicBezTo>
                      <a:pt x="4" y="4"/>
                      <a:pt x="4" y="4"/>
                      <a:pt x="4" y="4"/>
                    </a:cubicBezTo>
                    <a:lnTo>
                      <a:pt x="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Freeform 796">
                <a:extLst>
                  <a:ext uri="{FF2B5EF4-FFF2-40B4-BE49-F238E27FC236}">
                    <a16:creationId xmlns:a16="http://schemas.microsoft.com/office/drawing/2014/main" id="{371606AB-1D0C-098A-AA39-B80C85B29EA7}"/>
                  </a:ext>
                </a:extLst>
              </p:cNvPr>
              <p:cNvSpPr>
                <a:spLocks noEditPoints="1"/>
              </p:cNvSpPr>
              <p:nvPr/>
            </p:nvSpPr>
            <p:spPr bwMode="auto">
              <a:xfrm>
                <a:off x="2670175" y="1112838"/>
                <a:ext cx="360363" cy="74613"/>
              </a:xfrm>
              <a:custGeom>
                <a:avLst/>
                <a:gdLst>
                  <a:gd name="T0" fmla="*/ 94 w 96"/>
                  <a:gd name="T1" fmla="*/ 20 h 20"/>
                  <a:gd name="T2" fmla="*/ 2 w 96"/>
                  <a:gd name="T3" fmla="*/ 20 h 20"/>
                  <a:gd name="T4" fmla="*/ 0 w 96"/>
                  <a:gd name="T5" fmla="*/ 19 h 20"/>
                  <a:gd name="T6" fmla="*/ 0 w 96"/>
                  <a:gd name="T7" fmla="*/ 17 h 20"/>
                  <a:gd name="T8" fmla="*/ 8 w 96"/>
                  <a:gd name="T9" fmla="*/ 1 h 20"/>
                  <a:gd name="T10" fmla="*/ 10 w 96"/>
                  <a:gd name="T11" fmla="*/ 0 h 20"/>
                  <a:gd name="T12" fmla="*/ 86 w 96"/>
                  <a:gd name="T13" fmla="*/ 0 h 20"/>
                  <a:gd name="T14" fmla="*/ 88 w 96"/>
                  <a:gd name="T15" fmla="*/ 1 h 20"/>
                  <a:gd name="T16" fmla="*/ 96 w 96"/>
                  <a:gd name="T17" fmla="*/ 17 h 20"/>
                  <a:gd name="T18" fmla="*/ 96 w 96"/>
                  <a:gd name="T19" fmla="*/ 19 h 20"/>
                  <a:gd name="T20" fmla="*/ 94 w 96"/>
                  <a:gd name="T21" fmla="*/ 20 h 20"/>
                  <a:gd name="T22" fmla="*/ 5 w 96"/>
                  <a:gd name="T23" fmla="*/ 16 h 20"/>
                  <a:gd name="T24" fmla="*/ 91 w 96"/>
                  <a:gd name="T25" fmla="*/ 16 h 20"/>
                  <a:gd name="T26" fmla="*/ 85 w 96"/>
                  <a:gd name="T27" fmla="*/ 4 h 20"/>
                  <a:gd name="T28" fmla="*/ 11 w 96"/>
                  <a:gd name="T29" fmla="*/ 4 h 20"/>
                  <a:gd name="T30" fmla="*/ 5 w 96"/>
                  <a:gd name="T3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6" h="20">
                    <a:moveTo>
                      <a:pt x="94" y="20"/>
                    </a:moveTo>
                    <a:cubicBezTo>
                      <a:pt x="2" y="20"/>
                      <a:pt x="2" y="20"/>
                      <a:pt x="2" y="20"/>
                    </a:cubicBezTo>
                    <a:cubicBezTo>
                      <a:pt x="1" y="20"/>
                      <a:pt x="1" y="20"/>
                      <a:pt x="0" y="19"/>
                    </a:cubicBezTo>
                    <a:cubicBezTo>
                      <a:pt x="0" y="18"/>
                      <a:pt x="0" y="18"/>
                      <a:pt x="0" y="17"/>
                    </a:cubicBezTo>
                    <a:cubicBezTo>
                      <a:pt x="8" y="1"/>
                      <a:pt x="8" y="1"/>
                      <a:pt x="8" y="1"/>
                    </a:cubicBezTo>
                    <a:cubicBezTo>
                      <a:pt x="9" y="0"/>
                      <a:pt x="9" y="0"/>
                      <a:pt x="10" y="0"/>
                    </a:cubicBezTo>
                    <a:cubicBezTo>
                      <a:pt x="86" y="0"/>
                      <a:pt x="86" y="0"/>
                      <a:pt x="86" y="0"/>
                    </a:cubicBezTo>
                    <a:cubicBezTo>
                      <a:pt x="87" y="0"/>
                      <a:pt x="87" y="0"/>
                      <a:pt x="88" y="1"/>
                    </a:cubicBezTo>
                    <a:cubicBezTo>
                      <a:pt x="96" y="17"/>
                      <a:pt x="96" y="17"/>
                      <a:pt x="96" y="17"/>
                    </a:cubicBezTo>
                    <a:cubicBezTo>
                      <a:pt x="96" y="18"/>
                      <a:pt x="96" y="18"/>
                      <a:pt x="96" y="19"/>
                    </a:cubicBezTo>
                    <a:cubicBezTo>
                      <a:pt x="95" y="20"/>
                      <a:pt x="95" y="20"/>
                      <a:pt x="94" y="20"/>
                    </a:cubicBezTo>
                    <a:close/>
                    <a:moveTo>
                      <a:pt x="5" y="16"/>
                    </a:moveTo>
                    <a:cubicBezTo>
                      <a:pt x="91" y="16"/>
                      <a:pt x="91" y="16"/>
                      <a:pt x="91" y="16"/>
                    </a:cubicBezTo>
                    <a:cubicBezTo>
                      <a:pt x="85" y="4"/>
                      <a:pt x="85" y="4"/>
                      <a:pt x="85" y="4"/>
                    </a:cubicBezTo>
                    <a:cubicBezTo>
                      <a:pt x="11" y="4"/>
                      <a:pt x="11" y="4"/>
                      <a:pt x="11" y="4"/>
                    </a:cubicBezTo>
                    <a:lnTo>
                      <a:pt x="5"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Freeform 797">
                <a:extLst>
                  <a:ext uri="{FF2B5EF4-FFF2-40B4-BE49-F238E27FC236}">
                    <a16:creationId xmlns:a16="http://schemas.microsoft.com/office/drawing/2014/main" id="{7DEC87CE-51F7-820E-8C9E-4EBDB6981BC6}"/>
                  </a:ext>
                </a:extLst>
              </p:cNvPr>
              <p:cNvSpPr>
                <a:spLocks noEditPoints="1"/>
              </p:cNvSpPr>
              <p:nvPr/>
            </p:nvSpPr>
            <p:spPr bwMode="auto">
              <a:xfrm>
                <a:off x="2670175" y="1173163"/>
                <a:ext cx="360363" cy="90488"/>
              </a:xfrm>
              <a:custGeom>
                <a:avLst/>
                <a:gdLst>
                  <a:gd name="T0" fmla="*/ 60 w 96"/>
                  <a:gd name="T1" fmla="*/ 24 h 24"/>
                  <a:gd name="T2" fmla="*/ 48 w 96"/>
                  <a:gd name="T3" fmla="*/ 19 h 24"/>
                  <a:gd name="T4" fmla="*/ 36 w 96"/>
                  <a:gd name="T5" fmla="*/ 24 h 24"/>
                  <a:gd name="T6" fmla="*/ 22 w 96"/>
                  <a:gd name="T7" fmla="*/ 17 h 24"/>
                  <a:gd name="T8" fmla="*/ 14 w 96"/>
                  <a:gd name="T9" fmla="*/ 20 h 24"/>
                  <a:gd name="T10" fmla="*/ 0 w 96"/>
                  <a:gd name="T11" fmla="*/ 6 h 24"/>
                  <a:gd name="T12" fmla="*/ 0 w 96"/>
                  <a:gd name="T13" fmla="*/ 2 h 24"/>
                  <a:gd name="T14" fmla="*/ 2 w 96"/>
                  <a:gd name="T15" fmla="*/ 0 h 24"/>
                  <a:gd name="T16" fmla="*/ 94 w 96"/>
                  <a:gd name="T17" fmla="*/ 0 h 24"/>
                  <a:gd name="T18" fmla="*/ 96 w 96"/>
                  <a:gd name="T19" fmla="*/ 2 h 24"/>
                  <a:gd name="T20" fmla="*/ 96 w 96"/>
                  <a:gd name="T21" fmla="*/ 6 h 24"/>
                  <a:gd name="T22" fmla="*/ 82 w 96"/>
                  <a:gd name="T23" fmla="*/ 20 h 24"/>
                  <a:gd name="T24" fmla="*/ 74 w 96"/>
                  <a:gd name="T25" fmla="*/ 17 h 24"/>
                  <a:gd name="T26" fmla="*/ 60 w 96"/>
                  <a:gd name="T27" fmla="*/ 24 h 24"/>
                  <a:gd name="T28" fmla="*/ 48 w 96"/>
                  <a:gd name="T29" fmla="*/ 15 h 24"/>
                  <a:gd name="T30" fmla="*/ 50 w 96"/>
                  <a:gd name="T31" fmla="*/ 15 h 24"/>
                  <a:gd name="T32" fmla="*/ 60 w 96"/>
                  <a:gd name="T33" fmla="*/ 20 h 24"/>
                  <a:gd name="T34" fmla="*/ 72 w 96"/>
                  <a:gd name="T35" fmla="*/ 13 h 24"/>
                  <a:gd name="T36" fmla="*/ 74 w 96"/>
                  <a:gd name="T37" fmla="*/ 12 h 24"/>
                  <a:gd name="T38" fmla="*/ 75 w 96"/>
                  <a:gd name="T39" fmla="*/ 13 h 24"/>
                  <a:gd name="T40" fmla="*/ 82 w 96"/>
                  <a:gd name="T41" fmla="*/ 16 h 24"/>
                  <a:gd name="T42" fmla="*/ 92 w 96"/>
                  <a:gd name="T43" fmla="*/ 6 h 24"/>
                  <a:gd name="T44" fmla="*/ 92 w 96"/>
                  <a:gd name="T45" fmla="*/ 4 h 24"/>
                  <a:gd name="T46" fmla="*/ 4 w 96"/>
                  <a:gd name="T47" fmla="*/ 4 h 24"/>
                  <a:gd name="T48" fmla="*/ 4 w 96"/>
                  <a:gd name="T49" fmla="*/ 6 h 24"/>
                  <a:gd name="T50" fmla="*/ 14 w 96"/>
                  <a:gd name="T51" fmla="*/ 16 h 24"/>
                  <a:gd name="T52" fmla="*/ 21 w 96"/>
                  <a:gd name="T53" fmla="*/ 13 h 24"/>
                  <a:gd name="T54" fmla="*/ 22 w 96"/>
                  <a:gd name="T55" fmla="*/ 12 h 24"/>
                  <a:gd name="T56" fmla="*/ 24 w 96"/>
                  <a:gd name="T57" fmla="*/ 13 h 24"/>
                  <a:gd name="T58" fmla="*/ 36 w 96"/>
                  <a:gd name="T59" fmla="*/ 20 h 24"/>
                  <a:gd name="T60" fmla="*/ 47 w 96"/>
                  <a:gd name="T61" fmla="*/ 15 h 24"/>
                  <a:gd name="T62" fmla="*/ 48 w 96"/>
                  <a:gd name="T6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24">
                    <a:moveTo>
                      <a:pt x="60" y="24"/>
                    </a:moveTo>
                    <a:cubicBezTo>
                      <a:pt x="56" y="24"/>
                      <a:pt x="51" y="22"/>
                      <a:pt x="48" y="19"/>
                    </a:cubicBezTo>
                    <a:cubicBezTo>
                      <a:pt x="45" y="22"/>
                      <a:pt x="40" y="24"/>
                      <a:pt x="36" y="24"/>
                    </a:cubicBezTo>
                    <a:cubicBezTo>
                      <a:pt x="31" y="24"/>
                      <a:pt x="25" y="21"/>
                      <a:pt x="22" y="17"/>
                    </a:cubicBezTo>
                    <a:cubicBezTo>
                      <a:pt x="20" y="19"/>
                      <a:pt x="17" y="20"/>
                      <a:pt x="14" y="20"/>
                    </a:cubicBezTo>
                    <a:cubicBezTo>
                      <a:pt x="6" y="20"/>
                      <a:pt x="0" y="14"/>
                      <a:pt x="0" y="6"/>
                    </a:cubicBezTo>
                    <a:cubicBezTo>
                      <a:pt x="0" y="2"/>
                      <a:pt x="0" y="2"/>
                      <a:pt x="0" y="2"/>
                    </a:cubicBezTo>
                    <a:cubicBezTo>
                      <a:pt x="0" y="1"/>
                      <a:pt x="1" y="0"/>
                      <a:pt x="2" y="0"/>
                    </a:cubicBezTo>
                    <a:cubicBezTo>
                      <a:pt x="94" y="0"/>
                      <a:pt x="94" y="0"/>
                      <a:pt x="94" y="0"/>
                    </a:cubicBezTo>
                    <a:cubicBezTo>
                      <a:pt x="95" y="0"/>
                      <a:pt x="96" y="1"/>
                      <a:pt x="96" y="2"/>
                    </a:cubicBezTo>
                    <a:cubicBezTo>
                      <a:pt x="96" y="6"/>
                      <a:pt x="96" y="6"/>
                      <a:pt x="96" y="6"/>
                    </a:cubicBezTo>
                    <a:cubicBezTo>
                      <a:pt x="96" y="14"/>
                      <a:pt x="90" y="20"/>
                      <a:pt x="82" y="20"/>
                    </a:cubicBezTo>
                    <a:cubicBezTo>
                      <a:pt x="79" y="20"/>
                      <a:pt x="76" y="19"/>
                      <a:pt x="74" y="17"/>
                    </a:cubicBezTo>
                    <a:cubicBezTo>
                      <a:pt x="71" y="21"/>
                      <a:pt x="65" y="24"/>
                      <a:pt x="60" y="24"/>
                    </a:cubicBezTo>
                    <a:close/>
                    <a:moveTo>
                      <a:pt x="48" y="15"/>
                    </a:moveTo>
                    <a:cubicBezTo>
                      <a:pt x="49" y="15"/>
                      <a:pt x="49" y="15"/>
                      <a:pt x="50" y="15"/>
                    </a:cubicBezTo>
                    <a:cubicBezTo>
                      <a:pt x="52" y="18"/>
                      <a:pt x="56" y="20"/>
                      <a:pt x="60" y="20"/>
                    </a:cubicBezTo>
                    <a:cubicBezTo>
                      <a:pt x="65" y="20"/>
                      <a:pt x="70" y="17"/>
                      <a:pt x="72" y="13"/>
                    </a:cubicBezTo>
                    <a:cubicBezTo>
                      <a:pt x="73" y="12"/>
                      <a:pt x="73" y="12"/>
                      <a:pt x="74" y="12"/>
                    </a:cubicBezTo>
                    <a:cubicBezTo>
                      <a:pt x="74" y="12"/>
                      <a:pt x="75" y="12"/>
                      <a:pt x="75" y="13"/>
                    </a:cubicBezTo>
                    <a:cubicBezTo>
                      <a:pt x="78" y="15"/>
                      <a:pt x="80" y="16"/>
                      <a:pt x="82" y="16"/>
                    </a:cubicBezTo>
                    <a:cubicBezTo>
                      <a:pt x="88" y="16"/>
                      <a:pt x="92" y="12"/>
                      <a:pt x="92" y="6"/>
                    </a:cubicBezTo>
                    <a:cubicBezTo>
                      <a:pt x="92" y="4"/>
                      <a:pt x="92" y="4"/>
                      <a:pt x="92" y="4"/>
                    </a:cubicBezTo>
                    <a:cubicBezTo>
                      <a:pt x="4" y="4"/>
                      <a:pt x="4" y="4"/>
                      <a:pt x="4" y="4"/>
                    </a:cubicBezTo>
                    <a:cubicBezTo>
                      <a:pt x="4" y="6"/>
                      <a:pt x="4" y="6"/>
                      <a:pt x="4" y="6"/>
                    </a:cubicBezTo>
                    <a:cubicBezTo>
                      <a:pt x="4" y="12"/>
                      <a:pt x="8" y="16"/>
                      <a:pt x="14" y="16"/>
                    </a:cubicBezTo>
                    <a:cubicBezTo>
                      <a:pt x="16" y="16"/>
                      <a:pt x="18" y="15"/>
                      <a:pt x="21" y="13"/>
                    </a:cubicBezTo>
                    <a:cubicBezTo>
                      <a:pt x="21" y="12"/>
                      <a:pt x="22" y="12"/>
                      <a:pt x="22" y="12"/>
                    </a:cubicBezTo>
                    <a:cubicBezTo>
                      <a:pt x="23" y="12"/>
                      <a:pt x="23" y="12"/>
                      <a:pt x="24" y="13"/>
                    </a:cubicBezTo>
                    <a:cubicBezTo>
                      <a:pt x="26" y="17"/>
                      <a:pt x="31" y="20"/>
                      <a:pt x="36" y="20"/>
                    </a:cubicBezTo>
                    <a:cubicBezTo>
                      <a:pt x="40" y="20"/>
                      <a:pt x="44" y="18"/>
                      <a:pt x="47" y="15"/>
                    </a:cubicBezTo>
                    <a:cubicBezTo>
                      <a:pt x="47" y="15"/>
                      <a:pt x="47" y="15"/>
                      <a:pt x="4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Freeform 798">
                <a:extLst>
                  <a:ext uri="{FF2B5EF4-FFF2-40B4-BE49-F238E27FC236}">
                    <a16:creationId xmlns:a16="http://schemas.microsoft.com/office/drawing/2014/main" id="{0CD8814D-3B0B-99D0-65C5-9F180AC73D78}"/>
                  </a:ext>
                </a:extLst>
              </p:cNvPr>
              <p:cNvSpPr>
                <a:spLocks/>
              </p:cNvSpPr>
              <p:nvPr/>
            </p:nvSpPr>
            <p:spPr bwMode="auto">
              <a:xfrm>
                <a:off x="2744788" y="1112838"/>
                <a:ext cx="30163" cy="120650"/>
              </a:xfrm>
              <a:custGeom>
                <a:avLst/>
                <a:gdLst>
                  <a:gd name="T0" fmla="*/ 2 w 8"/>
                  <a:gd name="T1" fmla="*/ 32 h 32"/>
                  <a:gd name="T2" fmla="*/ 0 w 8"/>
                  <a:gd name="T3" fmla="*/ 30 h 32"/>
                  <a:gd name="T4" fmla="*/ 0 w 8"/>
                  <a:gd name="T5" fmla="*/ 18 h 32"/>
                  <a:gd name="T6" fmla="*/ 0 w 8"/>
                  <a:gd name="T7" fmla="*/ 18 h 32"/>
                  <a:gd name="T8" fmla="*/ 4 w 8"/>
                  <a:gd name="T9" fmla="*/ 2 h 32"/>
                  <a:gd name="T10" fmla="*/ 6 w 8"/>
                  <a:gd name="T11" fmla="*/ 0 h 32"/>
                  <a:gd name="T12" fmla="*/ 8 w 8"/>
                  <a:gd name="T13" fmla="*/ 2 h 32"/>
                  <a:gd name="T14" fmla="*/ 4 w 8"/>
                  <a:gd name="T15" fmla="*/ 18 h 32"/>
                  <a:gd name="T16" fmla="*/ 4 w 8"/>
                  <a:gd name="T17" fmla="*/ 30 h 32"/>
                  <a:gd name="T18" fmla="*/ 2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2" y="32"/>
                    </a:moveTo>
                    <a:cubicBezTo>
                      <a:pt x="1" y="32"/>
                      <a:pt x="0" y="31"/>
                      <a:pt x="0" y="30"/>
                    </a:cubicBezTo>
                    <a:cubicBezTo>
                      <a:pt x="0" y="18"/>
                      <a:pt x="0" y="18"/>
                      <a:pt x="0" y="18"/>
                    </a:cubicBezTo>
                    <a:cubicBezTo>
                      <a:pt x="0" y="18"/>
                      <a:pt x="0" y="18"/>
                      <a:pt x="0" y="18"/>
                    </a:cubicBezTo>
                    <a:cubicBezTo>
                      <a:pt x="4" y="2"/>
                      <a:pt x="4" y="2"/>
                      <a:pt x="4" y="2"/>
                    </a:cubicBezTo>
                    <a:cubicBezTo>
                      <a:pt x="4" y="0"/>
                      <a:pt x="5" y="0"/>
                      <a:pt x="6" y="0"/>
                    </a:cubicBezTo>
                    <a:cubicBezTo>
                      <a:pt x="8" y="0"/>
                      <a:pt x="8" y="1"/>
                      <a:pt x="8" y="2"/>
                    </a:cubicBezTo>
                    <a:cubicBezTo>
                      <a:pt x="4" y="18"/>
                      <a:pt x="4" y="18"/>
                      <a:pt x="4" y="18"/>
                    </a:cubicBezTo>
                    <a:cubicBezTo>
                      <a:pt x="4" y="30"/>
                      <a:pt x="4" y="30"/>
                      <a:pt x="4" y="30"/>
                    </a:cubicBezTo>
                    <a:cubicBezTo>
                      <a:pt x="4" y="31"/>
                      <a:pt x="3" y="32"/>
                      <a:pt x="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Freeform 799">
                <a:extLst>
                  <a:ext uri="{FF2B5EF4-FFF2-40B4-BE49-F238E27FC236}">
                    <a16:creationId xmlns:a16="http://schemas.microsoft.com/office/drawing/2014/main" id="{C7E0ED21-A89B-0851-3CA5-34A03D557317}"/>
                  </a:ext>
                </a:extLst>
              </p:cNvPr>
              <p:cNvSpPr>
                <a:spLocks/>
              </p:cNvSpPr>
              <p:nvPr/>
            </p:nvSpPr>
            <p:spPr bwMode="auto">
              <a:xfrm>
                <a:off x="2843213" y="1112838"/>
                <a:ext cx="14288" cy="131763"/>
              </a:xfrm>
              <a:custGeom>
                <a:avLst/>
                <a:gdLst>
                  <a:gd name="T0" fmla="*/ 2 w 4"/>
                  <a:gd name="T1" fmla="*/ 35 h 35"/>
                  <a:gd name="T2" fmla="*/ 0 w 4"/>
                  <a:gd name="T3" fmla="*/ 33 h 35"/>
                  <a:gd name="T4" fmla="*/ 0 w 4"/>
                  <a:gd name="T5" fmla="*/ 2 h 35"/>
                  <a:gd name="T6" fmla="*/ 2 w 4"/>
                  <a:gd name="T7" fmla="*/ 0 h 35"/>
                  <a:gd name="T8" fmla="*/ 4 w 4"/>
                  <a:gd name="T9" fmla="*/ 2 h 35"/>
                  <a:gd name="T10" fmla="*/ 4 w 4"/>
                  <a:gd name="T11" fmla="*/ 33 h 35"/>
                  <a:gd name="T12" fmla="*/ 2 w 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4" h="35">
                    <a:moveTo>
                      <a:pt x="2" y="35"/>
                    </a:moveTo>
                    <a:cubicBezTo>
                      <a:pt x="1" y="35"/>
                      <a:pt x="0" y="34"/>
                      <a:pt x="0" y="33"/>
                    </a:cubicBezTo>
                    <a:cubicBezTo>
                      <a:pt x="0" y="2"/>
                      <a:pt x="0" y="2"/>
                      <a:pt x="0" y="2"/>
                    </a:cubicBezTo>
                    <a:cubicBezTo>
                      <a:pt x="0" y="1"/>
                      <a:pt x="1" y="0"/>
                      <a:pt x="2" y="0"/>
                    </a:cubicBezTo>
                    <a:cubicBezTo>
                      <a:pt x="3" y="0"/>
                      <a:pt x="4" y="1"/>
                      <a:pt x="4" y="2"/>
                    </a:cubicBezTo>
                    <a:cubicBezTo>
                      <a:pt x="4" y="33"/>
                      <a:pt x="4" y="33"/>
                      <a:pt x="4" y="33"/>
                    </a:cubicBezTo>
                    <a:cubicBezTo>
                      <a:pt x="4" y="34"/>
                      <a:pt x="3" y="35"/>
                      <a:pt x="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Freeform 800">
                <a:extLst>
                  <a:ext uri="{FF2B5EF4-FFF2-40B4-BE49-F238E27FC236}">
                    <a16:creationId xmlns:a16="http://schemas.microsoft.com/office/drawing/2014/main" id="{C6878618-9E5C-4B88-6FAC-F804086E1C13}"/>
                  </a:ext>
                </a:extLst>
              </p:cNvPr>
              <p:cNvSpPr>
                <a:spLocks/>
              </p:cNvSpPr>
              <p:nvPr/>
            </p:nvSpPr>
            <p:spPr bwMode="auto">
              <a:xfrm>
                <a:off x="2925763" y="1112838"/>
                <a:ext cx="30163" cy="120650"/>
              </a:xfrm>
              <a:custGeom>
                <a:avLst/>
                <a:gdLst>
                  <a:gd name="T0" fmla="*/ 6 w 8"/>
                  <a:gd name="T1" fmla="*/ 32 h 32"/>
                  <a:gd name="T2" fmla="*/ 4 w 8"/>
                  <a:gd name="T3" fmla="*/ 30 h 32"/>
                  <a:gd name="T4" fmla="*/ 4 w 8"/>
                  <a:gd name="T5" fmla="*/ 18 h 32"/>
                  <a:gd name="T6" fmla="*/ 0 w 8"/>
                  <a:gd name="T7" fmla="*/ 2 h 32"/>
                  <a:gd name="T8" fmla="*/ 2 w 8"/>
                  <a:gd name="T9" fmla="*/ 0 h 32"/>
                  <a:gd name="T10" fmla="*/ 4 w 8"/>
                  <a:gd name="T11" fmla="*/ 2 h 32"/>
                  <a:gd name="T12" fmla="*/ 8 w 8"/>
                  <a:gd name="T13" fmla="*/ 18 h 32"/>
                  <a:gd name="T14" fmla="*/ 8 w 8"/>
                  <a:gd name="T15" fmla="*/ 18 h 32"/>
                  <a:gd name="T16" fmla="*/ 8 w 8"/>
                  <a:gd name="T17" fmla="*/ 30 h 32"/>
                  <a:gd name="T18" fmla="*/ 6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6" y="32"/>
                    </a:moveTo>
                    <a:cubicBezTo>
                      <a:pt x="5" y="32"/>
                      <a:pt x="4" y="31"/>
                      <a:pt x="4" y="30"/>
                    </a:cubicBezTo>
                    <a:cubicBezTo>
                      <a:pt x="4" y="18"/>
                      <a:pt x="4" y="18"/>
                      <a:pt x="4" y="18"/>
                    </a:cubicBezTo>
                    <a:cubicBezTo>
                      <a:pt x="0" y="2"/>
                      <a:pt x="0" y="2"/>
                      <a:pt x="0" y="2"/>
                    </a:cubicBezTo>
                    <a:cubicBezTo>
                      <a:pt x="0" y="1"/>
                      <a:pt x="0" y="0"/>
                      <a:pt x="2" y="0"/>
                    </a:cubicBezTo>
                    <a:cubicBezTo>
                      <a:pt x="3" y="0"/>
                      <a:pt x="4" y="0"/>
                      <a:pt x="4" y="2"/>
                    </a:cubicBezTo>
                    <a:cubicBezTo>
                      <a:pt x="8" y="18"/>
                      <a:pt x="8" y="18"/>
                      <a:pt x="8" y="18"/>
                    </a:cubicBezTo>
                    <a:cubicBezTo>
                      <a:pt x="8" y="18"/>
                      <a:pt x="8" y="18"/>
                      <a:pt x="8" y="18"/>
                    </a:cubicBezTo>
                    <a:cubicBezTo>
                      <a:pt x="8" y="30"/>
                      <a:pt x="8" y="30"/>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Oval 801">
                <a:extLst>
                  <a:ext uri="{FF2B5EF4-FFF2-40B4-BE49-F238E27FC236}">
                    <a16:creationId xmlns:a16="http://schemas.microsoft.com/office/drawing/2014/main" id="{935686E3-16D8-D027-AC34-FCB16FE6E5B3}"/>
                  </a:ext>
                </a:extLst>
              </p:cNvPr>
              <p:cNvSpPr>
                <a:spLocks noChangeArrowheads="1"/>
              </p:cNvSpPr>
              <p:nvPr/>
            </p:nvSpPr>
            <p:spPr bwMode="auto">
              <a:xfrm>
                <a:off x="2925763" y="1354138"/>
                <a:ext cx="14288" cy="142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85" name="Text Placeholder 2">
              <a:extLst>
                <a:ext uri="{FF2B5EF4-FFF2-40B4-BE49-F238E27FC236}">
                  <a16:creationId xmlns:a16="http://schemas.microsoft.com/office/drawing/2014/main" id="{8A0FB597-0198-CDA4-780D-9AB474ADDCBB}"/>
                </a:ext>
              </a:extLst>
            </p:cNvPr>
            <p:cNvSpPr txBox="1">
              <a:spLocks/>
            </p:cNvSpPr>
            <p:nvPr/>
          </p:nvSpPr>
          <p:spPr>
            <a:xfrm>
              <a:off x="7944126" y="2299878"/>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achieve 10% growth across </a:t>
              </a:r>
              <a:r>
                <a:rPr lang="en-US" dirty="0" err="1"/>
                <a:t>Medadvisory</a:t>
              </a:r>
              <a:r>
                <a:rPr lang="en-US" dirty="0"/>
                <a:t> revenue lines by end of 2025</a:t>
              </a:r>
            </a:p>
          </p:txBody>
        </p:sp>
      </p:grpSp>
      <p:sp>
        <p:nvSpPr>
          <p:cNvPr id="83" name="Text Placeholder 2">
            <a:extLst>
              <a:ext uri="{FF2B5EF4-FFF2-40B4-BE49-F238E27FC236}">
                <a16:creationId xmlns:a16="http://schemas.microsoft.com/office/drawing/2014/main" id="{B0BA935F-A860-A5CD-2AD5-0B0D384C39E7}"/>
              </a:ext>
            </a:extLst>
          </p:cNvPr>
          <p:cNvSpPr txBox="1">
            <a:spLocks/>
          </p:cNvSpPr>
          <p:nvPr/>
        </p:nvSpPr>
        <p:spPr>
          <a:xfrm>
            <a:off x="7944126" y="3435790"/>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increase the revenue by 20% by year end 2025</a:t>
            </a:r>
          </a:p>
        </p:txBody>
      </p:sp>
      <p:sp>
        <p:nvSpPr>
          <p:cNvPr id="84" name="Text Placeholder 2">
            <a:extLst>
              <a:ext uri="{FF2B5EF4-FFF2-40B4-BE49-F238E27FC236}">
                <a16:creationId xmlns:a16="http://schemas.microsoft.com/office/drawing/2014/main" id="{56549306-69B1-6AAD-8A61-0A66EE6504FC}"/>
              </a:ext>
            </a:extLst>
          </p:cNvPr>
          <p:cNvSpPr txBox="1">
            <a:spLocks/>
          </p:cNvSpPr>
          <p:nvPr/>
        </p:nvSpPr>
        <p:spPr>
          <a:xfrm>
            <a:off x="7944126" y="4520319"/>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grow the client base from by 50% by end of 2025</a:t>
            </a:r>
          </a:p>
        </p:txBody>
      </p:sp>
      <p:sp>
        <p:nvSpPr>
          <p:cNvPr id="3" name="Rectangle 2"/>
          <p:cNvSpPr/>
          <p:nvPr/>
        </p:nvSpPr>
        <p:spPr>
          <a:xfrm>
            <a:off x="8053327" y="5619290"/>
            <a:ext cx="3596160" cy="584775"/>
          </a:xfrm>
          <a:prstGeom prst="rect">
            <a:avLst/>
          </a:prstGeom>
        </p:spPr>
        <p:txBody>
          <a:bodyPr wrap="square">
            <a:spAutoFit/>
          </a:bodyPr>
          <a:lstStyle/>
          <a:p>
            <a:r>
              <a:rPr lang="en-US" sz="1600" b="1" dirty="0">
                <a:solidFill>
                  <a:srgbClr val="114A5E"/>
                </a:solidFill>
                <a:latin typeface="Segoe UI" panose="020B0502040204020203" pitchFamily="34" charset="0"/>
                <a:cs typeface="Segoe UI" panose="020B0502040204020203" pitchFamily="34" charset="0"/>
              </a:rPr>
              <a:t>To develop a consultancy product and team within 6 months</a:t>
            </a:r>
            <a:endParaRPr lang="en-GB" sz="1600" dirty="0"/>
          </a:p>
        </p:txBody>
      </p:sp>
    </p:spTree>
    <p:extLst>
      <p:ext uri="{BB962C8B-B14F-4D97-AF65-F5344CB8AC3E}">
        <p14:creationId xmlns:p14="http://schemas.microsoft.com/office/powerpoint/2010/main" val="1900390276"/>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1142-9268-3178-2F1C-B3014106C490}"/>
              </a:ext>
            </a:extLst>
          </p:cNvPr>
          <p:cNvSpPr>
            <a:spLocks noGrp="1"/>
          </p:cNvSpPr>
          <p:nvPr>
            <p:ph type="title"/>
          </p:nvPr>
        </p:nvSpPr>
        <p:spPr/>
        <p:txBody>
          <a:bodyPr/>
          <a:lstStyle/>
          <a:p>
            <a:r>
              <a:rPr lang="en-US" dirty="0"/>
              <a:t>Business Objectives ; MEDSUSTAIN / CSR   </a:t>
            </a:r>
            <a:endParaRPr lang="aa-ET" dirty="0"/>
          </a:p>
        </p:txBody>
      </p:sp>
      <p:sp>
        <p:nvSpPr>
          <p:cNvPr id="4" name="Slide Number Placeholder 3">
            <a:extLst>
              <a:ext uri="{FF2B5EF4-FFF2-40B4-BE49-F238E27FC236}">
                <a16:creationId xmlns:a16="http://schemas.microsoft.com/office/drawing/2014/main" id="{5502FC75-B2FD-E6A3-3A36-593865FC713D}"/>
              </a:ext>
            </a:extLst>
          </p:cNvPr>
          <p:cNvSpPr>
            <a:spLocks noGrp="1"/>
          </p:cNvSpPr>
          <p:nvPr>
            <p:ph type="sldNum" sz="quarter" idx="12"/>
          </p:nvPr>
        </p:nvSpPr>
        <p:spPr/>
        <p:txBody>
          <a:bodyPr/>
          <a:lstStyle/>
          <a:p>
            <a:fld id="{88DB5A6F-883B-4080-A811-FB5B8D05AFA3}" type="slidenum">
              <a:rPr lang="en-GB" smtClean="0"/>
              <a:pPr/>
              <a:t>31</a:t>
            </a:fld>
            <a:endParaRPr lang="en-GB" dirty="0"/>
          </a:p>
        </p:txBody>
      </p:sp>
      <p:grpSp>
        <p:nvGrpSpPr>
          <p:cNvPr id="5" name="Group 4">
            <a:extLst>
              <a:ext uri="{FF2B5EF4-FFF2-40B4-BE49-F238E27FC236}">
                <a16:creationId xmlns:a16="http://schemas.microsoft.com/office/drawing/2014/main" id="{02FEA639-DABD-91FE-1F44-347C5F5BE2FD}"/>
              </a:ext>
            </a:extLst>
          </p:cNvPr>
          <p:cNvGrpSpPr/>
          <p:nvPr/>
        </p:nvGrpSpPr>
        <p:grpSpPr>
          <a:xfrm>
            <a:off x="651714" y="1251858"/>
            <a:ext cx="10892586" cy="4944629"/>
            <a:chOff x="651714" y="1219200"/>
            <a:chExt cx="10892586" cy="4944629"/>
          </a:xfrm>
        </p:grpSpPr>
        <p:grpSp>
          <p:nvGrpSpPr>
            <p:cNvPr id="6" name="Group 5">
              <a:extLst>
                <a:ext uri="{FF2B5EF4-FFF2-40B4-BE49-F238E27FC236}">
                  <a16:creationId xmlns:a16="http://schemas.microsoft.com/office/drawing/2014/main" id="{2C1FD7D6-29E7-204D-0248-E7A3B6BB583F}"/>
                </a:ext>
              </a:extLst>
            </p:cNvPr>
            <p:cNvGrpSpPr/>
            <p:nvPr/>
          </p:nvGrpSpPr>
          <p:grpSpPr>
            <a:xfrm>
              <a:off x="651714" y="1977562"/>
              <a:ext cx="2976036" cy="3427906"/>
              <a:chOff x="651714" y="1991271"/>
              <a:chExt cx="2976036" cy="3427906"/>
            </a:xfrm>
          </p:grpSpPr>
          <p:sp>
            <p:nvSpPr>
              <p:cNvPr id="73" name="Freeform: Shape 72">
                <a:extLst>
                  <a:ext uri="{FF2B5EF4-FFF2-40B4-BE49-F238E27FC236}">
                    <a16:creationId xmlns:a16="http://schemas.microsoft.com/office/drawing/2014/main" id="{E8E5695B-8BDA-66BB-C5DD-8A7CD772031B}"/>
                  </a:ext>
                </a:extLst>
              </p:cNvPr>
              <p:cNvSpPr/>
              <p:nvPr/>
            </p:nvSpPr>
            <p:spPr>
              <a:xfrm>
                <a:off x="2116537" y="2046508"/>
                <a:ext cx="1511213" cy="3372669"/>
              </a:xfrm>
              <a:custGeom>
                <a:avLst/>
                <a:gdLst>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 name="connsiteX5" fmla="*/ 91440 w 1511213"/>
                  <a:gd name="connsiteY5" fmla="*/ 91440 h 3372669"/>
                  <a:gd name="connsiteX0" fmla="*/ 0 w 1511213"/>
                  <a:gd name="connsiteY0" fmla="*/ 0 h 3372669"/>
                  <a:gd name="connsiteX1" fmla="*/ 156246 w 1511213"/>
                  <a:gd name="connsiteY1" fmla="*/ 23845 h 3372669"/>
                  <a:gd name="connsiteX2" fmla="*/ 1511213 w 1511213"/>
                  <a:gd name="connsiteY2" fmla="*/ 1686334 h 3372669"/>
                  <a:gd name="connsiteX3" fmla="*/ 156246 w 1511213"/>
                  <a:gd name="connsiteY3" fmla="*/ 3348823 h 3372669"/>
                  <a:gd name="connsiteX4" fmla="*/ 0 w 1511213"/>
                  <a:gd name="connsiteY4" fmla="*/ 3372669 h 337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213" h="3372669">
                    <a:moveTo>
                      <a:pt x="0" y="0"/>
                    </a:moveTo>
                    <a:lnTo>
                      <a:pt x="156246" y="23845"/>
                    </a:lnTo>
                    <a:cubicBezTo>
                      <a:pt x="929524" y="182081"/>
                      <a:pt x="1511213" y="866277"/>
                      <a:pt x="1511213" y="1686334"/>
                    </a:cubicBezTo>
                    <a:cubicBezTo>
                      <a:pt x="1511213" y="2506391"/>
                      <a:pt x="929524" y="3190587"/>
                      <a:pt x="156246" y="3348823"/>
                    </a:cubicBezTo>
                    <a:lnTo>
                      <a:pt x="0" y="3372669"/>
                    </a:lnTo>
                  </a:path>
                </a:pathLst>
              </a:custGeom>
              <a:noFill/>
              <a:ln w="22225">
                <a:solidFill>
                  <a:srgbClr val="114A5E"/>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Oval 73">
                <a:extLst>
                  <a:ext uri="{FF2B5EF4-FFF2-40B4-BE49-F238E27FC236}">
                    <a16:creationId xmlns:a16="http://schemas.microsoft.com/office/drawing/2014/main" id="{D917CF6A-83D7-EC52-D1B4-9882092CED61}"/>
                  </a:ext>
                </a:extLst>
              </p:cNvPr>
              <p:cNvSpPr/>
              <p:nvPr/>
            </p:nvSpPr>
            <p:spPr>
              <a:xfrm>
                <a:off x="651714" y="2404071"/>
                <a:ext cx="2657544" cy="2657544"/>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20FD6587-268B-87B0-1AB0-A63538D24C16}"/>
                  </a:ext>
                </a:extLst>
              </p:cNvPr>
              <p:cNvSpPr/>
              <p:nvPr/>
            </p:nvSpPr>
            <p:spPr>
              <a:xfrm>
                <a:off x="651714" y="2404071"/>
                <a:ext cx="2558143" cy="25581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A6CD019-1CB3-A8AB-BB11-208D582F8D25}"/>
                  </a:ext>
                </a:extLst>
              </p:cNvPr>
              <p:cNvSpPr/>
              <p:nvPr/>
            </p:nvSpPr>
            <p:spPr>
              <a:xfrm>
                <a:off x="819442" y="2571799"/>
                <a:ext cx="2222687" cy="22226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C9C0D30-F1E2-45A3-D304-23C039FEED8F}"/>
                  </a:ext>
                </a:extLst>
              </p:cNvPr>
              <p:cNvSpPr/>
              <p:nvPr/>
            </p:nvSpPr>
            <p:spPr>
              <a:xfrm>
                <a:off x="1007304" y="2759662"/>
                <a:ext cx="1846963" cy="184696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3D8B1D52-4661-FFEE-37E3-C701389F9EA7}"/>
                  </a:ext>
                </a:extLst>
              </p:cNvPr>
              <p:cNvSpPr/>
              <p:nvPr/>
            </p:nvSpPr>
            <p:spPr>
              <a:xfrm>
                <a:off x="1225922" y="2978280"/>
                <a:ext cx="1409726" cy="14097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031A3D41-74AF-0CBA-E8AC-196F88B7CC05}"/>
                  </a:ext>
                </a:extLst>
              </p:cNvPr>
              <p:cNvSpPr/>
              <p:nvPr/>
            </p:nvSpPr>
            <p:spPr>
              <a:xfrm>
                <a:off x="1418593" y="3170951"/>
                <a:ext cx="1024384" cy="102438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CAED93F0-19A4-3F90-4E99-9924E2631F1F}"/>
                  </a:ext>
                </a:extLst>
              </p:cNvPr>
              <p:cNvSpPr/>
              <p:nvPr/>
            </p:nvSpPr>
            <p:spPr>
              <a:xfrm>
                <a:off x="1599676" y="3352034"/>
                <a:ext cx="662218" cy="66221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F3EE47F3-0E6C-B105-1BC5-863107C5FA43}"/>
                  </a:ext>
                </a:extLst>
              </p:cNvPr>
              <p:cNvSpPr/>
              <p:nvPr/>
            </p:nvSpPr>
            <p:spPr>
              <a:xfrm rot="3291335">
                <a:off x="420938" y="2889467"/>
                <a:ext cx="1920240" cy="123848"/>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Shape 81">
                <a:extLst>
                  <a:ext uri="{FF2B5EF4-FFF2-40B4-BE49-F238E27FC236}">
                    <a16:creationId xmlns:a16="http://schemas.microsoft.com/office/drawing/2014/main" id="{8B51509D-543C-013B-CB18-AC5511328B97}"/>
                  </a:ext>
                </a:extLst>
              </p:cNvPr>
              <p:cNvSpPr/>
              <p:nvPr/>
            </p:nvSpPr>
            <p:spPr>
              <a:xfrm rot="8792440" flipV="1">
                <a:off x="804957" y="2176857"/>
                <a:ext cx="462006" cy="596691"/>
              </a:xfrm>
              <a:custGeom>
                <a:avLst/>
                <a:gdLst>
                  <a:gd name="connsiteX0" fmla="*/ 944 w 462006"/>
                  <a:gd name="connsiteY0" fmla="*/ 14588 h 596691"/>
                  <a:gd name="connsiteX1" fmla="*/ 944 w 462006"/>
                  <a:gd name="connsiteY1" fmla="*/ 319702 h 596691"/>
                  <a:gd name="connsiteX2" fmla="*/ 0 w 462006"/>
                  <a:gd name="connsiteY2" fmla="*/ 324607 h 596691"/>
                  <a:gd name="connsiteX3" fmla="*/ 956 w 462006"/>
                  <a:gd name="connsiteY3" fmla="*/ 430922 h 596691"/>
                  <a:gd name="connsiteX4" fmla="*/ 169726 w 462006"/>
                  <a:gd name="connsiteY4" fmla="*/ 596685 h 596691"/>
                  <a:gd name="connsiteX5" fmla="*/ 296238 w 462006"/>
                  <a:gd name="connsiteY5" fmla="*/ 595547 h 596691"/>
                  <a:gd name="connsiteX6" fmla="*/ 462000 w 462006"/>
                  <a:gd name="connsiteY6" fmla="*/ 426777 h 596691"/>
                  <a:gd name="connsiteX7" fmla="*/ 461673 w 462006"/>
                  <a:gd name="connsiteY7" fmla="*/ 390441 h 596691"/>
                  <a:gd name="connsiteX8" fmla="*/ 461907 w 462006"/>
                  <a:gd name="connsiteY8" fmla="*/ 390435 h 596691"/>
                  <a:gd name="connsiteX9" fmla="*/ 461555 w 462006"/>
                  <a:gd name="connsiteY9" fmla="*/ 377288 h 596691"/>
                  <a:gd name="connsiteX10" fmla="*/ 461044 w 462006"/>
                  <a:gd name="connsiteY10" fmla="*/ 320461 h 596691"/>
                  <a:gd name="connsiteX11" fmla="*/ 459886 w 462006"/>
                  <a:gd name="connsiteY11" fmla="*/ 314978 h 596691"/>
                  <a:gd name="connsiteX12" fmla="*/ 451447 w 462006"/>
                  <a:gd name="connsiteY12" fmla="*/ 0 h 596691"/>
                  <a:gd name="connsiteX13" fmla="*/ 301225 w 462006"/>
                  <a:gd name="connsiteY13" fmla="*/ 156422 h 596691"/>
                  <a:gd name="connsiteX14" fmla="*/ 292274 w 462006"/>
                  <a:gd name="connsiteY14" fmla="*/ 154699 h 596691"/>
                  <a:gd name="connsiteX15" fmla="*/ 165762 w 462006"/>
                  <a:gd name="connsiteY15" fmla="*/ 155836 h 596691"/>
                  <a:gd name="connsiteX16" fmla="*/ 147887 w 462006"/>
                  <a:gd name="connsiteY16" fmla="*/ 159613 h 59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006" h="596691">
                    <a:moveTo>
                      <a:pt x="944" y="14588"/>
                    </a:moveTo>
                    <a:lnTo>
                      <a:pt x="944" y="319702"/>
                    </a:lnTo>
                    <a:lnTo>
                      <a:pt x="0" y="324607"/>
                    </a:lnTo>
                    <a:lnTo>
                      <a:pt x="956" y="430922"/>
                    </a:lnTo>
                    <a:cubicBezTo>
                      <a:pt x="1786" y="523301"/>
                      <a:pt x="77348" y="597515"/>
                      <a:pt x="169726" y="596685"/>
                    </a:cubicBezTo>
                    <a:lnTo>
                      <a:pt x="296238" y="595547"/>
                    </a:lnTo>
                    <a:cubicBezTo>
                      <a:pt x="388616" y="594716"/>
                      <a:pt x="462831" y="519155"/>
                      <a:pt x="462000" y="426777"/>
                    </a:cubicBezTo>
                    <a:lnTo>
                      <a:pt x="461673" y="390441"/>
                    </a:lnTo>
                    <a:lnTo>
                      <a:pt x="461907" y="390435"/>
                    </a:lnTo>
                    <a:lnTo>
                      <a:pt x="461555" y="377288"/>
                    </a:lnTo>
                    <a:lnTo>
                      <a:pt x="461044" y="320461"/>
                    </a:lnTo>
                    <a:lnTo>
                      <a:pt x="459886" y="314978"/>
                    </a:lnTo>
                    <a:lnTo>
                      <a:pt x="451447" y="0"/>
                    </a:lnTo>
                    <a:lnTo>
                      <a:pt x="301225" y="156422"/>
                    </a:lnTo>
                    <a:lnTo>
                      <a:pt x="292274" y="154699"/>
                    </a:lnTo>
                    <a:lnTo>
                      <a:pt x="165762" y="155836"/>
                    </a:lnTo>
                    <a:lnTo>
                      <a:pt x="147887" y="15961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 Placeholder 2">
              <a:extLst>
                <a:ext uri="{FF2B5EF4-FFF2-40B4-BE49-F238E27FC236}">
                  <a16:creationId xmlns:a16="http://schemas.microsoft.com/office/drawing/2014/main" id="{C5BE70A1-1E46-7BA5-720D-637BA8059C91}"/>
                </a:ext>
              </a:extLst>
            </p:cNvPr>
            <p:cNvSpPr txBox="1">
              <a:spLocks/>
            </p:cNvSpPr>
            <p:nvPr/>
          </p:nvSpPr>
          <p:spPr>
            <a:xfrm>
              <a:off x="7948140" y="1319366"/>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To attain No 1 position as CSR project implementation partners across Nigeria by end of 2025</a:t>
              </a:r>
            </a:p>
          </p:txBody>
        </p:sp>
        <p:sp>
          <p:nvSpPr>
            <p:cNvPr id="8" name="Rectangle 7">
              <a:extLst>
                <a:ext uri="{FF2B5EF4-FFF2-40B4-BE49-F238E27FC236}">
                  <a16:creationId xmlns:a16="http://schemas.microsoft.com/office/drawing/2014/main" id="{16AFA603-7921-4E0E-71B4-A8C4E8E6390B}"/>
                </a:ext>
              </a:extLst>
            </p:cNvPr>
            <p:cNvSpPr/>
            <p:nvPr/>
          </p:nvSpPr>
          <p:spPr>
            <a:xfrm>
              <a:off x="4404836" y="1265735"/>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564D3E36-AA8C-96B5-38AD-E599B8A6DD0E}"/>
                </a:ext>
              </a:extLst>
            </p:cNvPr>
            <p:cNvSpPr txBox="1">
              <a:spLocks/>
            </p:cNvSpPr>
            <p:nvPr/>
          </p:nvSpPr>
          <p:spPr>
            <a:xfrm>
              <a:off x="5395532" y="1484595"/>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Market Share</a:t>
              </a:r>
            </a:p>
          </p:txBody>
        </p:sp>
        <p:sp>
          <p:nvSpPr>
            <p:cNvPr id="10" name="Rectangle 9">
              <a:extLst>
                <a:ext uri="{FF2B5EF4-FFF2-40B4-BE49-F238E27FC236}">
                  <a16:creationId xmlns:a16="http://schemas.microsoft.com/office/drawing/2014/main" id="{2BB4E769-0F44-92EF-41A7-85568B693124}"/>
                </a:ext>
              </a:extLst>
            </p:cNvPr>
            <p:cNvSpPr/>
            <p:nvPr/>
          </p:nvSpPr>
          <p:spPr>
            <a:xfrm>
              <a:off x="4565812" y="1219200"/>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D5B41257-EB64-3852-E120-934AB4FAC68D}"/>
                </a:ext>
              </a:extLst>
            </p:cNvPr>
            <p:cNvSpPr/>
            <p:nvPr/>
          </p:nvSpPr>
          <p:spPr>
            <a:xfrm>
              <a:off x="5204733" y="1220016"/>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C40FBF-EC17-93B8-9AC5-8BF97484B433}"/>
                </a:ext>
              </a:extLst>
            </p:cNvPr>
            <p:cNvSpPr/>
            <p:nvPr/>
          </p:nvSpPr>
          <p:spPr>
            <a:xfrm>
              <a:off x="4404836" y="2299878"/>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9E2F0DBA-D4E6-2A14-7A8D-803A3A14AE93}"/>
                </a:ext>
              </a:extLst>
            </p:cNvPr>
            <p:cNvSpPr txBox="1">
              <a:spLocks/>
            </p:cNvSpPr>
            <p:nvPr/>
          </p:nvSpPr>
          <p:spPr>
            <a:xfrm>
              <a:off x="5395532" y="2518738"/>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dirty="0">
                  <a:solidFill>
                    <a:srgbClr val="114A5E"/>
                  </a:solidFill>
                  <a:latin typeface="Segoe UI" panose="020B0502040204020203" pitchFamily="34" charset="0"/>
                  <a:cs typeface="Segoe UI" panose="020B0502040204020203" pitchFamily="34" charset="0"/>
                </a:rPr>
                <a:t>Increased Sales</a:t>
              </a:r>
            </a:p>
          </p:txBody>
        </p:sp>
        <p:sp>
          <p:nvSpPr>
            <p:cNvPr id="14" name="Rectangle 13">
              <a:extLst>
                <a:ext uri="{FF2B5EF4-FFF2-40B4-BE49-F238E27FC236}">
                  <a16:creationId xmlns:a16="http://schemas.microsoft.com/office/drawing/2014/main" id="{79D5C66D-1455-534F-509F-EE8E9165694D}"/>
                </a:ext>
              </a:extLst>
            </p:cNvPr>
            <p:cNvSpPr/>
            <p:nvPr/>
          </p:nvSpPr>
          <p:spPr>
            <a:xfrm>
              <a:off x="4565812" y="2253343"/>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BEA20511-F7B3-9ABD-53AE-75A0A7A184D0}"/>
                </a:ext>
              </a:extLst>
            </p:cNvPr>
            <p:cNvSpPr/>
            <p:nvPr/>
          </p:nvSpPr>
          <p:spPr>
            <a:xfrm>
              <a:off x="5204733" y="2254159"/>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C40EF1-53FC-1618-82A7-CFA1E0F23048}"/>
                </a:ext>
              </a:extLst>
            </p:cNvPr>
            <p:cNvSpPr/>
            <p:nvPr/>
          </p:nvSpPr>
          <p:spPr>
            <a:xfrm>
              <a:off x="4404836" y="3334021"/>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2">
              <a:extLst>
                <a:ext uri="{FF2B5EF4-FFF2-40B4-BE49-F238E27FC236}">
                  <a16:creationId xmlns:a16="http://schemas.microsoft.com/office/drawing/2014/main" id="{3B0F538C-422F-0018-55BF-17A8110F3C9A}"/>
                </a:ext>
              </a:extLst>
            </p:cNvPr>
            <p:cNvSpPr txBox="1">
              <a:spLocks/>
            </p:cNvSpPr>
            <p:nvPr/>
          </p:nvSpPr>
          <p:spPr>
            <a:xfrm>
              <a:off x="5395532" y="3552881"/>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Revenue Growth</a:t>
              </a:r>
            </a:p>
          </p:txBody>
        </p:sp>
        <p:sp>
          <p:nvSpPr>
            <p:cNvPr id="18" name="Rectangle 17">
              <a:extLst>
                <a:ext uri="{FF2B5EF4-FFF2-40B4-BE49-F238E27FC236}">
                  <a16:creationId xmlns:a16="http://schemas.microsoft.com/office/drawing/2014/main" id="{5E35ED9B-1753-EBCF-64F1-07042B880752}"/>
                </a:ext>
              </a:extLst>
            </p:cNvPr>
            <p:cNvSpPr/>
            <p:nvPr/>
          </p:nvSpPr>
          <p:spPr>
            <a:xfrm>
              <a:off x="4565812" y="3287486"/>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A41A12E-E7DF-36F6-8061-DDD3B589EA52}"/>
                </a:ext>
              </a:extLst>
            </p:cNvPr>
            <p:cNvSpPr/>
            <p:nvPr/>
          </p:nvSpPr>
          <p:spPr>
            <a:xfrm>
              <a:off x="5204733" y="3288302"/>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08CECD-08FB-1F88-6F53-4808AA5B5335}"/>
                </a:ext>
              </a:extLst>
            </p:cNvPr>
            <p:cNvSpPr/>
            <p:nvPr/>
          </p:nvSpPr>
          <p:spPr>
            <a:xfrm>
              <a:off x="4404836" y="4368164"/>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2">
              <a:extLst>
                <a:ext uri="{FF2B5EF4-FFF2-40B4-BE49-F238E27FC236}">
                  <a16:creationId xmlns:a16="http://schemas.microsoft.com/office/drawing/2014/main" id="{DEFA2A94-CC98-A347-9AB5-A280B55AB9BF}"/>
                </a:ext>
              </a:extLst>
            </p:cNvPr>
            <p:cNvSpPr txBox="1">
              <a:spLocks/>
            </p:cNvSpPr>
            <p:nvPr/>
          </p:nvSpPr>
          <p:spPr>
            <a:xfrm>
              <a:off x="5395532" y="4587024"/>
              <a:ext cx="1842280" cy="229076"/>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Customer Acquisition</a:t>
              </a:r>
            </a:p>
          </p:txBody>
        </p:sp>
        <p:sp>
          <p:nvSpPr>
            <p:cNvPr id="22" name="Rectangle 21">
              <a:extLst>
                <a:ext uri="{FF2B5EF4-FFF2-40B4-BE49-F238E27FC236}">
                  <a16:creationId xmlns:a16="http://schemas.microsoft.com/office/drawing/2014/main" id="{FFBA500F-BBE9-D547-6E9A-400F85A2C662}"/>
                </a:ext>
              </a:extLst>
            </p:cNvPr>
            <p:cNvSpPr/>
            <p:nvPr/>
          </p:nvSpPr>
          <p:spPr>
            <a:xfrm>
              <a:off x="4565812" y="4321629"/>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DE287AD-3E02-8992-C119-372861F939FA}"/>
                </a:ext>
              </a:extLst>
            </p:cNvPr>
            <p:cNvSpPr/>
            <p:nvPr/>
          </p:nvSpPr>
          <p:spPr>
            <a:xfrm>
              <a:off x="5204733" y="4322445"/>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6EE03F-1813-C174-1B83-0CDEC47DAA0D}"/>
                </a:ext>
              </a:extLst>
            </p:cNvPr>
            <p:cNvSpPr/>
            <p:nvPr/>
          </p:nvSpPr>
          <p:spPr>
            <a:xfrm>
              <a:off x="4404836" y="5402307"/>
              <a:ext cx="3382328" cy="761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2">
              <a:extLst>
                <a:ext uri="{FF2B5EF4-FFF2-40B4-BE49-F238E27FC236}">
                  <a16:creationId xmlns:a16="http://schemas.microsoft.com/office/drawing/2014/main" id="{9B4ED38E-D0CD-8F31-7B3A-BBF99CF909FA}"/>
                </a:ext>
              </a:extLst>
            </p:cNvPr>
            <p:cNvSpPr txBox="1">
              <a:spLocks/>
            </p:cNvSpPr>
            <p:nvPr/>
          </p:nvSpPr>
          <p:spPr>
            <a:xfrm>
              <a:off x="5395532" y="5621167"/>
              <a:ext cx="2105198" cy="197409"/>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b="1" dirty="0">
                  <a:solidFill>
                    <a:srgbClr val="114A5E"/>
                  </a:solidFill>
                  <a:latin typeface="Segoe UI" panose="020B0502040204020203" pitchFamily="34" charset="0"/>
                  <a:cs typeface="Segoe UI" panose="020B0502040204020203" pitchFamily="34" charset="0"/>
                </a:rPr>
                <a:t>Capacity Development	</a:t>
              </a:r>
            </a:p>
          </p:txBody>
        </p:sp>
        <p:sp>
          <p:nvSpPr>
            <p:cNvPr id="26" name="Rectangle 25">
              <a:extLst>
                <a:ext uri="{FF2B5EF4-FFF2-40B4-BE49-F238E27FC236}">
                  <a16:creationId xmlns:a16="http://schemas.microsoft.com/office/drawing/2014/main" id="{D743D18A-8680-51CA-2004-9CB07DC30115}"/>
                </a:ext>
              </a:extLst>
            </p:cNvPr>
            <p:cNvSpPr/>
            <p:nvPr/>
          </p:nvSpPr>
          <p:spPr>
            <a:xfrm>
              <a:off x="4565812" y="5355772"/>
              <a:ext cx="638921" cy="638921"/>
            </a:xfrm>
            <a:prstGeom prst="rect">
              <a:avLst/>
            </a:prstGeom>
            <a:solidFill>
              <a:srgbClr val="189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E3FDEAA6-42CE-4E90-96FF-08895C8ECD4C}"/>
                </a:ext>
              </a:extLst>
            </p:cNvPr>
            <p:cNvSpPr/>
            <p:nvPr/>
          </p:nvSpPr>
          <p:spPr>
            <a:xfrm>
              <a:off x="5204733" y="5356588"/>
              <a:ext cx="48036" cy="45719"/>
            </a:xfrm>
            <a:prstGeom prst="triangle">
              <a:avLst>
                <a:gd name="adj" fmla="val 0"/>
              </a:avLst>
            </a:prstGeom>
            <a:solidFill>
              <a:srgbClr val="114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B72419C-690F-9EBF-DED1-C985EF3264FB}"/>
                </a:ext>
              </a:extLst>
            </p:cNvPr>
            <p:cNvCxnSpPr>
              <a:cxnSpLocks/>
              <a:endCxn id="8" idx="1"/>
            </p:cNvCxnSpPr>
            <p:nvPr/>
          </p:nvCxnSpPr>
          <p:spPr>
            <a:xfrm flipV="1">
              <a:off x="2987879" y="1646496"/>
              <a:ext cx="1416957" cy="688324"/>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E477518-0F07-A378-C85E-913B6622557F}"/>
                </a:ext>
              </a:extLst>
            </p:cNvPr>
            <p:cNvCxnSpPr>
              <a:cxnSpLocks/>
            </p:cNvCxnSpPr>
            <p:nvPr/>
          </p:nvCxnSpPr>
          <p:spPr>
            <a:xfrm>
              <a:off x="3026357" y="5082625"/>
              <a:ext cx="1378479" cy="681318"/>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F5FCA2F-3EDD-B141-C766-3DE15F41CD39}"/>
                </a:ext>
              </a:extLst>
            </p:cNvPr>
            <p:cNvCxnSpPr>
              <a:cxnSpLocks/>
              <a:endCxn id="20" idx="1"/>
            </p:cNvCxnSpPr>
            <p:nvPr/>
          </p:nvCxnSpPr>
          <p:spPr>
            <a:xfrm>
              <a:off x="3514743" y="44380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C176D7B-47B3-505B-AECB-047089F5EE8A}"/>
                </a:ext>
              </a:extLst>
            </p:cNvPr>
            <p:cNvCxnSpPr>
              <a:cxnSpLocks/>
            </p:cNvCxnSpPr>
            <p:nvPr/>
          </p:nvCxnSpPr>
          <p:spPr>
            <a:xfrm flipV="1">
              <a:off x="3514743" y="2674535"/>
              <a:ext cx="890093" cy="310890"/>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0A0B0A-0EF3-0B0C-C624-037BED34D176}"/>
                </a:ext>
              </a:extLst>
            </p:cNvPr>
            <p:cNvCxnSpPr>
              <a:cxnSpLocks/>
              <a:stCxn id="73" idx="2"/>
              <a:endCxn id="16" idx="1"/>
            </p:cNvCxnSpPr>
            <p:nvPr/>
          </p:nvCxnSpPr>
          <p:spPr>
            <a:xfrm flipV="1">
              <a:off x="3627750" y="3714782"/>
              <a:ext cx="777086" cy="4351"/>
            </a:xfrm>
            <a:prstGeom prst="line">
              <a:avLst/>
            </a:prstGeom>
            <a:ln w="22225">
              <a:solidFill>
                <a:srgbClr val="114A5E"/>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33" name="Text Placeholder 2">
              <a:extLst>
                <a:ext uri="{FF2B5EF4-FFF2-40B4-BE49-F238E27FC236}">
                  <a16:creationId xmlns:a16="http://schemas.microsoft.com/office/drawing/2014/main" id="{6C4B06A5-E14C-B31F-D0DE-994FE7336BD1}"/>
                </a:ext>
              </a:extLst>
            </p:cNvPr>
            <p:cNvSpPr txBox="1">
              <a:spLocks/>
            </p:cNvSpPr>
            <p:nvPr/>
          </p:nvSpPr>
          <p:spPr>
            <a:xfrm>
              <a:off x="7948140" y="2353509"/>
              <a:ext cx="3596160" cy="654260"/>
            </a:xfrm>
            <a:prstGeom prst="rect">
              <a:avLst/>
            </a:prstGeom>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1400" dirty="0">
                <a:solidFill>
                  <a:srgbClr val="114A5E"/>
                </a:solidFill>
                <a:latin typeface="Segoe UI" panose="020B0502040204020203" pitchFamily="34" charset="0"/>
                <a:cs typeface="Segoe UI" panose="020B0502040204020203" pitchFamily="34" charset="0"/>
              </a:endParaRPr>
            </a:p>
          </p:txBody>
        </p:sp>
        <p:sp>
          <p:nvSpPr>
            <p:cNvPr id="36" name="Text Placeholder 2">
              <a:extLst>
                <a:ext uri="{FF2B5EF4-FFF2-40B4-BE49-F238E27FC236}">
                  <a16:creationId xmlns:a16="http://schemas.microsoft.com/office/drawing/2014/main" id="{69533EA4-BFD4-139E-079B-4FBE77498236}"/>
                </a:ext>
              </a:extLst>
            </p:cNvPr>
            <p:cNvSpPr txBox="1">
              <a:spLocks/>
            </p:cNvSpPr>
            <p:nvPr/>
          </p:nvSpPr>
          <p:spPr>
            <a:xfrm>
              <a:off x="7948140" y="5455938"/>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endParaRPr lang="en-US" sz="1400" b="1" dirty="0">
                <a:solidFill>
                  <a:srgbClr val="114A5E"/>
                </a:solidFill>
                <a:latin typeface="Segoe UI" panose="020B0502040204020203" pitchFamily="34" charset="0"/>
                <a:cs typeface="Segoe UI" panose="020B0502040204020203" pitchFamily="34" charset="0"/>
              </a:endParaRPr>
            </a:p>
          </p:txBody>
        </p:sp>
        <p:grpSp>
          <p:nvGrpSpPr>
            <p:cNvPr id="37" name="Group 36">
              <a:extLst>
                <a:ext uri="{FF2B5EF4-FFF2-40B4-BE49-F238E27FC236}">
                  <a16:creationId xmlns:a16="http://schemas.microsoft.com/office/drawing/2014/main" id="{52E84429-09C7-BC3B-8C3F-9D8042EB460C}"/>
                </a:ext>
              </a:extLst>
            </p:cNvPr>
            <p:cNvGrpSpPr/>
            <p:nvPr/>
          </p:nvGrpSpPr>
          <p:grpSpPr>
            <a:xfrm>
              <a:off x="4721759" y="1396036"/>
              <a:ext cx="327027" cy="285248"/>
              <a:chOff x="4113213" y="3640138"/>
              <a:chExt cx="360363" cy="314325"/>
            </a:xfrm>
            <a:solidFill>
              <a:schemeClr val="bg1"/>
            </a:solidFill>
          </p:grpSpPr>
          <p:sp>
            <p:nvSpPr>
              <p:cNvPr id="69" name="Freeform 1760">
                <a:extLst>
                  <a:ext uri="{FF2B5EF4-FFF2-40B4-BE49-F238E27FC236}">
                    <a16:creationId xmlns:a16="http://schemas.microsoft.com/office/drawing/2014/main" id="{883DD459-1C52-2B88-7B92-A08A7C18DA9B}"/>
                  </a:ext>
                </a:extLst>
              </p:cNvPr>
              <p:cNvSpPr>
                <a:spLocks/>
              </p:cNvSpPr>
              <p:nvPr/>
            </p:nvSpPr>
            <p:spPr bwMode="auto">
              <a:xfrm>
                <a:off x="4113213" y="3640138"/>
                <a:ext cx="360363" cy="314325"/>
              </a:xfrm>
              <a:custGeom>
                <a:avLst/>
                <a:gdLst>
                  <a:gd name="T0" fmla="*/ 94 w 96"/>
                  <a:gd name="T1" fmla="*/ 84 h 84"/>
                  <a:gd name="T2" fmla="*/ 2 w 96"/>
                  <a:gd name="T3" fmla="*/ 84 h 84"/>
                  <a:gd name="T4" fmla="*/ 0 w 96"/>
                  <a:gd name="T5" fmla="*/ 82 h 84"/>
                  <a:gd name="T6" fmla="*/ 0 w 96"/>
                  <a:gd name="T7" fmla="*/ 2 h 84"/>
                  <a:gd name="T8" fmla="*/ 2 w 96"/>
                  <a:gd name="T9" fmla="*/ 0 h 84"/>
                  <a:gd name="T10" fmla="*/ 4 w 96"/>
                  <a:gd name="T11" fmla="*/ 2 h 84"/>
                  <a:gd name="T12" fmla="*/ 4 w 96"/>
                  <a:gd name="T13" fmla="*/ 80 h 84"/>
                  <a:gd name="T14" fmla="*/ 94 w 96"/>
                  <a:gd name="T15" fmla="*/ 80 h 84"/>
                  <a:gd name="T16" fmla="*/ 96 w 96"/>
                  <a:gd name="T17" fmla="*/ 82 h 84"/>
                  <a:gd name="T18" fmla="*/ 94 w 96"/>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84">
                    <a:moveTo>
                      <a:pt x="94" y="84"/>
                    </a:moveTo>
                    <a:cubicBezTo>
                      <a:pt x="2" y="84"/>
                      <a:pt x="2" y="84"/>
                      <a:pt x="2" y="84"/>
                    </a:cubicBezTo>
                    <a:cubicBezTo>
                      <a:pt x="1" y="84"/>
                      <a:pt x="0" y="83"/>
                      <a:pt x="0" y="82"/>
                    </a:cubicBezTo>
                    <a:cubicBezTo>
                      <a:pt x="0" y="2"/>
                      <a:pt x="0" y="2"/>
                      <a:pt x="0" y="2"/>
                    </a:cubicBezTo>
                    <a:cubicBezTo>
                      <a:pt x="0" y="1"/>
                      <a:pt x="1" y="0"/>
                      <a:pt x="2" y="0"/>
                    </a:cubicBezTo>
                    <a:cubicBezTo>
                      <a:pt x="3" y="0"/>
                      <a:pt x="4" y="1"/>
                      <a:pt x="4" y="2"/>
                    </a:cubicBezTo>
                    <a:cubicBezTo>
                      <a:pt x="4" y="80"/>
                      <a:pt x="4" y="80"/>
                      <a:pt x="4" y="80"/>
                    </a:cubicBezTo>
                    <a:cubicBezTo>
                      <a:pt x="94" y="80"/>
                      <a:pt x="94" y="80"/>
                      <a:pt x="94" y="80"/>
                    </a:cubicBezTo>
                    <a:cubicBezTo>
                      <a:pt x="95" y="80"/>
                      <a:pt x="96" y="81"/>
                      <a:pt x="96" y="82"/>
                    </a:cubicBezTo>
                    <a:cubicBezTo>
                      <a:pt x="96" y="83"/>
                      <a:pt x="95" y="84"/>
                      <a:pt x="9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0" name="Freeform 1761">
                <a:extLst>
                  <a:ext uri="{FF2B5EF4-FFF2-40B4-BE49-F238E27FC236}">
                    <a16:creationId xmlns:a16="http://schemas.microsoft.com/office/drawing/2014/main" id="{360831A5-C608-26FC-1CE2-52ACE71E8CBC}"/>
                  </a:ext>
                </a:extLst>
              </p:cNvPr>
              <p:cNvSpPr>
                <a:spLocks/>
              </p:cNvSpPr>
              <p:nvPr/>
            </p:nvSpPr>
            <p:spPr bwMode="auto">
              <a:xfrm>
                <a:off x="4297363" y="3841750"/>
                <a:ext cx="63500" cy="68263"/>
              </a:xfrm>
              <a:custGeom>
                <a:avLst/>
                <a:gdLst>
                  <a:gd name="T0" fmla="*/ 15 w 17"/>
                  <a:gd name="T1" fmla="*/ 18 h 18"/>
                  <a:gd name="T2" fmla="*/ 1 w 17"/>
                  <a:gd name="T3" fmla="*/ 7 h 18"/>
                  <a:gd name="T4" fmla="*/ 1 w 17"/>
                  <a:gd name="T5" fmla="*/ 2 h 18"/>
                  <a:gd name="T6" fmla="*/ 2 w 17"/>
                  <a:gd name="T7" fmla="*/ 0 h 18"/>
                  <a:gd name="T8" fmla="*/ 4 w 17"/>
                  <a:gd name="T9" fmla="*/ 2 h 18"/>
                  <a:gd name="T10" fmla="*/ 5 w 17"/>
                  <a:gd name="T11" fmla="*/ 6 h 18"/>
                  <a:gd name="T12" fmla="*/ 15 w 17"/>
                  <a:gd name="T13" fmla="*/ 14 h 18"/>
                  <a:gd name="T14" fmla="*/ 17 w 17"/>
                  <a:gd name="T15" fmla="*/ 16 h 18"/>
                  <a:gd name="T16" fmla="*/ 15 w 17"/>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18"/>
                    </a:moveTo>
                    <a:cubicBezTo>
                      <a:pt x="8" y="18"/>
                      <a:pt x="2" y="13"/>
                      <a:pt x="1" y="7"/>
                    </a:cubicBezTo>
                    <a:cubicBezTo>
                      <a:pt x="1" y="2"/>
                      <a:pt x="1" y="2"/>
                      <a:pt x="1" y="2"/>
                    </a:cubicBezTo>
                    <a:cubicBezTo>
                      <a:pt x="0" y="1"/>
                      <a:pt x="1" y="0"/>
                      <a:pt x="2" y="0"/>
                    </a:cubicBezTo>
                    <a:cubicBezTo>
                      <a:pt x="3" y="0"/>
                      <a:pt x="4" y="1"/>
                      <a:pt x="4" y="2"/>
                    </a:cubicBezTo>
                    <a:cubicBezTo>
                      <a:pt x="5" y="6"/>
                      <a:pt x="5" y="6"/>
                      <a:pt x="5" y="6"/>
                    </a:cubicBezTo>
                    <a:cubicBezTo>
                      <a:pt x="6" y="11"/>
                      <a:pt x="10" y="14"/>
                      <a:pt x="15" y="14"/>
                    </a:cubicBezTo>
                    <a:cubicBezTo>
                      <a:pt x="16" y="14"/>
                      <a:pt x="17" y="15"/>
                      <a:pt x="17" y="16"/>
                    </a:cubicBezTo>
                    <a:cubicBezTo>
                      <a:pt x="17" y="17"/>
                      <a:pt x="16" y="18"/>
                      <a:pt x="1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1" name="Freeform 1762">
                <a:extLst>
                  <a:ext uri="{FF2B5EF4-FFF2-40B4-BE49-F238E27FC236}">
                    <a16:creationId xmlns:a16="http://schemas.microsoft.com/office/drawing/2014/main" id="{0697E1A5-9FBA-6B36-8F4F-DB31D01D3590}"/>
                  </a:ext>
                </a:extLst>
              </p:cNvPr>
              <p:cNvSpPr>
                <a:spLocks/>
              </p:cNvSpPr>
              <p:nvPr/>
            </p:nvSpPr>
            <p:spPr bwMode="auto">
              <a:xfrm>
                <a:off x="4149725" y="3729038"/>
                <a:ext cx="136525" cy="180975"/>
              </a:xfrm>
              <a:custGeom>
                <a:avLst/>
                <a:gdLst>
                  <a:gd name="T0" fmla="*/ 2 w 36"/>
                  <a:gd name="T1" fmla="*/ 48 h 48"/>
                  <a:gd name="T2" fmla="*/ 0 w 36"/>
                  <a:gd name="T3" fmla="*/ 46 h 48"/>
                  <a:gd name="T4" fmla="*/ 2 w 36"/>
                  <a:gd name="T5" fmla="*/ 44 h 48"/>
                  <a:gd name="T6" fmla="*/ 12 w 36"/>
                  <a:gd name="T7" fmla="*/ 36 h 48"/>
                  <a:gd name="T8" fmla="*/ 17 w 36"/>
                  <a:gd name="T9" fmla="*/ 10 h 48"/>
                  <a:gd name="T10" fmla="*/ 28 w 36"/>
                  <a:gd name="T11" fmla="*/ 0 h 48"/>
                  <a:gd name="T12" fmla="*/ 35 w 36"/>
                  <a:gd name="T13" fmla="*/ 2 h 48"/>
                  <a:gd name="T14" fmla="*/ 35 w 36"/>
                  <a:gd name="T15" fmla="*/ 5 h 48"/>
                  <a:gd name="T16" fmla="*/ 33 w 36"/>
                  <a:gd name="T17" fmla="*/ 6 h 48"/>
                  <a:gd name="T18" fmla="*/ 28 w 36"/>
                  <a:gd name="T19" fmla="*/ 4 h 48"/>
                  <a:gd name="T20" fmla="*/ 21 w 36"/>
                  <a:gd name="T21" fmla="*/ 10 h 48"/>
                  <a:gd name="T22" fmla="*/ 16 w 36"/>
                  <a:gd name="T23" fmla="*/ 37 h 48"/>
                  <a:gd name="T24" fmla="*/ 2 w 36"/>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8">
                    <a:moveTo>
                      <a:pt x="2" y="48"/>
                    </a:move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1" y="0"/>
                      <a:pt x="33" y="1"/>
                      <a:pt x="35" y="2"/>
                    </a:cubicBezTo>
                    <a:cubicBezTo>
                      <a:pt x="36" y="3"/>
                      <a:pt x="36" y="4"/>
                      <a:pt x="35" y="5"/>
                    </a:cubicBezTo>
                    <a:cubicBezTo>
                      <a:pt x="35" y="6"/>
                      <a:pt x="33" y="6"/>
                      <a:pt x="33" y="6"/>
                    </a:cubicBezTo>
                    <a:cubicBezTo>
                      <a:pt x="31" y="5"/>
                      <a:pt x="30" y="4"/>
                      <a:pt x="28" y="4"/>
                    </a:cubicBezTo>
                    <a:cubicBezTo>
                      <a:pt x="24" y="4"/>
                      <a:pt x="21" y="7"/>
                      <a:pt x="21" y="10"/>
                    </a:cubicBezTo>
                    <a:cubicBezTo>
                      <a:pt x="16" y="37"/>
                      <a:pt x="16" y="37"/>
                      <a:pt x="16" y="37"/>
                    </a:cubicBezTo>
                    <a:cubicBezTo>
                      <a:pt x="15" y="43"/>
                      <a:pt x="9" y="48"/>
                      <a:pt x="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2" name="Freeform 1763">
                <a:extLst>
                  <a:ext uri="{FF2B5EF4-FFF2-40B4-BE49-F238E27FC236}">
                    <a16:creationId xmlns:a16="http://schemas.microsoft.com/office/drawing/2014/main" id="{2C4111A7-8C18-BA45-42E4-5EF214FBD0B1}"/>
                  </a:ext>
                </a:extLst>
              </p:cNvPr>
              <p:cNvSpPr>
                <a:spLocks/>
              </p:cNvSpPr>
              <p:nvPr/>
            </p:nvSpPr>
            <p:spPr bwMode="auto">
              <a:xfrm>
                <a:off x="4225925" y="3729038"/>
                <a:ext cx="209550" cy="180975"/>
              </a:xfrm>
              <a:custGeom>
                <a:avLst/>
                <a:gdLst>
                  <a:gd name="T0" fmla="*/ 54 w 56"/>
                  <a:gd name="T1" fmla="*/ 48 h 48"/>
                  <a:gd name="T2" fmla="*/ 40 w 56"/>
                  <a:gd name="T3" fmla="*/ 37 h 48"/>
                  <a:gd name="T4" fmla="*/ 35 w 56"/>
                  <a:gd name="T5" fmla="*/ 10 h 48"/>
                  <a:gd name="T6" fmla="*/ 28 w 56"/>
                  <a:gd name="T7" fmla="*/ 4 h 48"/>
                  <a:gd name="T8" fmla="*/ 21 w 56"/>
                  <a:gd name="T9" fmla="*/ 10 h 48"/>
                  <a:gd name="T10" fmla="*/ 16 w 56"/>
                  <a:gd name="T11" fmla="*/ 37 h 48"/>
                  <a:gd name="T12" fmla="*/ 2 w 56"/>
                  <a:gd name="T13" fmla="*/ 48 h 48"/>
                  <a:gd name="T14" fmla="*/ 0 w 56"/>
                  <a:gd name="T15" fmla="*/ 46 h 48"/>
                  <a:gd name="T16" fmla="*/ 2 w 56"/>
                  <a:gd name="T17" fmla="*/ 44 h 48"/>
                  <a:gd name="T18" fmla="*/ 12 w 56"/>
                  <a:gd name="T19" fmla="*/ 36 h 48"/>
                  <a:gd name="T20" fmla="*/ 17 w 56"/>
                  <a:gd name="T21" fmla="*/ 10 h 48"/>
                  <a:gd name="T22" fmla="*/ 28 w 56"/>
                  <a:gd name="T23" fmla="*/ 0 h 48"/>
                  <a:gd name="T24" fmla="*/ 39 w 56"/>
                  <a:gd name="T25" fmla="*/ 10 h 48"/>
                  <a:gd name="T26" fmla="*/ 44 w 56"/>
                  <a:gd name="T27" fmla="*/ 36 h 48"/>
                  <a:gd name="T28" fmla="*/ 54 w 56"/>
                  <a:gd name="T29" fmla="*/ 44 h 48"/>
                  <a:gd name="T30" fmla="*/ 56 w 56"/>
                  <a:gd name="T31" fmla="*/ 46 h 48"/>
                  <a:gd name="T32" fmla="*/ 54 w 5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4" y="48"/>
                    </a:moveTo>
                    <a:cubicBezTo>
                      <a:pt x="47" y="48"/>
                      <a:pt x="41" y="43"/>
                      <a:pt x="40" y="37"/>
                    </a:cubicBezTo>
                    <a:cubicBezTo>
                      <a:pt x="35" y="10"/>
                      <a:pt x="35" y="10"/>
                      <a:pt x="35" y="10"/>
                    </a:cubicBezTo>
                    <a:cubicBezTo>
                      <a:pt x="35" y="7"/>
                      <a:pt x="32" y="4"/>
                      <a:pt x="28" y="4"/>
                    </a:cubicBezTo>
                    <a:cubicBezTo>
                      <a:pt x="24" y="4"/>
                      <a:pt x="21" y="7"/>
                      <a:pt x="21" y="10"/>
                    </a:cubicBezTo>
                    <a:cubicBezTo>
                      <a:pt x="16" y="37"/>
                      <a:pt x="16" y="37"/>
                      <a:pt x="16" y="37"/>
                    </a:cubicBezTo>
                    <a:cubicBezTo>
                      <a:pt x="15" y="43"/>
                      <a:pt x="9" y="48"/>
                      <a:pt x="2" y="48"/>
                    </a:cubicBezTo>
                    <a:cubicBezTo>
                      <a:pt x="1" y="48"/>
                      <a:pt x="0" y="47"/>
                      <a:pt x="0" y="46"/>
                    </a:cubicBezTo>
                    <a:cubicBezTo>
                      <a:pt x="0" y="45"/>
                      <a:pt x="1" y="44"/>
                      <a:pt x="2" y="44"/>
                    </a:cubicBezTo>
                    <a:cubicBezTo>
                      <a:pt x="7" y="44"/>
                      <a:pt x="11" y="41"/>
                      <a:pt x="12" y="36"/>
                    </a:cubicBezTo>
                    <a:cubicBezTo>
                      <a:pt x="17" y="10"/>
                      <a:pt x="17" y="10"/>
                      <a:pt x="17" y="10"/>
                    </a:cubicBezTo>
                    <a:cubicBezTo>
                      <a:pt x="18" y="4"/>
                      <a:pt x="22" y="0"/>
                      <a:pt x="28" y="0"/>
                    </a:cubicBezTo>
                    <a:cubicBezTo>
                      <a:pt x="34" y="0"/>
                      <a:pt x="38" y="4"/>
                      <a:pt x="39" y="10"/>
                    </a:cubicBezTo>
                    <a:cubicBezTo>
                      <a:pt x="44" y="36"/>
                      <a:pt x="44" y="36"/>
                      <a:pt x="44" y="36"/>
                    </a:cubicBezTo>
                    <a:cubicBezTo>
                      <a:pt x="45" y="41"/>
                      <a:pt x="49" y="44"/>
                      <a:pt x="54" y="44"/>
                    </a:cubicBezTo>
                    <a:cubicBezTo>
                      <a:pt x="55" y="44"/>
                      <a:pt x="56" y="45"/>
                      <a:pt x="56" y="46"/>
                    </a:cubicBezTo>
                    <a:cubicBezTo>
                      <a:pt x="56" y="47"/>
                      <a:pt x="55" y="48"/>
                      <a:pt x="5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8" name="Group 37">
              <a:extLst>
                <a:ext uri="{FF2B5EF4-FFF2-40B4-BE49-F238E27FC236}">
                  <a16:creationId xmlns:a16="http://schemas.microsoft.com/office/drawing/2014/main" id="{064A3EB0-C836-036F-D7A7-2E8276739056}"/>
                </a:ext>
              </a:extLst>
            </p:cNvPr>
            <p:cNvGrpSpPr/>
            <p:nvPr/>
          </p:nvGrpSpPr>
          <p:grpSpPr>
            <a:xfrm>
              <a:off x="4728962" y="2408569"/>
              <a:ext cx="312621" cy="328468"/>
              <a:chOff x="6276975" y="5051425"/>
              <a:chExt cx="344488" cy="361950"/>
            </a:xfrm>
            <a:solidFill>
              <a:schemeClr val="bg1"/>
            </a:solidFill>
          </p:grpSpPr>
          <p:sp>
            <p:nvSpPr>
              <p:cNvPr id="61" name="Freeform 1592">
                <a:extLst>
                  <a:ext uri="{FF2B5EF4-FFF2-40B4-BE49-F238E27FC236}">
                    <a16:creationId xmlns:a16="http://schemas.microsoft.com/office/drawing/2014/main" id="{DEA6C29A-4DB7-CAF8-2944-9223E2F7EEDB}"/>
                  </a:ext>
                </a:extLst>
              </p:cNvPr>
              <p:cNvSpPr>
                <a:spLocks noEditPoints="1"/>
              </p:cNvSpPr>
              <p:nvPr/>
            </p:nvSpPr>
            <p:spPr bwMode="auto">
              <a:xfrm>
                <a:off x="6276975" y="5051425"/>
                <a:ext cx="344488" cy="60325"/>
              </a:xfrm>
              <a:custGeom>
                <a:avLst/>
                <a:gdLst>
                  <a:gd name="T0" fmla="*/ 90 w 92"/>
                  <a:gd name="T1" fmla="*/ 16 h 16"/>
                  <a:gd name="T2" fmla="*/ 2 w 92"/>
                  <a:gd name="T3" fmla="*/ 16 h 16"/>
                  <a:gd name="T4" fmla="*/ 0 w 92"/>
                  <a:gd name="T5" fmla="*/ 14 h 16"/>
                  <a:gd name="T6" fmla="*/ 0 w 92"/>
                  <a:gd name="T7" fmla="*/ 2 h 16"/>
                  <a:gd name="T8" fmla="*/ 2 w 92"/>
                  <a:gd name="T9" fmla="*/ 0 h 16"/>
                  <a:gd name="T10" fmla="*/ 90 w 92"/>
                  <a:gd name="T11" fmla="*/ 0 h 16"/>
                  <a:gd name="T12" fmla="*/ 92 w 92"/>
                  <a:gd name="T13" fmla="*/ 2 h 16"/>
                  <a:gd name="T14" fmla="*/ 92 w 92"/>
                  <a:gd name="T15" fmla="*/ 14 h 16"/>
                  <a:gd name="T16" fmla="*/ 90 w 92"/>
                  <a:gd name="T17" fmla="*/ 16 h 16"/>
                  <a:gd name="T18" fmla="*/ 4 w 92"/>
                  <a:gd name="T19" fmla="*/ 12 h 16"/>
                  <a:gd name="T20" fmla="*/ 88 w 92"/>
                  <a:gd name="T21" fmla="*/ 12 h 16"/>
                  <a:gd name="T22" fmla="*/ 88 w 92"/>
                  <a:gd name="T23" fmla="*/ 4 h 16"/>
                  <a:gd name="T24" fmla="*/ 4 w 92"/>
                  <a:gd name="T25" fmla="*/ 4 h 16"/>
                  <a:gd name="T26" fmla="*/ 4 w 92"/>
                  <a:gd name="T2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16">
                    <a:moveTo>
                      <a:pt x="90" y="16"/>
                    </a:moveTo>
                    <a:cubicBezTo>
                      <a:pt x="2" y="16"/>
                      <a:pt x="2" y="16"/>
                      <a:pt x="2" y="16"/>
                    </a:cubicBezTo>
                    <a:cubicBezTo>
                      <a:pt x="1" y="16"/>
                      <a:pt x="0" y="15"/>
                      <a:pt x="0" y="14"/>
                    </a:cubicBezTo>
                    <a:cubicBezTo>
                      <a:pt x="0" y="2"/>
                      <a:pt x="0" y="2"/>
                      <a:pt x="0" y="2"/>
                    </a:cubicBezTo>
                    <a:cubicBezTo>
                      <a:pt x="0" y="1"/>
                      <a:pt x="1" y="0"/>
                      <a:pt x="2" y="0"/>
                    </a:cubicBezTo>
                    <a:cubicBezTo>
                      <a:pt x="90" y="0"/>
                      <a:pt x="90" y="0"/>
                      <a:pt x="90" y="0"/>
                    </a:cubicBezTo>
                    <a:cubicBezTo>
                      <a:pt x="91" y="0"/>
                      <a:pt x="92" y="1"/>
                      <a:pt x="92" y="2"/>
                    </a:cubicBezTo>
                    <a:cubicBezTo>
                      <a:pt x="92" y="14"/>
                      <a:pt x="92" y="14"/>
                      <a:pt x="92" y="14"/>
                    </a:cubicBezTo>
                    <a:cubicBezTo>
                      <a:pt x="92" y="15"/>
                      <a:pt x="91" y="16"/>
                      <a:pt x="90" y="16"/>
                    </a:cubicBezTo>
                    <a:close/>
                    <a:moveTo>
                      <a:pt x="4" y="12"/>
                    </a:moveTo>
                    <a:cubicBezTo>
                      <a:pt x="88" y="12"/>
                      <a:pt x="88" y="12"/>
                      <a:pt x="88" y="12"/>
                    </a:cubicBezTo>
                    <a:cubicBezTo>
                      <a:pt x="88" y="4"/>
                      <a:pt x="88" y="4"/>
                      <a:pt x="88" y="4"/>
                    </a:cubicBezTo>
                    <a:cubicBezTo>
                      <a:pt x="4" y="4"/>
                      <a:pt x="4" y="4"/>
                      <a:pt x="4" y="4"/>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2" name="Freeform 1593">
                <a:extLst>
                  <a:ext uri="{FF2B5EF4-FFF2-40B4-BE49-F238E27FC236}">
                    <a16:creationId xmlns:a16="http://schemas.microsoft.com/office/drawing/2014/main" id="{BEDF827A-546A-9BEF-CFCE-1E2CD99EDCDE}"/>
                  </a:ext>
                </a:extLst>
              </p:cNvPr>
              <p:cNvSpPr>
                <a:spLocks/>
              </p:cNvSpPr>
              <p:nvPr/>
            </p:nvSpPr>
            <p:spPr bwMode="auto">
              <a:xfrm>
                <a:off x="6276975" y="5307013"/>
                <a:ext cx="344488" cy="15875"/>
              </a:xfrm>
              <a:custGeom>
                <a:avLst/>
                <a:gdLst>
                  <a:gd name="T0" fmla="*/ 90 w 92"/>
                  <a:gd name="T1" fmla="*/ 4 h 4"/>
                  <a:gd name="T2" fmla="*/ 2 w 92"/>
                  <a:gd name="T3" fmla="*/ 4 h 4"/>
                  <a:gd name="T4" fmla="*/ 0 w 92"/>
                  <a:gd name="T5" fmla="*/ 2 h 4"/>
                  <a:gd name="T6" fmla="*/ 2 w 92"/>
                  <a:gd name="T7" fmla="*/ 0 h 4"/>
                  <a:gd name="T8" fmla="*/ 90 w 92"/>
                  <a:gd name="T9" fmla="*/ 0 h 4"/>
                  <a:gd name="T10" fmla="*/ 92 w 92"/>
                  <a:gd name="T11" fmla="*/ 2 h 4"/>
                  <a:gd name="T12" fmla="*/ 90 w 92"/>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92" h="4">
                    <a:moveTo>
                      <a:pt x="90" y="4"/>
                    </a:moveTo>
                    <a:cubicBezTo>
                      <a:pt x="2" y="4"/>
                      <a:pt x="2" y="4"/>
                      <a:pt x="2" y="4"/>
                    </a:cubicBezTo>
                    <a:cubicBezTo>
                      <a:pt x="1" y="4"/>
                      <a:pt x="0" y="3"/>
                      <a:pt x="0" y="2"/>
                    </a:cubicBezTo>
                    <a:cubicBezTo>
                      <a:pt x="0" y="1"/>
                      <a:pt x="1" y="0"/>
                      <a:pt x="2" y="0"/>
                    </a:cubicBezTo>
                    <a:cubicBezTo>
                      <a:pt x="90" y="0"/>
                      <a:pt x="90" y="0"/>
                      <a:pt x="90" y="0"/>
                    </a:cubicBezTo>
                    <a:cubicBezTo>
                      <a:pt x="91" y="0"/>
                      <a:pt x="92" y="1"/>
                      <a:pt x="92" y="2"/>
                    </a:cubicBezTo>
                    <a:cubicBezTo>
                      <a:pt x="92" y="3"/>
                      <a:pt x="91" y="4"/>
                      <a:pt x="9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3" name="Freeform 1594">
                <a:extLst>
                  <a:ext uri="{FF2B5EF4-FFF2-40B4-BE49-F238E27FC236}">
                    <a16:creationId xmlns:a16="http://schemas.microsoft.com/office/drawing/2014/main" id="{E211CBB1-B298-8774-BE85-87A9730CD319}"/>
                  </a:ext>
                </a:extLst>
              </p:cNvPr>
              <p:cNvSpPr>
                <a:spLocks noEditPoints="1"/>
              </p:cNvSpPr>
              <p:nvPr/>
            </p:nvSpPr>
            <p:spPr bwMode="auto">
              <a:xfrm>
                <a:off x="6307138" y="5097463"/>
                <a:ext cx="284163" cy="225425"/>
              </a:xfrm>
              <a:custGeom>
                <a:avLst/>
                <a:gdLst>
                  <a:gd name="T0" fmla="*/ 74 w 76"/>
                  <a:gd name="T1" fmla="*/ 60 h 60"/>
                  <a:gd name="T2" fmla="*/ 2 w 76"/>
                  <a:gd name="T3" fmla="*/ 60 h 60"/>
                  <a:gd name="T4" fmla="*/ 0 w 76"/>
                  <a:gd name="T5" fmla="*/ 58 h 60"/>
                  <a:gd name="T6" fmla="*/ 0 w 76"/>
                  <a:gd name="T7" fmla="*/ 2 h 60"/>
                  <a:gd name="T8" fmla="*/ 2 w 76"/>
                  <a:gd name="T9" fmla="*/ 0 h 60"/>
                  <a:gd name="T10" fmla="*/ 74 w 76"/>
                  <a:gd name="T11" fmla="*/ 0 h 60"/>
                  <a:gd name="T12" fmla="*/ 76 w 76"/>
                  <a:gd name="T13" fmla="*/ 2 h 60"/>
                  <a:gd name="T14" fmla="*/ 76 w 76"/>
                  <a:gd name="T15" fmla="*/ 58 h 60"/>
                  <a:gd name="T16" fmla="*/ 74 w 76"/>
                  <a:gd name="T17" fmla="*/ 60 h 60"/>
                  <a:gd name="T18" fmla="*/ 4 w 76"/>
                  <a:gd name="T19" fmla="*/ 56 h 60"/>
                  <a:gd name="T20" fmla="*/ 72 w 76"/>
                  <a:gd name="T21" fmla="*/ 56 h 60"/>
                  <a:gd name="T22" fmla="*/ 72 w 76"/>
                  <a:gd name="T23" fmla="*/ 4 h 60"/>
                  <a:gd name="T24" fmla="*/ 4 w 76"/>
                  <a:gd name="T25" fmla="*/ 4 h 60"/>
                  <a:gd name="T26" fmla="*/ 4 w 76"/>
                  <a:gd name="T27"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60">
                    <a:moveTo>
                      <a:pt x="74" y="60"/>
                    </a:moveTo>
                    <a:cubicBezTo>
                      <a:pt x="2" y="60"/>
                      <a:pt x="2" y="60"/>
                      <a:pt x="2" y="60"/>
                    </a:cubicBezTo>
                    <a:cubicBezTo>
                      <a:pt x="1" y="60"/>
                      <a:pt x="0" y="59"/>
                      <a:pt x="0" y="58"/>
                    </a:cubicBezTo>
                    <a:cubicBezTo>
                      <a:pt x="0" y="2"/>
                      <a:pt x="0" y="2"/>
                      <a:pt x="0" y="2"/>
                    </a:cubicBezTo>
                    <a:cubicBezTo>
                      <a:pt x="0" y="1"/>
                      <a:pt x="1" y="0"/>
                      <a:pt x="2" y="0"/>
                    </a:cubicBezTo>
                    <a:cubicBezTo>
                      <a:pt x="74" y="0"/>
                      <a:pt x="74" y="0"/>
                      <a:pt x="74" y="0"/>
                    </a:cubicBezTo>
                    <a:cubicBezTo>
                      <a:pt x="75" y="0"/>
                      <a:pt x="76" y="1"/>
                      <a:pt x="76" y="2"/>
                    </a:cubicBezTo>
                    <a:cubicBezTo>
                      <a:pt x="76" y="58"/>
                      <a:pt x="76" y="58"/>
                      <a:pt x="76" y="58"/>
                    </a:cubicBezTo>
                    <a:cubicBezTo>
                      <a:pt x="76" y="59"/>
                      <a:pt x="75" y="60"/>
                      <a:pt x="74" y="60"/>
                    </a:cubicBezTo>
                    <a:close/>
                    <a:moveTo>
                      <a:pt x="4" y="56"/>
                    </a:moveTo>
                    <a:cubicBezTo>
                      <a:pt x="72" y="56"/>
                      <a:pt x="72" y="56"/>
                      <a:pt x="72" y="56"/>
                    </a:cubicBezTo>
                    <a:cubicBezTo>
                      <a:pt x="72" y="4"/>
                      <a:pt x="72" y="4"/>
                      <a:pt x="72" y="4"/>
                    </a:cubicBezTo>
                    <a:cubicBezTo>
                      <a:pt x="4" y="4"/>
                      <a:pt x="4" y="4"/>
                      <a:pt x="4" y="4"/>
                    </a:cubicBezTo>
                    <a:lnTo>
                      <a:pt x="4"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4" name="Rectangle 1595">
                <a:extLst>
                  <a:ext uri="{FF2B5EF4-FFF2-40B4-BE49-F238E27FC236}">
                    <a16:creationId xmlns:a16="http://schemas.microsoft.com/office/drawing/2014/main" id="{670E058B-68EA-1E38-F54E-E326FAA3DF76}"/>
                  </a:ext>
                </a:extLst>
              </p:cNvPr>
              <p:cNvSpPr>
                <a:spLocks noChangeArrowheads="1"/>
              </p:cNvSpPr>
              <p:nvPr/>
            </p:nvSpPr>
            <p:spPr bwMode="auto">
              <a:xfrm>
                <a:off x="6442075" y="5314950"/>
                <a:ext cx="14288"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5" name="Freeform 1596">
                <a:extLst>
                  <a:ext uri="{FF2B5EF4-FFF2-40B4-BE49-F238E27FC236}">
                    <a16:creationId xmlns:a16="http://schemas.microsoft.com/office/drawing/2014/main" id="{E28C4BCE-1F04-11B8-F8F7-006EE1A395F2}"/>
                  </a:ext>
                </a:extLst>
              </p:cNvPr>
              <p:cNvSpPr>
                <a:spLocks noEditPoints="1"/>
              </p:cNvSpPr>
              <p:nvPr/>
            </p:nvSpPr>
            <p:spPr bwMode="auto">
              <a:xfrm>
                <a:off x="6419850" y="5353050"/>
                <a:ext cx="58738" cy="60325"/>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1597">
                <a:extLst>
                  <a:ext uri="{FF2B5EF4-FFF2-40B4-BE49-F238E27FC236}">
                    <a16:creationId xmlns:a16="http://schemas.microsoft.com/office/drawing/2014/main" id="{A80C6E2F-F735-9A10-6A71-C4A2E2110783}"/>
                  </a:ext>
                </a:extLst>
              </p:cNvPr>
              <p:cNvSpPr>
                <a:spLocks noEditPoints="1"/>
              </p:cNvSpPr>
              <p:nvPr/>
            </p:nvSpPr>
            <p:spPr bwMode="auto">
              <a:xfrm>
                <a:off x="6359525" y="5141913"/>
                <a:ext cx="157163" cy="106363"/>
              </a:xfrm>
              <a:custGeom>
                <a:avLst/>
                <a:gdLst>
                  <a:gd name="T0" fmla="*/ 40 w 42"/>
                  <a:gd name="T1" fmla="*/ 28 h 28"/>
                  <a:gd name="T2" fmla="*/ 12 w 42"/>
                  <a:gd name="T3" fmla="*/ 28 h 28"/>
                  <a:gd name="T4" fmla="*/ 10 w 42"/>
                  <a:gd name="T5" fmla="*/ 26 h 28"/>
                  <a:gd name="T6" fmla="*/ 10 w 42"/>
                  <a:gd name="T7" fmla="*/ 4 h 28"/>
                  <a:gd name="T8" fmla="*/ 2 w 42"/>
                  <a:gd name="T9" fmla="*/ 4 h 28"/>
                  <a:gd name="T10" fmla="*/ 0 w 42"/>
                  <a:gd name="T11" fmla="*/ 2 h 28"/>
                  <a:gd name="T12" fmla="*/ 2 w 42"/>
                  <a:gd name="T13" fmla="*/ 0 h 28"/>
                  <a:gd name="T14" fmla="*/ 12 w 42"/>
                  <a:gd name="T15" fmla="*/ 0 h 28"/>
                  <a:gd name="T16" fmla="*/ 14 w 42"/>
                  <a:gd name="T17" fmla="*/ 2 h 28"/>
                  <a:gd name="T18" fmla="*/ 14 w 42"/>
                  <a:gd name="T19" fmla="*/ 8 h 28"/>
                  <a:gd name="T20" fmla="*/ 40 w 42"/>
                  <a:gd name="T21" fmla="*/ 8 h 28"/>
                  <a:gd name="T22" fmla="*/ 42 w 42"/>
                  <a:gd name="T23" fmla="*/ 10 h 28"/>
                  <a:gd name="T24" fmla="*/ 42 w 42"/>
                  <a:gd name="T25" fmla="*/ 26 h 28"/>
                  <a:gd name="T26" fmla="*/ 40 w 42"/>
                  <a:gd name="T27" fmla="*/ 28 h 28"/>
                  <a:gd name="T28" fmla="*/ 14 w 42"/>
                  <a:gd name="T29" fmla="*/ 24 h 28"/>
                  <a:gd name="T30" fmla="*/ 38 w 42"/>
                  <a:gd name="T31" fmla="*/ 24 h 28"/>
                  <a:gd name="T32" fmla="*/ 38 w 42"/>
                  <a:gd name="T33" fmla="*/ 12 h 28"/>
                  <a:gd name="T34" fmla="*/ 14 w 42"/>
                  <a:gd name="T35" fmla="*/ 12 h 28"/>
                  <a:gd name="T36" fmla="*/ 14 w 42"/>
                  <a:gd name="T3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28">
                    <a:moveTo>
                      <a:pt x="40" y="28"/>
                    </a:moveTo>
                    <a:cubicBezTo>
                      <a:pt x="12" y="28"/>
                      <a:pt x="12" y="28"/>
                      <a:pt x="12" y="28"/>
                    </a:cubicBezTo>
                    <a:cubicBezTo>
                      <a:pt x="11" y="28"/>
                      <a:pt x="10" y="27"/>
                      <a:pt x="10" y="26"/>
                    </a:cubicBezTo>
                    <a:cubicBezTo>
                      <a:pt x="10" y="4"/>
                      <a:pt x="10" y="4"/>
                      <a:pt x="10" y="4"/>
                    </a:cubicBezTo>
                    <a:cubicBezTo>
                      <a:pt x="2" y="4"/>
                      <a:pt x="2" y="4"/>
                      <a:pt x="2" y="4"/>
                    </a:cubicBezTo>
                    <a:cubicBezTo>
                      <a:pt x="1" y="4"/>
                      <a:pt x="0" y="3"/>
                      <a:pt x="0" y="2"/>
                    </a:cubicBezTo>
                    <a:cubicBezTo>
                      <a:pt x="0" y="1"/>
                      <a:pt x="1" y="0"/>
                      <a:pt x="2" y="0"/>
                    </a:cubicBezTo>
                    <a:cubicBezTo>
                      <a:pt x="12" y="0"/>
                      <a:pt x="12" y="0"/>
                      <a:pt x="12" y="0"/>
                    </a:cubicBezTo>
                    <a:cubicBezTo>
                      <a:pt x="13" y="0"/>
                      <a:pt x="14" y="1"/>
                      <a:pt x="14" y="2"/>
                    </a:cubicBezTo>
                    <a:cubicBezTo>
                      <a:pt x="14" y="8"/>
                      <a:pt x="14" y="8"/>
                      <a:pt x="14" y="8"/>
                    </a:cubicBezTo>
                    <a:cubicBezTo>
                      <a:pt x="40" y="8"/>
                      <a:pt x="40" y="8"/>
                      <a:pt x="40" y="8"/>
                    </a:cubicBezTo>
                    <a:cubicBezTo>
                      <a:pt x="41" y="8"/>
                      <a:pt x="42" y="9"/>
                      <a:pt x="42" y="10"/>
                    </a:cubicBezTo>
                    <a:cubicBezTo>
                      <a:pt x="42" y="26"/>
                      <a:pt x="42" y="26"/>
                      <a:pt x="42" y="26"/>
                    </a:cubicBezTo>
                    <a:cubicBezTo>
                      <a:pt x="42" y="27"/>
                      <a:pt x="41" y="28"/>
                      <a:pt x="40" y="28"/>
                    </a:cubicBezTo>
                    <a:close/>
                    <a:moveTo>
                      <a:pt x="14" y="24"/>
                    </a:moveTo>
                    <a:cubicBezTo>
                      <a:pt x="38" y="24"/>
                      <a:pt x="38" y="24"/>
                      <a:pt x="38" y="24"/>
                    </a:cubicBezTo>
                    <a:cubicBezTo>
                      <a:pt x="38" y="12"/>
                      <a:pt x="38" y="12"/>
                      <a:pt x="38" y="12"/>
                    </a:cubicBezTo>
                    <a:cubicBezTo>
                      <a:pt x="14" y="12"/>
                      <a:pt x="14" y="12"/>
                      <a:pt x="14" y="12"/>
                    </a:cubicBezTo>
                    <a:lnTo>
                      <a:pt x="1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Oval 1598">
                <a:extLst>
                  <a:ext uri="{FF2B5EF4-FFF2-40B4-BE49-F238E27FC236}">
                    <a16:creationId xmlns:a16="http://schemas.microsoft.com/office/drawing/2014/main" id="{CC7DF1EF-B525-9A6A-63B7-1DFA98B78B37}"/>
                  </a:ext>
                </a:extLst>
              </p:cNvPr>
              <p:cNvSpPr>
                <a:spLocks noChangeArrowheads="1"/>
              </p:cNvSpPr>
              <p:nvPr/>
            </p:nvSpPr>
            <p:spPr bwMode="auto">
              <a:xfrm>
                <a:off x="6403975"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8" name="Oval 1599">
                <a:extLst>
                  <a:ext uri="{FF2B5EF4-FFF2-40B4-BE49-F238E27FC236}">
                    <a16:creationId xmlns:a16="http://schemas.microsoft.com/office/drawing/2014/main" id="{B64EA0E0-399C-3214-50B1-A170F0D40DB7}"/>
                  </a:ext>
                </a:extLst>
              </p:cNvPr>
              <p:cNvSpPr>
                <a:spLocks noChangeArrowheads="1"/>
              </p:cNvSpPr>
              <p:nvPr/>
            </p:nvSpPr>
            <p:spPr bwMode="auto">
              <a:xfrm>
                <a:off x="6478588" y="5254625"/>
                <a:ext cx="30163" cy="301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39" name="Group 38">
              <a:extLst>
                <a:ext uri="{FF2B5EF4-FFF2-40B4-BE49-F238E27FC236}">
                  <a16:creationId xmlns:a16="http://schemas.microsoft.com/office/drawing/2014/main" id="{63CCD689-9808-A922-9F75-CFC6301EFC04}"/>
                </a:ext>
              </a:extLst>
            </p:cNvPr>
            <p:cNvGrpSpPr/>
            <p:nvPr/>
          </p:nvGrpSpPr>
          <p:grpSpPr>
            <a:xfrm>
              <a:off x="4728242" y="3449915"/>
              <a:ext cx="314061" cy="314062"/>
              <a:chOff x="5554663" y="723900"/>
              <a:chExt cx="346075" cy="346076"/>
            </a:xfrm>
            <a:solidFill>
              <a:schemeClr val="bg1"/>
            </a:solidFill>
          </p:grpSpPr>
          <p:sp>
            <p:nvSpPr>
              <p:cNvPr id="54" name="Freeform 1743">
                <a:extLst>
                  <a:ext uri="{FF2B5EF4-FFF2-40B4-BE49-F238E27FC236}">
                    <a16:creationId xmlns:a16="http://schemas.microsoft.com/office/drawing/2014/main" id="{007EBBDE-350A-B98E-EBD8-9B1295079AA1}"/>
                  </a:ext>
                </a:extLst>
              </p:cNvPr>
              <p:cNvSpPr>
                <a:spLocks noEditPoints="1"/>
              </p:cNvSpPr>
              <p:nvPr/>
            </p:nvSpPr>
            <p:spPr bwMode="auto">
              <a:xfrm>
                <a:off x="5595938" y="765175"/>
                <a:ext cx="263525" cy="263525"/>
              </a:xfrm>
              <a:custGeom>
                <a:avLst/>
                <a:gdLst>
                  <a:gd name="T0" fmla="*/ 35 w 70"/>
                  <a:gd name="T1" fmla="*/ 70 h 70"/>
                  <a:gd name="T2" fmla="*/ 0 w 70"/>
                  <a:gd name="T3" fmla="*/ 35 h 70"/>
                  <a:gd name="T4" fmla="*/ 35 w 70"/>
                  <a:gd name="T5" fmla="*/ 0 h 70"/>
                  <a:gd name="T6" fmla="*/ 70 w 70"/>
                  <a:gd name="T7" fmla="*/ 35 h 70"/>
                  <a:gd name="T8" fmla="*/ 35 w 70"/>
                  <a:gd name="T9" fmla="*/ 70 h 70"/>
                  <a:gd name="T10" fmla="*/ 35 w 70"/>
                  <a:gd name="T11" fmla="*/ 4 h 70"/>
                  <a:gd name="T12" fmla="*/ 4 w 70"/>
                  <a:gd name="T13" fmla="*/ 35 h 70"/>
                  <a:gd name="T14" fmla="*/ 35 w 70"/>
                  <a:gd name="T15" fmla="*/ 66 h 70"/>
                  <a:gd name="T16" fmla="*/ 66 w 70"/>
                  <a:gd name="T17" fmla="*/ 35 h 70"/>
                  <a:gd name="T18" fmla="*/ 35 w 70"/>
                  <a:gd name="T19" fmla="*/ 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70">
                    <a:moveTo>
                      <a:pt x="35" y="70"/>
                    </a:moveTo>
                    <a:cubicBezTo>
                      <a:pt x="16" y="70"/>
                      <a:pt x="0" y="54"/>
                      <a:pt x="0" y="35"/>
                    </a:cubicBezTo>
                    <a:cubicBezTo>
                      <a:pt x="0" y="16"/>
                      <a:pt x="16" y="0"/>
                      <a:pt x="35" y="0"/>
                    </a:cubicBezTo>
                    <a:cubicBezTo>
                      <a:pt x="54" y="0"/>
                      <a:pt x="70" y="16"/>
                      <a:pt x="70" y="35"/>
                    </a:cubicBezTo>
                    <a:cubicBezTo>
                      <a:pt x="70" y="54"/>
                      <a:pt x="54" y="70"/>
                      <a:pt x="35" y="70"/>
                    </a:cubicBezTo>
                    <a:close/>
                    <a:moveTo>
                      <a:pt x="35" y="4"/>
                    </a:moveTo>
                    <a:cubicBezTo>
                      <a:pt x="18" y="4"/>
                      <a:pt x="4" y="18"/>
                      <a:pt x="4" y="35"/>
                    </a:cubicBezTo>
                    <a:cubicBezTo>
                      <a:pt x="4" y="52"/>
                      <a:pt x="18" y="66"/>
                      <a:pt x="35" y="66"/>
                    </a:cubicBezTo>
                    <a:cubicBezTo>
                      <a:pt x="52" y="66"/>
                      <a:pt x="66" y="52"/>
                      <a:pt x="66" y="35"/>
                    </a:cubicBezTo>
                    <a:cubicBezTo>
                      <a:pt x="66" y="18"/>
                      <a:pt x="52" y="4"/>
                      <a:pt x="3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5" name="Freeform 1744">
                <a:extLst>
                  <a:ext uri="{FF2B5EF4-FFF2-40B4-BE49-F238E27FC236}">
                    <a16:creationId xmlns:a16="http://schemas.microsoft.com/office/drawing/2014/main" id="{106B6A51-7509-5465-8942-47199E2B2FEC}"/>
                  </a:ext>
                </a:extLst>
              </p:cNvPr>
              <p:cNvSpPr>
                <a:spLocks/>
              </p:cNvSpPr>
              <p:nvPr/>
            </p:nvSpPr>
            <p:spPr bwMode="auto">
              <a:xfrm>
                <a:off x="5719763" y="723900"/>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6" name="Freeform 1745">
                <a:extLst>
                  <a:ext uri="{FF2B5EF4-FFF2-40B4-BE49-F238E27FC236}">
                    <a16:creationId xmlns:a16="http://schemas.microsoft.com/office/drawing/2014/main" id="{7E4E865B-525D-F0A8-34A9-5B2533985969}"/>
                  </a:ext>
                </a:extLst>
              </p:cNvPr>
              <p:cNvSpPr>
                <a:spLocks/>
              </p:cNvSpPr>
              <p:nvPr/>
            </p:nvSpPr>
            <p:spPr bwMode="auto">
              <a:xfrm>
                <a:off x="5554663" y="889000"/>
                <a:ext cx="87313"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746">
                <a:extLst>
                  <a:ext uri="{FF2B5EF4-FFF2-40B4-BE49-F238E27FC236}">
                    <a16:creationId xmlns:a16="http://schemas.microsoft.com/office/drawing/2014/main" id="{B50B780F-2670-EB2F-4654-F217472F8C1E}"/>
                  </a:ext>
                </a:extLst>
              </p:cNvPr>
              <p:cNvSpPr>
                <a:spLocks/>
              </p:cNvSpPr>
              <p:nvPr/>
            </p:nvSpPr>
            <p:spPr bwMode="auto">
              <a:xfrm>
                <a:off x="5719763" y="982663"/>
                <a:ext cx="15875" cy="87313"/>
              </a:xfrm>
              <a:custGeom>
                <a:avLst/>
                <a:gdLst>
                  <a:gd name="T0" fmla="*/ 2 w 4"/>
                  <a:gd name="T1" fmla="*/ 23 h 23"/>
                  <a:gd name="T2" fmla="*/ 0 w 4"/>
                  <a:gd name="T3" fmla="*/ 21 h 23"/>
                  <a:gd name="T4" fmla="*/ 0 w 4"/>
                  <a:gd name="T5" fmla="*/ 2 h 23"/>
                  <a:gd name="T6" fmla="*/ 2 w 4"/>
                  <a:gd name="T7" fmla="*/ 0 h 23"/>
                  <a:gd name="T8" fmla="*/ 4 w 4"/>
                  <a:gd name="T9" fmla="*/ 2 h 23"/>
                  <a:gd name="T10" fmla="*/ 4 w 4"/>
                  <a:gd name="T11" fmla="*/ 21 h 23"/>
                  <a:gd name="T12" fmla="*/ 2 w 4"/>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4" h="23">
                    <a:moveTo>
                      <a:pt x="2" y="23"/>
                    </a:moveTo>
                    <a:cubicBezTo>
                      <a:pt x="1" y="23"/>
                      <a:pt x="0" y="22"/>
                      <a:pt x="0" y="21"/>
                    </a:cubicBezTo>
                    <a:cubicBezTo>
                      <a:pt x="0" y="2"/>
                      <a:pt x="0" y="2"/>
                      <a:pt x="0" y="2"/>
                    </a:cubicBezTo>
                    <a:cubicBezTo>
                      <a:pt x="0" y="1"/>
                      <a:pt x="1" y="0"/>
                      <a:pt x="2" y="0"/>
                    </a:cubicBezTo>
                    <a:cubicBezTo>
                      <a:pt x="3" y="0"/>
                      <a:pt x="4" y="1"/>
                      <a:pt x="4" y="2"/>
                    </a:cubicBezTo>
                    <a:cubicBezTo>
                      <a:pt x="4" y="21"/>
                      <a:pt x="4" y="21"/>
                      <a:pt x="4" y="21"/>
                    </a:cubicBezTo>
                    <a:cubicBezTo>
                      <a:pt x="4" y="22"/>
                      <a:pt x="3" y="23"/>
                      <a:pt x="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8" name="Freeform 1747">
                <a:extLst>
                  <a:ext uri="{FF2B5EF4-FFF2-40B4-BE49-F238E27FC236}">
                    <a16:creationId xmlns:a16="http://schemas.microsoft.com/office/drawing/2014/main" id="{2860D1F9-29CE-580E-9957-8E9EC4FA0F5F}"/>
                  </a:ext>
                </a:extLst>
              </p:cNvPr>
              <p:cNvSpPr>
                <a:spLocks/>
              </p:cNvSpPr>
              <p:nvPr/>
            </p:nvSpPr>
            <p:spPr bwMode="auto">
              <a:xfrm>
                <a:off x="5815013" y="889000"/>
                <a:ext cx="85725" cy="15875"/>
              </a:xfrm>
              <a:custGeom>
                <a:avLst/>
                <a:gdLst>
                  <a:gd name="T0" fmla="*/ 21 w 23"/>
                  <a:gd name="T1" fmla="*/ 4 h 4"/>
                  <a:gd name="T2" fmla="*/ 2 w 23"/>
                  <a:gd name="T3" fmla="*/ 4 h 4"/>
                  <a:gd name="T4" fmla="*/ 0 w 23"/>
                  <a:gd name="T5" fmla="*/ 2 h 4"/>
                  <a:gd name="T6" fmla="*/ 2 w 23"/>
                  <a:gd name="T7" fmla="*/ 0 h 4"/>
                  <a:gd name="T8" fmla="*/ 21 w 23"/>
                  <a:gd name="T9" fmla="*/ 0 h 4"/>
                  <a:gd name="T10" fmla="*/ 23 w 23"/>
                  <a:gd name="T11" fmla="*/ 2 h 4"/>
                  <a:gd name="T12" fmla="*/ 21 w 2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3" h="4">
                    <a:moveTo>
                      <a:pt x="21" y="4"/>
                    </a:moveTo>
                    <a:cubicBezTo>
                      <a:pt x="2" y="4"/>
                      <a:pt x="2" y="4"/>
                      <a:pt x="2" y="4"/>
                    </a:cubicBezTo>
                    <a:cubicBezTo>
                      <a:pt x="1" y="4"/>
                      <a:pt x="0" y="3"/>
                      <a:pt x="0" y="2"/>
                    </a:cubicBezTo>
                    <a:cubicBezTo>
                      <a:pt x="0" y="1"/>
                      <a:pt x="1" y="0"/>
                      <a:pt x="2" y="0"/>
                    </a:cubicBezTo>
                    <a:cubicBezTo>
                      <a:pt x="21" y="0"/>
                      <a:pt x="21" y="0"/>
                      <a:pt x="21" y="0"/>
                    </a:cubicBezTo>
                    <a:cubicBezTo>
                      <a:pt x="22" y="0"/>
                      <a:pt x="23" y="1"/>
                      <a:pt x="23" y="2"/>
                    </a:cubicBezTo>
                    <a:cubicBezTo>
                      <a:pt x="23" y="3"/>
                      <a:pt x="22" y="4"/>
                      <a:pt x="2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9" name="Freeform 1748">
                <a:extLst>
                  <a:ext uri="{FF2B5EF4-FFF2-40B4-BE49-F238E27FC236}">
                    <a16:creationId xmlns:a16="http://schemas.microsoft.com/office/drawing/2014/main" id="{F2AF8A12-A080-5948-E925-E1F68E498D8A}"/>
                  </a:ext>
                </a:extLst>
              </p:cNvPr>
              <p:cNvSpPr>
                <a:spLocks/>
              </p:cNvSpPr>
              <p:nvPr/>
            </p:nvSpPr>
            <p:spPr bwMode="auto">
              <a:xfrm>
                <a:off x="5697538" y="844550"/>
                <a:ext cx="60325" cy="104775"/>
              </a:xfrm>
              <a:custGeom>
                <a:avLst/>
                <a:gdLst>
                  <a:gd name="T0" fmla="*/ 8 w 16"/>
                  <a:gd name="T1" fmla="*/ 28 h 28"/>
                  <a:gd name="T2" fmla="*/ 0 w 16"/>
                  <a:gd name="T3" fmla="*/ 20 h 28"/>
                  <a:gd name="T4" fmla="*/ 2 w 16"/>
                  <a:gd name="T5" fmla="*/ 18 h 28"/>
                  <a:gd name="T6" fmla="*/ 4 w 16"/>
                  <a:gd name="T7" fmla="*/ 20 h 28"/>
                  <a:gd name="T8" fmla="*/ 8 w 16"/>
                  <a:gd name="T9" fmla="*/ 24 h 28"/>
                  <a:gd name="T10" fmla="*/ 12 w 16"/>
                  <a:gd name="T11" fmla="*/ 20 h 28"/>
                  <a:gd name="T12" fmla="*/ 8 w 16"/>
                  <a:gd name="T13" fmla="*/ 16 h 28"/>
                  <a:gd name="T14" fmla="*/ 0 w 16"/>
                  <a:gd name="T15" fmla="*/ 8 h 28"/>
                  <a:gd name="T16" fmla="*/ 8 w 16"/>
                  <a:gd name="T17" fmla="*/ 0 h 28"/>
                  <a:gd name="T18" fmla="*/ 16 w 16"/>
                  <a:gd name="T19" fmla="*/ 8 h 28"/>
                  <a:gd name="T20" fmla="*/ 14 w 16"/>
                  <a:gd name="T21" fmla="*/ 10 h 28"/>
                  <a:gd name="T22" fmla="*/ 12 w 16"/>
                  <a:gd name="T23" fmla="*/ 8 h 28"/>
                  <a:gd name="T24" fmla="*/ 8 w 16"/>
                  <a:gd name="T25" fmla="*/ 4 h 28"/>
                  <a:gd name="T26" fmla="*/ 4 w 16"/>
                  <a:gd name="T27" fmla="*/ 8 h 28"/>
                  <a:gd name="T28" fmla="*/ 8 w 16"/>
                  <a:gd name="T29" fmla="*/ 12 h 28"/>
                  <a:gd name="T30" fmla="*/ 16 w 16"/>
                  <a:gd name="T31" fmla="*/ 20 h 28"/>
                  <a:gd name="T32" fmla="*/ 8 w 16"/>
                  <a:gd name="T3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28">
                    <a:moveTo>
                      <a:pt x="8" y="28"/>
                    </a:moveTo>
                    <a:cubicBezTo>
                      <a:pt x="4" y="28"/>
                      <a:pt x="0" y="24"/>
                      <a:pt x="0" y="20"/>
                    </a:cubicBezTo>
                    <a:cubicBezTo>
                      <a:pt x="0" y="19"/>
                      <a:pt x="1" y="18"/>
                      <a:pt x="2" y="18"/>
                    </a:cubicBezTo>
                    <a:cubicBezTo>
                      <a:pt x="3" y="18"/>
                      <a:pt x="4" y="19"/>
                      <a:pt x="4" y="20"/>
                    </a:cubicBezTo>
                    <a:cubicBezTo>
                      <a:pt x="4" y="22"/>
                      <a:pt x="6" y="24"/>
                      <a:pt x="8" y="24"/>
                    </a:cubicBezTo>
                    <a:cubicBezTo>
                      <a:pt x="10" y="24"/>
                      <a:pt x="12" y="22"/>
                      <a:pt x="12" y="20"/>
                    </a:cubicBezTo>
                    <a:cubicBezTo>
                      <a:pt x="12" y="18"/>
                      <a:pt x="10" y="16"/>
                      <a:pt x="8" y="16"/>
                    </a:cubicBezTo>
                    <a:cubicBezTo>
                      <a:pt x="4" y="16"/>
                      <a:pt x="0" y="12"/>
                      <a:pt x="0" y="8"/>
                    </a:cubicBezTo>
                    <a:cubicBezTo>
                      <a:pt x="0" y="3"/>
                      <a:pt x="4" y="0"/>
                      <a:pt x="8" y="0"/>
                    </a:cubicBezTo>
                    <a:cubicBezTo>
                      <a:pt x="12" y="0"/>
                      <a:pt x="16" y="3"/>
                      <a:pt x="16" y="8"/>
                    </a:cubicBezTo>
                    <a:cubicBezTo>
                      <a:pt x="16" y="9"/>
                      <a:pt x="15" y="10"/>
                      <a:pt x="14" y="10"/>
                    </a:cubicBezTo>
                    <a:cubicBezTo>
                      <a:pt x="13" y="10"/>
                      <a:pt x="12" y="9"/>
                      <a:pt x="12" y="8"/>
                    </a:cubicBezTo>
                    <a:cubicBezTo>
                      <a:pt x="12" y="5"/>
                      <a:pt x="10" y="4"/>
                      <a:pt x="8" y="4"/>
                    </a:cubicBezTo>
                    <a:cubicBezTo>
                      <a:pt x="6" y="4"/>
                      <a:pt x="4" y="5"/>
                      <a:pt x="4" y="8"/>
                    </a:cubicBezTo>
                    <a:cubicBezTo>
                      <a:pt x="4" y="10"/>
                      <a:pt x="6" y="12"/>
                      <a:pt x="8" y="12"/>
                    </a:cubicBezTo>
                    <a:cubicBezTo>
                      <a:pt x="12" y="12"/>
                      <a:pt x="16" y="15"/>
                      <a:pt x="16" y="20"/>
                    </a:cubicBezTo>
                    <a:cubicBezTo>
                      <a:pt x="16" y="24"/>
                      <a:pt x="12" y="28"/>
                      <a:pt x="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0" name="Freeform 1749">
                <a:extLst>
                  <a:ext uri="{FF2B5EF4-FFF2-40B4-BE49-F238E27FC236}">
                    <a16:creationId xmlns:a16="http://schemas.microsoft.com/office/drawing/2014/main" id="{BB0B7FBF-C849-E5BB-A0E7-3035EFF9240F}"/>
                  </a:ext>
                </a:extLst>
              </p:cNvPr>
              <p:cNvSpPr>
                <a:spLocks/>
              </p:cNvSpPr>
              <p:nvPr/>
            </p:nvSpPr>
            <p:spPr bwMode="auto">
              <a:xfrm>
                <a:off x="5719763" y="828675"/>
                <a:ext cx="15875" cy="136525"/>
              </a:xfrm>
              <a:custGeom>
                <a:avLst/>
                <a:gdLst>
                  <a:gd name="T0" fmla="*/ 2 w 4"/>
                  <a:gd name="T1" fmla="*/ 36 h 36"/>
                  <a:gd name="T2" fmla="*/ 0 w 4"/>
                  <a:gd name="T3" fmla="*/ 34 h 36"/>
                  <a:gd name="T4" fmla="*/ 0 w 4"/>
                  <a:gd name="T5" fmla="*/ 2 h 36"/>
                  <a:gd name="T6" fmla="*/ 2 w 4"/>
                  <a:gd name="T7" fmla="*/ 0 h 36"/>
                  <a:gd name="T8" fmla="*/ 4 w 4"/>
                  <a:gd name="T9" fmla="*/ 2 h 36"/>
                  <a:gd name="T10" fmla="*/ 4 w 4"/>
                  <a:gd name="T11" fmla="*/ 34 h 36"/>
                  <a:gd name="T12" fmla="*/ 2 w 4"/>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4" h="36">
                    <a:moveTo>
                      <a:pt x="2" y="36"/>
                    </a:moveTo>
                    <a:cubicBezTo>
                      <a:pt x="1" y="36"/>
                      <a:pt x="0" y="35"/>
                      <a:pt x="0" y="34"/>
                    </a:cubicBezTo>
                    <a:cubicBezTo>
                      <a:pt x="0" y="2"/>
                      <a:pt x="0" y="2"/>
                      <a:pt x="0" y="2"/>
                    </a:cubicBezTo>
                    <a:cubicBezTo>
                      <a:pt x="0" y="1"/>
                      <a:pt x="1" y="0"/>
                      <a:pt x="2" y="0"/>
                    </a:cubicBezTo>
                    <a:cubicBezTo>
                      <a:pt x="3" y="0"/>
                      <a:pt x="4" y="1"/>
                      <a:pt x="4" y="2"/>
                    </a:cubicBezTo>
                    <a:cubicBezTo>
                      <a:pt x="4" y="34"/>
                      <a:pt x="4" y="34"/>
                      <a:pt x="4" y="34"/>
                    </a:cubicBezTo>
                    <a:cubicBezTo>
                      <a:pt x="4" y="35"/>
                      <a:pt x="3" y="36"/>
                      <a:pt x="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0" name="Group 39">
              <a:extLst>
                <a:ext uri="{FF2B5EF4-FFF2-40B4-BE49-F238E27FC236}">
                  <a16:creationId xmlns:a16="http://schemas.microsoft.com/office/drawing/2014/main" id="{BBBC01AF-EFD2-0A10-C991-8D5A8D4CE1BB}"/>
                </a:ext>
              </a:extLst>
            </p:cNvPr>
            <p:cNvGrpSpPr/>
            <p:nvPr/>
          </p:nvGrpSpPr>
          <p:grpSpPr>
            <a:xfrm>
              <a:off x="4729683" y="4477576"/>
              <a:ext cx="311179" cy="327027"/>
              <a:chOff x="7718425" y="1082675"/>
              <a:chExt cx="342900" cy="360363"/>
            </a:xfrm>
            <a:solidFill>
              <a:schemeClr val="bg1"/>
            </a:solidFill>
          </p:grpSpPr>
          <p:sp>
            <p:nvSpPr>
              <p:cNvPr id="51" name="Freeform 656">
                <a:extLst>
                  <a:ext uri="{FF2B5EF4-FFF2-40B4-BE49-F238E27FC236}">
                    <a16:creationId xmlns:a16="http://schemas.microsoft.com/office/drawing/2014/main" id="{9AFE15F2-3065-A821-2DAE-F0844294DA04}"/>
                  </a:ext>
                </a:extLst>
              </p:cNvPr>
              <p:cNvSpPr>
                <a:spLocks noEditPoints="1"/>
              </p:cNvSpPr>
              <p:nvPr/>
            </p:nvSpPr>
            <p:spPr bwMode="auto">
              <a:xfrm>
                <a:off x="7718425" y="1203325"/>
                <a:ext cx="301625" cy="239713"/>
              </a:xfrm>
              <a:custGeom>
                <a:avLst/>
                <a:gdLst>
                  <a:gd name="T0" fmla="*/ 78 w 80"/>
                  <a:gd name="T1" fmla="*/ 64 h 64"/>
                  <a:gd name="T2" fmla="*/ 2 w 80"/>
                  <a:gd name="T3" fmla="*/ 64 h 64"/>
                  <a:gd name="T4" fmla="*/ 0 w 80"/>
                  <a:gd name="T5" fmla="*/ 62 h 64"/>
                  <a:gd name="T6" fmla="*/ 0 w 80"/>
                  <a:gd name="T7" fmla="*/ 2 h 64"/>
                  <a:gd name="T8" fmla="*/ 2 w 80"/>
                  <a:gd name="T9" fmla="*/ 0 h 64"/>
                  <a:gd name="T10" fmla="*/ 78 w 80"/>
                  <a:gd name="T11" fmla="*/ 0 h 64"/>
                  <a:gd name="T12" fmla="*/ 80 w 80"/>
                  <a:gd name="T13" fmla="*/ 2 h 64"/>
                  <a:gd name="T14" fmla="*/ 80 w 80"/>
                  <a:gd name="T15" fmla="*/ 62 h 64"/>
                  <a:gd name="T16" fmla="*/ 78 w 80"/>
                  <a:gd name="T17" fmla="*/ 64 h 64"/>
                  <a:gd name="T18" fmla="*/ 4 w 80"/>
                  <a:gd name="T19" fmla="*/ 60 h 64"/>
                  <a:gd name="T20" fmla="*/ 76 w 80"/>
                  <a:gd name="T21" fmla="*/ 60 h 64"/>
                  <a:gd name="T22" fmla="*/ 76 w 80"/>
                  <a:gd name="T23" fmla="*/ 4 h 64"/>
                  <a:gd name="T24" fmla="*/ 4 w 80"/>
                  <a:gd name="T25" fmla="*/ 4 h 64"/>
                  <a:gd name="T26" fmla="*/ 4 w 80"/>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64">
                    <a:moveTo>
                      <a:pt x="78" y="64"/>
                    </a:moveTo>
                    <a:cubicBezTo>
                      <a:pt x="2" y="64"/>
                      <a:pt x="2" y="64"/>
                      <a:pt x="2" y="64"/>
                    </a:cubicBezTo>
                    <a:cubicBezTo>
                      <a:pt x="1" y="64"/>
                      <a:pt x="0" y="63"/>
                      <a:pt x="0" y="62"/>
                    </a:cubicBezTo>
                    <a:cubicBezTo>
                      <a:pt x="0" y="2"/>
                      <a:pt x="0" y="2"/>
                      <a:pt x="0" y="2"/>
                    </a:cubicBezTo>
                    <a:cubicBezTo>
                      <a:pt x="0" y="1"/>
                      <a:pt x="1" y="0"/>
                      <a:pt x="2" y="0"/>
                    </a:cubicBezTo>
                    <a:cubicBezTo>
                      <a:pt x="78" y="0"/>
                      <a:pt x="78" y="0"/>
                      <a:pt x="78" y="0"/>
                    </a:cubicBezTo>
                    <a:cubicBezTo>
                      <a:pt x="79" y="0"/>
                      <a:pt x="80" y="1"/>
                      <a:pt x="80" y="2"/>
                    </a:cubicBezTo>
                    <a:cubicBezTo>
                      <a:pt x="80" y="62"/>
                      <a:pt x="80" y="62"/>
                      <a:pt x="80" y="62"/>
                    </a:cubicBezTo>
                    <a:cubicBezTo>
                      <a:pt x="80" y="63"/>
                      <a:pt x="79" y="64"/>
                      <a:pt x="78" y="64"/>
                    </a:cubicBezTo>
                    <a:close/>
                    <a:moveTo>
                      <a:pt x="4" y="60"/>
                    </a:moveTo>
                    <a:cubicBezTo>
                      <a:pt x="76" y="60"/>
                      <a:pt x="76" y="60"/>
                      <a:pt x="76" y="60"/>
                    </a:cubicBezTo>
                    <a:cubicBezTo>
                      <a:pt x="76" y="4"/>
                      <a:pt x="76" y="4"/>
                      <a:pt x="76" y="4"/>
                    </a:cubicBezTo>
                    <a:cubicBezTo>
                      <a:pt x="4" y="4"/>
                      <a:pt x="4" y="4"/>
                      <a:pt x="4" y="4"/>
                    </a:cubicBezTo>
                    <a:lnTo>
                      <a:pt x="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Freeform 657">
                <a:extLst>
                  <a:ext uri="{FF2B5EF4-FFF2-40B4-BE49-F238E27FC236}">
                    <a16:creationId xmlns:a16="http://schemas.microsoft.com/office/drawing/2014/main" id="{350EC060-AA29-D881-43B4-F7FA7C2A8246}"/>
                  </a:ext>
                </a:extLst>
              </p:cNvPr>
              <p:cNvSpPr>
                <a:spLocks/>
              </p:cNvSpPr>
              <p:nvPr/>
            </p:nvSpPr>
            <p:spPr bwMode="auto">
              <a:xfrm>
                <a:off x="7794625" y="1082675"/>
                <a:ext cx="149225" cy="104775"/>
              </a:xfrm>
              <a:custGeom>
                <a:avLst/>
                <a:gdLst>
                  <a:gd name="T0" fmla="*/ 38 w 40"/>
                  <a:gd name="T1" fmla="*/ 28 h 28"/>
                  <a:gd name="T2" fmla="*/ 36 w 40"/>
                  <a:gd name="T3" fmla="*/ 26 h 28"/>
                  <a:gd name="T4" fmla="*/ 36 w 40"/>
                  <a:gd name="T5" fmla="*/ 20 h 28"/>
                  <a:gd name="T6" fmla="*/ 20 w 40"/>
                  <a:gd name="T7" fmla="*/ 4 h 28"/>
                  <a:gd name="T8" fmla="*/ 4 w 40"/>
                  <a:gd name="T9" fmla="*/ 20 h 28"/>
                  <a:gd name="T10" fmla="*/ 4 w 40"/>
                  <a:gd name="T11" fmla="*/ 26 h 28"/>
                  <a:gd name="T12" fmla="*/ 2 w 40"/>
                  <a:gd name="T13" fmla="*/ 28 h 28"/>
                  <a:gd name="T14" fmla="*/ 0 w 40"/>
                  <a:gd name="T15" fmla="*/ 26 h 28"/>
                  <a:gd name="T16" fmla="*/ 0 w 40"/>
                  <a:gd name="T17" fmla="*/ 20 h 28"/>
                  <a:gd name="T18" fmla="*/ 20 w 40"/>
                  <a:gd name="T19" fmla="*/ 0 h 28"/>
                  <a:gd name="T20" fmla="*/ 40 w 40"/>
                  <a:gd name="T21" fmla="*/ 20 h 28"/>
                  <a:gd name="T22" fmla="*/ 40 w 40"/>
                  <a:gd name="T23" fmla="*/ 26 h 28"/>
                  <a:gd name="T24" fmla="*/ 38 w 40"/>
                  <a:gd name="T25"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28">
                    <a:moveTo>
                      <a:pt x="38" y="28"/>
                    </a:moveTo>
                    <a:cubicBezTo>
                      <a:pt x="37" y="28"/>
                      <a:pt x="36" y="27"/>
                      <a:pt x="36" y="26"/>
                    </a:cubicBezTo>
                    <a:cubicBezTo>
                      <a:pt x="36" y="20"/>
                      <a:pt x="36" y="20"/>
                      <a:pt x="36" y="20"/>
                    </a:cubicBezTo>
                    <a:cubicBezTo>
                      <a:pt x="36" y="11"/>
                      <a:pt x="29" y="4"/>
                      <a:pt x="20" y="4"/>
                    </a:cubicBezTo>
                    <a:cubicBezTo>
                      <a:pt x="11" y="4"/>
                      <a:pt x="4" y="11"/>
                      <a:pt x="4" y="20"/>
                    </a:cubicBezTo>
                    <a:cubicBezTo>
                      <a:pt x="4" y="26"/>
                      <a:pt x="4" y="26"/>
                      <a:pt x="4" y="26"/>
                    </a:cubicBezTo>
                    <a:cubicBezTo>
                      <a:pt x="4" y="27"/>
                      <a:pt x="3" y="28"/>
                      <a:pt x="2" y="28"/>
                    </a:cubicBezTo>
                    <a:cubicBezTo>
                      <a:pt x="1" y="28"/>
                      <a:pt x="0" y="27"/>
                      <a:pt x="0" y="26"/>
                    </a:cubicBezTo>
                    <a:cubicBezTo>
                      <a:pt x="0" y="20"/>
                      <a:pt x="0" y="20"/>
                      <a:pt x="0" y="20"/>
                    </a:cubicBezTo>
                    <a:cubicBezTo>
                      <a:pt x="0" y="9"/>
                      <a:pt x="9" y="0"/>
                      <a:pt x="20" y="0"/>
                    </a:cubicBezTo>
                    <a:cubicBezTo>
                      <a:pt x="31" y="0"/>
                      <a:pt x="40" y="9"/>
                      <a:pt x="40" y="20"/>
                    </a:cubicBezTo>
                    <a:cubicBezTo>
                      <a:pt x="40" y="26"/>
                      <a:pt x="40" y="26"/>
                      <a:pt x="40" y="26"/>
                    </a:cubicBezTo>
                    <a:cubicBezTo>
                      <a:pt x="40" y="27"/>
                      <a:pt x="39" y="28"/>
                      <a:pt x="3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3" name="Freeform 658">
                <a:extLst>
                  <a:ext uri="{FF2B5EF4-FFF2-40B4-BE49-F238E27FC236}">
                    <a16:creationId xmlns:a16="http://schemas.microsoft.com/office/drawing/2014/main" id="{C8144804-98DD-7B0A-9D73-F2CDCCA1D58A}"/>
                  </a:ext>
                </a:extLst>
              </p:cNvPr>
              <p:cNvSpPr>
                <a:spLocks noEditPoints="1"/>
              </p:cNvSpPr>
              <p:nvPr/>
            </p:nvSpPr>
            <p:spPr bwMode="auto">
              <a:xfrm>
                <a:off x="7959725" y="1093788"/>
                <a:ext cx="101600" cy="101600"/>
              </a:xfrm>
              <a:custGeom>
                <a:avLst/>
                <a:gdLst>
                  <a:gd name="T0" fmla="*/ 10 w 27"/>
                  <a:gd name="T1" fmla="*/ 27 h 27"/>
                  <a:gd name="T2" fmla="*/ 2 w 27"/>
                  <a:gd name="T3" fmla="*/ 27 h 27"/>
                  <a:gd name="T4" fmla="*/ 0 w 27"/>
                  <a:gd name="T5" fmla="*/ 25 h 27"/>
                  <a:gd name="T6" fmla="*/ 0 w 27"/>
                  <a:gd name="T7" fmla="*/ 17 h 27"/>
                  <a:gd name="T8" fmla="*/ 1 w 27"/>
                  <a:gd name="T9" fmla="*/ 15 h 27"/>
                  <a:gd name="T10" fmla="*/ 15 w 27"/>
                  <a:gd name="T11" fmla="*/ 1 h 27"/>
                  <a:gd name="T12" fmla="*/ 16 w 27"/>
                  <a:gd name="T13" fmla="*/ 0 h 27"/>
                  <a:gd name="T14" fmla="*/ 16 w 27"/>
                  <a:gd name="T15" fmla="*/ 0 h 27"/>
                  <a:gd name="T16" fmla="*/ 18 w 27"/>
                  <a:gd name="T17" fmla="*/ 1 h 27"/>
                  <a:gd name="T18" fmla="*/ 26 w 27"/>
                  <a:gd name="T19" fmla="*/ 9 h 27"/>
                  <a:gd name="T20" fmla="*/ 26 w 27"/>
                  <a:gd name="T21" fmla="*/ 12 h 27"/>
                  <a:gd name="T22" fmla="*/ 12 w 27"/>
                  <a:gd name="T23" fmla="*/ 26 h 27"/>
                  <a:gd name="T24" fmla="*/ 10 w 27"/>
                  <a:gd name="T25" fmla="*/ 27 h 27"/>
                  <a:gd name="T26" fmla="*/ 4 w 27"/>
                  <a:gd name="T27" fmla="*/ 23 h 27"/>
                  <a:gd name="T28" fmla="*/ 10 w 27"/>
                  <a:gd name="T29" fmla="*/ 23 h 27"/>
                  <a:gd name="T30" fmla="*/ 22 w 27"/>
                  <a:gd name="T31" fmla="*/ 11 h 27"/>
                  <a:gd name="T32" fmla="*/ 16 w 27"/>
                  <a:gd name="T33" fmla="*/ 5 h 27"/>
                  <a:gd name="T34" fmla="*/ 4 w 27"/>
                  <a:gd name="T35" fmla="*/ 17 h 27"/>
                  <a:gd name="T36" fmla="*/ 4 w 27"/>
                  <a:gd name="T3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7">
                    <a:moveTo>
                      <a:pt x="10" y="27"/>
                    </a:moveTo>
                    <a:cubicBezTo>
                      <a:pt x="2" y="27"/>
                      <a:pt x="2" y="27"/>
                      <a:pt x="2" y="27"/>
                    </a:cubicBezTo>
                    <a:cubicBezTo>
                      <a:pt x="1" y="27"/>
                      <a:pt x="0" y="26"/>
                      <a:pt x="0" y="25"/>
                    </a:cubicBezTo>
                    <a:cubicBezTo>
                      <a:pt x="0" y="17"/>
                      <a:pt x="0" y="17"/>
                      <a:pt x="0" y="17"/>
                    </a:cubicBezTo>
                    <a:cubicBezTo>
                      <a:pt x="0" y="16"/>
                      <a:pt x="0" y="15"/>
                      <a:pt x="1" y="15"/>
                    </a:cubicBezTo>
                    <a:cubicBezTo>
                      <a:pt x="15" y="1"/>
                      <a:pt x="15" y="1"/>
                      <a:pt x="15" y="1"/>
                    </a:cubicBezTo>
                    <a:cubicBezTo>
                      <a:pt x="15" y="1"/>
                      <a:pt x="16" y="0"/>
                      <a:pt x="16" y="0"/>
                    </a:cubicBezTo>
                    <a:cubicBezTo>
                      <a:pt x="16" y="0"/>
                      <a:pt x="16" y="0"/>
                      <a:pt x="16" y="0"/>
                    </a:cubicBezTo>
                    <a:cubicBezTo>
                      <a:pt x="17" y="0"/>
                      <a:pt x="17" y="1"/>
                      <a:pt x="18" y="1"/>
                    </a:cubicBezTo>
                    <a:cubicBezTo>
                      <a:pt x="26" y="9"/>
                      <a:pt x="26" y="9"/>
                      <a:pt x="26" y="9"/>
                    </a:cubicBezTo>
                    <a:cubicBezTo>
                      <a:pt x="27" y="10"/>
                      <a:pt x="27" y="11"/>
                      <a:pt x="26" y="12"/>
                    </a:cubicBezTo>
                    <a:cubicBezTo>
                      <a:pt x="12" y="26"/>
                      <a:pt x="12" y="26"/>
                      <a:pt x="12" y="26"/>
                    </a:cubicBezTo>
                    <a:cubicBezTo>
                      <a:pt x="12" y="27"/>
                      <a:pt x="11" y="27"/>
                      <a:pt x="10" y="27"/>
                    </a:cubicBezTo>
                    <a:close/>
                    <a:moveTo>
                      <a:pt x="4" y="23"/>
                    </a:moveTo>
                    <a:cubicBezTo>
                      <a:pt x="10" y="23"/>
                      <a:pt x="10" y="23"/>
                      <a:pt x="10" y="23"/>
                    </a:cubicBezTo>
                    <a:cubicBezTo>
                      <a:pt x="22" y="11"/>
                      <a:pt x="22" y="11"/>
                      <a:pt x="22" y="11"/>
                    </a:cubicBezTo>
                    <a:cubicBezTo>
                      <a:pt x="16" y="5"/>
                      <a:pt x="16" y="5"/>
                      <a:pt x="16" y="5"/>
                    </a:cubicBezTo>
                    <a:cubicBezTo>
                      <a:pt x="4" y="17"/>
                      <a:pt x="4" y="17"/>
                      <a:pt x="4" y="17"/>
                    </a:cubicBezTo>
                    <a:lnTo>
                      <a:pt x="4"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41" name="Group 40">
              <a:extLst>
                <a:ext uri="{FF2B5EF4-FFF2-40B4-BE49-F238E27FC236}">
                  <a16:creationId xmlns:a16="http://schemas.microsoft.com/office/drawing/2014/main" id="{AB52CCD4-2564-3E03-533C-652C82B48CB4}"/>
                </a:ext>
              </a:extLst>
            </p:cNvPr>
            <p:cNvGrpSpPr/>
            <p:nvPr/>
          </p:nvGrpSpPr>
          <p:grpSpPr>
            <a:xfrm>
              <a:off x="4721759" y="5531888"/>
              <a:ext cx="327027" cy="286689"/>
              <a:chOff x="2670175" y="1112838"/>
              <a:chExt cx="360363" cy="315913"/>
            </a:xfrm>
            <a:solidFill>
              <a:schemeClr val="bg1"/>
            </a:solidFill>
          </p:grpSpPr>
          <p:sp>
            <p:nvSpPr>
              <p:cNvPr id="42" name="Freeform 793">
                <a:extLst>
                  <a:ext uri="{FF2B5EF4-FFF2-40B4-BE49-F238E27FC236}">
                    <a16:creationId xmlns:a16="http://schemas.microsoft.com/office/drawing/2014/main" id="{4C8435DA-3347-74A5-8881-BA8CB21EC67F}"/>
                  </a:ext>
                </a:extLst>
              </p:cNvPr>
              <p:cNvSpPr>
                <a:spLocks/>
              </p:cNvSpPr>
              <p:nvPr/>
            </p:nvSpPr>
            <p:spPr bwMode="auto">
              <a:xfrm>
                <a:off x="2700338" y="1228725"/>
                <a:ext cx="300038" cy="200025"/>
              </a:xfrm>
              <a:custGeom>
                <a:avLst/>
                <a:gdLst>
                  <a:gd name="T0" fmla="*/ 78 w 80"/>
                  <a:gd name="T1" fmla="*/ 53 h 53"/>
                  <a:gd name="T2" fmla="*/ 2 w 80"/>
                  <a:gd name="T3" fmla="*/ 53 h 53"/>
                  <a:gd name="T4" fmla="*/ 0 w 80"/>
                  <a:gd name="T5" fmla="*/ 51 h 53"/>
                  <a:gd name="T6" fmla="*/ 0 w 80"/>
                  <a:gd name="T7" fmla="*/ 2 h 53"/>
                  <a:gd name="T8" fmla="*/ 2 w 80"/>
                  <a:gd name="T9" fmla="*/ 0 h 53"/>
                  <a:gd name="T10" fmla="*/ 4 w 80"/>
                  <a:gd name="T11" fmla="*/ 2 h 53"/>
                  <a:gd name="T12" fmla="*/ 4 w 80"/>
                  <a:gd name="T13" fmla="*/ 49 h 53"/>
                  <a:gd name="T14" fmla="*/ 76 w 80"/>
                  <a:gd name="T15" fmla="*/ 49 h 53"/>
                  <a:gd name="T16" fmla="*/ 76 w 80"/>
                  <a:gd name="T17" fmla="*/ 2 h 53"/>
                  <a:gd name="T18" fmla="*/ 78 w 80"/>
                  <a:gd name="T19" fmla="*/ 0 h 53"/>
                  <a:gd name="T20" fmla="*/ 80 w 80"/>
                  <a:gd name="T21" fmla="*/ 2 h 53"/>
                  <a:gd name="T22" fmla="*/ 80 w 80"/>
                  <a:gd name="T23" fmla="*/ 51 h 53"/>
                  <a:gd name="T24" fmla="*/ 78 w 80"/>
                  <a:gd name="T2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3">
                    <a:moveTo>
                      <a:pt x="78" y="53"/>
                    </a:moveTo>
                    <a:cubicBezTo>
                      <a:pt x="2" y="53"/>
                      <a:pt x="2" y="53"/>
                      <a:pt x="2" y="53"/>
                    </a:cubicBezTo>
                    <a:cubicBezTo>
                      <a:pt x="1" y="53"/>
                      <a:pt x="0" y="52"/>
                      <a:pt x="0" y="51"/>
                    </a:cubicBezTo>
                    <a:cubicBezTo>
                      <a:pt x="0" y="2"/>
                      <a:pt x="0" y="2"/>
                      <a:pt x="0" y="2"/>
                    </a:cubicBezTo>
                    <a:cubicBezTo>
                      <a:pt x="0" y="1"/>
                      <a:pt x="1" y="0"/>
                      <a:pt x="2" y="0"/>
                    </a:cubicBezTo>
                    <a:cubicBezTo>
                      <a:pt x="3" y="0"/>
                      <a:pt x="4" y="1"/>
                      <a:pt x="4" y="2"/>
                    </a:cubicBezTo>
                    <a:cubicBezTo>
                      <a:pt x="4" y="49"/>
                      <a:pt x="4" y="49"/>
                      <a:pt x="4" y="49"/>
                    </a:cubicBezTo>
                    <a:cubicBezTo>
                      <a:pt x="76" y="49"/>
                      <a:pt x="76" y="49"/>
                      <a:pt x="76" y="49"/>
                    </a:cubicBezTo>
                    <a:cubicBezTo>
                      <a:pt x="76" y="2"/>
                      <a:pt x="76" y="2"/>
                      <a:pt x="76" y="2"/>
                    </a:cubicBezTo>
                    <a:cubicBezTo>
                      <a:pt x="76" y="1"/>
                      <a:pt x="77" y="0"/>
                      <a:pt x="78" y="0"/>
                    </a:cubicBezTo>
                    <a:cubicBezTo>
                      <a:pt x="79" y="0"/>
                      <a:pt x="80" y="1"/>
                      <a:pt x="80" y="2"/>
                    </a:cubicBezTo>
                    <a:cubicBezTo>
                      <a:pt x="80" y="51"/>
                      <a:pt x="80" y="51"/>
                      <a:pt x="80" y="51"/>
                    </a:cubicBezTo>
                    <a:cubicBezTo>
                      <a:pt x="80" y="52"/>
                      <a:pt x="79" y="53"/>
                      <a:pt x="7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Freeform 794">
                <a:extLst>
                  <a:ext uri="{FF2B5EF4-FFF2-40B4-BE49-F238E27FC236}">
                    <a16:creationId xmlns:a16="http://schemas.microsoft.com/office/drawing/2014/main" id="{DE47D7B8-5D00-9D19-2466-5D8157F59219}"/>
                  </a:ext>
                </a:extLst>
              </p:cNvPr>
              <p:cNvSpPr>
                <a:spLocks noEditPoints="1"/>
              </p:cNvSpPr>
              <p:nvPr/>
            </p:nvSpPr>
            <p:spPr bwMode="auto">
              <a:xfrm>
                <a:off x="2730500" y="1277938"/>
                <a:ext cx="134938" cy="106363"/>
              </a:xfrm>
              <a:custGeom>
                <a:avLst/>
                <a:gdLst>
                  <a:gd name="T0" fmla="*/ 34 w 36"/>
                  <a:gd name="T1" fmla="*/ 28 h 28"/>
                  <a:gd name="T2" fmla="*/ 2 w 36"/>
                  <a:gd name="T3" fmla="*/ 28 h 28"/>
                  <a:gd name="T4" fmla="*/ 0 w 36"/>
                  <a:gd name="T5" fmla="*/ 26 h 28"/>
                  <a:gd name="T6" fmla="*/ 0 w 36"/>
                  <a:gd name="T7" fmla="*/ 2 h 28"/>
                  <a:gd name="T8" fmla="*/ 2 w 36"/>
                  <a:gd name="T9" fmla="*/ 0 h 28"/>
                  <a:gd name="T10" fmla="*/ 34 w 36"/>
                  <a:gd name="T11" fmla="*/ 0 h 28"/>
                  <a:gd name="T12" fmla="*/ 36 w 36"/>
                  <a:gd name="T13" fmla="*/ 2 h 28"/>
                  <a:gd name="T14" fmla="*/ 36 w 36"/>
                  <a:gd name="T15" fmla="*/ 26 h 28"/>
                  <a:gd name="T16" fmla="*/ 34 w 36"/>
                  <a:gd name="T17" fmla="*/ 28 h 28"/>
                  <a:gd name="T18" fmla="*/ 4 w 36"/>
                  <a:gd name="T19" fmla="*/ 24 h 28"/>
                  <a:gd name="T20" fmla="*/ 32 w 36"/>
                  <a:gd name="T21" fmla="*/ 24 h 28"/>
                  <a:gd name="T22" fmla="*/ 32 w 36"/>
                  <a:gd name="T23" fmla="*/ 4 h 28"/>
                  <a:gd name="T24" fmla="*/ 4 w 36"/>
                  <a:gd name="T25" fmla="*/ 4 h 28"/>
                  <a:gd name="T26" fmla="*/ 4 w 36"/>
                  <a:gd name="T27" fmla="*/ 2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8">
                    <a:moveTo>
                      <a:pt x="34" y="28"/>
                    </a:moveTo>
                    <a:cubicBezTo>
                      <a:pt x="2" y="28"/>
                      <a:pt x="2" y="28"/>
                      <a:pt x="2" y="28"/>
                    </a:cubicBezTo>
                    <a:cubicBezTo>
                      <a:pt x="1" y="28"/>
                      <a:pt x="0" y="27"/>
                      <a:pt x="0" y="26"/>
                    </a:cubicBezTo>
                    <a:cubicBezTo>
                      <a:pt x="0" y="2"/>
                      <a:pt x="0" y="2"/>
                      <a:pt x="0" y="2"/>
                    </a:cubicBezTo>
                    <a:cubicBezTo>
                      <a:pt x="0" y="1"/>
                      <a:pt x="1" y="0"/>
                      <a:pt x="2" y="0"/>
                    </a:cubicBezTo>
                    <a:cubicBezTo>
                      <a:pt x="34" y="0"/>
                      <a:pt x="34" y="0"/>
                      <a:pt x="34" y="0"/>
                    </a:cubicBezTo>
                    <a:cubicBezTo>
                      <a:pt x="35" y="0"/>
                      <a:pt x="36" y="1"/>
                      <a:pt x="36" y="2"/>
                    </a:cubicBezTo>
                    <a:cubicBezTo>
                      <a:pt x="36" y="26"/>
                      <a:pt x="36" y="26"/>
                      <a:pt x="36" y="26"/>
                    </a:cubicBezTo>
                    <a:cubicBezTo>
                      <a:pt x="36" y="27"/>
                      <a:pt x="35" y="28"/>
                      <a:pt x="34" y="28"/>
                    </a:cubicBezTo>
                    <a:close/>
                    <a:moveTo>
                      <a:pt x="4" y="24"/>
                    </a:moveTo>
                    <a:cubicBezTo>
                      <a:pt x="32" y="24"/>
                      <a:pt x="32" y="24"/>
                      <a:pt x="32" y="24"/>
                    </a:cubicBezTo>
                    <a:cubicBezTo>
                      <a:pt x="32" y="4"/>
                      <a:pt x="32" y="4"/>
                      <a:pt x="32" y="4"/>
                    </a:cubicBezTo>
                    <a:cubicBezTo>
                      <a:pt x="4" y="4"/>
                      <a:pt x="4" y="4"/>
                      <a:pt x="4" y="4"/>
                    </a:cubicBezTo>
                    <a:lnTo>
                      <a:pt x="4"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795">
                <a:extLst>
                  <a:ext uri="{FF2B5EF4-FFF2-40B4-BE49-F238E27FC236}">
                    <a16:creationId xmlns:a16="http://schemas.microsoft.com/office/drawing/2014/main" id="{F2202E50-3852-0566-ADE9-7C6C28E8BA1C}"/>
                  </a:ext>
                </a:extLst>
              </p:cNvPr>
              <p:cNvSpPr>
                <a:spLocks noEditPoints="1"/>
              </p:cNvSpPr>
              <p:nvPr/>
            </p:nvSpPr>
            <p:spPr bwMode="auto">
              <a:xfrm>
                <a:off x="2881313" y="1277938"/>
                <a:ext cx="88900" cy="150813"/>
              </a:xfrm>
              <a:custGeom>
                <a:avLst/>
                <a:gdLst>
                  <a:gd name="T0" fmla="*/ 22 w 24"/>
                  <a:gd name="T1" fmla="*/ 40 h 40"/>
                  <a:gd name="T2" fmla="*/ 2 w 24"/>
                  <a:gd name="T3" fmla="*/ 40 h 40"/>
                  <a:gd name="T4" fmla="*/ 0 w 24"/>
                  <a:gd name="T5" fmla="*/ 38 h 40"/>
                  <a:gd name="T6" fmla="*/ 0 w 24"/>
                  <a:gd name="T7" fmla="*/ 2 h 40"/>
                  <a:gd name="T8" fmla="*/ 2 w 24"/>
                  <a:gd name="T9" fmla="*/ 0 h 40"/>
                  <a:gd name="T10" fmla="*/ 22 w 24"/>
                  <a:gd name="T11" fmla="*/ 0 h 40"/>
                  <a:gd name="T12" fmla="*/ 24 w 24"/>
                  <a:gd name="T13" fmla="*/ 2 h 40"/>
                  <a:gd name="T14" fmla="*/ 24 w 24"/>
                  <a:gd name="T15" fmla="*/ 38 h 40"/>
                  <a:gd name="T16" fmla="*/ 22 w 24"/>
                  <a:gd name="T17" fmla="*/ 40 h 40"/>
                  <a:gd name="T18" fmla="*/ 4 w 24"/>
                  <a:gd name="T19" fmla="*/ 36 h 40"/>
                  <a:gd name="T20" fmla="*/ 20 w 24"/>
                  <a:gd name="T21" fmla="*/ 36 h 40"/>
                  <a:gd name="T22" fmla="*/ 20 w 24"/>
                  <a:gd name="T23" fmla="*/ 4 h 40"/>
                  <a:gd name="T24" fmla="*/ 4 w 24"/>
                  <a:gd name="T25" fmla="*/ 4 h 40"/>
                  <a:gd name="T26" fmla="*/ 4 w 24"/>
                  <a:gd name="T27" fmla="*/ 3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40">
                    <a:moveTo>
                      <a:pt x="22" y="40"/>
                    </a:moveTo>
                    <a:cubicBezTo>
                      <a:pt x="2" y="40"/>
                      <a:pt x="2" y="40"/>
                      <a:pt x="2" y="40"/>
                    </a:cubicBezTo>
                    <a:cubicBezTo>
                      <a:pt x="1" y="40"/>
                      <a:pt x="0" y="39"/>
                      <a:pt x="0" y="38"/>
                    </a:cubicBezTo>
                    <a:cubicBezTo>
                      <a:pt x="0" y="2"/>
                      <a:pt x="0" y="2"/>
                      <a:pt x="0" y="2"/>
                    </a:cubicBezTo>
                    <a:cubicBezTo>
                      <a:pt x="0" y="1"/>
                      <a:pt x="1" y="0"/>
                      <a:pt x="2" y="0"/>
                    </a:cubicBezTo>
                    <a:cubicBezTo>
                      <a:pt x="22" y="0"/>
                      <a:pt x="22" y="0"/>
                      <a:pt x="22" y="0"/>
                    </a:cubicBezTo>
                    <a:cubicBezTo>
                      <a:pt x="23" y="0"/>
                      <a:pt x="24" y="1"/>
                      <a:pt x="24" y="2"/>
                    </a:cubicBezTo>
                    <a:cubicBezTo>
                      <a:pt x="24" y="38"/>
                      <a:pt x="24" y="38"/>
                      <a:pt x="24" y="38"/>
                    </a:cubicBezTo>
                    <a:cubicBezTo>
                      <a:pt x="24" y="39"/>
                      <a:pt x="23" y="40"/>
                      <a:pt x="22" y="40"/>
                    </a:cubicBezTo>
                    <a:close/>
                    <a:moveTo>
                      <a:pt x="4" y="36"/>
                    </a:moveTo>
                    <a:cubicBezTo>
                      <a:pt x="20" y="36"/>
                      <a:pt x="20" y="36"/>
                      <a:pt x="20" y="36"/>
                    </a:cubicBezTo>
                    <a:cubicBezTo>
                      <a:pt x="20" y="4"/>
                      <a:pt x="20" y="4"/>
                      <a:pt x="20" y="4"/>
                    </a:cubicBezTo>
                    <a:cubicBezTo>
                      <a:pt x="4" y="4"/>
                      <a:pt x="4" y="4"/>
                      <a:pt x="4" y="4"/>
                    </a:cubicBezTo>
                    <a:lnTo>
                      <a:pt x="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Freeform 796">
                <a:extLst>
                  <a:ext uri="{FF2B5EF4-FFF2-40B4-BE49-F238E27FC236}">
                    <a16:creationId xmlns:a16="http://schemas.microsoft.com/office/drawing/2014/main" id="{371606AB-1D0C-098A-AA39-B80C85B29EA7}"/>
                  </a:ext>
                </a:extLst>
              </p:cNvPr>
              <p:cNvSpPr>
                <a:spLocks noEditPoints="1"/>
              </p:cNvSpPr>
              <p:nvPr/>
            </p:nvSpPr>
            <p:spPr bwMode="auto">
              <a:xfrm>
                <a:off x="2670175" y="1112838"/>
                <a:ext cx="360363" cy="74613"/>
              </a:xfrm>
              <a:custGeom>
                <a:avLst/>
                <a:gdLst>
                  <a:gd name="T0" fmla="*/ 94 w 96"/>
                  <a:gd name="T1" fmla="*/ 20 h 20"/>
                  <a:gd name="T2" fmla="*/ 2 w 96"/>
                  <a:gd name="T3" fmla="*/ 20 h 20"/>
                  <a:gd name="T4" fmla="*/ 0 w 96"/>
                  <a:gd name="T5" fmla="*/ 19 h 20"/>
                  <a:gd name="T6" fmla="*/ 0 w 96"/>
                  <a:gd name="T7" fmla="*/ 17 h 20"/>
                  <a:gd name="T8" fmla="*/ 8 w 96"/>
                  <a:gd name="T9" fmla="*/ 1 h 20"/>
                  <a:gd name="T10" fmla="*/ 10 w 96"/>
                  <a:gd name="T11" fmla="*/ 0 h 20"/>
                  <a:gd name="T12" fmla="*/ 86 w 96"/>
                  <a:gd name="T13" fmla="*/ 0 h 20"/>
                  <a:gd name="T14" fmla="*/ 88 w 96"/>
                  <a:gd name="T15" fmla="*/ 1 h 20"/>
                  <a:gd name="T16" fmla="*/ 96 w 96"/>
                  <a:gd name="T17" fmla="*/ 17 h 20"/>
                  <a:gd name="T18" fmla="*/ 96 w 96"/>
                  <a:gd name="T19" fmla="*/ 19 h 20"/>
                  <a:gd name="T20" fmla="*/ 94 w 96"/>
                  <a:gd name="T21" fmla="*/ 20 h 20"/>
                  <a:gd name="T22" fmla="*/ 5 w 96"/>
                  <a:gd name="T23" fmla="*/ 16 h 20"/>
                  <a:gd name="T24" fmla="*/ 91 w 96"/>
                  <a:gd name="T25" fmla="*/ 16 h 20"/>
                  <a:gd name="T26" fmla="*/ 85 w 96"/>
                  <a:gd name="T27" fmla="*/ 4 h 20"/>
                  <a:gd name="T28" fmla="*/ 11 w 96"/>
                  <a:gd name="T29" fmla="*/ 4 h 20"/>
                  <a:gd name="T30" fmla="*/ 5 w 96"/>
                  <a:gd name="T31"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6" h="20">
                    <a:moveTo>
                      <a:pt x="94" y="20"/>
                    </a:moveTo>
                    <a:cubicBezTo>
                      <a:pt x="2" y="20"/>
                      <a:pt x="2" y="20"/>
                      <a:pt x="2" y="20"/>
                    </a:cubicBezTo>
                    <a:cubicBezTo>
                      <a:pt x="1" y="20"/>
                      <a:pt x="1" y="20"/>
                      <a:pt x="0" y="19"/>
                    </a:cubicBezTo>
                    <a:cubicBezTo>
                      <a:pt x="0" y="18"/>
                      <a:pt x="0" y="18"/>
                      <a:pt x="0" y="17"/>
                    </a:cubicBezTo>
                    <a:cubicBezTo>
                      <a:pt x="8" y="1"/>
                      <a:pt x="8" y="1"/>
                      <a:pt x="8" y="1"/>
                    </a:cubicBezTo>
                    <a:cubicBezTo>
                      <a:pt x="9" y="0"/>
                      <a:pt x="9" y="0"/>
                      <a:pt x="10" y="0"/>
                    </a:cubicBezTo>
                    <a:cubicBezTo>
                      <a:pt x="86" y="0"/>
                      <a:pt x="86" y="0"/>
                      <a:pt x="86" y="0"/>
                    </a:cubicBezTo>
                    <a:cubicBezTo>
                      <a:pt x="87" y="0"/>
                      <a:pt x="87" y="0"/>
                      <a:pt x="88" y="1"/>
                    </a:cubicBezTo>
                    <a:cubicBezTo>
                      <a:pt x="96" y="17"/>
                      <a:pt x="96" y="17"/>
                      <a:pt x="96" y="17"/>
                    </a:cubicBezTo>
                    <a:cubicBezTo>
                      <a:pt x="96" y="18"/>
                      <a:pt x="96" y="18"/>
                      <a:pt x="96" y="19"/>
                    </a:cubicBezTo>
                    <a:cubicBezTo>
                      <a:pt x="95" y="20"/>
                      <a:pt x="95" y="20"/>
                      <a:pt x="94" y="20"/>
                    </a:cubicBezTo>
                    <a:close/>
                    <a:moveTo>
                      <a:pt x="5" y="16"/>
                    </a:moveTo>
                    <a:cubicBezTo>
                      <a:pt x="91" y="16"/>
                      <a:pt x="91" y="16"/>
                      <a:pt x="91" y="16"/>
                    </a:cubicBezTo>
                    <a:cubicBezTo>
                      <a:pt x="85" y="4"/>
                      <a:pt x="85" y="4"/>
                      <a:pt x="85" y="4"/>
                    </a:cubicBezTo>
                    <a:cubicBezTo>
                      <a:pt x="11" y="4"/>
                      <a:pt x="11" y="4"/>
                      <a:pt x="11" y="4"/>
                    </a:cubicBezTo>
                    <a:lnTo>
                      <a:pt x="5"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Freeform 797">
                <a:extLst>
                  <a:ext uri="{FF2B5EF4-FFF2-40B4-BE49-F238E27FC236}">
                    <a16:creationId xmlns:a16="http://schemas.microsoft.com/office/drawing/2014/main" id="{7DEC87CE-51F7-820E-8C9E-4EBDB6981BC6}"/>
                  </a:ext>
                </a:extLst>
              </p:cNvPr>
              <p:cNvSpPr>
                <a:spLocks noEditPoints="1"/>
              </p:cNvSpPr>
              <p:nvPr/>
            </p:nvSpPr>
            <p:spPr bwMode="auto">
              <a:xfrm>
                <a:off x="2670175" y="1173163"/>
                <a:ext cx="360363" cy="90488"/>
              </a:xfrm>
              <a:custGeom>
                <a:avLst/>
                <a:gdLst>
                  <a:gd name="T0" fmla="*/ 60 w 96"/>
                  <a:gd name="T1" fmla="*/ 24 h 24"/>
                  <a:gd name="T2" fmla="*/ 48 w 96"/>
                  <a:gd name="T3" fmla="*/ 19 h 24"/>
                  <a:gd name="T4" fmla="*/ 36 w 96"/>
                  <a:gd name="T5" fmla="*/ 24 h 24"/>
                  <a:gd name="T6" fmla="*/ 22 w 96"/>
                  <a:gd name="T7" fmla="*/ 17 h 24"/>
                  <a:gd name="T8" fmla="*/ 14 w 96"/>
                  <a:gd name="T9" fmla="*/ 20 h 24"/>
                  <a:gd name="T10" fmla="*/ 0 w 96"/>
                  <a:gd name="T11" fmla="*/ 6 h 24"/>
                  <a:gd name="T12" fmla="*/ 0 w 96"/>
                  <a:gd name="T13" fmla="*/ 2 h 24"/>
                  <a:gd name="T14" fmla="*/ 2 w 96"/>
                  <a:gd name="T15" fmla="*/ 0 h 24"/>
                  <a:gd name="T16" fmla="*/ 94 w 96"/>
                  <a:gd name="T17" fmla="*/ 0 h 24"/>
                  <a:gd name="T18" fmla="*/ 96 w 96"/>
                  <a:gd name="T19" fmla="*/ 2 h 24"/>
                  <a:gd name="T20" fmla="*/ 96 w 96"/>
                  <a:gd name="T21" fmla="*/ 6 h 24"/>
                  <a:gd name="T22" fmla="*/ 82 w 96"/>
                  <a:gd name="T23" fmla="*/ 20 h 24"/>
                  <a:gd name="T24" fmla="*/ 74 w 96"/>
                  <a:gd name="T25" fmla="*/ 17 h 24"/>
                  <a:gd name="T26" fmla="*/ 60 w 96"/>
                  <a:gd name="T27" fmla="*/ 24 h 24"/>
                  <a:gd name="T28" fmla="*/ 48 w 96"/>
                  <a:gd name="T29" fmla="*/ 15 h 24"/>
                  <a:gd name="T30" fmla="*/ 50 w 96"/>
                  <a:gd name="T31" fmla="*/ 15 h 24"/>
                  <a:gd name="T32" fmla="*/ 60 w 96"/>
                  <a:gd name="T33" fmla="*/ 20 h 24"/>
                  <a:gd name="T34" fmla="*/ 72 w 96"/>
                  <a:gd name="T35" fmla="*/ 13 h 24"/>
                  <a:gd name="T36" fmla="*/ 74 w 96"/>
                  <a:gd name="T37" fmla="*/ 12 h 24"/>
                  <a:gd name="T38" fmla="*/ 75 w 96"/>
                  <a:gd name="T39" fmla="*/ 13 h 24"/>
                  <a:gd name="T40" fmla="*/ 82 w 96"/>
                  <a:gd name="T41" fmla="*/ 16 h 24"/>
                  <a:gd name="T42" fmla="*/ 92 w 96"/>
                  <a:gd name="T43" fmla="*/ 6 h 24"/>
                  <a:gd name="T44" fmla="*/ 92 w 96"/>
                  <a:gd name="T45" fmla="*/ 4 h 24"/>
                  <a:gd name="T46" fmla="*/ 4 w 96"/>
                  <a:gd name="T47" fmla="*/ 4 h 24"/>
                  <a:gd name="T48" fmla="*/ 4 w 96"/>
                  <a:gd name="T49" fmla="*/ 6 h 24"/>
                  <a:gd name="T50" fmla="*/ 14 w 96"/>
                  <a:gd name="T51" fmla="*/ 16 h 24"/>
                  <a:gd name="T52" fmla="*/ 21 w 96"/>
                  <a:gd name="T53" fmla="*/ 13 h 24"/>
                  <a:gd name="T54" fmla="*/ 22 w 96"/>
                  <a:gd name="T55" fmla="*/ 12 h 24"/>
                  <a:gd name="T56" fmla="*/ 24 w 96"/>
                  <a:gd name="T57" fmla="*/ 13 h 24"/>
                  <a:gd name="T58" fmla="*/ 36 w 96"/>
                  <a:gd name="T59" fmla="*/ 20 h 24"/>
                  <a:gd name="T60" fmla="*/ 47 w 96"/>
                  <a:gd name="T61" fmla="*/ 15 h 24"/>
                  <a:gd name="T62" fmla="*/ 48 w 96"/>
                  <a:gd name="T63"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24">
                    <a:moveTo>
                      <a:pt x="60" y="24"/>
                    </a:moveTo>
                    <a:cubicBezTo>
                      <a:pt x="56" y="24"/>
                      <a:pt x="51" y="22"/>
                      <a:pt x="48" y="19"/>
                    </a:cubicBezTo>
                    <a:cubicBezTo>
                      <a:pt x="45" y="22"/>
                      <a:pt x="40" y="24"/>
                      <a:pt x="36" y="24"/>
                    </a:cubicBezTo>
                    <a:cubicBezTo>
                      <a:pt x="31" y="24"/>
                      <a:pt x="25" y="21"/>
                      <a:pt x="22" y="17"/>
                    </a:cubicBezTo>
                    <a:cubicBezTo>
                      <a:pt x="20" y="19"/>
                      <a:pt x="17" y="20"/>
                      <a:pt x="14" y="20"/>
                    </a:cubicBezTo>
                    <a:cubicBezTo>
                      <a:pt x="6" y="20"/>
                      <a:pt x="0" y="14"/>
                      <a:pt x="0" y="6"/>
                    </a:cubicBezTo>
                    <a:cubicBezTo>
                      <a:pt x="0" y="2"/>
                      <a:pt x="0" y="2"/>
                      <a:pt x="0" y="2"/>
                    </a:cubicBezTo>
                    <a:cubicBezTo>
                      <a:pt x="0" y="1"/>
                      <a:pt x="1" y="0"/>
                      <a:pt x="2" y="0"/>
                    </a:cubicBezTo>
                    <a:cubicBezTo>
                      <a:pt x="94" y="0"/>
                      <a:pt x="94" y="0"/>
                      <a:pt x="94" y="0"/>
                    </a:cubicBezTo>
                    <a:cubicBezTo>
                      <a:pt x="95" y="0"/>
                      <a:pt x="96" y="1"/>
                      <a:pt x="96" y="2"/>
                    </a:cubicBezTo>
                    <a:cubicBezTo>
                      <a:pt x="96" y="6"/>
                      <a:pt x="96" y="6"/>
                      <a:pt x="96" y="6"/>
                    </a:cubicBezTo>
                    <a:cubicBezTo>
                      <a:pt x="96" y="14"/>
                      <a:pt x="90" y="20"/>
                      <a:pt x="82" y="20"/>
                    </a:cubicBezTo>
                    <a:cubicBezTo>
                      <a:pt x="79" y="20"/>
                      <a:pt x="76" y="19"/>
                      <a:pt x="74" y="17"/>
                    </a:cubicBezTo>
                    <a:cubicBezTo>
                      <a:pt x="71" y="21"/>
                      <a:pt x="65" y="24"/>
                      <a:pt x="60" y="24"/>
                    </a:cubicBezTo>
                    <a:close/>
                    <a:moveTo>
                      <a:pt x="48" y="15"/>
                    </a:moveTo>
                    <a:cubicBezTo>
                      <a:pt x="49" y="15"/>
                      <a:pt x="49" y="15"/>
                      <a:pt x="50" y="15"/>
                    </a:cubicBezTo>
                    <a:cubicBezTo>
                      <a:pt x="52" y="18"/>
                      <a:pt x="56" y="20"/>
                      <a:pt x="60" y="20"/>
                    </a:cubicBezTo>
                    <a:cubicBezTo>
                      <a:pt x="65" y="20"/>
                      <a:pt x="70" y="17"/>
                      <a:pt x="72" y="13"/>
                    </a:cubicBezTo>
                    <a:cubicBezTo>
                      <a:pt x="73" y="12"/>
                      <a:pt x="73" y="12"/>
                      <a:pt x="74" y="12"/>
                    </a:cubicBezTo>
                    <a:cubicBezTo>
                      <a:pt x="74" y="12"/>
                      <a:pt x="75" y="12"/>
                      <a:pt x="75" y="13"/>
                    </a:cubicBezTo>
                    <a:cubicBezTo>
                      <a:pt x="78" y="15"/>
                      <a:pt x="80" y="16"/>
                      <a:pt x="82" y="16"/>
                    </a:cubicBezTo>
                    <a:cubicBezTo>
                      <a:pt x="88" y="16"/>
                      <a:pt x="92" y="12"/>
                      <a:pt x="92" y="6"/>
                    </a:cubicBezTo>
                    <a:cubicBezTo>
                      <a:pt x="92" y="4"/>
                      <a:pt x="92" y="4"/>
                      <a:pt x="92" y="4"/>
                    </a:cubicBezTo>
                    <a:cubicBezTo>
                      <a:pt x="4" y="4"/>
                      <a:pt x="4" y="4"/>
                      <a:pt x="4" y="4"/>
                    </a:cubicBezTo>
                    <a:cubicBezTo>
                      <a:pt x="4" y="6"/>
                      <a:pt x="4" y="6"/>
                      <a:pt x="4" y="6"/>
                    </a:cubicBezTo>
                    <a:cubicBezTo>
                      <a:pt x="4" y="12"/>
                      <a:pt x="8" y="16"/>
                      <a:pt x="14" y="16"/>
                    </a:cubicBezTo>
                    <a:cubicBezTo>
                      <a:pt x="16" y="16"/>
                      <a:pt x="18" y="15"/>
                      <a:pt x="21" y="13"/>
                    </a:cubicBezTo>
                    <a:cubicBezTo>
                      <a:pt x="21" y="12"/>
                      <a:pt x="22" y="12"/>
                      <a:pt x="22" y="12"/>
                    </a:cubicBezTo>
                    <a:cubicBezTo>
                      <a:pt x="23" y="12"/>
                      <a:pt x="23" y="12"/>
                      <a:pt x="24" y="13"/>
                    </a:cubicBezTo>
                    <a:cubicBezTo>
                      <a:pt x="26" y="17"/>
                      <a:pt x="31" y="20"/>
                      <a:pt x="36" y="20"/>
                    </a:cubicBezTo>
                    <a:cubicBezTo>
                      <a:pt x="40" y="20"/>
                      <a:pt x="44" y="18"/>
                      <a:pt x="47" y="15"/>
                    </a:cubicBezTo>
                    <a:cubicBezTo>
                      <a:pt x="47" y="15"/>
                      <a:pt x="47" y="15"/>
                      <a:pt x="4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Freeform 798">
                <a:extLst>
                  <a:ext uri="{FF2B5EF4-FFF2-40B4-BE49-F238E27FC236}">
                    <a16:creationId xmlns:a16="http://schemas.microsoft.com/office/drawing/2014/main" id="{0CD8814D-3B0B-99D0-65C5-9F180AC73D78}"/>
                  </a:ext>
                </a:extLst>
              </p:cNvPr>
              <p:cNvSpPr>
                <a:spLocks/>
              </p:cNvSpPr>
              <p:nvPr/>
            </p:nvSpPr>
            <p:spPr bwMode="auto">
              <a:xfrm>
                <a:off x="2744788" y="1112838"/>
                <a:ext cx="30163" cy="120650"/>
              </a:xfrm>
              <a:custGeom>
                <a:avLst/>
                <a:gdLst>
                  <a:gd name="T0" fmla="*/ 2 w 8"/>
                  <a:gd name="T1" fmla="*/ 32 h 32"/>
                  <a:gd name="T2" fmla="*/ 0 w 8"/>
                  <a:gd name="T3" fmla="*/ 30 h 32"/>
                  <a:gd name="T4" fmla="*/ 0 w 8"/>
                  <a:gd name="T5" fmla="*/ 18 h 32"/>
                  <a:gd name="T6" fmla="*/ 0 w 8"/>
                  <a:gd name="T7" fmla="*/ 18 h 32"/>
                  <a:gd name="T8" fmla="*/ 4 w 8"/>
                  <a:gd name="T9" fmla="*/ 2 h 32"/>
                  <a:gd name="T10" fmla="*/ 6 w 8"/>
                  <a:gd name="T11" fmla="*/ 0 h 32"/>
                  <a:gd name="T12" fmla="*/ 8 w 8"/>
                  <a:gd name="T13" fmla="*/ 2 h 32"/>
                  <a:gd name="T14" fmla="*/ 4 w 8"/>
                  <a:gd name="T15" fmla="*/ 18 h 32"/>
                  <a:gd name="T16" fmla="*/ 4 w 8"/>
                  <a:gd name="T17" fmla="*/ 30 h 32"/>
                  <a:gd name="T18" fmla="*/ 2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2" y="32"/>
                    </a:moveTo>
                    <a:cubicBezTo>
                      <a:pt x="1" y="32"/>
                      <a:pt x="0" y="31"/>
                      <a:pt x="0" y="30"/>
                    </a:cubicBezTo>
                    <a:cubicBezTo>
                      <a:pt x="0" y="18"/>
                      <a:pt x="0" y="18"/>
                      <a:pt x="0" y="18"/>
                    </a:cubicBezTo>
                    <a:cubicBezTo>
                      <a:pt x="0" y="18"/>
                      <a:pt x="0" y="18"/>
                      <a:pt x="0" y="18"/>
                    </a:cubicBezTo>
                    <a:cubicBezTo>
                      <a:pt x="4" y="2"/>
                      <a:pt x="4" y="2"/>
                      <a:pt x="4" y="2"/>
                    </a:cubicBezTo>
                    <a:cubicBezTo>
                      <a:pt x="4" y="0"/>
                      <a:pt x="5" y="0"/>
                      <a:pt x="6" y="0"/>
                    </a:cubicBezTo>
                    <a:cubicBezTo>
                      <a:pt x="8" y="0"/>
                      <a:pt x="8" y="1"/>
                      <a:pt x="8" y="2"/>
                    </a:cubicBezTo>
                    <a:cubicBezTo>
                      <a:pt x="4" y="18"/>
                      <a:pt x="4" y="18"/>
                      <a:pt x="4" y="18"/>
                    </a:cubicBezTo>
                    <a:cubicBezTo>
                      <a:pt x="4" y="30"/>
                      <a:pt x="4" y="30"/>
                      <a:pt x="4" y="30"/>
                    </a:cubicBezTo>
                    <a:cubicBezTo>
                      <a:pt x="4" y="31"/>
                      <a:pt x="3" y="32"/>
                      <a:pt x="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Freeform 799">
                <a:extLst>
                  <a:ext uri="{FF2B5EF4-FFF2-40B4-BE49-F238E27FC236}">
                    <a16:creationId xmlns:a16="http://schemas.microsoft.com/office/drawing/2014/main" id="{C7E0ED21-A89B-0851-3CA5-34A03D557317}"/>
                  </a:ext>
                </a:extLst>
              </p:cNvPr>
              <p:cNvSpPr>
                <a:spLocks/>
              </p:cNvSpPr>
              <p:nvPr/>
            </p:nvSpPr>
            <p:spPr bwMode="auto">
              <a:xfrm>
                <a:off x="2843213" y="1112838"/>
                <a:ext cx="14288" cy="131763"/>
              </a:xfrm>
              <a:custGeom>
                <a:avLst/>
                <a:gdLst>
                  <a:gd name="T0" fmla="*/ 2 w 4"/>
                  <a:gd name="T1" fmla="*/ 35 h 35"/>
                  <a:gd name="T2" fmla="*/ 0 w 4"/>
                  <a:gd name="T3" fmla="*/ 33 h 35"/>
                  <a:gd name="T4" fmla="*/ 0 w 4"/>
                  <a:gd name="T5" fmla="*/ 2 h 35"/>
                  <a:gd name="T6" fmla="*/ 2 w 4"/>
                  <a:gd name="T7" fmla="*/ 0 h 35"/>
                  <a:gd name="T8" fmla="*/ 4 w 4"/>
                  <a:gd name="T9" fmla="*/ 2 h 35"/>
                  <a:gd name="T10" fmla="*/ 4 w 4"/>
                  <a:gd name="T11" fmla="*/ 33 h 35"/>
                  <a:gd name="T12" fmla="*/ 2 w 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4" h="35">
                    <a:moveTo>
                      <a:pt x="2" y="35"/>
                    </a:moveTo>
                    <a:cubicBezTo>
                      <a:pt x="1" y="35"/>
                      <a:pt x="0" y="34"/>
                      <a:pt x="0" y="33"/>
                    </a:cubicBezTo>
                    <a:cubicBezTo>
                      <a:pt x="0" y="2"/>
                      <a:pt x="0" y="2"/>
                      <a:pt x="0" y="2"/>
                    </a:cubicBezTo>
                    <a:cubicBezTo>
                      <a:pt x="0" y="1"/>
                      <a:pt x="1" y="0"/>
                      <a:pt x="2" y="0"/>
                    </a:cubicBezTo>
                    <a:cubicBezTo>
                      <a:pt x="3" y="0"/>
                      <a:pt x="4" y="1"/>
                      <a:pt x="4" y="2"/>
                    </a:cubicBezTo>
                    <a:cubicBezTo>
                      <a:pt x="4" y="33"/>
                      <a:pt x="4" y="33"/>
                      <a:pt x="4" y="33"/>
                    </a:cubicBezTo>
                    <a:cubicBezTo>
                      <a:pt x="4" y="34"/>
                      <a:pt x="3" y="35"/>
                      <a:pt x="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Freeform 800">
                <a:extLst>
                  <a:ext uri="{FF2B5EF4-FFF2-40B4-BE49-F238E27FC236}">
                    <a16:creationId xmlns:a16="http://schemas.microsoft.com/office/drawing/2014/main" id="{C6878618-9E5C-4B88-6FAC-F804086E1C13}"/>
                  </a:ext>
                </a:extLst>
              </p:cNvPr>
              <p:cNvSpPr>
                <a:spLocks/>
              </p:cNvSpPr>
              <p:nvPr/>
            </p:nvSpPr>
            <p:spPr bwMode="auto">
              <a:xfrm>
                <a:off x="2925763" y="1112838"/>
                <a:ext cx="30163" cy="120650"/>
              </a:xfrm>
              <a:custGeom>
                <a:avLst/>
                <a:gdLst>
                  <a:gd name="T0" fmla="*/ 6 w 8"/>
                  <a:gd name="T1" fmla="*/ 32 h 32"/>
                  <a:gd name="T2" fmla="*/ 4 w 8"/>
                  <a:gd name="T3" fmla="*/ 30 h 32"/>
                  <a:gd name="T4" fmla="*/ 4 w 8"/>
                  <a:gd name="T5" fmla="*/ 18 h 32"/>
                  <a:gd name="T6" fmla="*/ 0 w 8"/>
                  <a:gd name="T7" fmla="*/ 2 h 32"/>
                  <a:gd name="T8" fmla="*/ 2 w 8"/>
                  <a:gd name="T9" fmla="*/ 0 h 32"/>
                  <a:gd name="T10" fmla="*/ 4 w 8"/>
                  <a:gd name="T11" fmla="*/ 2 h 32"/>
                  <a:gd name="T12" fmla="*/ 8 w 8"/>
                  <a:gd name="T13" fmla="*/ 18 h 32"/>
                  <a:gd name="T14" fmla="*/ 8 w 8"/>
                  <a:gd name="T15" fmla="*/ 18 h 32"/>
                  <a:gd name="T16" fmla="*/ 8 w 8"/>
                  <a:gd name="T17" fmla="*/ 30 h 32"/>
                  <a:gd name="T18" fmla="*/ 6 w 8"/>
                  <a:gd name="T1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2">
                    <a:moveTo>
                      <a:pt x="6" y="32"/>
                    </a:moveTo>
                    <a:cubicBezTo>
                      <a:pt x="5" y="32"/>
                      <a:pt x="4" y="31"/>
                      <a:pt x="4" y="30"/>
                    </a:cubicBezTo>
                    <a:cubicBezTo>
                      <a:pt x="4" y="18"/>
                      <a:pt x="4" y="18"/>
                      <a:pt x="4" y="18"/>
                    </a:cubicBezTo>
                    <a:cubicBezTo>
                      <a:pt x="0" y="2"/>
                      <a:pt x="0" y="2"/>
                      <a:pt x="0" y="2"/>
                    </a:cubicBezTo>
                    <a:cubicBezTo>
                      <a:pt x="0" y="1"/>
                      <a:pt x="0" y="0"/>
                      <a:pt x="2" y="0"/>
                    </a:cubicBezTo>
                    <a:cubicBezTo>
                      <a:pt x="3" y="0"/>
                      <a:pt x="4" y="0"/>
                      <a:pt x="4" y="2"/>
                    </a:cubicBezTo>
                    <a:cubicBezTo>
                      <a:pt x="8" y="18"/>
                      <a:pt x="8" y="18"/>
                      <a:pt x="8" y="18"/>
                    </a:cubicBezTo>
                    <a:cubicBezTo>
                      <a:pt x="8" y="18"/>
                      <a:pt x="8" y="18"/>
                      <a:pt x="8" y="18"/>
                    </a:cubicBezTo>
                    <a:cubicBezTo>
                      <a:pt x="8" y="30"/>
                      <a:pt x="8" y="30"/>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Oval 801">
                <a:extLst>
                  <a:ext uri="{FF2B5EF4-FFF2-40B4-BE49-F238E27FC236}">
                    <a16:creationId xmlns:a16="http://schemas.microsoft.com/office/drawing/2014/main" id="{935686E3-16D8-D027-AC34-FCB16FE6E5B3}"/>
                  </a:ext>
                </a:extLst>
              </p:cNvPr>
              <p:cNvSpPr>
                <a:spLocks noChangeArrowheads="1"/>
              </p:cNvSpPr>
              <p:nvPr/>
            </p:nvSpPr>
            <p:spPr bwMode="auto">
              <a:xfrm>
                <a:off x="2925763" y="1354138"/>
                <a:ext cx="14288" cy="142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85" name="Text Placeholder 2">
              <a:extLst>
                <a:ext uri="{FF2B5EF4-FFF2-40B4-BE49-F238E27FC236}">
                  <a16:creationId xmlns:a16="http://schemas.microsoft.com/office/drawing/2014/main" id="{8A0FB597-0198-CDA4-780D-9AB474ADDCBB}"/>
                </a:ext>
              </a:extLst>
            </p:cNvPr>
            <p:cNvSpPr txBox="1">
              <a:spLocks/>
            </p:cNvSpPr>
            <p:nvPr/>
          </p:nvSpPr>
          <p:spPr>
            <a:xfrm>
              <a:off x="7944126" y="2299878"/>
              <a:ext cx="3596160" cy="654260"/>
            </a:xfrm>
            <a:prstGeom prst="rect">
              <a:avLst/>
            </a:prstGeom>
            <a:ln>
              <a:solidFill>
                <a:srgbClr val="FF0000"/>
              </a:solidFill>
            </a:ln>
          </p:spPr>
          <p:txBody>
            <a:bodyPr vert="horz" wrap="square" lIns="0" tIns="0" rIns="0" bIns="0" rtlCol="0" anchor="ctr" anchorCtr="0">
              <a:noAutofit/>
            </a:bodyPr>
            <a:lstStyle>
              <a:defPPr>
                <a:defRPr lang="aa-ET"/>
              </a:defPPr>
              <a:lvl1pPr indent="0" algn="ctr">
                <a:lnSpc>
                  <a:spcPct val="100000"/>
                </a:lnSpc>
                <a:spcBef>
                  <a:spcPts val="600"/>
                </a:spcBef>
                <a:buFont typeface="Arial" panose="020B0604020202020204" pitchFamily="34" charset="0"/>
                <a:buNone/>
                <a:defRPr sz="1400" b="1">
                  <a:solidFill>
                    <a:srgbClr val="114A5E"/>
                  </a:solidFill>
                  <a:latin typeface="Segoe UI" panose="020B0502040204020203" pitchFamily="34" charset="0"/>
                  <a:cs typeface="Segoe UI" panose="020B0502040204020203" pitchFamily="34" charset="0"/>
                </a:defRPr>
              </a:lvl1pPr>
              <a:lvl2pPr marL="234000" indent="-234000">
                <a:lnSpc>
                  <a:spcPct val="90000"/>
                </a:lnSpc>
                <a:spcBef>
                  <a:spcPts val="600"/>
                </a:spcBef>
                <a:buFont typeface="Arial" panose="020B0604020202020204" pitchFamily="34" charset="0"/>
                <a:buChar char="•"/>
                <a:defRPr sz="1100"/>
              </a:lvl2pPr>
              <a:lvl3pPr marL="234000" indent="-234000">
                <a:lnSpc>
                  <a:spcPct val="90000"/>
                </a:lnSpc>
                <a:spcBef>
                  <a:spcPts val="600"/>
                </a:spcBef>
                <a:buFont typeface="Arial" panose="020B0604020202020204" pitchFamily="34" charset="0"/>
                <a:buChar char="•"/>
                <a:defRPr sz="1100"/>
              </a:lvl3pPr>
              <a:lvl4pPr marL="234000" indent="-234000">
                <a:lnSpc>
                  <a:spcPct val="90000"/>
                </a:lnSpc>
                <a:spcBef>
                  <a:spcPts val="600"/>
                </a:spcBef>
                <a:buFont typeface="Arial" panose="020B0604020202020204" pitchFamily="34" charset="0"/>
                <a:buChar char="•"/>
                <a:defRPr sz="1100"/>
              </a:lvl4pPr>
              <a:lvl5pPr marL="234000" indent="-234000">
                <a:lnSpc>
                  <a:spcPct val="90000"/>
                </a:lnSpc>
                <a:spcBef>
                  <a:spcPts val="600"/>
                </a:spcBef>
                <a:buFont typeface="Arial" panose="020B0604020202020204" pitchFamily="34" charset="0"/>
                <a:buChar char="•"/>
                <a:defRPr sz="11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p:txBody>
        </p:sp>
      </p:grpSp>
      <p:sp>
        <p:nvSpPr>
          <p:cNvPr id="83" name="Text Placeholder 2">
            <a:extLst>
              <a:ext uri="{FF2B5EF4-FFF2-40B4-BE49-F238E27FC236}">
                <a16:creationId xmlns:a16="http://schemas.microsoft.com/office/drawing/2014/main" id="{B0BA935F-A860-A5CD-2AD5-0B0D384C39E7}"/>
              </a:ext>
            </a:extLst>
          </p:cNvPr>
          <p:cNvSpPr txBox="1">
            <a:spLocks/>
          </p:cNvSpPr>
          <p:nvPr/>
        </p:nvSpPr>
        <p:spPr>
          <a:xfrm>
            <a:off x="7944126" y="3435790"/>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increase the revenue by 20% by year end 2025</a:t>
            </a:r>
          </a:p>
        </p:txBody>
      </p:sp>
      <p:sp>
        <p:nvSpPr>
          <p:cNvPr id="84" name="Text Placeholder 2">
            <a:extLst>
              <a:ext uri="{FF2B5EF4-FFF2-40B4-BE49-F238E27FC236}">
                <a16:creationId xmlns:a16="http://schemas.microsoft.com/office/drawing/2014/main" id="{56549306-69B1-6AAD-8A61-0A66EE6504FC}"/>
              </a:ext>
            </a:extLst>
          </p:cNvPr>
          <p:cNvSpPr txBox="1">
            <a:spLocks/>
          </p:cNvSpPr>
          <p:nvPr/>
        </p:nvSpPr>
        <p:spPr>
          <a:xfrm>
            <a:off x="7944126" y="4520319"/>
            <a:ext cx="3596160" cy="654260"/>
          </a:xfrm>
          <a:prstGeom prst="rect">
            <a:avLst/>
          </a:prstGeom>
          <a:ln>
            <a:solidFill>
              <a:srgbClr val="FF0000"/>
            </a:solidFill>
          </a:ln>
        </p:spPr>
        <p:txBody>
          <a:bodyPr vert="horz" wrap="square" lIns="0" tIns="0" rIns="0" bIns="0" rtlCol="0" anchor="ctr" anchorCtr="0">
            <a:noAutofit/>
          </a:bodyPr>
          <a:lstStyle>
            <a:lvl1pPr marL="0" indent="0" algn="l" defTabSz="914400" rtl="0" eaLnBrk="1" latinLnBrk="0" hangingPunct="1">
              <a:lnSpc>
                <a:spcPct val="90000"/>
              </a:lnSpc>
              <a:spcBef>
                <a:spcPts val="600"/>
              </a:spcBef>
              <a:buFont typeface="Arial" panose="020B0604020202020204" pitchFamily="34" charset="0"/>
              <a:buNone/>
              <a:defRPr sz="1100" kern="1200">
                <a:solidFill>
                  <a:schemeClr val="tx1"/>
                </a:solidFill>
                <a:latin typeface="+mn-lt"/>
                <a:ea typeface="+mn-ea"/>
                <a:cs typeface="+mn-cs"/>
              </a:defRPr>
            </a:lvl1pPr>
            <a:lvl2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2pPr>
            <a:lvl3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3pPr>
            <a:lvl4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4pPr>
            <a:lvl5pPr marL="234000" indent="-234000" algn="l" defTabSz="914400" rtl="0" eaLnBrk="1" latinLnBrk="0" hangingPunct="1">
              <a:lnSpc>
                <a:spcPct val="90000"/>
              </a:lnSpc>
              <a:spcBef>
                <a:spcPts val="6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1400" b="1" dirty="0">
                <a:solidFill>
                  <a:srgbClr val="114A5E"/>
                </a:solidFill>
                <a:latin typeface="Segoe UI" panose="020B0502040204020203" pitchFamily="34" charset="0"/>
                <a:cs typeface="Segoe UI" panose="020B0502040204020203" pitchFamily="34" charset="0"/>
              </a:rPr>
              <a:t>To achieve acquisition population inclusive of 40% of new, 50% renewals &amp; 10% reactivations by end of 2025</a:t>
            </a:r>
          </a:p>
        </p:txBody>
      </p:sp>
      <p:sp>
        <p:nvSpPr>
          <p:cNvPr id="3" name="Rectangle 2"/>
          <p:cNvSpPr/>
          <p:nvPr/>
        </p:nvSpPr>
        <p:spPr>
          <a:xfrm>
            <a:off x="8168403" y="5518509"/>
            <a:ext cx="2994390" cy="738664"/>
          </a:xfrm>
          <a:prstGeom prst="rect">
            <a:avLst/>
          </a:prstGeom>
        </p:spPr>
        <p:txBody>
          <a:bodyPr wrap="square">
            <a:spAutoFit/>
          </a:bodyPr>
          <a:lstStyle/>
          <a:p>
            <a:pPr algn="ctr"/>
            <a:r>
              <a:rPr lang="en-US" sz="1400" b="1" dirty="0">
                <a:solidFill>
                  <a:srgbClr val="114A5E"/>
                </a:solidFill>
                <a:latin typeface="Segoe UI" panose="020B0502040204020203" pitchFamily="34" charset="0"/>
                <a:cs typeface="Segoe UI" panose="020B0502040204020203" pitchFamily="34" charset="0"/>
              </a:rPr>
              <a:t>To develop Project Mgt and P and L monitoring capacity team by end of Q2 2025 </a:t>
            </a:r>
            <a:endParaRPr lang="en-GB" sz="1200" dirty="0"/>
          </a:p>
        </p:txBody>
      </p:sp>
      <p:sp>
        <p:nvSpPr>
          <p:cNvPr id="34" name="Rectangle 33"/>
          <p:cNvSpPr/>
          <p:nvPr/>
        </p:nvSpPr>
        <p:spPr>
          <a:xfrm>
            <a:off x="8100141" y="2445583"/>
            <a:ext cx="3062652" cy="523220"/>
          </a:xfrm>
          <a:prstGeom prst="rect">
            <a:avLst/>
          </a:prstGeom>
        </p:spPr>
        <p:txBody>
          <a:bodyPr wrap="square">
            <a:spAutoFit/>
          </a:bodyPr>
          <a:lstStyle/>
          <a:p>
            <a:r>
              <a:rPr lang="en-US" sz="1400" b="1" dirty="0">
                <a:solidFill>
                  <a:srgbClr val="114A5E"/>
                </a:solidFill>
                <a:latin typeface="Segoe UI" panose="020B0502040204020203" pitchFamily="34" charset="0"/>
                <a:cs typeface="Segoe UI" panose="020B0502040204020203" pitchFamily="34" charset="0"/>
              </a:rPr>
              <a:t>To achieve 10% month-on-month sales growth across revenue lines.</a:t>
            </a:r>
          </a:p>
        </p:txBody>
      </p:sp>
    </p:spTree>
    <p:extLst>
      <p:ext uri="{BB962C8B-B14F-4D97-AF65-F5344CB8AC3E}">
        <p14:creationId xmlns:p14="http://schemas.microsoft.com/office/powerpoint/2010/main" val="2258821879"/>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7ABD-DD28-4F88-9217-9D82DE663EC5}"/>
              </a:ext>
            </a:extLst>
          </p:cNvPr>
          <p:cNvSpPr>
            <a:spLocks noGrp="1"/>
          </p:cNvSpPr>
          <p:nvPr>
            <p:ph type="title"/>
          </p:nvPr>
        </p:nvSpPr>
        <p:spPr/>
        <p:txBody>
          <a:bodyPr/>
          <a:lstStyle/>
          <a:p>
            <a:r>
              <a:rPr lang="en-US" dirty="0"/>
              <a:t>MEDFIT– SWOT Analysis</a:t>
            </a:r>
            <a:endParaRPr lang="aa-ET" dirty="0"/>
          </a:p>
        </p:txBody>
      </p:sp>
      <p:sp>
        <p:nvSpPr>
          <p:cNvPr id="4" name="Slide Number Placeholder 3">
            <a:extLst>
              <a:ext uri="{FF2B5EF4-FFF2-40B4-BE49-F238E27FC236}">
                <a16:creationId xmlns:a16="http://schemas.microsoft.com/office/drawing/2014/main" id="{44D643D6-873E-457C-B150-7F2AE4B27922}"/>
              </a:ext>
            </a:extLst>
          </p:cNvPr>
          <p:cNvSpPr>
            <a:spLocks noGrp="1"/>
          </p:cNvSpPr>
          <p:nvPr>
            <p:ph type="sldNum" sz="quarter" idx="12"/>
          </p:nvPr>
        </p:nvSpPr>
        <p:spPr>
          <a:xfrm>
            <a:off x="5579528" y="6356349"/>
            <a:ext cx="621030" cy="365125"/>
          </a:xfrm>
        </p:spPr>
        <p:txBody>
          <a:bodyPr/>
          <a:lstStyle/>
          <a:p>
            <a:fld id="{88DB5A6F-883B-4080-A811-FB5B8D05AFA3}" type="slidenum">
              <a:rPr lang="en-GB" smtClean="0">
                <a:latin typeface="Corbel" panose="020B0503020204020204" pitchFamily="34" charset="0"/>
              </a:rPr>
              <a:pPr/>
              <a:t>32</a:t>
            </a:fld>
            <a:endParaRPr lang="en-GB">
              <a:latin typeface="Corbel" panose="020B0503020204020204" pitchFamily="34" charset="0"/>
            </a:endParaRPr>
          </a:p>
        </p:txBody>
      </p:sp>
      <p:grpSp>
        <p:nvGrpSpPr>
          <p:cNvPr id="25" name="Group 24">
            <a:extLst>
              <a:ext uri="{FF2B5EF4-FFF2-40B4-BE49-F238E27FC236}">
                <a16:creationId xmlns:a16="http://schemas.microsoft.com/office/drawing/2014/main" id="{7547F3A8-536A-480E-B348-484E15AFBCF7}"/>
              </a:ext>
            </a:extLst>
          </p:cNvPr>
          <p:cNvGrpSpPr/>
          <p:nvPr/>
        </p:nvGrpSpPr>
        <p:grpSpPr>
          <a:xfrm>
            <a:off x="210425" y="996286"/>
            <a:ext cx="11892436" cy="5517682"/>
            <a:chOff x="2294541" y="3157663"/>
            <a:chExt cx="20771611" cy="9298096"/>
          </a:xfrm>
        </p:grpSpPr>
        <p:sp>
          <p:nvSpPr>
            <p:cNvPr id="26" name="Google Shape;36;p4">
              <a:extLst>
                <a:ext uri="{FF2B5EF4-FFF2-40B4-BE49-F238E27FC236}">
                  <a16:creationId xmlns:a16="http://schemas.microsoft.com/office/drawing/2014/main" id="{067A6DB7-B0FF-4456-90F8-436711C36B0F}"/>
                </a:ext>
              </a:extLst>
            </p:cNvPr>
            <p:cNvSpPr/>
            <p:nvPr/>
          </p:nvSpPr>
          <p:spPr>
            <a:xfrm rot="5400000">
              <a:off x="12543238" y="8412435"/>
              <a:ext cx="4023359" cy="4023360"/>
            </a:xfrm>
            <a:prstGeom prst="ellipse">
              <a:avLst/>
            </a:prstGeom>
            <a:solidFill>
              <a:srgbClr val="EC892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27" name="Google Shape;37;p4">
              <a:extLst>
                <a:ext uri="{FF2B5EF4-FFF2-40B4-BE49-F238E27FC236}">
                  <a16:creationId xmlns:a16="http://schemas.microsoft.com/office/drawing/2014/main" id="{10C5C17E-7AA1-426C-A024-676502381AAD}"/>
                </a:ext>
              </a:extLst>
            </p:cNvPr>
            <p:cNvSpPr txBox="1"/>
            <p:nvPr/>
          </p:nvSpPr>
          <p:spPr>
            <a:xfrm>
              <a:off x="13788521" y="9069899"/>
              <a:ext cx="1532792" cy="2708433"/>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T</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28" name="Google Shape;38;p4">
              <a:extLst>
                <a:ext uri="{FF2B5EF4-FFF2-40B4-BE49-F238E27FC236}">
                  <a16:creationId xmlns:a16="http://schemas.microsoft.com/office/drawing/2014/main" id="{7F54F858-F74E-4472-B979-4A41AD292F80}"/>
                </a:ext>
              </a:extLst>
            </p:cNvPr>
            <p:cNvSpPr/>
            <p:nvPr/>
          </p:nvSpPr>
          <p:spPr>
            <a:xfrm rot="5400000">
              <a:off x="7861114" y="8412435"/>
              <a:ext cx="4023360" cy="4023360"/>
            </a:xfrm>
            <a:prstGeom prst="ellipse">
              <a:avLst/>
            </a:prstGeom>
            <a:solidFill>
              <a:schemeClr val="tx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29" name="Google Shape;39;p4">
              <a:extLst>
                <a:ext uri="{FF2B5EF4-FFF2-40B4-BE49-F238E27FC236}">
                  <a16:creationId xmlns:a16="http://schemas.microsoft.com/office/drawing/2014/main" id="{62958AAD-7069-426A-9481-DDB1DF0A187D}"/>
                </a:ext>
              </a:extLst>
            </p:cNvPr>
            <p:cNvSpPr txBox="1"/>
            <p:nvPr/>
          </p:nvSpPr>
          <p:spPr>
            <a:xfrm>
              <a:off x="8914739" y="9069901"/>
              <a:ext cx="1980028" cy="2426070"/>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O</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0" name="Google Shape;40;p4">
              <a:extLst>
                <a:ext uri="{FF2B5EF4-FFF2-40B4-BE49-F238E27FC236}">
                  <a16:creationId xmlns:a16="http://schemas.microsoft.com/office/drawing/2014/main" id="{FD321458-85A8-4A86-AD0A-5E6D395B65F6}"/>
                </a:ext>
              </a:extLst>
            </p:cNvPr>
            <p:cNvSpPr/>
            <p:nvPr/>
          </p:nvSpPr>
          <p:spPr>
            <a:xfrm rot="5400000">
              <a:off x="12543237" y="3485967"/>
              <a:ext cx="4023360" cy="4023360"/>
            </a:xfrm>
            <a:prstGeom prst="ellipse">
              <a:avLst/>
            </a:prstGeom>
            <a:solidFill>
              <a:srgbClr val="7EB73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31" name="Google Shape;41;p4">
              <a:extLst>
                <a:ext uri="{FF2B5EF4-FFF2-40B4-BE49-F238E27FC236}">
                  <a16:creationId xmlns:a16="http://schemas.microsoft.com/office/drawing/2014/main" id="{68464EAB-942B-471A-ABF1-21DD76999277}"/>
                </a:ext>
              </a:extLst>
            </p:cNvPr>
            <p:cNvSpPr txBox="1"/>
            <p:nvPr/>
          </p:nvSpPr>
          <p:spPr>
            <a:xfrm>
              <a:off x="13281172" y="4143430"/>
              <a:ext cx="2547493"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W</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2" name="Google Shape;42;p4">
              <a:extLst>
                <a:ext uri="{FF2B5EF4-FFF2-40B4-BE49-F238E27FC236}">
                  <a16:creationId xmlns:a16="http://schemas.microsoft.com/office/drawing/2014/main" id="{85A3C6A0-2CD3-4100-A3FC-269918E2A546}"/>
                </a:ext>
              </a:extLst>
            </p:cNvPr>
            <p:cNvSpPr/>
            <p:nvPr/>
          </p:nvSpPr>
          <p:spPr>
            <a:xfrm rot="5400000">
              <a:off x="7893072" y="3485967"/>
              <a:ext cx="4023360" cy="402336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33" name="Google Shape;43;p4">
              <a:extLst>
                <a:ext uri="{FF2B5EF4-FFF2-40B4-BE49-F238E27FC236}">
                  <a16:creationId xmlns:a16="http://schemas.microsoft.com/office/drawing/2014/main" id="{E158BBA8-F90D-4E48-B12C-E096C6E8450C}"/>
                </a:ext>
              </a:extLst>
            </p:cNvPr>
            <p:cNvSpPr txBox="1"/>
            <p:nvPr/>
          </p:nvSpPr>
          <p:spPr>
            <a:xfrm>
              <a:off x="9198470" y="4143430"/>
              <a:ext cx="1412566"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S</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4" name="Google Shape;44;p4">
              <a:extLst>
                <a:ext uri="{FF2B5EF4-FFF2-40B4-BE49-F238E27FC236}">
                  <a16:creationId xmlns:a16="http://schemas.microsoft.com/office/drawing/2014/main" id="{1910F530-D9D1-4F0D-83C8-237CD82C18C1}"/>
                </a:ext>
              </a:extLst>
            </p:cNvPr>
            <p:cNvSpPr/>
            <p:nvPr/>
          </p:nvSpPr>
          <p:spPr>
            <a:xfrm>
              <a:off x="12103986" y="3157663"/>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5" name="Google Shape;45;p4">
              <a:extLst>
                <a:ext uri="{FF2B5EF4-FFF2-40B4-BE49-F238E27FC236}">
                  <a16:creationId xmlns:a16="http://schemas.microsoft.com/office/drawing/2014/main" id="{9C5358E5-F787-450F-96D6-B4DD0A4FD892}"/>
                </a:ext>
              </a:extLst>
            </p:cNvPr>
            <p:cNvSpPr/>
            <p:nvPr/>
          </p:nvSpPr>
          <p:spPr>
            <a:xfrm rot="-5400000">
              <a:off x="12108911" y="3502569"/>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6" name="Google Shape;47;p4">
              <a:extLst>
                <a:ext uri="{FF2B5EF4-FFF2-40B4-BE49-F238E27FC236}">
                  <a16:creationId xmlns:a16="http://schemas.microsoft.com/office/drawing/2014/main" id="{9DB20088-4520-4CD5-8125-EA67D1AFB1F5}"/>
                </a:ext>
              </a:extLst>
            </p:cNvPr>
            <p:cNvSpPr txBox="1"/>
            <p:nvPr/>
          </p:nvSpPr>
          <p:spPr>
            <a:xfrm>
              <a:off x="17437300" y="8208718"/>
              <a:ext cx="2180405"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Threats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7" name="Google Shape;48;p4">
              <a:extLst>
                <a:ext uri="{FF2B5EF4-FFF2-40B4-BE49-F238E27FC236}">
                  <a16:creationId xmlns:a16="http://schemas.microsoft.com/office/drawing/2014/main" id="{A90D9C08-83DC-41FA-83FC-F06242E4DE8B}"/>
                </a:ext>
              </a:extLst>
            </p:cNvPr>
            <p:cNvSpPr txBox="1"/>
            <p:nvPr/>
          </p:nvSpPr>
          <p:spPr>
            <a:xfrm>
              <a:off x="16786109" y="8837380"/>
              <a:ext cx="6280043" cy="273773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r>
                <a:rPr lang="en-US" sz="1400" dirty="0">
                  <a:sym typeface="Open Sans"/>
                </a:rPr>
                <a:t>Competitors &amp; new entrants into the market</a:t>
              </a:r>
            </a:p>
            <a:p>
              <a:r>
                <a:rPr lang="en-US" sz="1400" dirty="0"/>
                <a:t> </a:t>
              </a:r>
              <a:r>
                <a:rPr lang="en-US" sz="1400" dirty="0" err="1"/>
                <a:t>Clinalancet</a:t>
              </a:r>
              <a:r>
                <a:rPr lang="en-US" sz="1400" dirty="0"/>
                <a:t> , CIMS, </a:t>
              </a:r>
              <a:r>
                <a:rPr lang="en-US" sz="1400" dirty="0" err="1"/>
                <a:t>AmbulanceNG</a:t>
              </a:r>
              <a:endParaRPr lang="en-US" sz="1400" dirty="0"/>
            </a:p>
            <a:p>
              <a:r>
                <a:rPr lang="en-US" sz="1400" dirty="0"/>
                <a:t>Japa </a:t>
              </a:r>
              <a:r>
                <a:rPr lang="en-US" sz="1400" dirty="0" err="1"/>
                <a:t>syndrom</a:t>
              </a:r>
              <a:endParaRPr lang="en-US" sz="1400" dirty="0"/>
            </a:p>
          </p:txBody>
        </p:sp>
        <p:sp>
          <p:nvSpPr>
            <p:cNvPr id="38" name="Google Shape;49;p4">
              <a:extLst>
                <a:ext uri="{FF2B5EF4-FFF2-40B4-BE49-F238E27FC236}">
                  <a16:creationId xmlns:a16="http://schemas.microsoft.com/office/drawing/2014/main" id="{D094C298-F9B7-443F-A3F8-AB7F07AF934F}"/>
                </a:ext>
              </a:extLst>
            </p:cNvPr>
            <p:cNvSpPr txBox="1"/>
            <p:nvPr/>
          </p:nvSpPr>
          <p:spPr>
            <a:xfrm>
              <a:off x="3340398" y="8259954"/>
              <a:ext cx="3861954"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Opportunities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9" name="Google Shape;51;p4">
              <a:extLst>
                <a:ext uri="{FF2B5EF4-FFF2-40B4-BE49-F238E27FC236}">
                  <a16:creationId xmlns:a16="http://schemas.microsoft.com/office/drawing/2014/main" id="{8C73555A-A06E-44D9-B04F-8B39E8DC9BEC}"/>
                </a:ext>
              </a:extLst>
            </p:cNvPr>
            <p:cNvSpPr txBox="1"/>
            <p:nvPr/>
          </p:nvSpPr>
          <p:spPr>
            <a:xfrm>
              <a:off x="17525505" y="3182865"/>
              <a:ext cx="3409907"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Weaknesses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0" name="Google Shape;52;p4">
              <a:extLst>
                <a:ext uri="{FF2B5EF4-FFF2-40B4-BE49-F238E27FC236}">
                  <a16:creationId xmlns:a16="http://schemas.microsoft.com/office/drawing/2014/main" id="{C24A9159-2311-42E6-B7C0-CB8408E435B1}"/>
                </a:ext>
              </a:extLst>
            </p:cNvPr>
            <p:cNvSpPr txBox="1"/>
            <p:nvPr/>
          </p:nvSpPr>
          <p:spPr>
            <a:xfrm>
              <a:off x="16566597" y="3786130"/>
              <a:ext cx="6007144" cy="350915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Procurement and Sales Skill-set and competence limited </a:t>
              </a:r>
            </a:p>
            <a:p>
              <a:pPr>
                <a:buFontTx/>
                <a:buChar char="-"/>
              </a:pPr>
              <a:r>
                <a:rPr lang="en-US" sz="1400" dirty="0"/>
                <a:t>Staff retention capacity is weak</a:t>
              </a:r>
            </a:p>
            <a:p>
              <a:pPr>
                <a:buFontTx/>
                <a:buChar char="-"/>
              </a:pPr>
              <a:r>
                <a:rPr lang="en-US" sz="1400" dirty="0"/>
                <a:t>Not enough Occupational Health Specialists on Team </a:t>
              </a:r>
            </a:p>
            <a:p>
              <a:pPr>
                <a:buFontTx/>
                <a:buChar char="-"/>
              </a:pPr>
              <a:r>
                <a:rPr lang="en-US" sz="1400" dirty="0"/>
                <a:t>Limited areas of specialization, leading to outsourcing</a:t>
              </a:r>
            </a:p>
            <a:p>
              <a:pPr>
                <a:buFontTx/>
                <a:buChar char="-"/>
              </a:pPr>
              <a:endParaRPr lang="en-US" sz="1400" dirty="0"/>
            </a:p>
            <a:p>
              <a:pPr marL="0" indent="0">
                <a:buNone/>
              </a:pPr>
              <a:endParaRPr lang="en-US" sz="1400" dirty="0"/>
            </a:p>
          </p:txBody>
        </p:sp>
        <p:sp>
          <p:nvSpPr>
            <p:cNvPr id="41" name="Google Shape;53;p4">
              <a:extLst>
                <a:ext uri="{FF2B5EF4-FFF2-40B4-BE49-F238E27FC236}">
                  <a16:creationId xmlns:a16="http://schemas.microsoft.com/office/drawing/2014/main" id="{64186B3A-EC0D-453D-827D-01B9878AE526}"/>
                </a:ext>
              </a:extLst>
            </p:cNvPr>
            <p:cNvSpPr txBox="1"/>
            <p:nvPr/>
          </p:nvSpPr>
          <p:spPr>
            <a:xfrm>
              <a:off x="2868199" y="3210177"/>
              <a:ext cx="2719014" cy="707886"/>
            </a:xfrm>
            <a:prstGeom prst="rect">
              <a:avLst/>
            </a:prstGeom>
            <a:noFill/>
            <a:ln>
              <a:noFill/>
            </a:ln>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Strengths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2" name="Google Shape;52;p4">
              <a:extLst>
                <a:ext uri="{FF2B5EF4-FFF2-40B4-BE49-F238E27FC236}">
                  <a16:creationId xmlns:a16="http://schemas.microsoft.com/office/drawing/2014/main" id="{ED8A9CE5-C4FE-48E0-968C-DB184141FF75}"/>
                </a:ext>
              </a:extLst>
            </p:cNvPr>
            <p:cNvSpPr txBox="1"/>
            <p:nvPr/>
          </p:nvSpPr>
          <p:spPr>
            <a:xfrm>
              <a:off x="2406138" y="3830786"/>
              <a:ext cx="5833421" cy="3678539"/>
            </a:xfrm>
            <a:prstGeom prst="rect">
              <a:avLst/>
            </a:prstGeom>
            <a:noFill/>
            <a:ln>
              <a:noFill/>
            </a:ln>
          </p:spPr>
          <p:txBody>
            <a:bodyPr spcFirstLastPara="1" wrap="square" lIns="91425" tIns="45700" rIns="91425" bIns="45700" anchor="t" anchorCtr="0">
              <a:noAutofit/>
            </a:bodyPr>
            <a:lstStyle/>
            <a:p>
              <a:pPr marL="285750" indent="-285750">
                <a:buFont typeface="Arial" panose="020B0604020202020204" pitchFamily="34" charset="0"/>
                <a:buChar char="•"/>
              </a:pPr>
              <a:r>
                <a:rPr lang="en-US" sz="1400" dirty="0"/>
                <a:t>Over 400 client company foot prints</a:t>
              </a:r>
            </a:p>
            <a:p>
              <a:pPr marL="285750" indent="-285750">
                <a:buFont typeface="Arial" panose="020B0604020202020204" pitchFamily="34" charset="0"/>
                <a:buChar char="•"/>
              </a:pPr>
              <a:r>
                <a:rPr lang="en-US" sz="1400" dirty="0"/>
                <a:t>Accredited and approved by most IOC for Medical Fitness – Shell, </a:t>
              </a:r>
              <a:r>
                <a:rPr lang="en-US" sz="1400" dirty="0" err="1"/>
                <a:t>Exxonmobil</a:t>
              </a:r>
              <a:r>
                <a:rPr lang="en-US" sz="1400" dirty="0"/>
                <a:t>, Chevron</a:t>
              </a:r>
            </a:p>
            <a:p>
              <a:pPr marL="285750" indent="-285750">
                <a:buFont typeface="Arial" panose="020B0604020202020204" pitchFamily="34" charset="0"/>
                <a:buChar char="•"/>
              </a:pPr>
              <a:r>
                <a:rPr lang="en-US" sz="1400" dirty="0"/>
                <a:t>4 Prime locations in Lekki, Ikeja, </a:t>
              </a:r>
              <a:r>
                <a:rPr lang="en-US" sz="1400" dirty="0" err="1"/>
                <a:t>Portharcourt</a:t>
              </a:r>
              <a:r>
                <a:rPr lang="en-US" sz="1400" dirty="0"/>
                <a:t> and Warri</a:t>
              </a:r>
            </a:p>
            <a:p>
              <a:pPr marL="285750" indent="-285750">
                <a:buFont typeface="Arial" panose="020B0604020202020204" pitchFamily="34" charset="0"/>
                <a:buChar char="•"/>
              </a:pPr>
              <a:r>
                <a:rPr lang="en-US" sz="1400" dirty="0"/>
                <a:t>Technical Internationally </a:t>
              </a:r>
              <a:r>
                <a:rPr lang="en-US" sz="1400" dirty="0" err="1"/>
                <a:t>trainedand</a:t>
              </a:r>
              <a:r>
                <a:rPr lang="en-US" sz="1400" dirty="0"/>
                <a:t> reputable Occupational Medicine Expertise – Dr Lanre Ajayi</a:t>
              </a:r>
            </a:p>
            <a:p>
              <a:pPr marL="285750" indent="-285750">
                <a:buFont typeface="Arial" panose="020B0604020202020204" pitchFamily="34" charset="0"/>
                <a:buChar char="•"/>
              </a:pPr>
              <a:r>
                <a:rPr lang="en-US" sz="1400" dirty="0"/>
                <a:t>Experienced Onsite project team </a:t>
              </a:r>
            </a:p>
            <a:p>
              <a:endParaRPr lang="en-US" sz="1400" dirty="0"/>
            </a:p>
          </p:txBody>
        </p:sp>
        <p:sp>
          <p:nvSpPr>
            <p:cNvPr id="43" name="Google Shape;48;p4">
              <a:extLst>
                <a:ext uri="{FF2B5EF4-FFF2-40B4-BE49-F238E27FC236}">
                  <a16:creationId xmlns:a16="http://schemas.microsoft.com/office/drawing/2014/main" id="{4FDB4CB3-A1DA-40E1-BDFB-8840EAA5B5E0}"/>
                </a:ext>
              </a:extLst>
            </p:cNvPr>
            <p:cNvSpPr txBox="1"/>
            <p:nvPr/>
          </p:nvSpPr>
          <p:spPr>
            <a:xfrm>
              <a:off x="2294541" y="8864495"/>
              <a:ext cx="5413517" cy="3591264"/>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Growing opportunities for retail business in all </a:t>
              </a:r>
              <a:r>
                <a:rPr lang="en-US" sz="1400" dirty="0" err="1"/>
                <a:t>lifecheck</a:t>
              </a:r>
              <a:r>
                <a:rPr lang="en-US" sz="1400" dirty="0"/>
                <a:t> locations </a:t>
              </a:r>
            </a:p>
            <a:p>
              <a:pPr>
                <a:buFontTx/>
                <a:buChar char="-"/>
              </a:pPr>
              <a:r>
                <a:rPr lang="en-US" sz="1400" dirty="0"/>
                <a:t>Growing demand for Wellness services in Nigeria</a:t>
              </a:r>
            </a:p>
            <a:p>
              <a:pPr>
                <a:buFontTx/>
                <a:buChar char="-"/>
              </a:pPr>
              <a:r>
                <a:rPr lang="en-US" sz="1400" dirty="0"/>
                <a:t>Reverse Medical tourism and Migration</a:t>
              </a:r>
            </a:p>
          </p:txBody>
        </p:sp>
      </p:grpSp>
    </p:spTree>
    <p:extLst>
      <p:ext uri="{BB962C8B-B14F-4D97-AF65-F5344CB8AC3E}">
        <p14:creationId xmlns:p14="http://schemas.microsoft.com/office/powerpoint/2010/main" val="1321855596"/>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7ABD-DD28-4F88-9217-9D82DE663EC5}"/>
              </a:ext>
            </a:extLst>
          </p:cNvPr>
          <p:cNvSpPr>
            <a:spLocks noGrp="1"/>
          </p:cNvSpPr>
          <p:nvPr>
            <p:ph type="title"/>
          </p:nvPr>
        </p:nvSpPr>
        <p:spPr/>
        <p:txBody>
          <a:bodyPr/>
          <a:lstStyle/>
          <a:p>
            <a:r>
              <a:rPr lang="en-US" dirty="0"/>
              <a:t>HOSPITAL &amp; CLINIC MGT – SWOT Analysis</a:t>
            </a:r>
            <a:endParaRPr lang="aa-ET" dirty="0"/>
          </a:p>
        </p:txBody>
      </p:sp>
      <p:sp>
        <p:nvSpPr>
          <p:cNvPr id="4" name="Slide Number Placeholder 3">
            <a:extLst>
              <a:ext uri="{FF2B5EF4-FFF2-40B4-BE49-F238E27FC236}">
                <a16:creationId xmlns:a16="http://schemas.microsoft.com/office/drawing/2014/main" id="{44D643D6-873E-457C-B150-7F2AE4B27922}"/>
              </a:ext>
            </a:extLst>
          </p:cNvPr>
          <p:cNvSpPr>
            <a:spLocks noGrp="1"/>
          </p:cNvSpPr>
          <p:nvPr>
            <p:ph type="sldNum" sz="quarter" idx="12"/>
          </p:nvPr>
        </p:nvSpPr>
        <p:spPr>
          <a:xfrm>
            <a:off x="5579528" y="6356349"/>
            <a:ext cx="621030" cy="365125"/>
          </a:xfrm>
        </p:spPr>
        <p:txBody>
          <a:bodyPr/>
          <a:lstStyle/>
          <a:p>
            <a:fld id="{88DB5A6F-883B-4080-A811-FB5B8D05AFA3}" type="slidenum">
              <a:rPr lang="en-GB" smtClean="0">
                <a:latin typeface="Corbel" panose="020B0503020204020204" pitchFamily="34" charset="0"/>
              </a:rPr>
              <a:pPr/>
              <a:t>33</a:t>
            </a:fld>
            <a:endParaRPr lang="en-GB">
              <a:latin typeface="Corbel" panose="020B0503020204020204" pitchFamily="34" charset="0"/>
            </a:endParaRPr>
          </a:p>
        </p:txBody>
      </p:sp>
      <p:grpSp>
        <p:nvGrpSpPr>
          <p:cNvPr id="25" name="Group 24">
            <a:extLst>
              <a:ext uri="{FF2B5EF4-FFF2-40B4-BE49-F238E27FC236}">
                <a16:creationId xmlns:a16="http://schemas.microsoft.com/office/drawing/2014/main" id="{7547F3A8-536A-480E-B348-484E15AFBCF7}"/>
              </a:ext>
            </a:extLst>
          </p:cNvPr>
          <p:cNvGrpSpPr/>
          <p:nvPr/>
        </p:nvGrpSpPr>
        <p:grpSpPr>
          <a:xfrm>
            <a:off x="210425" y="996286"/>
            <a:ext cx="11892436" cy="5505835"/>
            <a:chOff x="2294541" y="3157663"/>
            <a:chExt cx="20771611" cy="9278132"/>
          </a:xfrm>
        </p:grpSpPr>
        <p:sp>
          <p:nvSpPr>
            <p:cNvPr id="26" name="Google Shape;36;p4">
              <a:extLst>
                <a:ext uri="{FF2B5EF4-FFF2-40B4-BE49-F238E27FC236}">
                  <a16:creationId xmlns:a16="http://schemas.microsoft.com/office/drawing/2014/main" id="{067A6DB7-B0FF-4456-90F8-436711C36B0F}"/>
                </a:ext>
              </a:extLst>
            </p:cNvPr>
            <p:cNvSpPr/>
            <p:nvPr/>
          </p:nvSpPr>
          <p:spPr>
            <a:xfrm rot="5400000">
              <a:off x="12543238" y="8412435"/>
              <a:ext cx="4023359" cy="4023360"/>
            </a:xfrm>
            <a:prstGeom prst="ellipse">
              <a:avLst/>
            </a:prstGeom>
            <a:solidFill>
              <a:srgbClr val="EC892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27" name="Google Shape;37;p4">
              <a:extLst>
                <a:ext uri="{FF2B5EF4-FFF2-40B4-BE49-F238E27FC236}">
                  <a16:creationId xmlns:a16="http://schemas.microsoft.com/office/drawing/2014/main" id="{10C5C17E-7AA1-426C-A024-676502381AAD}"/>
                </a:ext>
              </a:extLst>
            </p:cNvPr>
            <p:cNvSpPr txBox="1"/>
            <p:nvPr/>
          </p:nvSpPr>
          <p:spPr>
            <a:xfrm>
              <a:off x="13788521" y="9069899"/>
              <a:ext cx="1532792" cy="2708433"/>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T</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28" name="Google Shape;38;p4">
              <a:extLst>
                <a:ext uri="{FF2B5EF4-FFF2-40B4-BE49-F238E27FC236}">
                  <a16:creationId xmlns:a16="http://schemas.microsoft.com/office/drawing/2014/main" id="{7F54F858-F74E-4472-B979-4A41AD292F80}"/>
                </a:ext>
              </a:extLst>
            </p:cNvPr>
            <p:cNvSpPr/>
            <p:nvPr/>
          </p:nvSpPr>
          <p:spPr>
            <a:xfrm rot="5400000">
              <a:off x="7861114" y="8412435"/>
              <a:ext cx="4023360" cy="4023360"/>
            </a:xfrm>
            <a:prstGeom prst="ellipse">
              <a:avLst/>
            </a:prstGeom>
            <a:solidFill>
              <a:schemeClr val="tx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29" name="Google Shape;39;p4">
              <a:extLst>
                <a:ext uri="{FF2B5EF4-FFF2-40B4-BE49-F238E27FC236}">
                  <a16:creationId xmlns:a16="http://schemas.microsoft.com/office/drawing/2014/main" id="{62958AAD-7069-426A-9481-DDB1DF0A187D}"/>
                </a:ext>
              </a:extLst>
            </p:cNvPr>
            <p:cNvSpPr txBox="1"/>
            <p:nvPr/>
          </p:nvSpPr>
          <p:spPr>
            <a:xfrm>
              <a:off x="8914739" y="9069901"/>
              <a:ext cx="1980028" cy="2426070"/>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O</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0" name="Google Shape;40;p4">
              <a:extLst>
                <a:ext uri="{FF2B5EF4-FFF2-40B4-BE49-F238E27FC236}">
                  <a16:creationId xmlns:a16="http://schemas.microsoft.com/office/drawing/2014/main" id="{FD321458-85A8-4A86-AD0A-5E6D395B65F6}"/>
                </a:ext>
              </a:extLst>
            </p:cNvPr>
            <p:cNvSpPr/>
            <p:nvPr/>
          </p:nvSpPr>
          <p:spPr>
            <a:xfrm rot="5400000">
              <a:off x="12543237" y="3485967"/>
              <a:ext cx="4023360" cy="4023360"/>
            </a:xfrm>
            <a:prstGeom prst="ellipse">
              <a:avLst/>
            </a:prstGeom>
            <a:solidFill>
              <a:srgbClr val="7EB73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31" name="Google Shape;41;p4">
              <a:extLst>
                <a:ext uri="{FF2B5EF4-FFF2-40B4-BE49-F238E27FC236}">
                  <a16:creationId xmlns:a16="http://schemas.microsoft.com/office/drawing/2014/main" id="{68464EAB-942B-471A-ABF1-21DD76999277}"/>
                </a:ext>
              </a:extLst>
            </p:cNvPr>
            <p:cNvSpPr txBox="1"/>
            <p:nvPr/>
          </p:nvSpPr>
          <p:spPr>
            <a:xfrm>
              <a:off x="13281172" y="4143430"/>
              <a:ext cx="2547493"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W</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2" name="Google Shape;42;p4">
              <a:extLst>
                <a:ext uri="{FF2B5EF4-FFF2-40B4-BE49-F238E27FC236}">
                  <a16:creationId xmlns:a16="http://schemas.microsoft.com/office/drawing/2014/main" id="{85A3C6A0-2CD3-4100-A3FC-269918E2A546}"/>
                </a:ext>
              </a:extLst>
            </p:cNvPr>
            <p:cNvSpPr/>
            <p:nvPr/>
          </p:nvSpPr>
          <p:spPr>
            <a:xfrm rot="5400000">
              <a:off x="7893072" y="3485967"/>
              <a:ext cx="4023360" cy="402336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33" name="Google Shape;43;p4">
              <a:extLst>
                <a:ext uri="{FF2B5EF4-FFF2-40B4-BE49-F238E27FC236}">
                  <a16:creationId xmlns:a16="http://schemas.microsoft.com/office/drawing/2014/main" id="{E158BBA8-F90D-4E48-B12C-E096C6E8450C}"/>
                </a:ext>
              </a:extLst>
            </p:cNvPr>
            <p:cNvSpPr txBox="1"/>
            <p:nvPr/>
          </p:nvSpPr>
          <p:spPr>
            <a:xfrm>
              <a:off x="9198470" y="4143430"/>
              <a:ext cx="1412566"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S</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4" name="Google Shape;44;p4">
              <a:extLst>
                <a:ext uri="{FF2B5EF4-FFF2-40B4-BE49-F238E27FC236}">
                  <a16:creationId xmlns:a16="http://schemas.microsoft.com/office/drawing/2014/main" id="{1910F530-D9D1-4F0D-83C8-237CD82C18C1}"/>
                </a:ext>
              </a:extLst>
            </p:cNvPr>
            <p:cNvSpPr/>
            <p:nvPr/>
          </p:nvSpPr>
          <p:spPr>
            <a:xfrm>
              <a:off x="12103986" y="3157663"/>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5" name="Google Shape;45;p4">
              <a:extLst>
                <a:ext uri="{FF2B5EF4-FFF2-40B4-BE49-F238E27FC236}">
                  <a16:creationId xmlns:a16="http://schemas.microsoft.com/office/drawing/2014/main" id="{9C5358E5-F787-450F-96D6-B4DD0A4FD892}"/>
                </a:ext>
              </a:extLst>
            </p:cNvPr>
            <p:cNvSpPr/>
            <p:nvPr/>
          </p:nvSpPr>
          <p:spPr>
            <a:xfrm rot="-5400000">
              <a:off x="12108911" y="3502569"/>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6" name="Google Shape;47;p4">
              <a:extLst>
                <a:ext uri="{FF2B5EF4-FFF2-40B4-BE49-F238E27FC236}">
                  <a16:creationId xmlns:a16="http://schemas.microsoft.com/office/drawing/2014/main" id="{9DB20088-4520-4CD5-8125-EA67D1AFB1F5}"/>
                </a:ext>
              </a:extLst>
            </p:cNvPr>
            <p:cNvSpPr txBox="1"/>
            <p:nvPr/>
          </p:nvSpPr>
          <p:spPr>
            <a:xfrm>
              <a:off x="17437300" y="8208718"/>
              <a:ext cx="2180405"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Threats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7" name="Google Shape;48;p4">
              <a:extLst>
                <a:ext uri="{FF2B5EF4-FFF2-40B4-BE49-F238E27FC236}">
                  <a16:creationId xmlns:a16="http://schemas.microsoft.com/office/drawing/2014/main" id="{A90D9C08-83DC-41FA-83FC-F06242E4DE8B}"/>
                </a:ext>
              </a:extLst>
            </p:cNvPr>
            <p:cNvSpPr txBox="1"/>
            <p:nvPr/>
          </p:nvSpPr>
          <p:spPr>
            <a:xfrm>
              <a:off x="16410906" y="8837380"/>
              <a:ext cx="6655246" cy="273773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r>
                <a:rPr lang="en-US" sz="1400" dirty="0">
                  <a:sym typeface="Open Sans"/>
                </a:rPr>
                <a:t>Volatility of Forex posing risk of cost hike</a:t>
              </a:r>
            </a:p>
            <a:p>
              <a:r>
                <a:rPr lang="en-US" sz="1400" dirty="0">
                  <a:sym typeface="Open Sans"/>
                </a:rPr>
                <a:t>Economic inflation driving budget cut -down</a:t>
              </a:r>
            </a:p>
            <a:p>
              <a:r>
                <a:rPr lang="en-US" sz="1400" dirty="0">
                  <a:sym typeface="Open Sans"/>
                </a:rPr>
                <a:t> Direct Hiring of Medics by Companies </a:t>
              </a:r>
            </a:p>
          </p:txBody>
        </p:sp>
        <p:sp>
          <p:nvSpPr>
            <p:cNvPr id="38" name="Google Shape;49;p4">
              <a:extLst>
                <a:ext uri="{FF2B5EF4-FFF2-40B4-BE49-F238E27FC236}">
                  <a16:creationId xmlns:a16="http://schemas.microsoft.com/office/drawing/2014/main" id="{D094C298-F9B7-443F-A3F8-AB7F07AF934F}"/>
                </a:ext>
              </a:extLst>
            </p:cNvPr>
            <p:cNvSpPr txBox="1"/>
            <p:nvPr/>
          </p:nvSpPr>
          <p:spPr>
            <a:xfrm>
              <a:off x="3340398" y="8259954"/>
              <a:ext cx="3861954"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Opportunities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9" name="Google Shape;51;p4">
              <a:extLst>
                <a:ext uri="{FF2B5EF4-FFF2-40B4-BE49-F238E27FC236}">
                  <a16:creationId xmlns:a16="http://schemas.microsoft.com/office/drawing/2014/main" id="{8C73555A-A06E-44D9-B04F-8B39E8DC9BEC}"/>
                </a:ext>
              </a:extLst>
            </p:cNvPr>
            <p:cNvSpPr txBox="1"/>
            <p:nvPr/>
          </p:nvSpPr>
          <p:spPr>
            <a:xfrm>
              <a:off x="17525505" y="3182865"/>
              <a:ext cx="3409907"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Weaknesses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0" name="Google Shape;52;p4">
              <a:extLst>
                <a:ext uri="{FF2B5EF4-FFF2-40B4-BE49-F238E27FC236}">
                  <a16:creationId xmlns:a16="http://schemas.microsoft.com/office/drawing/2014/main" id="{C24A9159-2311-42E6-B7C0-CB8408E435B1}"/>
                </a:ext>
              </a:extLst>
            </p:cNvPr>
            <p:cNvSpPr txBox="1"/>
            <p:nvPr/>
          </p:nvSpPr>
          <p:spPr>
            <a:xfrm>
              <a:off x="16566597" y="3786130"/>
              <a:ext cx="6007144" cy="350915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Limited procurement and bidding expertise </a:t>
              </a:r>
            </a:p>
            <a:p>
              <a:pPr>
                <a:buFontTx/>
                <a:buChar char="-"/>
              </a:pPr>
              <a:r>
                <a:rPr lang="en-US" sz="1400" dirty="0"/>
                <a:t>Weak capacity to leverage on economies of scale </a:t>
              </a:r>
            </a:p>
          </p:txBody>
        </p:sp>
        <p:sp>
          <p:nvSpPr>
            <p:cNvPr id="41" name="Google Shape;53;p4">
              <a:extLst>
                <a:ext uri="{FF2B5EF4-FFF2-40B4-BE49-F238E27FC236}">
                  <a16:creationId xmlns:a16="http://schemas.microsoft.com/office/drawing/2014/main" id="{64186B3A-EC0D-453D-827D-01B9878AE526}"/>
                </a:ext>
              </a:extLst>
            </p:cNvPr>
            <p:cNvSpPr txBox="1"/>
            <p:nvPr/>
          </p:nvSpPr>
          <p:spPr>
            <a:xfrm>
              <a:off x="2868199" y="3210177"/>
              <a:ext cx="2719014" cy="707886"/>
            </a:xfrm>
            <a:prstGeom prst="rect">
              <a:avLst/>
            </a:prstGeom>
            <a:noFill/>
            <a:ln>
              <a:noFill/>
            </a:ln>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Strengths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2" name="Google Shape;52;p4">
              <a:extLst>
                <a:ext uri="{FF2B5EF4-FFF2-40B4-BE49-F238E27FC236}">
                  <a16:creationId xmlns:a16="http://schemas.microsoft.com/office/drawing/2014/main" id="{ED8A9CE5-C4FE-48E0-968C-DB184141FF75}"/>
                </a:ext>
              </a:extLst>
            </p:cNvPr>
            <p:cNvSpPr txBox="1"/>
            <p:nvPr/>
          </p:nvSpPr>
          <p:spPr>
            <a:xfrm>
              <a:off x="2406140" y="3830788"/>
              <a:ext cx="5185425" cy="3365899"/>
            </a:xfrm>
            <a:prstGeom prst="rect">
              <a:avLst/>
            </a:prstGeom>
            <a:noFill/>
            <a:ln>
              <a:noFill/>
            </a:ln>
          </p:spPr>
          <p:txBody>
            <a:bodyPr spcFirstLastPara="1" wrap="square" lIns="91425" tIns="45700" rIns="91425" bIns="45700" anchor="t" anchorCtr="0">
              <a:noAutofit/>
            </a:bodyPr>
            <a:lstStyle/>
            <a:p>
              <a:pPr>
                <a:buFontTx/>
                <a:buChar char="-"/>
              </a:pPr>
              <a:r>
                <a:rPr lang="en-US" sz="1400" dirty="0"/>
                <a:t>Experience with clinic mgt in onshore and offshore settings</a:t>
              </a:r>
            </a:p>
            <a:p>
              <a:pPr>
                <a:buFontTx/>
                <a:buChar char="-"/>
              </a:pPr>
              <a:r>
                <a:rPr lang="en-US" sz="1400" dirty="0"/>
                <a:t>Partnership with international multi-specialist hospital mg company Alameda</a:t>
              </a:r>
            </a:p>
            <a:p>
              <a:pPr>
                <a:buFontTx/>
                <a:buChar char="-"/>
              </a:pPr>
              <a:r>
                <a:rPr lang="en-US" sz="1400" dirty="0"/>
                <a:t>Good technical support</a:t>
              </a:r>
            </a:p>
            <a:p>
              <a:pPr>
                <a:buFontTx/>
                <a:buChar char="-"/>
              </a:pPr>
              <a:r>
                <a:rPr lang="en-US" sz="1400" dirty="0">
                  <a:latin typeface="Corbel" panose="020B0503020204020204" pitchFamily="34" charset="0"/>
                  <a:ea typeface="Cambria" panose="02040503050406030204" pitchFamily="18" charset="0"/>
                  <a:cs typeface="Times New Roman" panose="02020603050405020304" pitchFamily="18" charset="0"/>
                </a:rPr>
                <a:t>Brand reputation</a:t>
              </a:r>
            </a:p>
          </p:txBody>
        </p:sp>
        <p:sp>
          <p:nvSpPr>
            <p:cNvPr id="43" name="Google Shape;48;p4">
              <a:extLst>
                <a:ext uri="{FF2B5EF4-FFF2-40B4-BE49-F238E27FC236}">
                  <a16:creationId xmlns:a16="http://schemas.microsoft.com/office/drawing/2014/main" id="{4FDB4CB3-A1DA-40E1-BDFB-8840EAA5B5E0}"/>
                </a:ext>
              </a:extLst>
            </p:cNvPr>
            <p:cNvSpPr txBox="1"/>
            <p:nvPr/>
          </p:nvSpPr>
          <p:spPr>
            <a:xfrm>
              <a:off x="2294541" y="8864496"/>
              <a:ext cx="5413517" cy="2246769"/>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Offshore rigs staffing for IOCS </a:t>
              </a:r>
            </a:p>
            <a:p>
              <a:pPr>
                <a:buFontTx/>
                <a:buChar char="-"/>
              </a:pPr>
              <a:r>
                <a:rPr lang="en-US" sz="1400" dirty="0"/>
                <a:t>Improved IT driven clinic mgt model</a:t>
              </a:r>
            </a:p>
            <a:p>
              <a:pPr>
                <a:buFontTx/>
                <a:buChar char="-"/>
              </a:pPr>
              <a:r>
                <a:rPr lang="en-US" sz="1400" dirty="0"/>
                <a:t>Clinical Governance models</a:t>
              </a:r>
            </a:p>
            <a:p>
              <a:pPr>
                <a:buFontTx/>
                <a:buChar char="-"/>
              </a:pPr>
              <a:r>
                <a:rPr lang="en-US" sz="1400" dirty="0"/>
                <a:t>Hospital Staff Trainings &amp; Accreditations preparations</a:t>
              </a:r>
            </a:p>
          </p:txBody>
        </p:sp>
      </p:grpSp>
    </p:spTree>
    <p:extLst>
      <p:ext uri="{BB962C8B-B14F-4D97-AF65-F5344CB8AC3E}">
        <p14:creationId xmlns:p14="http://schemas.microsoft.com/office/powerpoint/2010/main" val="652818585"/>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7ABD-DD28-4F88-9217-9D82DE663EC5}"/>
              </a:ext>
            </a:extLst>
          </p:cNvPr>
          <p:cNvSpPr>
            <a:spLocks noGrp="1"/>
          </p:cNvSpPr>
          <p:nvPr>
            <p:ph type="title"/>
          </p:nvPr>
        </p:nvSpPr>
        <p:spPr/>
        <p:txBody>
          <a:bodyPr/>
          <a:lstStyle/>
          <a:p>
            <a:r>
              <a:rPr lang="en-US" dirty="0"/>
              <a:t>MEDADVISORY – SWOT Analysis</a:t>
            </a:r>
            <a:endParaRPr lang="aa-ET" dirty="0"/>
          </a:p>
        </p:txBody>
      </p:sp>
      <p:sp>
        <p:nvSpPr>
          <p:cNvPr id="4" name="Slide Number Placeholder 3">
            <a:extLst>
              <a:ext uri="{FF2B5EF4-FFF2-40B4-BE49-F238E27FC236}">
                <a16:creationId xmlns:a16="http://schemas.microsoft.com/office/drawing/2014/main" id="{44D643D6-873E-457C-B150-7F2AE4B27922}"/>
              </a:ext>
            </a:extLst>
          </p:cNvPr>
          <p:cNvSpPr>
            <a:spLocks noGrp="1"/>
          </p:cNvSpPr>
          <p:nvPr>
            <p:ph type="sldNum" sz="quarter" idx="12"/>
          </p:nvPr>
        </p:nvSpPr>
        <p:spPr>
          <a:xfrm>
            <a:off x="5579528" y="6356349"/>
            <a:ext cx="621030" cy="365125"/>
          </a:xfrm>
        </p:spPr>
        <p:txBody>
          <a:bodyPr/>
          <a:lstStyle/>
          <a:p>
            <a:fld id="{88DB5A6F-883B-4080-A811-FB5B8D05AFA3}" type="slidenum">
              <a:rPr lang="en-GB" smtClean="0">
                <a:latin typeface="Corbel" panose="020B0503020204020204" pitchFamily="34" charset="0"/>
              </a:rPr>
              <a:pPr/>
              <a:t>34</a:t>
            </a:fld>
            <a:endParaRPr lang="en-GB">
              <a:latin typeface="Corbel" panose="020B0503020204020204" pitchFamily="34" charset="0"/>
            </a:endParaRPr>
          </a:p>
        </p:txBody>
      </p:sp>
      <p:grpSp>
        <p:nvGrpSpPr>
          <p:cNvPr id="25" name="Group 24">
            <a:extLst>
              <a:ext uri="{FF2B5EF4-FFF2-40B4-BE49-F238E27FC236}">
                <a16:creationId xmlns:a16="http://schemas.microsoft.com/office/drawing/2014/main" id="{7547F3A8-536A-480E-B348-484E15AFBCF7}"/>
              </a:ext>
            </a:extLst>
          </p:cNvPr>
          <p:cNvGrpSpPr/>
          <p:nvPr/>
        </p:nvGrpSpPr>
        <p:grpSpPr>
          <a:xfrm>
            <a:off x="210425" y="996286"/>
            <a:ext cx="11892436" cy="5505835"/>
            <a:chOff x="2294541" y="3157663"/>
            <a:chExt cx="20771611" cy="9278132"/>
          </a:xfrm>
        </p:grpSpPr>
        <p:sp>
          <p:nvSpPr>
            <p:cNvPr id="26" name="Google Shape;36;p4">
              <a:extLst>
                <a:ext uri="{FF2B5EF4-FFF2-40B4-BE49-F238E27FC236}">
                  <a16:creationId xmlns:a16="http://schemas.microsoft.com/office/drawing/2014/main" id="{067A6DB7-B0FF-4456-90F8-436711C36B0F}"/>
                </a:ext>
              </a:extLst>
            </p:cNvPr>
            <p:cNvSpPr/>
            <p:nvPr/>
          </p:nvSpPr>
          <p:spPr>
            <a:xfrm rot="5400000">
              <a:off x="12543238" y="8412435"/>
              <a:ext cx="4023359" cy="4023360"/>
            </a:xfrm>
            <a:prstGeom prst="ellipse">
              <a:avLst/>
            </a:prstGeom>
            <a:solidFill>
              <a:srgbClr val="EC892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27" name="Google Shape;37;p4">
              <a:extLst>
                <a:ext uri="{FF2B5EF4-FFF2-40B4-BE49-F238E27FC236}">
                  <a16:creationId xmlns:a16="http://schemas.microsoft.com/office/drawing/2014/main" id="{10C5C17E-7AA1-426C-A024-676502381AAD}"/>
                </a:ext>
              </a:extLst>
            </p:cNvPr>
            <p:cNvSpPr txBox="1"/>
            <p:nvPr/>
          </p:nvSpPr>
          <p:spPr>
            <a:xfrm>
              <a:off x="13788521" y="9069899"/>
              <a:ext cx="1532792" cy="2708433"/>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T</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28" name="Google Shape;38;p4">
              <a:extLst>
                <a:ext uri="{FF2B5EF4-FFF2-40B4-BE49-F238E27FC236}">
                  <a16:creationId xmlns:a16="http://schemas.microsoft.com/office/drawing/2014/main" id="{7F54F858-F74E-4472-B979-4A41AD292F80}"/>
                </a:ext>
              </a:extLst>
            </p:cNvPr>
            <p:cNvSpPr/>
            <p:nvPr/>
          </p:nvSpPr>
          <p:spPr>
            <a:xfrm rot="5400000">
              <a:off x="7861114" y="8412435"/>
              <a:ext cx="4023360" cy="4023360"/>
            </a:xfrm>
            <a:prstGeom prst="ellipse">
              <a:avLst/>
            </a:prstGeom>
            <a:solidFill>
              <a:schemeClr val="tx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29" name="Google Shape;39;p4">
              <a:extLst>
                <a:ext uri="{FF2B5EF4-FFF2-40B4-BE49-F238E27FC236}">
                  <a16:creationId xmlns:a16="http://schemas.microsoft.com/office/drawing/2014/main" id="{62958AAD-7069-426A-9481-DDB1DF0A187D}"/>
                </a:ext>
              </a:extLst>
            </p:cNvPr>
            <p:cNvSpPr txBox="1"/>
            <p:nvPr/>
          </p:nvSpPr>
          <p:spPr>
            <a:xfrm>
              <a:off x="8914739" y="9069901"/>
              <a:ext cx="1980028" cy="2426070"/>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O</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0" name="Google Shape;40;p4">
              <a:extLst>
                <a:ext uri="{FF2B5EF4-FFF2-40B4-BE49-F238E27FC236}">
                  <a16:creationId xmlns:a16="http://schemas.microsoft.com/office/drawing/2014/main" id="{FD321458-85A8-4A86-AD0A-5E6D395B65F6}"/>
                </a:ext>
              </a:extLst>
            </p:cNvPr>
            <p:cNvSpPr/>
            <p:nvPr/>
          </p:nvSpPr>
          <p:spPr>
            <a:xfrm rot="5400000">
              <a:off x="12543237" y="3485967"/>
              <a:ext cx="4023360" cy="4023360"/>
            </a:xfrm>
            <a:prstGeom prst="ellipse">
              <a:avLst/>
            </a:prstGeom>
            <a:solidFill>
              <a:srgbClr val="7EB73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31" name="Google Shape;41;p4">
              <a:extLst>
                <a:ext uri="{FF2B5EF4-FFF2-40B4-BE49-F238E27FC236}">
                  <a16:creationId xmlns:a16="http://schemas.microsoft.com/office/drawing/2014/main" id="{68464EAB-942B-471A-ABF1-21DD76999277}"/>
                </a:ext>
              </a:extLst>
            </p:cNvPr>
            <p:cNvSpPr txBox="1"/>
            <p:nvPr/>
          </p:nvSpPr>
          <p:spPr>
            <a:xfrm>
              <a:off x="13281172" y="4143430"/>
              <a:ext cx="2547493"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W</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2" name="Google Shape;42;p4">
              <a:extLst>
                <a:ext uri="{FF2B5EF4-FFF2-40B4-BE49-F238E27FC236}">
                  <a16:creationId xmlns:a16="http://schemas.microsoft.com/office/drawing/2014/main" id="{85A3C6A0-2CD3-4100-A3FC-269918E2A546}"/>
                </a:ext>
              </a:extLst>
            </p:cNvPr>
            <p:cNvSpPr/>
            <p:nvPr/>
          </p:nvSpPr>
          <p:spPr>
            <a:xfrm rot="5400000">
              <a:off x="7893072" y="3485967"/>
              <a:ext cx="4023360" cy="402336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33" name="Google Shape;43;p4">
              <a:extLst>
                <a:ext uri="{FF2B5EF4-FFF2-40B4-BE49-F238E27FC236}">
                  <a16:creationId xmlns:a16="http://schemas.microsoft.com/office/drawing/2014/main" id="{E158BBA8-F90D-4E48-B12C-E096C6E8450C}"/>
                </a:ext>
              </a:extLst>
            </p:cNvPr>
            <p:cNvSpPr txBox="1"/>
            <p:nvPr/>
          </p:nvSpPr>
          <p:spPr>
            <a:xfrm>
              <a:off x="9198470" y="4143430"/>
              <a:ext cx="1412566"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S</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4" name="Google Shape;44;p4">
              <a:extLst>
                <a:ext uri="{FF2B5EF4-FFF2-40B4-BE49-F238E27FC236}">
                  <a16:creationId xmlns:a16="http://schemas.microsoft.com/office/drawing/2014/main" id="{1910F530-D9D1-4F0D-83C8-237CD82C18C1}"/>
                </a:ext>
              </a:extLst>
            </p:cNvPr>
            <p:cNvSpPr/>
            <p:nvPr/>
          </p:nvSpPr>
          <p:spPr>
            <a:xfrm>
              <a:off x="12103986" y="3157663"/>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5" name="Google Shape;45;p4">
              <a:extLst>
                <a:ext uri="{FF2B5EF4-FFF2-40B4-BE49-F238E27FC236}">
                  <a16:creationId xmlns:a16="http://schemas.microsoft.com/office/drawing/2014/main" id="{9C5358E5-F787-450F-96D6-B4DD0A4FD892}"/>
                </a:ext>
              </a:extLst>
            </p:cNvPr>
            <p:cNvSpPr/>
            <p:nvPr/>
          </p:nvSpPr>
          <p:spPr>
            <a:xfrm rot="-5400000">
              <a:off x="12108911" y="3502569"/>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6" name="Google Shape;47;p4">
              <a:extLst>
                <a:ext uri="{FF2B5EF4-FFF2-40B4-BE49-F238E27FC236}">
                  <a16:creationId xmlns:a16="http://schemas.microsoft.com/office/drawing/2014/main" id="{9DB20088-4520-4CD5-8125-EA67D1AFB1F5}"/>
                </a:ext>
              </a:extLst>
            </p:cNvPr>
            <p:cNvSpPr txBox="1"/>
            <p:nvPr/>
          </p:nvSpPr>
          <p:spPr>
            <a:xfrm>
              <a:off x="17437300" y="8208718"/>
              <a:ext cx="2180405"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Threats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7" name="Google Shape;48;p4">
              <a:extLst>
                <a:ext uri="{FF2B5EF4-FFF2-40B4-BE49-F238E27FC236}">
                  <a16:creationId xmlns:a16="http://schemas.microsoft.com/office/drawing/2014/main" id="{A90D9C08-83DC-41FA-83FC-F06242E4DE8B}"/>
                </a:ext>
              </a:extLst>
            </p:cNvPr>
            <p:cNvSpPr txBox="1"/>
            <p:nvPr/>
          </p:nvSpPr>
          <p:spPr>
            <a:xfrm>
              <a:off x="16410906" y="8837380"/>
              <a:ext cx="6655246" cy="273773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Direct Hiring by Companies </a:t>
              </a:r>
            </a:p>
            <a:p>
              <a:pPr>
                <a:buFontTx/>
                <a:buChar char="-"/>
              </a:pPr>
              <a:r>
                <a:rPr lang="en-US" sz="1400" dirty="0"/>
                <a:t>QHSE Managers </a:t>
              </a:r>
            </a:p>
            <a:p>
              <a:pPr>
                <a:buFontTx/>
                <a:buChar char="-"/>
              </a:pPr>
              <a:r>
                <a:rPr lang="en-US" sz="1400" dirty="0"/>
                <a:t>Company doctors </a:t>
              </a:r>
            </a:p>
          </p:txBody>
        </p:sp>
        <p:sp>
          <p:nvSpPr>
            <p:cNvPr id="38" name="Google Shape;49;p4">
              <a:extLst>
                <a:ext uri="{FF2B5EF4-FFF2-40B4-BE49-F238E27FC236}">
                  <a16:creationId xmlns:a16="http://schemas.microsoft.com/office/drawing/2014/main" id="{D094C298-F9B7-443F-A3F8-AB7F07AF934F}"/>
                </a:ext>
              </a:extLst>
            </p:cNvPr>
            <p:cNvSpPr txBox="1"/>
            <p:nvPr/>
          </p:nvSpPr>
          <p:spPr>
            <a:xfrm>
              <a:off x="3340398" y="8259954"/>
              <a:ext cx="3861954"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Opportunities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9" name="Google Shape;51;p4">
              <a:extLst>
                <a:ext uri="{FF2B5EF4-FFF2-40B4-BE49-F238E27FC236}">
                  <a16:creationId xmlns:a16="http://schemas.microsoft.com/office/drawing/2014/main" id="{8C73555A-A06E-44D9-B04F-8B39E8DC9BEC}"/>
                </a:ext>
              </a:extLst>
            </p:cNvPr>
            <p:cNvSpPr txBox="1"/>
            <p:nvPr/>
          </p:nvSpPr>
          <p:spPr>
            <a:xfrm>
              <a:off x="17525505" y="3182865"/>
              <a:ext cx="3409907"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Weaknesses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0" name="Google Shape;52;p4">
              <a:extLst>
                <a:ext uri="{FF2B5EF4-FFF2-40B4-BE49-F238E27FC236}">
                  <a16:creationId xmlns:a16="http://schemas.microsoft.com/office/drawing/2014/main" id="{C24A9159-2311-42E6-B7C0-CB8408E435B1}"/>
                </a:ext>
              </a:extLst>
            </p:cNvPr>
            <p:cNvSpPr txBox="1"/>
            <p:nvPr/>
          </p:nvSpPr>
          <p:spPr>
            <a:xfrm>
              <a:off x="16566597" y="3786130"/>
              <a:ext cx="6007144" cy="350915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Limited procurement and bidding expertise </a:t>
              </a:r>
            </a:p>
            <a:p>
              <a:pPr>
                <a:buFontTx/>
                <a:buChar char="-"/>
              </a:pPr>
              <a:r>
                <a:rPr lang="en-US" sz="1400" dirty="0"/>
                <a:t>Limitation in skill set for communicating value proposition</a:t>
              </a:r>
            </a:p>
          </p:txBody>
        </p:sp>
        <p:sp>
          <p:nvSpPr>
            <p:cNvPr id="41" name="Google Shape;53;p4">
              <a:extLst>
                <a:ext uri="{FF2B5EF4-FFF2-40B4-BE49-F238E27FC236}">
                  <a16:creationId xmlns:a16="http://schemas.microsoft.com/office/drawing/2014/main" id="{64186B3A-EC0D-453D-827D-01B9878AE526}"/>
                </a:ext>
              </a:extLst>
            </p:cNvPr>
            <p:cNvSpPr txBox="1"/>
            <p:nvPr/>
          </p:nvSpPr>
          <p:spPr>
            <a:xfrm>
              <a:off x="2868199" y="3210177"/>
              <a:ext cx="2719014" cy="707886"/>
            </a:xfrm>
            <a:prstGeom prst="rect">
              <a:avLst/>
            </a:prstGeom>
            <a:noFill/>
            <a:ln>
              <a:noFill/>
            </a:ln>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Strengths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2" name="Google Shape;52;p4">
              <a:extLst>
                <a:ext uri="{FF2B5EF4-FFF2-40B4-BE49-F238E27FC236}">
                  <a16:creationId xmlns:a16="http://schemas.microsoft.com/office/drawing/2014/main" id="{ED8A9CE5-C4FE-48E0-968C-DB184141FF75}"/>
                </a:ext>
              </a:extLst>
            </p:cNvPr>
            <p:cNvSpPr txBox="1"/>
            <p:nvPr/>
          </p:nvSpPr>
          <p:spPr>
            <a:xfrm>
              <a:off x="2406140" y="3830788"/>
              <a:ext cx="5185425" cy="3365899"/>
            </a:xfrm>
            <a:prstGeom prst="rect">
              <a:avLst/>
            </a:prstGeom>
            <a:noFill/>
            <a:ln>
              <a:noFill/>
            </a:ln>
          </p:spPr>
          <p:txBody>
            <a:bodyPr spcFirstLastPara="1" wrap="square" lIns="91425" tIns="45700" rIns="91425" bIns="45700" anchor="t" anchorCtr="0">
              <a:noAutofit/>
            </a:bodyPr>
            <a:lstStyle/>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Unique value proposition</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Industry experience</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OH Specialist support – Dr </a:t>
              </a:r>
              <a:r>
                <a:rPr lang="en-US" sz="1400" dirty="0" err="1">
                  <a:latin typeface="Corbel" panose="020B0503020204020204" pitchFamily="34" charset="0"/>
                  <a:ea typeface="Cambria" panose="02040503050406030204" pitchFamily="18" charset="0"/>
                  <a:cs typeface="Times New Roman" panose="02020603050405020304" pitchFamily="18" charset="0"/>
                </a:rPr>
                <a:t>Lanre</a:t>
              </a:r>
              <a:r>
                <a:rPr lang="en-US" sz="1400" dirty="0">
                  <a:latin typeface="Corbel" panose="020B0503020204020204" pitchFamily="34" charset="0"/>
                  <a:ea typeface="Cambria" panose="02040503050406030204" pitchFamily="18" charset="0"/>
                  <a:cs typeface="Times New Roman" panose="02020603050405020304" pitchFamily="18" charset="0"/>
                </a:rPr>
                <a:t> </a:t>
              </a:r>
            </a:p>
          </p:txBody>
        </p:sp>
        <p:sp>
          <p:nvSpPr>
            <p:cNvPr id="43" name="Google Shape;48;p4">
              <a:extLst>
                <a:ext uri="{FF2B5EF4-FFF2-40B4-BE49-F238E27FC236}">
                  <a16:creationId xmlns:a16="http://schemas.microsoft.com/office/drawing/2014/main" id="{4FDB4CB3-A1DA-40E1-BDFB-8840EAA5B5E0}"/>
                </a:ext>
              </a:extLst>
            </p:cNvPr>
            <p:cNvSpPr txBox="1"/>
            <p:nvPr/>
          </p:nvSpPr>
          <p:spPr>
            <a:xfrm>
              <a:off x="2294541" y="8864495"/>
              <a:ext cx="5413517" cy="2631476"/>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Outsourcing </a:t>
              </a:r>
              <a:r>
                <a:rPr lang="en-US" sz="1400" dirty="0" err="1"/>
                <a:t>Medadvisor</a:t>
              </a:r>
              <a:r>
                <a:rPr lang="en-US" sz="1400" dirty="0"/>
                <a:t> to IOCS and Major Manufacturing firms </a:t>
              </a:r>
            </a:p>
            <a:p>
              <a:pPr>
                <a:buFontTx/>
                <a:buChar char="-"/>
              </a:pPr>
              <a:r>
                <a:rPr lang="en-US" sz="1400" dirty="0"/>
                <a:t>Providing </a:t>
              </a:r>
              <a:r>
                <a:rPr lang="en-US" sz="1400" dirty="0" err="1"/>
                <a:t>Medadvisory</a:t>
              </a:r>
              <a:r>
                <a:rPr lang="en-US" sz="1400" dirty="0"/>
                <a:t> services to large conglomerate </a:t>
              </a:r>
            </a:p>
            <a:p>
              <a:pPr>
                <a:buFontTx/>
                <a:buChar char="-"/>
              </a:pPr>
              <a:r>
                <a:rPr lang="en-US" sz="1400" dirty="0"/>
                <a:t>Industrial Hygiene services Specialization </a:t>
              </a:r>
            </a:p>
          </p:txBody>
        </p:sp>
      </p:grpSp>
    </p:spTree>
    <p:extLst>
      <p:ext uri="{BB962C8B-B14F-4D97-AF65-F5344CB8AC3E}">
        <p14:creationId xmlns:p14="http://schemas.microsoft.com/office/powerpoint/2010/main" val="1251100951"/>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7ABD-DD28-4F88-9217-9D82DE663EC5}"/>
              </a:ext>
            </a:extLst>
          </p:cNvPr>
          <p:cNvSpPr>
            <a:spLocks noGrp="1"/>
          </p:cNvSpPr>
          <p:nvPr>
            <p:ph type="title"/>
          </p:nvPr>
        </p:nvSpPr>
        <p:spPr/>
        <p:txBody>
          <a:bodyPr/>
          <a:lstStyle/>
          <a:p>
            <a:r>
              <a:rPr lang="en-US" dirty="0"/>
              <a:t>MEDSUSTAIN / CSR – SWOT Analysis</a:t>
            </a:r>
            <a:endParaRPr lang="aa-ET" dirty="0"/>
          </a:p>
        </p:txBody>
      </p:sp>
      <p:sp>
        <p:nvSpPr>
          <p:cNvPr id="4" name="Slide Number Placeholder 3">
            <a:extLst>
              <a:ext uri="{FF2B5EF4-FFF2-40B4-BE49-F238E27FC236}">
                <a16:creationId xmlns:a16="http://schemas.microsoft.com/office/drawing/2014/main" id="{44D643D6-873E-457C-B150-7F2AE4B27922}"/>
              </a:ext>
            </a:extLst>
          </p:cNvPr>
          <p:cNvSpPr>
            <a:spLocks noGrp="1"/>
          </p:cNvSpPr>
          <p:nvPr>
            <p:ph type="sldNum" sz="quarter" idx="12"/>
          </p:nvPr>
        </p:nvSpPr>
        <p:spPr>
          <a:xfrm>
            <a:off x="5579528" y="6356349"/>
            <a:ext cx="621030" cy="365125"/>
          </a:xfrm>
        </p:spPr>
        <p:txBody>
          <a:bodyPr/>
          <a:lstStyle/>
          <a:p>
            <a:fld id="{88DB5A6F-883B-4080-A811-FB5B8D05AFA3}" type="slidenum">
              <a:rPr lang="en-GB" smtClean="0">
                <a:latin typeface="Corbel" panose="020B0503020204020204" pitchFamily="34" charset="0"/>
              </a:rPr>
              <a:pPr/>
              <a:t>35</a:t>
            </a:fld>
            <a:endParaRPr lang="en-GB">
              <a:latin typeface="Corbel" panose="020B0503020204020204" pitchFamily="34" charset="0"/>
            </a:endParaRPr>
          </a:p>
        </p:txBody>
      </p:sp>
      <p:grpSp>
        <p:nvGrpSpPr>
          <p:cNvPr id="25" name="Group 24">
            <a:extLst>
              <a:ext uri="{FF2B5EF4-FFF2-40B4-BE49-F238E27FC236}">
                <a16:creationId xmlns:a16="http://schemas.microsoft.com/office/drawing/2014/main" id="{7547F3A8-536A-480E-B348-484E15AFBCF7}"/>
              </a:ext>
            </a:extLst>
          </p:cNvPr>
          <p:cNvGrpSpPr/>
          <p:nvPr/>
        </p:nvGrpSpPr>
        <p:grpSpPr>
          <a:xfrm>
            <a:off x="210425" y="996286"/>
            <a:ext cx="11892436" cy="5505835"/>
            <a:chOff x="2294541" y="3157663"/>
            <a:chExt cx="20771611" cy="9278132"/>
          </a:xfrm>
        </p:grpSpPr>
        <p:sp>
          <p:nvSpPr>
            <p:cNvPr id="26" name="Google Shape;36;p4">
              <a:extLst>
                <a:ext uri="{FF2B5EF4-FFF2-40B4-BE49-F238E27FC236}">
                  <a16:creationId xmlns:a16="http://schemas.microsoft.com/office/drawing/2014/main" id="{067A6DB7-B0FF-4456-90F8-436711C36B0F}"/>
                </a:ext>
              </a:extLst>
            </p:cNvPr>
            <p:cNvSpPr/>
            <p:nvPr/>
          </p:nvSpPr>
          <p:spPr>
            <a:xfrm rot="5400000">
              <a:off x="12543238" y="8412435"/>
              <a:ext cx="4023359" cy="4023360"/>
            </a:xfrm>
            <a:prstGeom prst="ellipse">
              <a:avLst/>
            </a:prstGeom>
            <a:solidFill>
              <a:srgbClr val="EC892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27" name="Google Shape;37;p4">
              <a:extLst>
                <a:ext uri="{FF2B5EF4-FFF2-40B4-BE49-F238E27FC236}">
                  <a16:creationId xmlns:a16="http://schemas.microsoft.com/office/drawing/2014/main" id="{10C5C17E-7AA1-426C-A024-676502381AAD}"/>
                </a:ext>
              </a:extLst>
            </p:cNvPr>
            <p:cNvSpPr txBox="1"/>
            <p:nvPr/>
          </p:nvSpPr>
          <p:spPr>
            <a:xfrm>
              <a:off x="13788521" y="9069899"/>
              <a:ext cx="1532792" cy="2708433"/>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T</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28" name="Google Shape;38;p4">
              <a:extLst>
                <a:ext uri="{FF2B5EF4-FFF2-40B4-BE49-F238E27FC236}">
                  <a16:creationId xmlns:a16="http://schemas.microsoft.com/office/drawing/2014/main" id="{7F54F858-F74E-4472-B979-4A41AD292F80}"/>
                </a:ext>
              </a:extLst>
            </p:cNvPr>
            <p:cNvSpPr/>
            <p:nvPr/>
          </p:nvSpPr>
          <p:spPr>
            <a:xfrm rot="5400000">
              <a:off x="7861114" y="8412435"/>
              <a:ext cx="4023360" cy="4023360"/>
            </a:xfrm>
            <a:prstGeom prst="ellipse">
              <a:avLst/>
            </a:prstGeom>
            <a:solidFill>
              <a:schemeClr val="tx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29" name="Google Shape;39;p4">
              <a:extLst>
                <a:ext uri="{FF2B5EF4-FFF2-40B4-BE49-F238E27FC236}">
                  <a16:creationId xmlns:a16="http://schemas.microsoft.com/office/drawing/2014/main" id="{62958AAD-7069-426A-9481-DDB1DF0A187D}"/>
                </a:ext>
              </a:extLst>
            </p:cNvPr>
            <p:cNvSpPr txBox="1"/>
            <p:nvPr/>
          </p:nvSpPr>
          <p:spPr>
            <a:xfrm>
              <a:off x="8914739" y="9069901"/>
              <a:ext cx="1980028" cy="2426070"/>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O</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0" name="Google Shape;40;p4">
              <a:extLst>
                <a:ext uri="{FF2B5EF4-FFF2-40B4-BE49-F238E27FC236}">
                  <a16:creationId xmlns:a16="http://schemas.microsoft.com/office/drawing/2014/main" id="{FD321458-85A8-4A86-AD0A-5E6D395B65F6}"/>
                </a:ext>
              </a:extLst>
            </p:cNvPr>
            <p:cNvSpPr/>
            <p:nvPr/>
          </p:nvSpPr>
          <p:spPr>
            <a:xfrm rot="5400000">
              <a:off x="12543237" y="3485967"/>
              <a:ext cx="4023360" cy="4023360"/>
            </a:xfrm>
            <a:prstGeom prst="ellipse">
              <a:avLst/>
            </a:prstGeom>
            <a:solidFill>
              <a:srgbClr val="7EB73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31" name="Google Shape;41;p4">
              <a:extLst>
                <a:ext uri="{FF2B5EF4-FFF2-40B4-BE49-F238E27FC236}">
                  <a16:creationId xmlns:a16="http://schemas.microsoft.com/office/drawing/2014/main" id="{68464EAB-942B-471A-ABF1-21DD76999277}"/>
                </a:ext>
              </a:extLst>
            </p:cNvPr>
            <p:cNvSpPr txBox="1"/>
            <p:nvPr/>
          </p:nvSpPr>
          <p:spPr>
            <a:xfrm>
              <a:off x="13281172" y="4143430"/>
              <a:ext cx="2547493"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W</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2" name="Google Shape;42;p4">
              <a:extLst>
                <a:ext uri="{FF2B5EF4-FFF2-40B4-BE49-F238E27FC236}">
                  <a16:creationId xmlns:a16="http://schemas.microsoft.com/office/drawing/2014/main" id="{85A3C6A0-2CD3-4100-A3FC-269918E2A546}"/>
                </a:ext>
              </a:extLst>
            </p:cNvPr>
            <p:cNvSpPr/>
            <p:nvPr/>
          </p:nvSpPr>
          <p:spPr>
            <a:xfrm rot="5400000">
              <a:off x="7893072" y="3485967"/>
              <a:ext cx="4023360" cy="402336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33" name="Google Shape;43;p4">
              <a:extLst>
                <a:ext uri="{FF2B5EF4-FFF2-40B4-BE49-F238E27FC236}">
                  <a16:creationId xmlns:a16="http://schemas.microsoft.com/office/drawing/2014/main" id="{E158BBA8-F90D-4E48-B12C-E096C6E8450C}"/>
                </a:ext>
              </a:extLst>
            </p:cNvPr>
            <p:cNvSpPr txBox="1"/>
            <p:nvPr/>
          </p:nvSpPr>
          <p:spPr>
            <a:xfrm>
              <a:off x="9198470" y="4143430"/>
              <a:ext cx="1412566"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S</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4" name="Google Shape;44;p4">
              <a:extLst>
                <a:ext uri="{FF2B5EF4-FFF2-40B4-BE49-F238E27FC236}">
                  <a16:creationId xmlns:a16="http://schemas.microsoft.com/office/drawing/2014/main" id="{1910F530-D9D1-4F0D-83C8-237CD82C18C1}"/>
                </a:ext>
              </a:extLst>
            </p:cNvPr>
            <p:cNvSpPr/>
            <p:nvPr/>
          </p:nvSpPr>
          <p:spPr>
            <a:xfrm>
              <a:off x="12103986" y="3157663"/>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5" name="Google Shape;45;p4">
              <a:extLst>
                <a:ext uri="{FF2B5EF4-FFF2-40B4-BE49-F238E27FC236}">
                  <a16:creationId xmlns:a16="http://schemas.microsoft.com/office/drawing/2014/main" id="{9C5358E5-F787-450F-96D6-B4DD0A4FD892}"/>
                </a:ext>
              </a:extLst>
            </p:cNvPr>
            <p:cNvSpPr/>
            <p:nvPr/>
          </p:nvSpPr>
          <p:spPr>
            <a:xfrm rot="-5400000">
              <a:off x="12108911" y="3502569"/>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6" name="Google Shape;47;p4">
              <a:extLst>
                <a:ext uri="{FF2B5EF4-FFF2-40B4-BE49-F238E27FC236}">
                  <a16:creationId xmlns:a16="http://schemas.microsoft.com/office/drawing/2014/main" id="{9DB20088-4520-4CD5-8125-EA67D1AFB1F5}"/>
                </a:ext>
              </a:extLst>
            </p:cNvPr>
            <p:cNvSpPr txBox="1"/>
            <p:nvPr/>
          </p:nvSpPr>
          <p:spPr>
            <a:xfrm>
              <a:off x="17437300" y="8208718"/>
              <a:ext cx="2180405"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Threats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7" name="Google Shape;48;p4">
              <a:extLst>
                <a:ext uri="{FF2B5EF4-FFF2-40B4-BE49-F238E27FC236}">
                  <a16:creationId xmlns:a16="http://schemas.microsoft.com/office/drawing/2014/main" id="{A90D9C08-83DC-41FA-83FC-F06242E4DE8B}"/>
                </a:ext>
              </a:extLst>
            </p:cNvPr>
            <p:cNvSpPr txBox="1"/>
            <p:nvPr/>
          </p:nvSpPr>
          <p:spPr>
            <a:xfrm>
              <a:off x="16410906" y="8837380"/>
              <a:ext cx="6655246" cy="273773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NGO</a:t>
              </a:r>
            </a:p>
            <a:p>
              <a:pPr>
                <a:buFontTx/>
                <a:buChar char="-"/>
              </a:pPr>
              <a:r>
                <a:rPr lang="en-US" sz="1400" dirty="0"/>
                <a:t>Sociocultural </a:t>
              </a:r>
              <a:r>
                <a:rPr lang="en-US" sz="1400" dirty="0" err="1"/>
                <a:t>perculiarities</a:t>
              </a:r>
              <a:endParaRPr lang="en-US" sz="1400" dirty="0"/>
            </a:p>
            <a:p>
              <a:pPr>
                <a:buFontTx/>
                <a:buChar char="-"/>
              </a:pPr>
              <a:r>
                <a:rPr lang="en-US" sz="1400" dirty="0"/>
                <a:t>Health Regulatory bodies </a:t>
              </a:r>
            </a:p>
          </p:txBody>
        </p:sp>
        <p:sp>
          <p:nvSpPr>
            <p:cNvPr id="38" name="Google Shape;49;p4">
              <a:extLst>
                <a:ext uri="{FF2B5EF4-FFF2-40B4-BE49-F238E27FC236}">
                  <a16:creationId xmlns:a16="http://schemas.microsoft.com/office/drawing/2014/main" id="{D094C298-F9B7-443F-A3F8-AB7F07AF934F}"/>
                </a:ext>
              </a:extLst>
            </p:cNvPr>
            <p:cNvSpPr txBox="1"/>
            <p:nvPr/>
          </p:nvSpPr>
          <p:spPr>
            <a:xfrm>
              <a:off x="3340398" y="8259954"/>
              <a:ext cx="3861954"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Opportunities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9" name="Google Shape;51;p4">
              <a:extLst>
                <a:ext uri="{FF2B5EF4-FFF2-40B4-BE49-F238E27FC236}">
                  <a16:creationId xmlns:a16="http://schemas.microsoft.com/office/drawing/2014/main" id="{8C73555A-A06E-44D9-B04F-8B39E8DC9BEC}"/>
                </a:ext>
              </a:extLst>
            </p:cNvPr>
            <p:cNvSpPr txBox="1"/>
            <p:nvPr/>
          </p:nvSpPr>
          <p:spPr>
            <a:xfrm>
              <a:off x="17525505" y="3182865"/>
              <a:ext cx="3409907"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Weaknesses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0" name="Google Shape;52;p4">
              <a:extLst>
                <a:ext uri="{FF2B5EF4-FFF2-40B4-BE49-F238E27FC236}">
                  <a16:creationId xmlns:a16="http://schemas.microsoft.com/office/drawing/2014/main" id="{C24A9159-2311-42E6-B7C0-CB8408E435B1}"/>
                </a:ext>
              </a:extLst>
            </p:cNvPr>
            <p:cNvSpPr txBox="1"/>
            <p:nvPr/>
          </p:nvSpPr>
          <p:spPr>
            <a:xfrm>
              <a:off x="16566597" y="3786130"/>
              <a:ext cx="6007144" cy="350915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Use of 3</a:t>
              </a:r>
              <a:r>
                <a:rPr lang="en-US" sz="1400" baseline="30000" dirty="0"/>
                <a:t>rd</a:t>
              </a:r>
              <a:r>
                <a:rPr lang="en-US" sz="1400" dirty="0"/>
                <a:t> party vendors for event planning and setup</a:t>
              </a:r>
            </a:p>
            <a:p>
              <a:pPr>
                <a:buFontTx/>
                <a:buChar char="-"/>
              </a:pPr>
              <a:r>
                <a:rPr lang="en-US" sz="1400" dirty="0"/>
                <a:t>No dedicated CSR sales team and product development / specialization </a:t>
              </a:r>
            </a:p>
          </p:txBody>
        </p:sp>
        <p:sp>
          <p:nvSpPr>
            <p:cNvPr id="41" name="Google Shape;53;p4">
              <a:extLst>
                <a:ext uri="{FF2B5EF4-FFF2-40B4-BE49-F238E27FC236}">
                  <a16:creationId xmlns:a16="http://schemas.microsoft.com/office/drawing/2014/main" id="{64186B3A-EC0D-453D-827D-01B9878AE526}"/>
                </a:ext>
              </a:extLst>
            </p:cNvPr>
            <p:cNvSpPr txBox="1"/>
            <p:nvPr/>
          </p:nvSpPr>
          <p:spPr>
            <a:xfrm>
              <a:off x="2868199" y="3210177"/>
              <a:ext cx="2719014" cy="707886"/>
            </a:xfrm>
            <a:prstGeom prst="rect">
              <a:avLst/>
            </a:prstGeom>
            <a:noFill/>
            <a:ln>
              <a:noFill/>
            </a:ln>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Strengths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2" name="Google Shape;52;p4">
              <a:extLst>
                <a:ext uri="{FF2B5EF4-FFF2-40B4-BE49-F238E27FC236}">
                  <a16:creationId xmlns:a16="http://schemas.microsoft.com/office/drawing/2014/main" id="{ED8A9CE5-C4FE-48E0-968C-DB184141FF75}"/>
                </a:ext>
              </a:extLst>
            </p:cNvPr>
            <p:cNvSpPr txBox="1"/>
            <p:nvPr/>
          </p:nvSpPr>
          <p:spPr>
            <a:xfrm>
              <a:off x="2406140" y="3830788"/>
              <a:ext cx="5185425" cy="3365899"/>
            </a:xfrm>
            <a:prstGeom prst="rect">
              <a:avLst/>
            </a:prstGeom>
            <a:noFill/>
            <a:ln>
              <a:noFill/>
            </a:ln>
          </p:spPr>
          <p:txBody>
            <a:bodyPr spcFirstLastPara="1" wrap="square" lIns="91425" tIns="45700" rIns="91425" bIns="45700" anchor="t" anchorCtr="0">
              <a:noAutofit/>
            </a:bodyPr>
            <a:lstStyle/>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Brand Recognition </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Substantial experience and Significant Foot-prints for same service</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management competence </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Client loyalty </a:t>
              </a:r>
            </a:p>
          </p:txBody>
        </p:sp>
        <p:sp>
          <p:nvSpPr>
            <p:cNvPr id="43" name="Google Shape;48;p4">
              <a:extLst>
                <a:ext uri="{FF2B5EF4-FFF2-40B4-BE49-F238E27FC236}">
                  <a16:creationId xmlns:a16="http://schemas.microsoft.com/office/drawing/2014/main" id="{4FDB4CB3-A1DA-40E1-BDFB-8840EAA5B5E0}"/>
                </a:ext>
              </a:extLst>
            </p:cNvPr>
            <p:cNvSpPr txBox="1"/>
            <p:nvPr/>
          </p:nvSpPr>
          <p:spPr>
            <a:xfrm>
              <a:off x="2294541" y="8864495"/>
              <a:ext cx="5413517" cy="2631476"/>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Large pan Nigerian CSR project </a:t>
              </a:r>
            </a:p>
            <a:p>
              <a:pPr>
                <a:buFontTx/>
                <a:buChar char="-"/>
              </a:pPr>
              <a:r>
                <a:rPr lang="en-US" sz="1400" dirty="0"/>
                <a:t>Collaboration with NGO and Government to provide CSR to states </a:t>
              </a:r>
            </a:p>
          </p:txBody>
        </p:sp>
      </p:grpSp>
    </p:spTree>
    <p:extLst>
      <p:ext uri="{BB962C8B-B14F-4D97-AF65-F5344CB8AC3E}">
        <p14:creationId xmlns:p14="http://schemas.microsoft.com/office/powerpoint/2010/main" val="2059903616"/>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A1EB-016B-552C-8ABA-868834A9C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EDA35-D1A3-9490-6EBA-9049DC8A4D9E}"/>
              </a:ext>
            </a:extLst>
          </p:cNvPr>
          <p:cNvSpPr>
            <a:spLocks noGrp="1"/>
          </p:cNvSpPr>
          <p:nvPr>
            <p:ph type="title"/>
          </p:nvPr>
        </p:nvSpPr>
        <p:spPr/>
        <p:txBody>
          <a:bodyPr/>
          <a:lstStyle/>
          <a:p>
            <a:r>
              <a:rPr lang="en-US" dirty="0"/>
              <a:t>SWOT Analysis</a:t>
            </a:r>
            <a:endParaRPr lang="aa-ET" dirty="0"/>
          </a:p>
        </p:txBody>
      </p:sp>
      <p:sp>
        <p:nvSpPr>
          <p:cNvPr id="4" name="Slide Number Placeholder 3">
            <a:extLst>
              <a:ext uri="{FF2B5EF4-FFF2-40B4-BE49-F238E27FC236}">
                <a16:creationId xmlns:a16="http://schemas.microsoft.com/office/drawing/2014/main" id="{ED866878-4DC6-9CB3-ADED-25EA43A7230E}"/>
              </a:ext>
            </a:extLst>
          </p:cNvPr>
          <p:cNvSpPr>
            <a:spLocks noGrp="1"/>
          </p:cNvSpPr>
          <p:nvPr>
            <p:ph type="sldNum" sz="quarter" idx="12"/>
          </p:nvPr>
        </p:nvSpPr>
        <p:spPr>
          <a:xfrm>
            <a:off x="5579528" y="6356349"/>
            <a:ext cx="621030" cy="365125"/>
          </a:xfrm>
        </p:spPr>
        <p:txBody>
          <a:bodyPr/>
          <a:lstStyle/>
          <a:p>
            <a:fld id="{88DB5A6F-883B-4080-A811-FB5B8D05AFA3}" type="slidenum">
              <a:rPr lang="en-GB" smtClean="0">
                <a:latin typeface="Corbel" panose="020B0503020204020204" pitchFamily="34" charset="0"/>
              </a:rPr>
              <a:pPr/>
              <a:t>36</a:t>
            </a:fld>
            <a:endParaRPr lang="en-GB">
              <a:latin typeface="Corbel" panose="020B0503020204020204" pitchFamily="34" charset="0"/>
            </a:endParaRPr>
          </a:p>
        </p:txBody>
      </p:sp>
      <p:grpSp>
        <p:nvGrpSpPr>
          <p:cNvPr id="25" name="Group 24">
            <a:extLst>
              <a:ext uri="{FF2B5EF4-FFF2-40B4-BE49-F238E27FC236}">
                <a16:creationId xmlns:a16="http://schemas.microsoft.com/office/drawing/2014/main" id="{29F0EB48-CCC1-A087-987A-66CF4D740BA6}"/>
              </a:ext>
            </a:extLst>
          </p:cNvPr>
          <p:cNvGrpSpPr/>
          <p:nvPr/>
        </p:nvGrpSpPr>
        <p:grpSpPr>
          <a:xfrm>
            <a:off x="210425" y="996286"/>
            <a:ext cx="11892436" cy="5505835"/>
            <a:chOff x="2294541" y="3157663"/>
            <a:chExt cx="20771611" cy="9278132"/>
          </a:xfrm>
        </p:grpSpPr>
        <p:sp>
          <p:nvSpPr>
            <p:cNvPr id="26" name="Google Shape;36;p4">
              <a:extLst>
                <a:ext uri="{FF2B5EF4-FFF2-40B4-BE49-F238E27FC236}">
                  <a16:creationId xmlns:a16="http://schemas.microsoft.com/office/drawing/2014/main" id="{06BA21E1-1524-1DD0-11D8-348D7556BDF1}"/>
                </a:ext>
              </a:extLst>
            </p:cNvPr>
            <p:cNvSpPr/>
            <p:nvPr/>
          </p:nvSpPr>
          <p:spPr>
            <a:xfrm rot="5400000">
              <a:off x="12543238" y="8412435"/>
              <a:ext cx="4023359" cy="4023360"/>
            </a:xfrm>
            <a:prstGeom prst="ellipse">
              <a:avLst/>
            </a:prstGeom>
            <a:solidFill>
              <a:srgbClr val="EC8921"/>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27" name="Google Shape;37;p4">
              <a:extLst>
                <a:ext uri="{FF2B5EF4-FFF2-40B4-BE49-F238E27FC236}">
                  <a16:creationId xmlns:a16="http://schemas.microsoft.com/office/drawing/2014/main" id="{1846F6F6-9934-ECD7-BA87-5EEFC3EC1BE2}"/>
                </a:ext>
              </a:extLst>
            </p:cNvPr>
            <p:cNvSpPr txBox="1"/>
            <p:nvPr/>
          </p:nvSpPr>
          <p:spPr>
            <a:xfrm>
              <a:off x="13788521" y="9069899"/>
              <a:ext cx="1532792" cy="2708433"/>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T</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28" name="Google Shape;38;p4">
              <a:extLst>
                <a:ext uri="{FF2B5EF4-FFF2-40B4-BE49-F238E27FC236}">
                  <a16:creationId xmlns:a16="http://schemas.microsoft.com/office/drawing/2014/main" id="{EF39E3B4-1572-B864-1B6F-566808B41660}"/>
                </a:ext>
              </a:extLst>
            </p:cNvPr>
            <p:cNvSpPr/>
            <p:nvPr/>
          </p:nvSpPr>
          <p:spPr>
            <a:xfrm rot="5400000">
              <a:off x="7861114" y="8412435"/>
              <a:ext cx="4023360" cy="4023360"/>
            </a:xfrm>
            <a:prstGeom prst="ellipse">
              <a:avLst/>
            </a:prstGeom>
            <a:solidFill>
              <a:schemeClr val="tx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29" name="Google Shape;39;p4">
              <a:extLst>
                <a:ext uri="{FF2B5EF4-FFF2-40B4-BE49-F238E27FC236}">
                  <a16:creationId xmlns:a16="http://schemas.microsoft.com/office/drawing/2014/main" id="{3ABBF999-19C8-C33E-48B6-3473FCC07A90}"/>
                </a:ext>
              </a:extLst>
            </p:cNvPr>
            <p:cNvSpPr txBox="1"/>
            <p:nvPr/>
          </p:nvSpPr>
          <p:spPr>
            <a:xfrm>
              <a:off x="8914739" y="9069901"/>
              <a:ext cx="1980028" cy="2426070"/>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O</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0" name="Google Shape;40;p4">
              <a:extLst>
                <a:ext uri="{FF2B5EF4-FFF2-40B4-BE49-F238E27FC236}">
                  <a16:creationId xmlns:a16="http://schemas.microsoft.com/office/drawing/2014/main" id="{DBA3E95B-B91C-D531-782B-F04E68647D14}"/>
                </a:ext>
              </a:extLst>
            </p:cNvPr>
            <p:cNvSpPr/>
            <p:nvPr/>
          </p:nvSpPr>
          <p:spPr>
            <a:xfrm rot="5400000">
              <a:off x="12543237" y="3485967"/>
              <a:ext cx="4023360" cy="4023360"/>
            </a:xfrm>
            <a:prstGeom prst="ellipse">
              <a:avLst/>
            </a:prstGeom>
            <a:solidFill>
              <a:srgbClr val="7EB73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Roboto"/>
                <a:cs typeface="Roboto"/>
                <a:sym typeface="Roboto"/>
              </a:endParaRPr>
            </a:p>
          </p:txBody>
        </p:sp>
        <p:sp>
          <p:nvSpPr>
            <p:cNvPr id="31" name="Google Shape;41;p4">
              <a:extLst>
                <a:ext uri="{FF2B5EF4-FFF2-40B4-BE49-F238E27FC236}">
                  <a16:creationId xmlns:a16="http://schemas.microsoft.com/office/drawing/2014/main" id="{B5D23F35-1505-246E-A11A-319AE210FD6F}"/>
                </a:ext>
              </a:extLst>
            </p:cNvPr>
            <p:cNvSpPr txBox="1"/>
            <p:nvPr/>
          </p:nvSpPr>
          <p:spPr>
            <a:xfrm>
              <a:off x="13281172" y="4143430"/>
              <a:ext cx="2547493"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rPr>
                <a:t>W</a:t>
              </a:r>
              <a:endParaRPr kumimoji="0" sz="9600" b="1"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2" name="Google Shape;42;p4">
              <a:extLst>
                <a:ext uri="{FF2B5EF4-FFF2-40B4-BE49-F238E27FC236}">
                  <a16:creationId xmlns:a16="http://schemas.microsoft.com/office/drawing/2014/main" id="{FCA58EA8-E81A-852D-F9C7-A513F56804D8}"/>
                </a:ext>
              </a:extLst>
            </p:cNvPr>
            <p:cNvSpPr/>
            <p:nvPr/>
          </p:nvSpPr>
          <p:spPr>
            <a:xfrm rot="5400000">
              <a:off x="7893072" y="3485967"/>
              <a:ext cx="4023360" cy="4023360"/>
            </a:xfrm>
            <a:prstGeom prst="ellipse">
              <a:avLst/>
            </a:prstGeom>
            <a:solidFill>
              <a:srgbClr val="C00000"/>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FFFFFF"/>
                </a:solidFill>
                <a:effectLst/>
                <a:uLnTx/>
                <a:uFillTx/>
                <a:latin typeface="Corbel" panose="020B0503020204020204" pitchFamily="34" charset="0"/>
                <a:ea typeface="Roboto"/>
                <a:cs typeface="Roboto"/>
                <a:sym typeface="Roboto"/>
              </a:endParaRPr>
            </a:p>
          </p:txBody>
        </p:sp>
        <p:sp>
          <p:nvSpPr>
            <p:cNvPr id="33" name="Google Shape;43;p4">
              <a:extLst>
                <a:ext uri="{FF2B5EF4-FFF2-40B4-BE49-F238E27FC236}">
                  <a16:creationId xmlns:a16="http://schemas.microsoft.com/office/drawing/2014/main" id="{53B2C156-C5E1-4260-035F-7335EB30A06A}"/>
                </a:ext>
              </a:extLst>
            </p:cNvPr>
            <p:cNvSpPr txBox="1"/>
            <p:nvPr/>
          </p:nvSpPr>
          <p:spPr>
            <a:xfrm>
              <a:off x="9198470" y="4143430"/>
              <a:ext cx="1412566" cy="2708434"/>
            </a:xfrm>
            <a:prstGeom prst="rect">
              <a:avLst/>
            </a:prstGeom>
            <a:noFill/>
            <a:ln>
              <a:noFill/>
            </a:ln>
          </p:spPr>
          <p:txBody>
            <a:bodyPr spcFirstLastPara="1" wrap="square" lIns="91425" tIns="45700" rIns="91425" bIns="45700"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rPr>
                <a:t>S</a:t>
              </a:r>
              <a:endParaRPr kumimoji="0" sz="9600" b="1" i="0" u="none" strike="noStrike" kern="0" cap="none" spc="0" normalizeH="0" baseline="0" noProof="0" dirty="0">
                <a:ln>
                  <a:noFill/>
                </a:ln>
                <a:solidFill>
                  <a:srgbClr val="FFFFFF"/>
                </a:solidFill>
                <a:effectLst/>
                <a:uLnTx/>
                <a:uFillTx/>
                <a:latin typeface="Corbel" panose="020B0503020204020204" pitchFamily="34" charset="0"/>
                <a:ea typeface="Lato"/>
                <a:cs typeface="Lato"/>
                <a:sym typeface="Lato"/>
              </a:endParaRPr>
            </a:p>
          </p:txBody>
        </p:sp>
        <p:sp>
          <p:nvSpPr>
            <p:cNvPr id="34" name="Google Shape;44;p4">
              <a:extLst>
                <a:ext uri="{FF2B5EF4-FFF2-40B4-BE49-F238E27FC236}">
                  <a16:creationId xmlns:a16="http://schemas.microsoft.com/office/drawing/2014/main" id="{0B6B8F45-64D8-9993-70BA-3C262E6F20CE}"/>
                </a:ext>
              </a:extLst>
            </p:cNvPr>
            <p:cNvSpPr/>
            <p:nvPr/>
          </p:nvSpPr>
          <p:spPr>
            <a:xfrm>
              <a:off x="12103986" y="3157663"/>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5" name="Google Shape;45;p4">
              <a:extLst>
                <a:ext uri="{FF2B5EF4-FFF2-40B4-BE49-F238E27FC236}">
                  <a16:creationId xmlns:a16="http://schemas.microsoft.com/office/drawing/2014/main" id="{51013EC9-E6AF-5A71-DF3E-3FEDB04F3724}"/>
                </a:ext>
              </a:extLst>
            </p:cNvPr>
            <p:cNvSpPr/>
            <p:nvPr/>
          </p:nvSpPr>
          <p:spPr>
            <a:xfrm rot="-5400000">
              <a:off x="12108911" y="3502569"/>
              <a:ext cx="190113" cy="9032487"/>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orbel" panose="020B0503020204020204" pitchFamily="34" charset="0"/>
                <a:ea typeface="Lato"/>
                <a:cs typeface="Lato"/>
                <a:sym typeface="Lato"/>
              </a:endParaRPr>
            </a:p>
          </p:txBody>
        </p:sp>
        <p:sp>
          <p:nvSpPr>
            <p:cNvPr id="36" name="Google Shape;47;p4">
              <a:extLst>
                <a:ext uri="{FF2B5EF4-FFF2-40B4-BE49-F238E27FC236}">
                  <a16:creationId xmlns:a16="http://schemas.microsoft.com/office/drawing/2014/main" id="{27736422-E928-5A9F-31ED-67EBAFB07270}"/>
                </a:ext>
              </a:extLst>
            </p:cNvPr>
            <p:cNvSpPr txBox="1"/>
            <p:nvPr/>
          </p:nvSpPr>
          <p:spPr>
            <a:xfrm>
              <a:off x="17437300" y="8208718"/>
              <a:ext cx="2180405"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Threats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7" name="Google Shape;48;p4">
              <a:extLst>
                <a:ext uri="{FF2B5EF4-FFF2-40B4-BE49-F238E27FC236}">
                  <a16:creationId xmlns:a16="http://schemas.microsoft.com/office/drawing/2014/main" id="{1605DD54-2275-583F-A64C-3C5F947717B0}"/>
                </a:ext>
              </a:extLst>
            </p:cNvPr>
            <p:cNvSpPr txBox="1"/>
            <p:nvPr/>
          </p:nvSpPr>
          <p:spPr>
            <a:xfrm>
              <a:off x="16410906" y="8837380"/>
              <a:ext cx="6655246" cy="273773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NGO</a:t>
              </a:r>
            </a:p>
            <a:p>
              <a:pPr>
                <a:buFontTx/>
                <a:buChar char="-"/>
              </a:pPr>
              <a:r>
                <a:rPr lang="en-US" sz="1400" dirty="0"/>
                <a:t>Sociocultural </a:t>
              </a:r>
              <a:r>
                <a:rPr lang="en-US" sz="1400" dirty="0" err="1"/>
                <a:t>perculiarities</a:t>
              </a:r>
              <a:endParaRPr lang="en-US" sz="1400" dirty="0"/>
            </a:p>
            <a:p>
              <a:pPr>
                <a:buFontTx/>
                <a:buChar char="-"/>
              </a:pPr>
              <a:r>
                <a:rPr lang="en-US" sz="1400" dirty="0"/>
                <a:t>Health Regulatory bodies </a:t>
              </a:r>
            </a:p>
          </p:txBody>
        </p:sp>
        <p:sp>
          <p:nvSpPr>
            <p:cNvPr id="38" name="Google Shape;49;p4">
              <a:extLst>
                <a:ext uri="{FF2B5EF4-FFF2-40B4-BE49-F238E27FC236}">
                  <a16:creationId xmlns:a16="http://schemas.microsoft.com/office/drawing/2014/main" id="{C19E8840-EBA3-5BC0-4F53-62EE7C1935A3}"/>
                </a:ext>
              </a:extLst>
            </p:cNvPr>
            <p:cNvSpPr txBox="1"/>
            <p:nvPr/>
          </p:nvSpPr>
          <p:spPr>
            <a:xfrm>
              <a:off x="3340398" y="8259954"/>
              <a:ext cx="3861954"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Opportunities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39" name="Google Shape;51;p4">
              <a:extLst>
                <a:ext uri="{FF2B5EF4-FFF2-40B4-BE49-F238E27FC236}">
                  <a16:creationId xmlns:a16="http://schemas.microsoft.com/office/drawing/2014/main" id="{21547BB9-ED78-C4FA-C261-E31747E077F1}"/>
                </a:ext>
              </a:extLst>
            </p:cNvPr>
            <p:cNvSpPr txBox="1"/>
            <p:nvPr/>
          </p:nvSpPr>
          <p:spPr>
            <a:xfrm>
              <a:off x="17525505" y="3182865"/>
              <a:ext cx="3409907" cy="707886"/>
            </a:xfrm>
            <a:prstGeom prst="rect">
              <a:avLst/>
            </a:prstGeom>
            <a:noFill/>
            <a:ln>
              <a:noFill/>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Weaknesses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0" name="Google Shape;52;p4">
              <a:extLst>
                <a:ext uri="{FF2B5EF4-FFF2-40B4-BE49-F238E27FC236}">
                  <a16:creationId xmlns:a16="http://schemas.microsoft.com/office/drawing/2014/main" id="{292E3900-9B66-A7F4-4C3E-D2700D396508}"/>
                </a:ext>
              </a:extLst>
            </p:cNvPr>
            <p:cNvSpPr txBox="1"/>
            <p:nvPr/>
          </p:nvSpPr>
          <p:spPr>
            <a:xfrm>
              <a:off x="16566597" y="3786130"/>
              <a:ext cx="6007144" cy="3509158"/>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Use of 3</a:t>
              </a:r>
              <a:r>
                <a:rPr lang="en-US" sz="1400" baseline="30000" dirty="0"/>
                <a:t>rd</a:t>
              </a:r>
              <a:r>
                <a:rPr lang="en-US" sz="1400" dirty="0"/>
                <a:t> party vendors for event planning and setup</a:t>
              </a:r>
            </a:p>
            <a:p>
              <a:pPr>
                <a:buFontTx/>
                <a:buChar char="-"/>
              </a:pPr>
              <a:r>
                <a:rPr lang="en-US" sz="1400" dirty="0"/>
                <a:t>No dedicated CSR sales team and product development / specialization </a:t>
              </a:r>
            </a:p>
          </p:txBody>
        </p:sp>
        <p:sp>
          <p:nvSpPr>
            <p:cNvPr id="41" name="Google Shape;53;p4">
              <a:extLst>
                <a:ext uri="{FF2B5EF4-FFF2-40B4-BE49-F238E27FC236}">
                  <a16:creationId xmlns:a16="http://schemas.microsoft.com/office/drawing/2014/main" id="{8E9076E7-1C82-92DD-5C1C-266E4373A346}"/>
                </a:ext>
              </a:extLst>
            </p:cNvPr>
            <p:cNvSpPr txBox="1"/>
            <p:nvPr/>
          </p:nvSpPr>
          <p:spPr>
            <a:xfrm>
              <a:off x="2868199" y="3210177"/>
              <a:ext cx="2719014" cy="707886"/>
            </a:xfrm>
            <a:prstGeom prst="rect">
              <a:avLst/>
            </a:prstGeom>
            <a:noFill/>
            <a:ln>
              <a:noFill/>
            </a:ln>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r>
                <a:rPr kumimoji="0" lang="en-US"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rPr>
                <a:t>Strengths</a:t>
              </a:r>
              <a:endParaRPr kumimoji="0" b="1" i="0" u="none" strike="noStrike" kern="0" cap="none" spc="0" normalizeH="0" baseline="0" noProof="0" dirty="0">
                <a:ln>
                  <a:noFill/>
                </a:ln>
                <a:solidFill>
                  <a:srgbClr val="445469"/>
                </a:solidFill>
                <a:effectLst/>
                <a:uLnTx/>
                <a:uFillTx/>
                <a:latin typeface="Corbel" panose="020B0503020204020204" pitchFamily="34" charset="0"/>
                <a:ea typeface="Lato"/>
                <a:cs typeface="Lato"/>
                <a:sym typeface="Lato"/>
              </a:endParaRPr>
            </a:p>
          </p:txBody>
        </p:sp>
        <p:sp>
          <p:nvSpPr>
            <p:cNvPr id="42" name="Google Shape;52;p4">
              <a:extLst>
                <a:ext uri="{FF2B5EF4-FFF2-40B4-BE49-F238E27FC236}">
                  <a16:creationId xmlns:a16="http://schemas.microsoft.com/office/drawing/2014/main" id="{5327BADC-EAC4-0997-AAC0-A1DC5D1E240D}"/>
                </a:ext>
              </a:extLst>
            </p:cNvPr>
            <p:cNvSpPr txBox="1"/>
            <p:nvPr/>
          </p:nvSpPr>
          <p:spPr>
            <a:xfrm>
              <a:off x="2406140" y="3830788"/>
              <a:ext cx="5185425" cy="3365899"/>
            </a:xfrm>
            <a:prstGeom prst="rect">
              <a:avLst/>
            </a:prstGeom>
            <a:noFill/>
            <a:ln>
              <a:noFill/>
            </a:ln>
          </p:spPr>
          <p:txBody>
            <a:bodyPr spcFirstLastPara="1" wrap="square" lIns="91425" tIns="45700" rIns="91425" bIns="45700" anchor="t" anchorCtr="0">
              <a:noAutofit/>
            </a:bodyPr>
            <a:lstStyle/>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Brand Recognition </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Substantial experience and Significant Foot-prints for same service</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management competence </a:t>
              </a:r>
            </a:p>
            <a:p>
              <a:pPr marL="285750" lvl="0" indent="-285750">
                <a:lnSpc>
                  <a:spcPct val="107000"/>
                </a:lnSpc>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Client loyalty </a:t>
              </a:r>
            </a:p>
          </p:txBody>
        </p:sp>
        <p:sp>
          <p:nvSpPr>
            <p:cNvPr id="43" name="Google Shape;48;p4">
              <a:extLst>
                <a:ext uri="{FF2B5EF4-FFF2-40B4-BE49-F238E27FC236}">
                  <a16:creationId xmlns:a16="http://schemas.microsoft.com/office/drawing/2014/main" id="{23BD7F56-6565-5AA9-3C06-D1BFD7199FE6}"/>
                </a:ext>
              </a:extLst>
            </p:cNvPr>
            <p:cNvSpPr txBox="1"/>
            <p:nvPr/>
          </p:nvSpPr>
          <p:spPr>
            <a:xfrm>
              <a:off x="2294541" y="8864495"/>
              <a:ext cx="5413517" cy="2631476"/>
            </a:xfrm>
            <a:prstGeom prst="rect">
              <a:avLst/>
            </a:prstGeom>
            <a:noFill/>
            <a:ln>
              <a:noFill/>
            </a:ln>
          </p:spPr>
          <p:txBody>
            <a:bodyPr spcFirstLastPara="1" wrap="square" lIns="91425" tIns="45700" rIns="91425" bIns="45700" anchor="t" anchorCtr="0">
              <a:noAutofit/>
            </a:bodyPr>
            <a:lstStyle>
              <a:defPPr>
                <a:defRPr lang="aa-ET"/>
              </a:defPPr>
              <a:lvl1pPr marL="285750" lvl="0" indent="-285750">
                <a:lnSpc>
                  <a:spcPct val="107000"/>
                </a:lnSpc>
                <a:buFont typeface="Arial" panose="020B0604020202020204" pitchFamily="34" charset="0"/>
                <a:buChar char="•"/>
                <a:defRPr sz="1600">
                  <a:solidFill>
                    <a:prstClr val="black"/>
                  </a:solidFill>
                  <a:latin typeface="Corbel" panose="020B0503020204020204" pitchFamily="34" charset="0"/>
                  <a:ea typeface="Cambria" panose="02040503050406030204" pitchFamily="18" charset="0"/>
                  <a:cs typeface="Times New Roman" panose="02020603050405020304" pitchFamily="18" charset="0"/>
                </a:defRPr>
              </a:lvl1pPr>
            </a:lstStyle>
            <a:p>
              <a:pPr>
                <a:buFontTx/>
                <a:buChar char="-"/>
              </a:pPr>
              <a:r>
                <a:rPr lang="en-US" sz="1400" dirty="0"/>
                <a:t>Large pan Nigerian CSR project </a:t>
              </a:r>
            </a:p>
            <a:p>
              <a:pPr>
                <a:buFontTx/>
                <a:buChar char="-"/>
              </a:pPr>
              <a:r>
                <a:rPr lang="en-US" sz="1400" dirty="0"/>
                <a:t>Collaboration with NGO and Government to provide CSR to states </a:t>
              </a:r>
            </a:p>
          </p:txBody>
        </p:sp>
      </p:grpSp>
    </p:spTree>
    <p:extLst>
      <p:ext uri="{BB962C8B-B14F-4D97-AF65-F5344CB8AC3E}">
        <p14:creationId xmlns:p14="http://schemas.microsoft.com/office/powerpoint/2010/main" val="2371014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E42C-0073-4D11-AAF9-842A47C82A48}"/>
              </a:ext>
            </a:extLst>
          </p:cNvPr>
          <p:cNvSpPr>
            <a:spLocks noGrp="1"/>
          </p:cNvSpPr>
          <p:nvPr>
            <p:ph type="title"/>
          </p:nvPr>
        </p:nvSpPr>
        <p:spPr>
          <a:xfrm>
            <a:off x="838200" y="320328"/>
            <a:ext cx="10145590" cy="538509"/>
          </a:xfrm>
        </p:spPr>
        <p:txBody>
          <a:bodyPr/>
          <a:lstStyle/>
          <a:p>
            <a:r>
              <a:rPr lang="en-US" dirty="0"/>
              <a:t> The Business Model for Lifecheck Wellness Centers</a:t>
            </a:r>
            <a:endParaRPr lang="aa-ET" dirty="0"/>
          </a:p>
        </p:txBody>
      </p:sp>
      <p:sp>
        <p:nvSpPr>
          <p:cNvPr id="4" name="Slide Number Placeholder 3">
            <a:extLst>
              <a:ext uri="{FF2B5EF4-FFF2-40B4-BE49-F238E27FC236}">
                <a16:creationId xmlns:a16="http://schemas.microsoft.com/office/drawing/2014/main" id="{C37CF6D5-37B9-4018-9627-4C7AAEEF7EEA}"/>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37</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BCBFB9B9-C358-4C3A-871C-97E055FB2D82}"/>
              </a:ext>
            </a:extLst>
          </p:cNvPr>
          <p:cNvGrpSpPr/>
          <p:nvPr/>
        </p:nvGrpSpPr>
        <p:grpSpPr>
          <a:xfrm>
            <a:off x="62230" y="1014027"/>
            <a:ext cx="11964118" cy="6072923"/>
            <a:chOff x="-106312" y="592802"/>
            <a:chExt cx="12298312" cy="6550521"/>
          </a:xfrm>
        </p:grpSpPr>
        <p:grpSp>
          <p:nvGrpSpPr>
            <p:cNvPr id="44" name="Group 43">
              <a:extLst>
                <a:ext uri="{FF2B5EF4-FFF2-40B4-BE49-F238E27FC236}">
                  <a16:creationId xmlns:a16="http://schemas.microsoft.com/office/drawing/2014/main" id="{28326729-5632-4D7D-93D7-8CD977F074FC}"/>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738A2959-A411-477C-91AF-40488CC57F9B}"/>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0873C386-4643-4E67-8F42-6AF082151BDE}"/>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42B8E3D8-5FDE-448C-8717-409B2A93AB6B}"/>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23C0C071-BA0E-45B3-8B35-0E4E39052872}"/>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DD04B33D-DED1-4016-A0AD-2DF30CEDDB6A}"/>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B32CFDC0-B7FE-43CD-8048-25BE4359248C}"/>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CBC49B19-1797-42A0-AD69-6F5FA510F642}"/>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5A24A445-08C8-46E4-A6B0-370CC6A5F266}"/>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0724085-5D03-4945-A688-C86A8FA191F7}"/>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8CDA1CFC-09CB-4602-8617-B19F95D557DB}"/>
                    </a:ext>
                  </a:extLst>
                </p:cNvPr>
                <p:cNvSpPr/>
                <p:nvPr/>
              </p:nvSpPr>
              <p:spPr>
                <a:xfrm>
                  <a:off x="8505369" y="1436750"/>
                  <a:ext cx="2333171" cy="3352799"/>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DDF56B71-62BB-4E37-998F-73531B82D74A}"/>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FF81E599-BB48-47D8-958A-D665392B9BDE}"/>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78837E8B-2FC3-4BAB-AE40-4A1BBEF6F014}"/>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8AE36140-8243-41DC-9F32-7B88DCC49381}"/>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EA04B7C6-EE32-495A-AFA3-2819A20A2907}"/>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17BD8375-1F19-4FFC-88DD-4EDC057A1651}"/>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336BD34A-D5EE-4A7F-8E84-0E759F8DDD66}"/>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2EF1921F-12A0-4292-AB5D-1501C1D3E538}"/>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2B746FF4-98AE-4B13-A45F-0CB3074BE7D5}"/>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CABD64A8-337C-4BF8-943E-F97A0429DF92}"/>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494FB167-9A1E-4DF7-9219-5A69202742E1}"/>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5DB11723-B083-4EB0-8F12-FE61419B9384}"/>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863B1A3B-E216-4DDC-B1A4-00FACFFFFA6B}"/>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1E8ADF63-2B9B-42D9-AD5F-46BAA0A45177}"/>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40FB48B-EDA1-484C-BEA9-683C73F87977}"/>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4426BB46-C43C-4379-AD2A-EAAD989EB398}"/>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63F99D56-8E70-4B43-8557-11A31811986E}"/>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1E358D9F-74F3-4A1B-A6A7-E924B8FC4425}"/>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EF5FFAF0-BD79-4FEE-B5C1-6B75D032B4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7AFBE5B2-D998-405D-BD69-8C2004A2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432C5BF7-31A1-4AEF-89F5-C5277A9DB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4CEF3EE3-5874-4597-B3E9-FC654F80ADC4}"/>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7BE92280-B220-4E84-95CB-ADEB37FB90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6E21737A-9451-42CD-9A52-631C4F4E55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3E501113-04A5-422E-979D-66E018A94D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7D125629-A9F1-4DCF-B1E6-0BB097644B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CAE06C6-C7E9-4CB7-A2BD-E9EDFEC8C0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AF75EBDB-DA3B-4588-B6CB-C878C0C96414}"/>
                </a:ext>
              </a:extLst>
            </p:cNvPr>
            <p:cNvSpPr txBox="1"/>
            <p:nvPr/>
          </p:nvSpPr>
          <p:spPr>
            <a:xfrm>
              <a:off x="9585133" y="1906161"/>
              <a:ext cx="2441781" cy="208871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Oil and Gas companies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Walk in Clients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Oil and Gas Contractors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Manufacturing Companies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Banking and Finance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Corporate Organizations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Telco</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515E16-E8EA-428F-8353-C27672622128}"/>
                </a:ext>
              </a:extLst>
            </p:cNvPr>
            <p:cNvSpPr txBox="1"/>
            <p:nvPr/>
          </p:nvSpPr>
          <p:spPr>
            <a:xfrm>
              <a:off x="2222349" y="1040065"/>
              <a:ext cx="2214758" cy="2823639"/>
            </a:xfrm>
            <a:prstGeom prst="rect">
              <a:avLst/>
            </a:prstGeom>
            <a:noFill/>
          </p:spPr>
          <p:txBody>
            <a:bodyPr wrap="square" rtlCol="0">
              <a:spAutoFit/>
            </a:bodyPr>
            <a:lstStyle/>
            <a:p>
              <a:pPr marL="285750" lvl="0" indent="-285750" algn="just">
                <a:lnSpc>
                  <a:spcPct val="107000"/>
                </a:lnSpc>
                <a:spcAft>
                  <a:spcPts val="0"/>
                </a:spcAft>
                <a:buFont typeface="Arial" panose="020B0604020202020204" pitchFamily="34" charset="0"/>
                <a:buChar char="•"/>
              </a:pPr>
              <a:r>
                <a:rPr lang="en-US" sz="1400" b="1" dirty="0">
                  <a:latin typeface="Corbel" panose="020B0503020204020204" pitchFamily="34" charset="0"/>
                  <a:ea typeface="Cambria" panose="02040503050406030204" pitchFamily="18" charset="0"/>
                  <a:cs typeface="Times New Roman" panose="02020603050405020304" pitchFamily="18" charset="0"/>
                </a:rPr>
                <a:t>Regulatory Bodies : </a:t>
              </a:r>
              <a:r>
                <a:rPr lang="en-US" sz="1400" dirty="0">
                  <a:latin typeface="Corbel" panose="020B0503020204020204" pitchFamily="34" charset="0"/>
                  <a:ea typeface="Cambria" panose="02040503050406030204" pitchFamily="18" charset="0"/>
                  <a:cs typeface="Times New Roman" panose="02020603050405020304" pitchFamily="18" charset="0"/>
                </a:rPr>
                <a:t>HEFAMMA</a:t>
              </a:r>
            </a:p>
            <a:p>
              <a:pPr marL="285750" lvl="0" indent="-285750" algn="just">
                <a:lnSpc>
                  <a:spcPct val="107000"/>
                </a:lnSpc>
                <a:spcAft>
                  <a:spcPts val="0"/>
                </a:spcAft>
                <a:buFont typeface="Arial" panose="020B0604020202020204" pitchFamily="34" charset="0"/>
                <a:buChar char="•"/>
              </a:pPr>
              <a:r>
                <a:rPr lang="en-US" sz="1400" b="1" dirty="0">
                  <a:latin typeface="Corbel" panose="020B0503020204020204" pitchFamily="34" charset="0"/>
                  <a:ea typeface="Cambria" panose="02040503050406030204" pitchFamily="18" charset="0"/>
                  <a:cs typeface="Times New Roman" panose="02020603050405020304" pitchFamily="18" charset="0"/>
                </a:rPr>
                <a:t>Associations</a:t>
              </a:r>
              <a:r>
                <a:rPr lang="en-US" sz="1400" dirty="0">
                  <a:latin typeface="Corbel" panose="020B0503020204020204" pitchFamily="34" charset="0"/>
                  <a:ea typeface="Cambria" panose="02040503050406030204" pitchFamily="18" charset="0"/>
                  <a:cs typeface="Times New Roman" panose="02020603050405020304" pitchFamily="18" charset="0"/>
                </a:rPr>
                <a:t> : SOEPHON</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Embassies</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FMOH</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SMOH</a:t>
              </a:r>
            </a:p>
            <a:p>
              <a:pPr marL="285750" lvl="0" indent="-285750" algn="just">
                <a:lnSpc>
                  <a:spcPct val="107000"/>
                </a:lnSpc>
                <a:spcAft>
                  <a:spcPts val="0"/>
                </a:spcAft>
                <a:buFont typeface="Arial" panose="020B0604020202020204" pitchFamily="34" charset="0"/>
                <a:buChar char="•"/>
              </a:pPr>
              <a:r>
                <a:rPr lang="en-US" sz="1400" dirty="0" err="1">
                  <a:latin typeface="Corbel" panose="020B0503020204020204" pitchFamily="34" charset="0"/>
                  <a:ea typeface="Cambria" panose="02040503050406030204" pitchFamily="18" charset="0"/>
                  <a:cs typeface="Times New Roman" panose="02020603050405020304" pitchFamily="18" charset="0"/>
                </a:rPr>
                <a:t>Internatl</a:t>
              </a:r>
              <a:r>
                <a:rPr lang="en-US" sz="1400" dirty="0">
                  <a:latin typeface="Corbel" panose="020B0503020204020204" pitchFamily="34" charset="0"/>
                  <a:ea typeface="Cambria" panose="02040503050406030204" pitchFamily="18" charset="0"/>
                  <a:cs typeface="Times New Roman" panose="02020603050405020304" pitchFamily="18" charset="0"/>
                </a:rPr>
                <a:t>  </a:t>
              </a:r>
              <a:r>
                <a:rPr lang="en-US" sz="1400" dirty="0" err="1">
                  <a:latin typeface="Corbel" panose="020B0503020204020204" pitchFamily="34" charset="0"/>
                  <a:ea typeface="Cambria" panose="02040503050406030204" pitchFamily="18" charset="0"/>
                  <a:cs typeface="Times New Roman" panose="02020603050405020304" pitchFamily="18" charset="0"/>
                </a:rPr>
                <a:t>Accred</a:t>
              </a:r>
              <a:r>
                <a:rPr lang="en-US" sz="1400" dirty="0">
                  <a:latin typeface="Corbel" panose="020B0503020204020204" pitchFamily="34" charset="0"/>
                  <a:ea typeface="Cambria" panose="02040503050406030204" pitchFamily="18" charset="0"/>
                  <a:cs typeface="Times New Roman" panose="02020603050405020304" pitchFamily="18" charset="0"/>
                </a:rPr>
                <a:t>. Org</a:t>
              </a:r>
            </a:p>
            <a:p>
              <a:pPr marL="285750" lvl="0" indent="-285750" algn="just">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gn="just">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gn="just">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46382C8-B94C-46B8-B6C5-EC46960134AE}"/>
                </a:ext>
              </a:extLst>
            </p:cNvPr>
            <p:cNvSpPr txBox="1"/>
            <p:nvPr/>
          </p:nvSpPr>
          <p:spPr>
            <a:xfrm>
              <a:off x="6994812" y="2966641"/>
              <a:ext cx="2590321" cy="207771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Company reps (HR, CMDs)</a:t>
              </a:r>
            </a:p>
            <a:p>
              <a:pPr marL="285750" lvl="0" indent="-285750">
                <a:lnSpc>
                  <a:spcPct val="107000"/>
                </a:lnSpc>
                <a:spcAft>
                  <a:spcPts val="0"/>
                </a:spcAft>
                <a:buFont typeface="Arial" panose="020B0604020202020204" pitchFamily="34" charset="0"/>
                <a:buChar char="•"/>
              </a:pPr>
              <a:r>
                <a:rPr lang="en-US" sz="1400" dirty="0">
                  <a:solidFill>
                    <a:srgbClr val="FF0000"/>
                  </a:solidFill>
                  <a:latin typeface="Corbel" panose="020B0503020204020204" pitchFamily="34" charset="0"/>
                  <a:ea typeface="Cambria" panose="02040503050406030204" pitchFamily="18" charset="0"/>
                  <a:cs typeface="Times New Roman" panose="02020603050405020304" pitchFamily="18" charset="0"/>
                </a:rPr>
                <a:t>Brokers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Travel, Marketing Agencies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 Mobile App of Corporates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Website, Social Media</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Associations/ Sponsorships</a:t>
              </a:r>
            </a:p>
            <a:p>
              <a:pPr lvl="0">
                <a:lnSpc>
                  <a:spcPct val="107000"/>
                </a:lnSpc>
                <a:spcAft>
                  <a:spcPts val="0"/>
                </a:spcAft>
              </a:pPr>
              <a:r>
                <a:rPr lang="en-US" sz="1400" dirty="0">
                  <a:latin typeface="Corbel" panose="020B0503020204020204" pitchFamily="34" charset="0"/>
                  <a:ea typeface="Cambria" panose="02040503050406030204" pitchFamily="18" charset="0"/>
                  <a:cs typeface="Times New Roman" panose="02020603050405020304" pitchFamily="18" charset="0"/>
                </a:rPr>
                <a:t>Of  Weight control programs &amp; Travel programs</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C441AC-3B93-4EF4-9BBF-FD63012A9ECA}"/>
                </a:ext>
              </a:extLst>
            </p:cNvPr>
            <p:cNvSpPr txBox="1"/>
            <p:nvPr/>
          </p:nvSpPr>
          <p:spPr>
            <a:xfrm>
              <a:off x="-106312" y="1012627"/>
              <a:ext cx="2340249" cy="3569561"/>
            </a:xfrm>
            <a:prstGeom prst="rect">
              <a:avLst/>
            </a:prstGeom>
            <a:noFill/>
          </p:spPr>
          <p:txBody>
            <a:bodyPr wrap="square" rtlCol="0">
              <a:spAutoFit/>
            </a:bodyPr>
            <a:lstStyle/>
            <a:p>
              <a:pPr marL="285750" indent="-285750">
                <a:lnSpc>
                  <a:spcPct val="107000"/>
                </a:lnSpc>
                <a:buFont typeface="Arial" panose="020B0604020202020204" pitchFamily="34" charset="0"/>
                <a:buChar char="•"/>
              </a:pPr>
              <a:r>
                <a:rPr lang="en-US" sz="1400" dirty="0">
                  <a:latin typeface="Corbel" panose="020B0503020204020204" pitchFamily="34" charset="0"/>
                  <a:cs typeface="Arial" panose="020B0604020202020204" pitchFamily="34" charset="0"/>
                </a:rPr>
                <a:t>OH, Migration Health Diagnostic screening service Doctors Consultation &amp; review pre &amp; post screening</a:t>
              </a:r>
            </a:p>
            <a:p>
              <a:pPr marL="285750" indent="-285750">
                <a:lnSpc>
                  <a:spcPct val="107000"/>
                </a:lnSpc>
                <a:buFont typeface="Arial" panose="020B0604020202020204" pitchFamily="34" charset="0"/>
                <a:buChar char="•"/>
              </a:pPr>
              <a:r>
                <a:rPr lang="en-US" sz="1400" dirty="0">
                  <a:latin typeface="Corbel" panose="020B0503020204020204" pitchFamily="34" charset="0"/>
                  <a:cs typeface="Arial" panose="020B0604020202020204" pitchFamily="34" charset="0"/>
                </a:rPr>
                <a:t>Wellness Services Counselling (Virtual &amp; Physical) </a:t>
              </a:r>
            </a:p>
            <a:p>
              <a:pPr marL="285750" indent="-285750">
                <a:lnSpc>
                  <a:spcPct val="107000"/>
                </a:lnSpc>
                <a:buFont typeface="Arial" panose="020B0604020202020204" pitchFamily="34" charset="0"/>
                <a:buChar char="•"/>
              </a:pPr>
              <a:r>
                <a:rPr lang="en-US" sz="1400" dirty="0">
                  <a:latin typeface="Corbel" panose="020B0503020204020204" pitchFamily="34" charset="0"/>
                  <a:cs typeface="Arial" panose="020B0604020202020204" pitchFamily="34" charset="0"/>
                </a:rPr>
                <a:t>Sales of Wellness &amp; fitness products (e.g. Supplements, Meal plans,  Occupational therapy devices)</a:t>
              </a:r>
            </a:p>
            <a:p>
              <a:pPr marL="285750" indent="-285750">
                <a:lnSpc>
                  <a:spcPct val="107000"/>
                </a:lnSpc>
                <a:buFont typeface="Arial" panose="020B0604020202020204" pitchFamily="34" charset="0"/>
                <a:buChar char="•"/>
              </a:pPr>
              <a:r>
                <a:rPr lang="en-US" sz="1400" dirty="0">
                  <a:latin typeface="Corbel" panose="020B0503020204020204" pitchFamily="34" charset="0"/>
                  <a:cs typeface="Arial" panose="020B0604020202020204" pitchFamily="34" charset="0"/>
                </a:rPr>
                <a:t>Customer service</a:t>
              </a:r>
            </a:p>
          </p:txBody>
        </p:sp>
        <p:sp>
          <p:nvSpPr>
            <p:cNvPr id="49" name="TextBox 48">
              <a:extLst>
                <a:ext uri="{FF2B5EF4-FFF2-40B4-BE49-F238E27FC236}">
                  <a16:creationId xmlns:a16="http://schemas.microsoft.com/office/drawing/2014/main" id="{11539F9A-D48D-485F-91FA-A46548E9D3D9}"/>
                </a:ext>
              </a:extLst>
            </p:cNvPr>
            <p:cNvSpPr txBox="1"/>
            <p:nvPr/>
          </p:nvSpPr>
          <p:spPr>
            <a:xfrm>
              <a:off x="2250339" y="3432078"/>
              <a:ext cx="2257890" cy="182907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Integrated EMR</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Strong Cash Flow to run operations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Occupational Health Physicians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Panel Physicians</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21D766E1-E27B-424E-8C9D-1105B969C40D}"/>
                </a:ext>
              </a:extLst>
            </p:cNvPr>
            <p:cNvSpPr txBox="1"/>
            <p:nvPr/>
          </p:nvSpPr>
          <p:spPr>
            <a:xfrm>
              <a:off x="-1" y="5450585"/>
              <a:ext cx="4747510" cy="834518"/>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Direct Staff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Indirect cost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Standardization of prices</a:t>
              </a:r>
            </a:p>
          </p:txBody>
        </p:sp>
        <p:sp>
          <p:nvSpPr>
            <p:cNvPr id="51" name="TextBox 50">
              <a:extLst>
                <a:ext uri="{FF2B5EF4-FFF2-40B4-BE49-F238E27FC236}">
                  <a16:creationId xmlns:a16="http://schemas.microsoft.com/office/drawing/2014/main" id="{48AB75F9-4294-4081-8659-84835AC1A04B}"/>
                </a:ext>
              </a:extLst>
            </p:cNvPr>
            <p:cNvSpPr txBox="1"/>
            <p:nvPr/>
          </p:nvSpPr>
          <p:spPr>
            <a:xfrm>
              <a:off x="6252088" y="5314244"/>
              <a:ext cx="4747510" cy="182907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Medical Assessment  fees for Corporate Clients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Migration health assessments fees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Walk in Wellness Screening and therapeutic charges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Wellness product Sales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Partnership with Wellness Specialist Service providers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Subscriptions to </a:t>
              </a:r>
              <a:r>
                <a:rPr lang="en-US" sz="1400" dirty="0" err="1">
                  <a:latin typeface="Corbel" panose="020B0503020204020204" pitchFamily="34" charset="0"/>
                  <a:ea typeface="Cambria" panose="02040503050406030204" pitchFamily="18" charset="0"/>
                  <a:cs typeface="Times New Roman" panose="02020603050405020304" pitchFamily="18" charset="0"/>
                </a:rPr>
                <a:t>Medfit</a:t>
              </a:r>
              <a:r>
                <a:rPr lang="en-US" sz="1400" dirty="0">
                  <a:latin typeface="Corbel" panose="020B0503020204020204" pitchFamily="34" charset="0"/>
                  <a:ea typeface="Cambria" panose="02040503050406030204" pitchFamily="18" charset="0"/>
                  <a:cs typeface="Times New Roman" panose="02020603050405020304" pitchFamily="18" charset="0"/>
                </a:rPr>
                <a:t> tech to corporates</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65CE81F9-0672-424B-B444-669E75B6FE66}"/>
                </a:ext>
              </a:extLst>
            </p:cNvPr>
            <p:cNvSpPr txBox="1"/>
            <p:nvPr/>
          </p:nvSpPr>
          <p:spPr>
            <a:xfrm>
              <a:off x="4508411" y="1041534"/>
              <a:ext cx="2501699" cy="3569561"/>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One-stop shop</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Excellent Customer Service</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Monthly Webinars (Family, Employees)</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Online Appointment Booking &amp; Reports</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Prompt Turn Around Time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Medical Recommendation and Reliable Fitness Decision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Personalized post-screening solutions within</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70DA8E29-8A9A-4342-9C40-ACD3D671D9BA}"/>
                </a:ext>
              </a:extLst>
            </p:cNvPr>
            <p:cNvSpPr txBox="1"/>
            <p:nvPr/>
          </p:nvSpPr>
          <p:spPr>
            <a:xfrm>
              <a:off x="7108605" y="1068248"/>
              <a:ext cx="2441781" cy="158043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Client Support Service</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Excellent customer service</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Technology-enabled decision-making</a:t>
              </a: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1566255887"/>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E114-3A55-9C62-05AB-AD4AB9D96A8D}"/>
              </a:ext>
            </a:extLst>
          </p:cNvPr>
          <p:cNvSpPr>
            <a:spLocks noGrp="1"/>
          </p:cNvSpPr>
          <p:nvPr>
            <p:ph type="title"/>
          </p:nvPr>
        </p:nvSpPr>
        <p:spPr/>
        <p:txBody>
          <a:bodyPr/>
          <a:lstStyle/>
          <a:p>
            <a:r>
              <a:rPr lang="en-GB" dirty="0"/>
              <a:t> Operational Model</a:t>
            </a:r>
          </a:p>
        </p:txBody>
      </p:sp>
      <p:sp>
        <p:nvSpPr>
          <p:cNvPr id="4" name="Slide Number Placeholder 3">
            <a:extLst>
              <a:ext uri="{FF2B5EF4-FFF2-40B4-BE49-F238E27FC236}">
                <a16:creationId xmlns:a16="http://schemas.microsoft.com/office/drawing/2014/main" id="{7110CBC8-7220-216F-A8DF-85BA82673DC4}"/>
              </a:ext>
            </a:extLst>
          </p:cNvPr>
          <p:cNvSpPr>
            <a:spLocks noGrp="1"/>
          </p:cNvSpPr>
          <p:nvPr>
            <p:ph type="sldNum" sz="quarter" idx="12"/>
          </p:nvPr>
        </p:nvSpPr>
        <p:spPr/>
        <p:txBody>
          <a:bodyPr/>
          <a:lstStyle/>
          <a:p>
            <a:fld id="{88DB5A6F-883B-4080-A811-FB5B8D05AFA3}" type="slidenum">
              <a:rPr lang="en-GB" smtClean="0"/>
              <a:pPr/>
              <a:t>38</a:t>
            </a:fld>
            <a:endParaRPr lang="en-GB"/>
          </a:p>
        </p:txBody>
      </p:sp>
      <p:sp>
        <p:nvSpPr>
          <p:cNvPr id="31" name="TextBox 30">
            <a:extLst>
              <a:ext uri="{FF2B5EF4-FFF2-40B4-BE49-F238E27FC236}">
                <a16:creationId xmlns:a16="http://schemas.microsoft.com/office/drawing/2014/main" id="{A131FE15-7BA7-13CF-0377-3B5DC81EE3D2}"/>
              </a:ext>
            </a:extLst>
          </p:cNvPr>
          <p:cNvSpPr txBox="1"/>
          <p:nvPr/>
        </p:nvSpPr>
        <p:spPr>
          <a:xfrm>
            <a:off x="6921267" y="1585159"/>
            <a:ext cx="3293201" cy="830997"/>
          </a:xfrm>
          <a:prstGeom prst="rect">
            <a:avLst/>
          </a:prstGeom>
          <a:noFill/>
        </p:spPr>
        <p:txBody>
          <a:bodyPr wrap="square" rtlCol="0">
            <a:spAutoFit/>
          </a:bodyPr>
          <a:lstStyle/>
          <a:p>
            <a:pPr algn="ctr"/>
            <a:r>
              <a:rPr lang="en-US" sz="2400" dirty="0">
                <a:solidFill>
                  <a:schemeClr val="bg1"/>
                </a:solidFill>
                <a:latin typeface="Arial" panose="020B0604020202020204" pitchFamily="34" charset="0"/>
                <a:cs typeface="Arial" panose="020B0604020202020204" pitchFamily="34" charset="0"/>
              </a:rPr>
              <a:t>Clinical Governance and Case Review </a:t>
            </a:r>
          </a:p>
        </p:txBody>
      </p:sp>
      <p:sp>
        <p:nvSpPr>
          <p:cNvPr id="3" name="Title 1">
            <a:extLst>
              <a:ext uri="{FF2B5EF4-FFF2-40B4-BE49-F238E27FC236}">
                <a16:creationId xmlns:a16="http://schemas.microsoft.com/office/drawing/2014/main" id="{F744654E-23E9-D33A-9F46-50F801A077EA}"/>
              </a:ext>
            </a:extLst>
          </p:cNvPr>
          <p:cNvSpPr txBox="1">
            <a:spLocks/>
          </p:cNvSpPr>
          <p:nvPr/>
        </p:nvSpPr>
        <p:spPr>
          <a:xfrm>
            <a:off x="838200" y="1431718"/>
            <a:ext cx="10055942" cy="5689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rgbClr val="C00000"/>
                </a:solidFill>
                <a:latin typeface="Corbel" panose="020B0503020204020204" pitchFamily="34" charset="0"/>
                <a:ea typeface="+mj-ea"/>
                <a:cs typeface="+mj-cs"/>
              </a:defRPr>
            </a:lvl1pPr>
          </a:lstStyle>
          <a:p>
            <a:r>
              <a:rPr lang="en-GB" dirty="0"/>
              <a:t> Organogram</a:t>
            </a:r>
          </a:p>
        </p:txBody>
      </p:sp>
    </p:spTree>
    <p:extLst>
      <p:ext uri="{BB962C8B-B14F-4D97-AF65-F5344CB8AC3E}">
        <p14:creationId xmlns:p14="http://schemas.microsoft.com/office/powerpoint/2010/main" val="927927794"/>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8D50B-CC96-73DF-A47D-63A2469049C0}"/>
              </a:ext>
            </a:extLst>
          </p:cNvPr>
          <p:cNvSpPr>
            <a:spLocks noGrp="1"/>
          </p:cNvSpPr>
          <p:nvPr>
            <p:ph type="title"/>
          </p:nvPr>
        </p:nvSpPr>
        <p:spPr>
          <a:xfrm>
            <a:off x="12559" y="136526"/>
            <a:ext cx="11275201" cy="568939"/>
          </a:xfrm>
        </p:spPr>
        <p:txBody>
          <a:bodyPr/>
          <a:lstStyle/>
          <a:p>
            <a:r>
              <a:rPr lang="en-US" sz="2400" dirty="0"/>
              <a:t>The Operations Strategy for Corporate Health &amp; Wellness</a:t>
            </a:r>
            <a:endParaRPr lang="en-US" sz="2400" dirty="0">
              <a:solidFill>
                <a:schemeClr val="tx1"/>
              </a:solidFill>
            </a:endParaRPr>
          </a:p>
        </p:txBody>
      </p:sp>
      <p:sp>
        <p:nvSpPr>
          <p:cNvPr id="4" name="Slide Number Placeholder 3">
            <a:extLst>
              <a:ext uri="{FF2B5EF4-FFF2-40B4-BE49-F238E27FC236}">
                <a16:creationId xmlns:a16="http://schemas.microsoft.com/office/drawing/2014/main" id="{C9CCA9FD-B0D9-1C2B-2DF3-B6DE00F5A6C1}"/>
              </a:ext>
            </a:extLst>
          </p:cNvPr>
          <p:cNvSpPr>
            <a:spLocks noGrp="1"/>
          </p:cNvSpPr>
          <p:nvPr>
            <p:ph type="sldNum" sz="quarter" idx="12"/>
          </p:nvPr>
        </p:nvSpPr>
        <p:spPr/>
        <p:txBody>
          <a:bodyPr/>
          <a:lstStyle/>
          <a:p>
            <a:fld id="{88DB5A6F-883B-4080-A811-FB5B8D05AFA3}" type="slidenum">
              <a:rPr lang="en-GB" smtClean="0"/>
              <a:pPr/>
              <a:t>39</a:t>
            </a:fld>
            <a:endParaRPr lang="en-GB"/>
          </a:p>
        </p:txBody>
      </p:sp>
      <p:grpSp>
        <p:nvGrpSpPr>
          <p:cNvPr id="3" name="Group 2">
            <a:extLst>
              <a:ext uri="{FF2B5EF4-FFF2-40B4-BE49-F238E27FC236}">
                <a16:creationId xmlns:a16="http://schemas.microsoft.com/office/drawing/2014/main" id="{02F9DA52-E9C3-3D14-0BB5-FC9AFABFD50E}"/>
              </a:ext>
            </a:extLst>
          </p:cNvPr>
          <p:cNvGrpSpPr/>
          <p:nvPr/>
        </p:nvGrpSpPr>
        <p:grpSpPr>
          <a:xfrm>
            <a:off x="2544466" y="572269"/>
            <a:ext cx="9665913" cy="6595191"/>
            <a:chOff x="831807" y="1312197"/>
            <a:chExt cx="8356374" cy="6288582"/>
          </a:xfrm>
        </p:grpSpPr>
        <p:sp>
          <p:nvSpPr>
            <p:cNvPr id="6" name="Freeform: Shape 5">
              <a:extLst>
                <a:ext uri="{FF2B5EF4-FFF2-40B4-BE49-F238E27FC236}">
                  <a16:creationId xmlns:a16="http://schemas.microsoft.com/office/drawing/2014/main" id="{829C6786-FAC5-7372-4968-7E2BCE4CDF72}"/>
                </a:ext>
              </a:extLst>
            </p:cNvPr>
            <p:cNvSpPr/>
            <p:nvPr/>
          </p:nvSpPr>
          <p:spPr>
            <a:xfrm>
              <a:off x="4766351" y="1369495"/>
              <a:ext cx="1283860" cy="810047"/>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4800" b="1" dirty="0">
                <a:effectLst>
                  <a:outerShdw blurRad="38100" dist="38100" dir="2700000" algn="tl">
                    <a:srgbClr val="000000">
                      <a:alpha val="43137"/>
                    </a:srgbClr>
                  </a:outerShdw>
                </a:effectLst>
              </a:endParaRPr>
            </a:p>
          </p:txBody>
        </p:sp>
        <p:sp>
          <p:nvSpPr>
            <p:cNvPr id="7" name="Freeform: Shape 6">
              <a:extLst>
                <a:ext uri="{FF2B5EF4-FFF2-40B4-BE49-F238E27FC236}">
                  <a16:creationId xmlns:a16="http://schemas.microsoft.com/office/drawing/2014/main" id="{488C3722-B8B5-793C-9735-209B35CBA724}"/>
                </a:ext>
              </a:extLst>
            </p:cNvPr>
            <p:cNvSpPr/>
            <p:nvPr/>
          </p:nvSpPr>
          <p:spPr>
            <a:xfrm>
              <a:off x="4799729" y="2245056"/>
              <a:ext cx="1250481" cy="4790879"/>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BB88B4FF-E49C-C1CA-6722-6A2A5A5218AF}"/>
                </a:ext>
              </a:extLst>
            </p:cNvPr>
            <p:cNvSpPr/>
            <p:nvPr/>
          </p:nvSpPr>
          <p:spPr>
            <a:xfrm>
              <a:off x="7497307" y="1360014"/>
              <a:ext cx="1639204" cy="868495"/>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4800" b="1" dirty="0">
                <a:effectLst>
                  <a:outerShdw blurRad="38100" dist="38100" dir="2700000" algn="tl">
                    <a:srgbClr val="000000">
                      <a:alpha val="43137"/>
                    </a:srgbClr>
                  </a:outerShdw>
                </a:effectLst>
              </a:endParaRPr>
            </a:p>
          </p:txBody>
        </p:sp>
        <p:sp>
          <p:nvSpPr>
            <p:cNvPr id="9" name="Freeform: Shape 8">
              <a:extLst>
                <a:ext uri="{FF2B5EF4-FFF2-40B4-BE49-F238E27FC236}">
                  <a16:creationId xmlns:a16="http://schemas.microsoft.com/office/drawing/2014/main" id="{9557FDF1-928B-09A6-D4E4-A5ED802A4C7A}"/>
                </a:ext>
              </a:extLst>
            </p:cNvPr>
            <p:cNvSpPr/>
            <p:nvPr/>
          </p:nvSpPr>
          <p:spPr>
            <a:xfrm>
              <a:off x="7486354" y="2228509"/>
              <a:ext cx="1639204" cy="4878344"/>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FE3BF861-28E4-8A71-C0EE-7C4F2B09DA42}"/>
                </a:ext>
              </a:extLst>
            </p:cNvPr>
            <p:cNvSpPr/>
            <p:nvPr/>
          </p:nvSpPr>
          <p:spPr>
            <a:xfrm>
              <a:off x="2874002" y="1331999"/>
              <a:ext cx="1877541" cy="828521"/>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300" b="1" dirty="0">
                <a:effectLst>
                  <a:outerShdw blurRad="38100" dist="38100" dir="2700000" algn="tl">
                    <a:srgbClr val="000000">
                      <a:alpha val="43137"/>
                    </a:srgbClr>
                  </a:outerShdw>
                </a:effectLst>
              </a:endParaRPr>
            </a:p>
          </p:txBody>
        </p:sp>
        <p:sp>
          <p:nvSpPr>
            <p:cNvPr id="11" name="Freeform: Shape 10">
              <a:extLst>
                <a:ext uri="{FF2B5EF4-FFF2-40B4-BE49-F238E27FC236}">
                  <a16:creationId xmlns:a16="http://schemas.microsoft.com/office/drawing/2014/main" id="{3161F793-0B6F-6AE4-E3B4-1E1B213C68EB}"/>
                </a:ext>
              </a:extLst>
            </p:cNvPr>
            <p:cNvSpPr/>
            <p:nvPr/>
          </p:nvSpPr>
          <p:spPr>
            <a:xfrm>
              <a:off x="2886380" y="2207558"/>
              <a:ext cx="1853625" cy="4878344"/>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300"/>
            </a:p>
          </p:txBody>
        </p:sp>
        <p:sp>
          <p:nvSpPr>
            <p:cNvPr id="12" name="Freeform: Shape 11">
              <a:extLst>
                <a:ext uri="{FF2B5EF4-FFF2-40B4-BE49-F238E27FC236}">
                  <a16:creationId xmlns:a16="http://schemas.microsoft.com/office/drawing/2014/main" id="{006026EA-56CF-FF4F-C3AD-B10E03481F40}"/>
                </a:ext>
              </a:extLst>
            </p:cNvPr>
            <p:cNvSpPr/>
            <p:nvPr/>
          </p:nvSpPr>
          <p:spPr>
            <a:xfrm>
              <a:off x="849110" y="1339063"/>
              <a:ext cx="1931344" cy="777904"/>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4800" b="1" dirty="0">
                <a:effectLst>
                  <a:outerShdw blurRad="38100" dist="38100" dir="2700000" algn="tl">
                    <a:srgbClr val="000000">
                      <a:alpha val="43137"/>
                    </a:srgbClr>
                  </a:outerShdw>
                </a:effectLst>
              </a:endParaRPr>
            </a:p>
          </p:txBody>
        </p:sp>
        <p:sp>
          <p:nvSpPr>
            <p:cNvPr id="13" name="Freeform: Shape 12">
              <a:extLst>
                <a:ext uri="{FF2B5EF4-FFF2-40B4-BE49-F238E27FC236}">
                  <a16:creationId xmlns:a16="http://schemas.microsoft.com/office/drawing/2014/main" id="{748E471F-E37A-D229-2C3B-4E593C5612DB}"/>
                </a:ext>
              </a:extLst>
            </p:cNvPr>
            <p:cNvSpPr/>
            <p:nvPr/>
          </p:nvSpPr>
          <p:spPr>
            <a:xfrm>
              <a:off x="831807" y="2245056"/>
              <a:ext cx="1931344" cy="4878344"/>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826D66B-3195-F629-629F-B6B37D42FC9B}"/>
                </a:ext>
              </a:extLst>
            </p:cNvPr>
            <p:cNvSpPr txBox="1"/>
            <p:nvPr/>
          </p:nvSpPr>
          <p:spPr>
            <a:xfrm>
              <a:off x="972793" y="1369495"/>
              <a:ext cx="1803590" cy="338554"/>
            </a:xfrm>
            <a:prstGeom prst="rect">
              <a:avLst/>
            </a:prstGeom>
            <a:solidFill>
              <a:schemeClr val="accent5">
                <a:lumMod val="75000"/>
              </a:schemeClr>
            </a:solidFill>
            <a:ln>
              <a:solidFill>
                <a:schemeClr val="accent5">
                  <a:lumMod val="75000"/>
                </a:schemeClr>
              </a:solidFill>
            </a:ln>
          </p:spPr>
          <p:txBody>
            <a:bodyPr wrap="square" rtlCol="0">
              <a:spAutoFit/>
            </a:bodyPr>
            <a:lstStyle/>
            <a:p>
              <a:r>
                <a:rPr lang="en-US" sz="1600" b="1" dirty="0">
                  <a:solidFill>
                    <a:schemeClr val="bg1"/>
                  </a:solidFill>
                </a:rPr>
                <a:t>People &amp; culture</a:t>
              </a:r>
              <a:endParaRPr lang="en-NG" sz="1600" b="1" dirty="0">
                <a:solidFill>
                  <a:schemeClr val="bg1"/>
                </a:solidFill>
              </a:endParaRPr>
            </a:p>
          </p:txBody>
        </p:sp>
        <p:sp>
          <p:nvSpPr>
            <p:cNvPr id="15" name="TextBox 14">
              <a:extLst>
                <a:ext uri="{FF2B5EF4-FFF2-40B4-BE49-F238E27FC236}">
                  <a16:creationId xmlns:a16="http://schemas.microsoft.com/office/drawing/2014/main" id="{47CDA616-142D-25DA-E3E7-5C5B5683C374}"/>
                </a:ext>
              </a:extLst>
            </p:cNvPr>
            <p:cNvSpPr txBox="1"/>
            <p:nvPr/>
          </p:nvSpPr>
          <p:spPr>
            <a:xfrm>
              <a:off x="855468" y="2052217"/>
              <a:ext cx="1931344" cy="5143716"/>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en-US" sz="1400" b="1" i="1" dirty="0"/>
                <a:t>Organogram display</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As per scale</a:t>
              </a:r>
            </a:p>
            <a:p>
              <a:pPr marL="285750" marR="0" indent="-285750">
                <a:lnSpc>
                  <a:spcPct val="114000"/>
                </a:lnSpc>
                <a:spcBef>
                  <a:spcPts val="0"/>
                </a:spcBef>
                <a:spcAft>
                  <a:spcPts val="0"/>
                </a:spcAft>
                <a:buFont typeface="Arial" panose="020B0604020202020204" pitchFamily="34" charset="0"/>
                <a:buChar char="•"/>
              </a:pPr>
              <a:r>
                <a:rPr lang="en-US" sz="1400" b="1" i="1" dirty="0"/>
                <a:t>Job Descriptions &amp; KPIs </a:t>
              </a:r>
            </a:p>
            <a:p>
              <a:pPr marR="0">
                <a:lnSpc>
                  <a:spcPct val="114000"/>
                </a:lnSpc>
                <a:spcBef>
                  <a:spcPts val="0"/>
                </a:spcBef>
                <a:spcAft>
                  <a:spcPts val="0"/>
                </a:spcAft>
              </a:pPr>
              <a:r>
                <a:rPr lang="en-US" sz="1400" b="1" i="1" dirty="0">
                  <a:solidFill>
                    <a:srgbClr val="FF0000"/>
                  </a:solidFill>
                </a:rPr>
                <a:t>Training &amp; On-boarding</a:t>
              </a:r>
            </a:p>
            <a:p>
              <a:pPr marL="285750" marR="0" indent="-285750">
                <a:lnSpc>
                  <a:spcPct val="114000"/>
                </a:lnSpc>
                <a:spcBef>
                  <a:spcPts val="0"/>
                </a:spcBef>
                <a:spcAft>
                  <a:spcPts val="0"/>
                </a:spcAft>
                <a:buFont typeface="Arial" panose="020B0604020202020204" pitchFamily="34" charset="0"/>
                <a:buChar char="•"/>
              </a:pPr>
              <a:r>
                <a:rPr lang="en-US" sz="1400" b="1" i="1" dirty="0">
                  <a:solidFill>
                    <a:srgbClr val="000000"/>
                  </a:solidFill>
                  <a:latin typeface="Tenorite" panose="00000500000000000000" pitchFamily="2" charset="0"/>
                  <a:cs typeface="Times New Roman" panose="02020603050405020304" pitchFamily="18" charset="0"/>
                </a:rPr>
                <a:t>Smart Uniforms</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Front Desk, All Medical Staff </a:t>
              </a:r>
            </a:p>
            <a:p>
              <a:pPr marL="285750" marR="0" indent="-285750">
                <a:lnSpc>
                  <a:spcPct val="114000"/>
                </a:lnSpc>
                <a:spcBef>
                  <a:spcPts val="0"/>
                </a:spcBef>
                <a:spcAft>
                  <a:spcPts val="0"/>
                </a:spcAft>
                <a:buFont typeface="Arial" panose="020B0604020202020204" pitchFamily="34" charset="0"/>
                <a:buChar char="•"/>
              </a:pPr>
              <a:r>
                <a:rPr lang="en-US" sz="1400" b="1" i="1" dirty="0">
                  <a:solidFill>
                    <a:srgbClr val="000000"/>
                  </a:solidFill>
                  <a:latin typeface="Tenorite" panose="00000500000000000000" pitchFamily="2" charset="0"/>
                  <a:cs typeface="Times New Roman" panose="02020603050405020304" pitchFamily="18" charset="0"/>
                </a:rPr>
                <a:t>Training</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Annual, Quarterly, E-learning (Learning plan)</a:t>
              </a:r>
            </a:p>
            <a:p>
              <a:pPr marL="285750" marR="0" indent="-285750">
                <a:lnSpc>
                  <a:spcPct val="114000"/>
                </a:lnSpc>
                <a:spcBef>
                  <a:spcPts val="0"/>
                </a:spcBef>
                <a:spcAft>
                  <a:spcPts val="0"/>
                </a:spcAft>
                <a:buFont typeface="Arial" panose="020B0604020202020204" pitchFamily="34" charset="0"/>
                <a:buChar char="•"/>
              </a:pPr>
              <a:r>
                <a:rPr lang="en-US" sz="1400" b="1" i="1" dirty="0">
                  <a:latin typeface="Tenorite" panose="00000500000000000000" pitchFamily="2" charset="0"/>
                  <a:cs typeface="Times New Roman" panose="02020603050405020304" pitchFamily="18" charset="0"/>
                </a:rPr>
                <a:t>Performance monitoring &amp; mgt</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Daily, Weekly, Quarterly, Yearly with bonuses</a:t>
              </a:r>
            </a:p>
            <a:p>
              <a:pPr marL="285750" marR="0" indent="-285750">
                <a:lnSpc>
                  <a:spcPct val="114000"/>
                </a:lnSpc>
                <a:spcBef>
                  <a:spcPts val="0"/>
                </a:spcBef>
                <a:spcAft>
                  <a:spcPts val="0"/>
                </a:spcAft>
                <a:buFont typeface="Arial" panose="020B0604020202020204" pitchFamily="34" charset="0"/>
                <a:buChar char="•"/>
              </a:pPr>
              <a:r>
                <a:rPr lang="en-US" sz="1400" b="1" i="1" dirty="0">
                  <a:latin typeface="Tenorite" panose="00000500000000000000" pitchFamily="2" charset="0"/>
                  <a:cs typeface="Times New Roman" panose="02020603050405020304" pitchFamily="18" charset="0"/>
                </a:rPr>
                <a:t>Fatigue Mgt programs</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Leave Plans, Staggered breaks</a:t>
              </a:r>
            </a:p>
            <a:p>
              <a:pPr marL="285750" marR="0" indent="-285750">
                <a:lnSpc>
                  <a:spcPct val="114000"/>
                </a:lnSpc>
                <a:spcBef>
                  <a:spcPts val="0"/>
                </a:spcBef>
                <a:spcAft>
                  <a:spcPts val="0"/>
                </a:spcAft>
                <a:buFont typeface="Arial" panose="020B0604020202020204" pitchFamily="34" charset="0"/>
                <a:buChar char="•"/>
              </a:pPr>
              <a:r>
                <a:rPr lang="en-US" sz="1400" b="1" i="1" dirty="0">
                  <a:latin typeface="Tenorite" panose="00000500000000000000" pitchFamily="2" charset="0"/>
                  <a:cs typeface="Times New Roman" panose="02020603050405020304" pitchFamily="18" charset="0"/>
                </a:rPr>
                <a:t>Staff Welfare improvement</a:t>
              </a:r>
            </a:p>
            <a:p>
              <a:pPr marR="0">
                <a:lnSpc>
                  <a:spcPct val="114000"/>
                </a:lnSpc>
                <a:spcBef>
                  <a:spcPts val="0"/>
                </a:spcBef>
                <a:spcAft>
                  <a:spcPts val="0"/>
                </a:spcAft>
              </a:pPr>
              <a:r>
                <a:rPr lang="en-US" sz="1400" b="1" i="1" dirty="0">
                  <a:solidFill>
                    <a:srgbClr val="FF0000"/>
                  </a:solidFill>
                  <a:latin typeface="Tenorite" panose="00000500000000000000" pitchFamily="2" charset="0"/>
                  <a:cs typeface="Times New Roman" panose="02020603050405020304" pitchFamily="18" charset="0"/>
                </a:rPr>
                <a:t>Office working conditions</a:t>
              </a:r>
            </a:p>
            <a:p>
              <a:pPr marR="0">
                <a:lnSpc>
                  <a:spcPct val="114000"/>
                </a:lnSpc>
                <a:spcBef>
                  <a:spcPts val="0"/>
                </a:spcBef>
                <a:spcAft>
                  <a:spcPts val="0"/>
                </a:spcAft>
              </a:pPr>
              <a:endParaRPr lang="en-US" sz="1200" b="1" i="1" dirty="0">
                <a:latin typeface="Tenorite" panose="00000500000000000000" pitchFamily="2" charset="0"/>
                <a:cs typeface="Times New Roman" panose="02020603050405020304" pitchFamily="18" charset="0"/>
              </a:endParaRPr>
            </a:p>
          </p:txBody>
        </p:sp>
        <p:sp>
          <p:nvSpPr>
            <p:cNvPr id="16" name="TextBox 15">
              <a:extLst>
                <a:ext uri="{FF2B5EF4-FFF2-40B4-BE49-F238E27FC236}">
                  <a16:creationId xmlns:a16="http://schemas.microsoft.com/office/drawing/2014/main" id="{064CB5E6-0E03-32DD-6E25-49DFB217B8E7}"/>
                </a:ext>
              </a:extLst>
            </p:cNvPr>
            <p:cNvSpPr txBox="1"/>
            <p:nvPr/>
          </p:nvSpPr>
          <p:spPr>
            <a:xfrm>
              <a:off x="2832635" y="2200493"/>
              <a:ext cx="1864415" cy="4639852"/>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en-US" sz="1300" b="1" i="1" dirty="0"/>
                <a:t>SOPs &amp; protocols</a:t>
              </a:r>
            </a:p>
            <a:p>
              <a:pPr>
                <a:lnSpc>
                  <a:spcPct val="114000"/>
                </a:lnSpc>
              </a:pPr>
              <a:r>
                <a:rPr lang="en-US" sz="1300" b="1" i="1" dirty="0">
                  <a:solidFill>
                    <a:srgbClr val="FF0000"/>
                  </a:solidFill>
                </a:rPr>
                <a:t>Updates, Alignment &amp; Display</a:t>
              </a:r>
            </a:p>
            <a:p>
              <a:pPr marL="285750" indent="-285750">
                <a:lnSpc>
                  <a:spcPct val="114000"/>
                </a:lnSpc>
                <a:buFont typeface="Arial" panose="020B0604020202020204" pitchFamily="34" charset="0"/>
                <a:buChar char="•"/>
              </a:pPr>
              <a:endParaRPr lang="en-US" sz="1300" b="1" i="1" dirty="0"/>
            </a:p>
            <a:p>
              <a:pPr marL="285750" indent="-285750">
                <a:lnSpc>
                  <a:spcPct val="114000"/>
                </a:lnSpc>
                <a:buFont typeface="Arial" panose="020B0604020202020204" pitchFamily="34" charset="0"/>
                <a:buChar char="•"/>
              </a:pPr>
              <a:r>
                <a:rPr lang="en-US" sz="1300" b="1" i="1" dirty="0"/>
                <a:t>Training &amp; Compliance</a:t>
              </a:r>
            </a:p>
            <a:p>
              <a:pPr>
                <a:lnSpc>
                  <a:spcPct val="114000"/>
                </a:lnSpc>
              </a:pPr>
              <a:r>
                <a:rPr lang="en-US" sz="1300" b="1" i="1" dirty="0">
                  <a:solidFill>
                    <a:srgbClr val="FF0000"/>
                  </a:solidFill>
                </a:rPr>
                <a:t>Assign role dedicated staff</a:t>
              </a:r>
            </a:p>
            <a:p>
              <a:pPr marL="285750" indent="-285750">
                <a:lnSpc>
                  <a:spcPct val="114000"/>
                </a:lnSpc>
                <a:buFont typeface="Arial" panose="020B0604020202020204" pitchFamily="34" charset="0"/>
                <a:buChar char="•"/>
              </a:pPr>
              <a:endParaRPr lang="en-US" sz="1300" b="1" i="1" dirty="0">
                <a:solidFill>
                  <a:srgbClr val="000000"/>
                </a:solidFill>
                <a:latin typeface="Tenorite" panose="00000500000000000000" pitchFamily="2" charset="0"/>
                <a:cs typeface="Times New Roman" panose="02020603050405020304" pitchFamily="18" charset="0"/>
              </a:endParaRPr>
            </a:p>
            <a:p>
              <a:pPr marL="285750" indent="-285750">
                <a:lnSpc>
                  <a:spcPct val="114000"/>
                </a:lnSpc>
                <a:buFont typeface="Arial" panose="020B0604020202020204" pitchFamily="34" charset="0"/>
                <a:buChar char="•"/>
              </a:pPr>
              <a:r>
                <a:rPr lang="en-US" sz="1300" b="1" i="1" dirty="0"/>
                <a:t>Quality Control checks </a:t>
              </a:r>
              <a:r>
                <a:rPr lang="en-US" sz="1300" b="1" i="1" dirty="0">
                  <a:solidFill>
                    <a:srgbClr val="FF0000"/>
                  </a:solidFill>
                </a:rPr>
                <a:t>daily, weekly, monthly</a:t>
              </a:r>
            </a:p>
            <a:p>
              <a:pPr marL="285750" indent="-285750">
                <a:lnSpc>
                  <a:spcPct val="114000"/>
                </a:lnSpc>
                <a:buFont typeface="Arial" panose="020B0604020202020204" pitchFamily="34" charset="0"/>
                <a:buChar char="•"/>
              </a:pPr>
              <a:endParaRPr lang="en-US" sz="1300" b="1" i="1" dirty="0">
                <a:solidFill>
                  <a:srgbClr val="FF0000"/>
                </a:solidFill>
                <a:latin typeface="Tenorite" panose="00000500000000000000" pitchFamily="2" charset="0"/>
                <a:cs typeface="Times New Roman" panose="02020603050405020304" pitchFamily="18" charset="0"/>
              </a:endParaRPr>
            </a:p>
            <a:p>
              <a:pPr marL="285750" indent="-285750">
                <a:lnSpc>
                  <a:spcPct val="114000"/>
                </a:lnSpc>
                <a:buFont typeface="Arial" panose="020B0604020202020204" pitchFamily="34" charset="0"/>
                <a:buChar char="•"/>
              </a:pPr>
              <a:r>
                <a:rPr lang="en-US" sz="1300" b="1" i="1" dirty="0"/>
                <a:t>Documentation, Records &amp; archiving </a:t>
              </a:r>
            </a:p>
            <a:p>
              <a:pPr>
                <a:lnSpc>
                  <a:spcPct val="114000"/>
                </a:lnSpc>
              </a:pPr>
              <a:r>
                <a:rPr lang="en-US" sz="1300" b="1" i="1" dirty="0">
                  <a:solidFill>
                    <a:srgbClr val="FF0000"/>
                  </a:solidFill>
                </a:rPr>
                <a:t>Assign role dedicated staff</a:t>
              </a:r>
            </a:p>
            <a:p>
              <a:pPr marL="285750" indent="-285750">
                <a:lnSpc>
                  <a:spcPct val="114000"/>
                </a:lnSpc>
                <a:buFont typeface="Arial" panose="020B0604020202020204" pitchFamily="34" charset="0"/>
                <a:buChar char="•"/>
              </a:pPr>
              <a:endParaRPr lang="en-US" sz="1300" b="1" i="1" dirty="0">
                <a:solidFill>
                  <a:srgbClr val="FF0000"/>
                </a:solidFill>
              </a:endParaRPr>
            </a:p>
            <a:p>
              <a:pPr marL="285750" indent="-285750">
                <a:lnSpc>
                  <a:spcPct val="114000"/>
                </a:lnSpc>
                <a:buFont typeface="Arial" panose="020B0604020202020204" pitchFamily="34" charset="0"/>
                <a:buChar char="•"/>
              </a:pPr>
              <a:r>
                <a:rPr lang="en-US" sz="1300" b="1" i="1" dirty="0">
                  <a:solidFill>
                    <a:srgbClr val="000000"/>
                  </a:solidFill>
                  <a:latin typeface="Tenorite" panose="00000500000000000000" pitchFamily="2" charset="0"/>
                  <a:cs typeface="Times New Roman" panose="02020603050405020304" pitchFamily="18" charset="0"/>
                </a:rPr>
                <a:t> Customer Service</a:t>
              </a:r>
            </a:p>
            <a:p>
              <a:pPr>
                <a:lnSpc>
                  <a:spcPct val="114000"/>
                </a:lnSpc>
              </a:pPr>
              <a:r>
                <a:rPr lang="en-US" sz="1300" b="1" i="1" dirty="0">
                  <a:solidFill>
                    <a:srgbClr val="FF0000"/>
                  </a:solidFill>
                  <a:latin typeface="Tenorite" panose="00000500000000000000" pitchFamily="2" charset="0"/>
                  <a:cs typeface="Times New Roman" panose="02020603050405020304" pitchFamily="18" charset="0"/>
                </a:rPr>
                <a:t>Create Customer Service Desk per location with central coordinator</a:t>
              </a:r>
            </a:p>
            <a:p>
              <a:pPr marL="285750" indent="-285750">
                <a:lnSpc>
                  <a:spcPct val="114000"/>
                </a:lnSpc>
                <a:buFont typeface="Arial" panose="020B0604020202020204" pitchFamily="34" charset="0"/>
                <a:buChar char="•"/>
              </a:pPr>
              <a:endParaRPr lang="en-US" sz="1300" b="1" i="1" dirty="0">
                <a:solidFill>
                  <a:srgbClr val="000000"/>
                </a:solidFill>
                <a:latin typeface="Tenorite" panose="00000500000000000000" pitchFamily="2" charset="0"/>
                <a:cs typeface="Times New Roman" panose="02020603050405020304" pitchFamily="18" charset="0"/>
              </a:endParaRPr>
            </a:p>
            <a:p>
              <a:pPr marL="285750" indent="-285750">
                <a:lnSpc>
                  <a:spcPct val="114000"/>
                </a:lnSpc>
                <a:buFont typeface="Arial" panose="020B0604020202020204" pitchFamily="34" charset="0"/>
                <a:buChar char="•"/>
              </a:pPr>
              <a:r>
                <a:rPr lang="en-US" sz="1300" b="1" i="1" dirty="0">
                  <a:latin typeface="Tenorite" panose="00000500000000000000" pitchFamily="2" charset="0"/>
                  <a:cs typeface="Times New Roman" panose="02020603050405020304" pitchFamily="18" charset="0"/>
                </a:rPr>
                <a:t>Customer feedback &amp; complaints handling</a:t>
              </a:r>
              <a:endParaRPr lang="en-US" sz="1300" b="1" i="1" dirty="0">
                <a:solidFill>
                  <a:srgbClr val="FF0000"/>
                </a:solidFill>
                <a:latin typeface="Tenorite" panose="00000500000000000000" pitchFamily="2" charset="0"/>
                <a:cs typeface="Times New Roman" panose="02020603050405020304" pitchFamily="18" charset="0"/>
              </a:endParaRPr>
            </a:p>
          </p:txBody>
        </p:sp>
        <p:sp>
          <p:nvSpPr>
            <p:cNvPr id="17" name="TextBox 16">
              <a:extLst>
                <a:ext uri="{FF2B5EF4-FFF2-40B4-BE49-F238E27FC236}">
                  <a16:creationId xmlns:a16="http://schemas.microsoft.com/office/drawing/2014/main" id="{A0430346-C5EE-B4FD-FE00-A308745F2F00}"/>
                </a:ext>
              </a:extLst>
            </p:cNvPr>
            <p:cNvSpPr txBox="1"/>
            <p:nvPr/>
          </p:nvSpPr>
          <p:spPr>
            <a:xfrm>
              <a:off x="4793427" y="2219515"/>
              <a:ext cx="1339766" cy="5223427"/>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en-US" sz="1400" b="1" i="1" dirty="0"/>
                <a:t>Laptop Computers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Tablets for Guest Relations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Finger-print scanners for Biometrics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Queue Mgt and tally systems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solidFill>
                    <a:srgbClr val="FF0000"/>
                  </a:solidFill>
                </a:rPr>
                <a:t>EMR</a:t>
              </a:r>
            </a:p>
            <a:p>
              <a:pPr>
                <a:lnSpc>
                  <a:spcPct val="114000"/>
                </a:lnSpc>
              </a:pPr>
              <a:r>
                <a:rPr lang="en-US" sz="1400" b="1" i="1" dirty="0">
                  <a:solidFill>
                    <a:srgbClr val="FF0000"/>
                  </a:solidFill>
                </a:rPr>
                <a:t>With capacity for details of data capturing and analytics required</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endParaRPr lang="en-US" sz="1400" i="1" dirty="0">
                <a:solidFill>
                  <a:srgbClr val="000000"/>
                </a:solidFill>
                <a:latin typeface="Tenorite" panose="00000500000000000000" pitchFamily="2" charset="0"/>
                <a:cs typeface="Times New Roman" panose="02020603050405020304" pitchFamily="18" charset="0"/>
              </a:endParaRPr>
            </a:p>
          </p:txBody>
        </p:sp>
        <p:sp>
          <p:nvSpPr>
            <p:cNvPr id="18" name="TextBox 17">
              <a:extLst>
                <a:ext uri="{FF2B5EF4-FFF2-40B4-BE49-F238E27FC236}">
                  <a16:creationId xmlns:a16="http://schemas.microsoft.com/office/drawing/2014/main" id="{7FEDB450-C5CA-9356-C585-6634D7FE2EAF}"/>
                </a:ext>
              </a:extLst>
            </p:cNvPr>
            <p:cNvSpPr txBox="1"/>
            <p:nvPr/>
          </p:nvSpPr>
          <p:spPr>
            <a:xfrm>
              <a:off x="7567574" y="2140316"/>
              <a:ext cx="1620607" cy="5460463"/>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en-US" sz="1400" b="1" i="1" dirty="0"/>
                <a:t>Continuous Improvement committees (QI, Optimization </a:t>
              </a:r>
              <a:r>
                <a:rPr lang="en-US" sz="1400" b="1" i="1" dirty="0" err="1"/>
                <a:t>etc</a:t>
              </a:r>
              <a:r>
                <a:rPr lang="en-US" sz="1400" b="1" i="1" dirty="0"/>
                <a:t>)</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Fixed update meeting days /week</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Fixed client engagement meetings (Physical and Virtual</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Fixed coaching, training and support meeting days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r>
                <a:rPr lang="en-US" sz="1400" b="1" i="1" dirty="0"/>
                <a:t>Fixed in-clinic product drive days</a:t>
              </a:r>
            </a:p>
            <a:p>
              <a:pPr marL="285750" indent="-285750">
                <a:lnSpc>
                  <a:spcPct val="114000"/>
                </a:lnSpc>
                <a:buFont typeface="Arial" panose="020B0604020202020204" pitchFamily="34" charset="0"/>
                <a:buChar char="•"/>
              </a:pPr>
              <a:endParaRPr lang="en-US" sz="1400" b="1" i="1" dirty="0"/>
            </a:p>
            <a:p>
              <a:pPr marL="285750" indent="-285750">
                <a:lnSpc>
                  <a:spcPct val="114000"/>
                </a:lnSpc>
                <a:buFont typeface="Arial" panose="020B0604020202020204" pitchFamily="34" charset="0"/>
                <a:buChar char="•"/>
              </a:pPr>
              <a:endParaRPr lang="en-US" sz="1400" b="1" i="1" dirty="0"/>
            </a:p>
          </p:txBody>
        </p:sp>
        <p:sp>
          <p:nvSpPr>
            <p:cNvPr id="19" name="TextBox 18">
              <a:extLst>
                <a:ext uri="{FF2B5EF4-FFF2-40B4-BE49-F238E27FC236}">
                  <a16:creationId xmlns:a16="http://schemas.microsoft.com/office/drawing/2014/main" id="{C4E4C018-5624-F761-C52E-B87242C3B397}"/>
                </a:ext>
              </a:extLst>
            </p:cNvPr>
            <p:cNvSpPr txBox="1"/>
            <p:nvPr/>
          </p:nvSpPr>
          <p:spPr>
            <a:xfrm>
              <a:off x="2874001" y="1339063"/>
              <a:ext cx="1879374" cy="278795"/>
            </a:xfrm>
            <a:prstGeom prst="rect">
              <a:avLst/>
            </a:prstGeom>
            <a:solidFill>
              <a:schemeClr val="accent5">
                <a:lumMod val="75000"/>
              </a:schemeClr>
            </a:solidFill>
            <a:ln>
              <a:solidFill>
                <a:schemeClr val="accent5">
                  <a:lumMod val="75000"/>
                </a:schemeClr>
              </a:solidFill>
            </a:ln>
          </p:spPr>
          <p:txBody>
            <a:bodyPr wrap="square" rtlCol="0">
              <a:spAutoFit/>
            </a:bodyPr>
            <a:lstStyle/>
            <a:p>
              <a:pPr algn="ctr"/>
              <a:r>
                <a:rPr lang="en-US" sz="1300" b="1" dirty="0">
                  <a:solidFill>
                    <a:schemeClr val="bg1"/>
                  </a:solidFill>
                </a:rPr>
                <a:t>Processes &amp; Procedures</a:t>
              </a:r>
              <a:endParaRPr lang="en-NG" sz="1300" b="1" dirty="0">
                <a:solidFill>
                  <a:schemeClr val="bg1"/>
                </a:solidFill>
              </a:endParaRPr>
            </a:p>
          </p:txBody>
        </p:sp>
        <p:sp>
          <p:nvSpPr>
            <p:cNvPr id="20" name="TextBox 19">
              <a:extLst>
                <a:ext uri="{FF2B5EF4-FFF2-40B4-BE49-F238E27FC236}">
                  <a16:creationId xmlns:a16="http://schemas.microsoft.com/office/drawing/2014/main" id="{60CC3C93-8F08-C2BB-50EE-B97E0BC476C5}"/>
                </a:ext>
              </a:extLst>
            </p:cNvPr>
            <p:cNvSpPr txBox="1"/>
            <p:nvPr/>
          </p:nvSpPr>
          <p:spPr>
            <a:xfrm>
              <a:off x="4728313" y="1312197"/>
              <a:ext cx="1339766" cy="322815"/>
            </a:xfrm>
            <a:prstGeom prst="rect">
              <a:avLst/>
            </a:prstGeom>
            <a:solidFill>
              <a:schemeClr val="accent5">
                <a:lumMod val="75000"/>
              </a:schemeClr>
            </a:solidFill>
            <a:ln>
              <a:solidFill>
                <a:schemeClr val="accent5">
                  <a:lumMod val="75000"/>
                </a:schemeClr>
              </a:solidFill>
            </a:ln>
          </p:spPr>
          <p:txBody>
            <a:bodyPr wrap="square" rtlCol="0">
              <a:spAutoFit/>
            </a:bodyPr>
            <a:lstStyle/>
            <a:p>
              <a:pPr algn="ctr"/>
              <a:r>
                <a:rPr lang="en-US" sz="1600" b="1" dirty="0">
                  <a:solidFill>
                    <a:schemeClr val="bg1"/>
                  </a:solidFill>
                </a:rPr>
                <a:t>Tools</a:t>
              </a:r>
              <a:endParaRPr lang="en-NG" sz="1600" b="1" dirty="0">
                <a:solidFill>
                  <a:schemeClr val="bg1"/>
                </a:solidFill>
              </a:endParaRPr>
            </a:p>
          </p:txBody>
        </p:sp>
        <p:sp>
          <p:nvSpPr>
            <p:cNvPr id="21" name="TextBox 20">
              <a:extLst>
                <a:ext uri="{FF2B5EF4-FFF2-40B4-BE49-F238E27FC236}">
                  <a16:creationId xmlns:a16="http://schemas.microsoft.com/office/drawing/2014/main" id="{B5C4E560-C339-16E6-EDE4-58DB6E7E52FB}"/>
                </a:ext>
              </a:extLst>
            </p:cNvPr>
            <p:cNvSpPr txBox="1"/>
            <p:nvPr/>
          </p:nvSpPr>
          <p:spPr>
            <a:xfrm>
              <a:off x="7500025" y="1369496"/>
              <a:ext cx="1639204" cy="305994"/>
            </a:xfrm>
            <a:prstGeom prst="rect">
              <a:avLst/>
            </a:prstGeom>
            <a:solidFill>
              <a:schemeClr val="accent5">
                <a:lumMod val="75000"/>
              </a:schemeClr>
            </a:solidFill>
            <a:ln>
              <a:solidFill>
                <a:schemeClr val="accent5">
                  <a:lumMod val="75000"/>
                </a:schemeClr>
              </a:solidFill>
            </a:ln>
          </p:spPr>
          <p:txBody>
            <a:bodyPr wrap="square" rtlCol="0">
              <a:spAutoFit/>
            </a:bodyPr>
            <a:lstStyle/>
            <a:p>
              <a:pPr algn="ctr"/>
              <a:r>
                <a:rPr lang="en-US" sz="1600" b="1" dirty="0">
                  <a:solidFill>
                    <a:schemeClr val="bg1"/>
                  </a:solidFill>
                </a:rPr>
                <a:t>Clinic Governance</a:t>
              </a:r>
              <a:endParaRPr lang="en-NG" sz="1600" b="1" dirty="0">
                <a:solidFill>
                  <a:schemeClr val="bg1"/>
                </a:solidFill>
              </a:endParaRPr>
            </a:p>
          </p:txBody>
        </p:sp>
      </p:grpSp>
      <p:sp>
        <p:nvSpPr>
          <p:cNvPr id="5" name="Freeform: Shape 4">
            <a:extLst>
              <a:ext uri="{FF2B5EF4-FFF2-40B4-BE49-F238E27FC236}">
                <a16:creationId xmlns:a16="http://schemas.microsoft.com/office/drawing/2014/main" id="{7ECE3675-F540-86DC-28FB-9D0BEC9B2136}"/>
              </a:ext>
            </a:extLst>
          </p:cNvPr>
          <p:cNvSpPr/>
          <p:nvPr/>
        </p:nvSpPr>
        <p:spPr>
          <a:xfrm>
            <a:off x="24623" y="572269"/>
            <a:ext cx="2504103" cy="868495"/>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4800" b="1" dirty="0">
              <a:effectLst>
                <a:outerShdw blurRad="38100" dist="38100" dir="2700000" algn="tl">
                  <a:srgbClr val="000000">
                    <a:alpha val="43137"/>
                  </a:srgbClr>
                </a:outerShdw>
              </a:effectLst>
            </a:endParaRPr>
          </a:p>
        </p:txBody>
      </p:sp>
      <p:sp>
        <p:nvSpPr>
          <p:cNvPr id="22" name="TextBox 21">
            <a:extLst>
              <a:ext uri="{FF2B5EF4-FFF2-40B4-BE49-F238E27FC236}">
                <a16:creationId xmlns:a16="http://schemas.microsoft.com/office/drawing/2014/main" id="{036DEDA7-7E7D-6672-D793-07AD083F48D9}"/>
              </a:ext>
            </a:extLst>
          </p:cNvPr>
          <p:cNvSpPr txBox="1"/>
          <p:nvPr/>
        </p:nvSpPr>
        <p:spPr>
          <a:xfrm>
            <a:off x="404177" y="749362"/>
            <a:ext cx="1551080" cy="369332"/>
          </a:xfrm>
          <a:prstGeom prst="rect">
            <a:avLst/>
          </a:prstGeom>
          <a:solidFill>
            <a:schemeClr val="accent5">
              <a:lumMod val="75000"/>
            </a:schemeClr>
          </a:solidFill>
          <a:ln>
            <a:solidFill>
              <a:schemeClr val="accent5">
                <a:lumMod val="75000"/>
              </a:schemeClr>
            </a:solidFill>
          </a:ln>
        </p:spPr>
        <p:txBody>
          <a:bodyPr wrap="square" rtlCol="0">
            <a:spAutoFit/>
          </a:bodyPr>
          <a:lstStyle/>
          <a:p>
            <a:pPr algn="ctr"/>
            <a:r>
              <a:rPr lang="en-US" b="1" dirty="0">
                <a:solidFill>
                  <a:schemeClr val="bg1"/>
                </a:solidFill>
              </a:rPr>
              <a:t>Infrastructure</a:t>
            </a:r>
            <a:endParaRPr lang="en-NG" b="1" dirty="0">
              <a:solidFill>
                <a:schemeClr val="bg1"/>
              </a:solidFill>
            </a:endParaRPr>
          </a:p>
        </p:txBody>
      </p:sp>
      <p:sp>
        <p:nvSpPr>
          <p:cNvPr id="23" name="TextBox 22">
            <a:extLst>
              <a:ext uri="{FF2B5EF4-FFF2-40B4-BE49-F238E27FC236}">
                <a16:creationId xmlns:a16="http://schemas.microsoft.com/office/drawing/2014/main" id="{ECC4EE6B-166A-6241-2771-A0F32FB78519}"/>
              </a:ext>
            </a:extLst>
          </p:cNvPr>
          <p:cNvSpPr txBox="1"/>
          <p:nvPr/>
        </p:nvSpPr>
        <p:spPr>
          <a:xfrm>
            <a:off x="24624" y="1465763"/>
            <a:ext cx="2514170" cy="5375895"/>
          </a:xfrm>
          <a:prstGeom prst="rect">
            <a:avLst/>
          </a:prstGeom>
          <a:solidFill>
            <a:schemeClr val="bg1">
              <a:lumMod val="95000"/>
            </a:schemeClr>
          </a:solidFill>
        </p:spPr>
        <p:txBody>
          <a:bodyPr wrap="square" rtlCol="0">
            <a:spAutoFit/>
          </a:bodyPr>
          <a:lstStyle/>
          <a:p>
            <a:pPr marL="285750" marR="0" indent="-285750">
              <a:lnSpc>
                <a:spcPct val="114000"/>
              </a:lnSpc>
              <a:spcBef>
                <a:spcPts val="0"/>
              </a:spcBef>
              <a:spcAft>
                <a:spcPts val="0"/>
              </a:spcAft>
              <a:buFont typeface="Arial" panose="020B0604020202020204" pitchFamily="34" charset="0"/>
              <a:buChar char="•"/>
            </a:pPr>
            <a:r>
              <a:rPr lang="en-US" sz="1400" b="1" i="1" dirty="0"/>
              <a:t>Location</a:t>
            </a:r>
          </a:p>
          <a:p>
            <a:pPr marR="0">
              <a:lnSpc>
                <a:spcPct val="114000"/>
              </a:lnSpc>
              <a:spcBef>
                <a:spcPts val="0"/>
              </a:spcBef>
              <a:spcAft>
                <a:spcPts val="0"/>
              </a:spcAft>
            </a:pPr>
            <a:r>
              <a:rPr lang="en-US" sz="1400" b="1" i="1" dirty="0"/>
              <a:t>  </a:t>
            </a:r>
            <a:r>
              <a:rPr lang="en-US" sz="1400" b="1" i="1" dirty="0">
                <a:solidFill>
                  <a:srgbClr val="FF0000"/>
                </a:solidFill>
              </a:rPr>
              <a:t>High human traffic Areas</a:t>
            </a:r>
          </a:p>
          <a:p>
            <a:pPr marR="0">
              <a:lnSpc>
                <a:spcPct val="114000"/>
              </a:lnSpc>
              <a:spcBef>
                <a:spcPts val="0"/>
              </a:spcBef>
              <a:spcAft>
                <a:spcPts val="0"/>
              </a:spcAft>
            </a:pPr>
            <a:endParaRPr lang="en-US" sz="1400" b="1" i="1" dirty="0">
              <a:solidFill>
                <a:srgbClr val="FF0000"/>
              </a:solidFill>
            </a:endParaRPr>
          </a:p>
          <a:p>
            <a:pPr marL="285750" marR="0" indent="-285750">
              <a:lnSpc>
                <a:spcPct val="114000"/>
              </a:lnSpc>
              <a:spcBef>
                <a:spcPts val="0"/>
              </a:spcBef>
              <a:spcAft>
                <a:spcPts val="0"/>
              </a:spcAft>
              <a:buFont typeface="Arial" panose="020B0604020202020204" pitchFamily="34" charset="0"/>
              <a:buChar char="•"/>
            </a:pPr>
            <a:r>
              <a:rPr lang="en-US" sz="1400" b="1" i="1" dirty="0"/>
              <a:t>Standardized floor plans </a:t>
            </a:r>
            <a:r>
              <a:rPr lang="en-US" sz="1400" b="1" i="1" dirty="0">
                <a:solidFill>
                  <a:srgbClr val="FF0000"/>
                </a:solidFill>
              </a:rPr>
              <a:t>(Small –Outposts Medium, Large) </a:t>
            </a:r>
          </a:p>
          <a:p>
            <a:pPr marL="285750" marR="0" indent="-285750">
              <a:lnSpc>
                <a:spcPct val="114000"/>
              </a:lnSpc>
              <a:spcBef>
                <a:spcPts val="0"/>
              </a:spcBef>
              <a:spcAft>
                <a:spcPts val="0"/>
              </a:spcAft>
              <a:buFont typeface="Arial" panose="020B0604020202020204" pitchFamily="34" charset="0"/>
              <a:buChar char="•"/>
            </a:pPr>
            <a:endParaRPr lang="en-US" sz="1400" b="1" i="1" dirty="0"/>
          </a:p>
          <a:p>
            <a:pPr marL="285750" marR="0" indent="-285750">
              <a:lnSpc>
                <a:spcPct val="114000"/>
              </a:lnSpc>
              <a:spcBef>
                <a:spcPts val="0"/>
              </a:spcBef>
              <a:spcAft>
                <a:spcPts val="0"/>
              </a:spcAft>
              <a:buFont typeface="Arial" panose="020B0604020202020204" pitchFamily="34" charset="0"/>
              <a:buChar char="•"/>
            </a:pPr>
            <a:r>
              <a:rPr lang="en-US" sz="1400" b="1" i="1" dirty="0"/>
              <a:t>Car parking space –</a:t>
            </a:r>
            <a:r>
              <a:rPr lang="en-US" sz="1400" b="1" i="1" dirty="0">
                <a:solidFill>
                  <a:srgbClr val="FF0000"/>
                </a:solidFill>
              </a:rPr>
              <a:t>&gt;= 10 cars</a:t>
            </a:r>
          </a:p>
          <a:p>
            <a:pPr marL="285750" marR="0" indent="-285750">
              <a:lnSpc>
                <a:spcPct val="114000"/>
              </a:lnSpc>
              <a:spcBef>
                <a:spcPts val="0"/>
              </a:spcBef>
              <a:spcAft>
                <a:spcPts val="0"/>
              </a:spcAft>
              <a:buFont typeface="Arial" panose="020B0604020202020204" pitchFamily="34" charset="0"/>
              <a:buChar char="•"/>
            </a:pPr>
            <a:endParaRPr lang="en-US" sz="800" b="1" i="1" dirty="0"/>
          </a:p>
          <a:p>
            <a:pPr marL="285750" marR="0" indent="-285750">
              <a:lnSpc>
                <a:spcPct val="114000"/>
              </a:lnSpc>
              <a:spcBef>
                <a:spcPts val="0"/>
              </a:spcBef>
              <a:spcAft>
                <a:spcPts val="0"/>
              </a:spcAft>
              <a:buFont typeface="Arial" panose="020B0604020202020204" pitchFamily="34" charset="0"/>
              <a:buChar char="•"/>
            </a:pPr>
            <a:r>
              <a:rPr lang="en-US" sz="1400" b="1" i="1" dirty="0"/>
              <a:t>Reception </a:t>
            </a:r>
          </a:p>
          <a:p>
            <a:pPr marR="0">
              <a:lnSpc>
                <a:spcPct val="114000"/>
              </a:lnSpc>
              <a:spcBef>
                <a:spcPts val="0"/>
              </a:spcBef>
              <a:spcAft>
                <a:spcPts val="0"/>
              </a:spcAft>
            </a:pPr>
            <a:r>
              <a:rPr lang="en-US" sz="1400" b="1" i="1" dirty="0">
                <a:solidFill>
                  <a:srgbClr val="FF0000"/>
                </a:solidFill>
              </a:rPr>
              <a:t>Dual Waiting area. Biometrics/ Tallies</a:t>
            </a:r>
          </a:p>
          <a:p>
            <a:pPr marR="0">
              <a:lnSpc>
                <a:spcPct val="114000"/>
              </a:lnSpc>
              <a:spcBef>
                <a:spcPts val="0"/>
              </a:spcBef>
              <a:spcAft>
                <a:spcPts val="0"/>
              </a:spcAft>
            </a:pPr>
            <a:r>
              <a:rPr lang="en-US" sz="1400" b="1" i="1" dirty="0">
                <a:solidFill>
                  <a:srgbClr val="FF0000"/>
                </a:solidFill>
              </a:rPr>
              <a:t>Solfas mixed with Plastic seats</a:t>
            </a:r>
          </a:p>
          <a:p>
            <a:pPr marR="0">
              <a:lnSpc>
                <a:spcPct val="114000"/>
              </a:lnSpc>
              <a:spcBef>
                <a:spcPts val="0"/>
              </a:spcBef>
              <a:spcAft>
                <a:spcPts val="0"/>
              </a:spcAft>
            </a:pPr>
            <a:endParaRPr lang="en-US" sz="1400" b="1" i="1" dirty="0">
              <a:solidFill>
                <a:srgbClr val="FF0000"/>
              </a:solidFill>
            </a:endParaRPr>
          </a:p>
          <a:p>
            <a:pPr marL="285750" marR="0" indent="-285750">
              <a:lnSpc>
                <a:spcPct val="114000"/>
              </a:lnSpc>
              <a:spcBef>
                <a:spcPts val="0"/>
              </a:spcBef>
              <a:spcAft>
                <a:spcPts val="0"/>
              </a:spcAft>
              <a:buFont typeface="Arial" panose="020B0604020202020204" pitchFamily="34" charset="0"/>
              <a:buChar char="•"/>
            </a:pPr>
            <a:r>
              <a:rPr lang="en-US" sz="1400" b="1" i="1" dirty="0"/>
              <a:t>Front Desk</a:t>
            </a:r>
          </a:p>
          <a:p>
            <a:pPr marR="0">
              <a:lnSpc>
                <a:spcPct val="114000"/>
              </a:lnSpc>
              <a:spcBef>
                <a:spcPts val="0"/>
              </a:spcBef>
              <a:spcAft>
                <a:spcPts val="0"/>
              </a:spcAft>
            </a:pPr>
            <a:r>
              <a:rPr lang="en-US" sz="1400" b="1" i="1" dirty="0">
                <a:solidFill>
                  <a:srgbClr val="FF0000"/>
                </a:solidFill>
              </a:rPr>
              <a:t>Furniture &amp; Interior décor blue-print</a:t>
            </a:r>
          </a:p>
          <a:p>
            <a:pPr marL="285750" marR="0" indent="-285750">
              <a:lnSpc>
                <a:spcPct val="114000"/>
              </a:lnSpc>
              <a:spcBef>
                <a:spcPts val="0"/>
              </a:spcBef>
              <a:spcAft>
                <a:spcPts val="0"/>
              </a:spcAft>
              <a:buFont typeface="Arial" panose="020B0604020202020204" pitchFamily="34" charset="0"/>
              <a:buChar char="•"/>
            </a:pPr>
            <a:r>
              <a:rPr lang="en-US" sz="1400" b="1" i="1" dirty="0"/>
              <a:t>Guest Relations/ Customer Experience Desk </a:t>
            </a:r>
          </a:p>
          <a:p>
            <a:pPr marR="0">
              <a:lnSpc>
                <a:spcPct val="114000"/>
              </a:lnSpc>
              <a:spcBef>
                <a:spcPts val="0"/>
              </a:spcBef>
              <a:spcAft>
                <a:spcPts val="0"/>
              </a:spcAft>
            </a:pPr>
            <a:r>
              <a:rPr lang="en-US" sz="1400" b="1" i="1" dirty="0">
                <a:solidFill>
                  <a:srgbClr val="FF0000"/>
                </a:solidFill>
              </a:rPr>
              <a:t>Multimedia display of Wellness packages &amp; [products</a:t>
            </a:r>
            <a:endParaRPr lang="en-US" sz="1600" b="1" i="1" dirty="0"/>
          </a:p>
        </p:txBody>
      </p:sp>
      <p:sp>
        <p:nvSpPr>
          <p:cNvPr id="27" name="Freeform: Shape 26">
            <a:extLst>
              <a:ext uri="{FF2B5EF4-FFF2-40B4-BE49-F238E27FC236}">
                <a16:creationId xmlns:a16="http://schemas.microsoft.com/office/drawing/2014/main" id="{FF70C5C1-3732-030C-4A13-59AB4FF23817}"/>
              </a:ext>
            </a:extLst>
          </p:cNvPr>
          <p:cNvSpPr/>
          <p:nvPr/>
        </p:nvSpPr>
        <p:spPr>
          <a:xfrm>
            <a:off x="8617136" y="571063"/>
            <a:ext cx="1533909" cy="910840"/>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5">
              <a:lumMod val="75000"/>
            </a:schemeClr>
          </a:solidFill>
          <a:ln>
            <a:solidFill>
              <a:schemeClr val="accent5">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4800" b="1" dirty="0">
              <a:effectLst>
                <a:outerShdw blurRad="38100" dist="38100" dir="2700000" algn="tl">
                  <a:srgbClr val="000000">
                    <a:alpha val="43137"/>
                  </a:srgbClr>
                </a:outerShdw>
              </a:effectLst>
            </a:endParaRPr>
          </a:p>
        </p:txBody>
      </p:sp>
      <p:sp>
        <p:nvSpPr>
          <p:cNvPr id="28" name="Freeform: Shape 27">
            <a:extLst>
              <a:ext uri="{FF2B5EF4-FFF2-40B4-BE49-F238E27FC236}">
                <a16:creationId xmlns:a16="http://schemas.microsoft.com/office/drawing/2014/main" id="{4DE73730-1993-7792-6B7E-2384DB4203A0}"/>
              </a:ext>
            </a:extLst>
          </p:cNvPr>
          <p:cNvSpPr/>
          <p:nvPr/>
        </p:nvSpPr>
        <p:spPr>
          <a:xfrm>
            <a:off x="8738434" y="1481903"/>
            <a:ext cx="1415755" cy="5116195"/>
          </a:xfrm>
          <a:custGeom>
            <a:avLst/>
            <a:gdLst>
              <a:gd name="connsiteX0" fmla="*/ 546 w 2243233"/>
              <a:gd name="connsiteY0" fmla="*/ 0 h 868495"/>
              <a:gd name="connsiteX1" fmla="*/ 2243233 w 2243233"/>
              <a:gd name="connsiteY1" fmla="*/ 0 h 868495"/>
              <a:gd name="connsiteX2" fmla="*/ 2243233 w 2243233"/>
              <a:gd name="connsiteY2" fmla="*/ 868495 h 868495"/>
              <a:gd name="connsiteX3" fmla="*/ 0 w 2243233"/>
              <a:gd name="connsiteY3" fmla="*/ 868495 h 868495"/>
            </a:gdLst>
            <a:ahLst/>
            <a:cxnLst>
              <a:cxn ang="0">
                <a:pos x="connsiteX0" y="connsiteY0"/>
              </a:cxn>
              <a:cxn ang="0">
                <a:pos x="connsiteX1" y="connsiteY1"/>
              </a:cxn>
              <a:cxn ang="0">
                <a:pos x="connsiteX2" y="connsiteY2"/>
              </a:cxn>
              <a:cxn ang="0">
                <a:pos x="connsiteX3" y="connsiteY3"/>
              </a:cxn>
            </a:cxnLst>
            <a:rect l="l" t="t" r="r" b="b"/>
            <a:pathLst>
              <a:path w="2243233" h="868495">
                <a:moveTo>
                  <a:pt x="546" y="0"/>
                </a:moveTo>
                <a:lnTo>
                  <a:pt x="2243233" y="0"/>
                </a:lnTo>
                <a:lnTo>
                  <a:pt x="2243233" y="868495"/>
                </a:lnTo>
                <a:lnTo>
                  <a:pt x="0" y="868495"/>
                </a:lnTo>
                <a:close/>
              </a:path>
            </a:pathLst>
          </a:custGeom>
          <a:solidFill>
            <a:schemeClr val="accent3">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r>
              <a:rPr lang="en-US" sz="1400" b="1" i="1" dirty="0">
                <a:solidFill>
                  <a:schemeClr val="tx1"/>
                </a:solidFill>
              </a:rPr>
              <a:t>Sales targets for each Lifecheck center</a:t>
            </a: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r>
              <a:rPr lang="en-US" sz="1400" b="1" i="1" dirty="0">
                <a:solidFill>
                  <a:schemeClr val="tx1"/>
                </a:solidFill>
              </a:rPr>
              <a:t>Guest Relations/ Customer Service agents  responsible for Upselling &amp; Cross selling </a:t>
            </a: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r>
              <a:rPr lang="en-US" sz="1400" b="1" i="1" dirty="0" err="1">
                <a:solidFill>
                  <a:schemeClr val="tx1"/>
                </a:solidFill>
              </a:rPr>
              <a:t>Medlinkr</a:t>
            </a:r>
            <a:r>
              <a:rPr lang="en-US" sz="1400" b="1" i="1" dirty="0">
                <a:solidFill>
                  <a:schemeClr val="tx1"/>
                </a:solidFill>
              </a:rPr>
              <a:t> App reactivation </a:t>
            </a: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r>
              <a:rPr lang="en-US" sz="1400" b="1" i="1" dirty="0">
                <a:solidFill>
                  <a:schemeClr val="tx1"/>
                </a:solidFill>
              </a:rPr>
              <a:t>Complimentary services</a:t>
            </a: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a:p>
            <a:pPr marL="285750" indent="-285750">
              <a:buFont typeface="Arial" panose="020B0604020202020204" pitchFamily="34" charset="0"/>
              <a:buChar char="•"/>
            </a:pPr>
            <a:endParaRPr lang="en-US" sz="1400" b="1" i="1" dirty="0">
              <a:solidFill>
                <a:schemeClr val="tx1"/>
              </a:solidFill>
            </a:endParaRPr>
          </a:p>
        </p:txBody>
      </p:sp>
      <p:sp>
        <p:nvSpPr>
          <p:cNvPr id="31" name="TextBox 30">
            <a:extLst>
              <a:ext uri="{FF2B5EF4-FFF2-40B4-BE49-F238E27FC236}">
                <a16:creationId xmlns:a16="http://schemas.microsoft.com/office/drawing/2014/main" id="{BC4C529D-AB3E-2BEA-3AE2-F0A3A66EDB4E}"/>
              </a:ext>
            </a:extLst>
          </p:cNvPr>
          <p:cNvSpPr txBox="1"/>
          <p:nvPr/>
        </p:nvSpPr>
        <p:spPr>
          <a:xfrm>
            <a:off x="8620280" y="632361"/>
            <a:ext cx="1533909" cy="584775"/>
          </a:xfrm>
          <a:prstGeom prst="rect">
            <a:avLst/>
          </a:prstGeom>
          <a:solidFill>
            <a:schemeClr val="accent5">
              <a:lumMod val="75000"/>
            </a:schemeClr>
          </a:solidFill>
          <a:ln>
            <a:solidFill>
              <a:schemeClr val="accent5">
                <a:lumMod val="75000"/>
              </a:schemeClr>
            </a:solidFill>
          </a:ln>
        </p:spPr>
        <p:txBody>
          <a:bodyPr wrap="square" rtlCol="0">
            <a:spAutoFit/>
          </a:bodyPr>
          <a:lstStyle/>
          <a:p>
            <a:pPr algn="ctr"/>
            <a:r>
              <a:rPr lang="en-US" sz="1600" b="1" dirty="0">
                <a:solidFill>
                  <a:schemeClr val="bg1"/>
                </a:solidFill>
              </a:rPr>
              <a:t>Business Development</a:t>
            </a:r>
            <a:endParaRPr lang="en-NG" sz="1600" b="1" dirty="0">
              <a:solidFill>
                <a:schemeClr val="bg1"/>
              </a:solidFill>
            </a:endParaRPr>
          </a:p>
        </p:txBody>
      </p:sp>
    </p:spTree>
    <p:extLst>
      <p:ext uri="{BB962C8B-B14F-4D97-AF65-F5344CB8AC3E}">
        <p14:creationId xmlns:p14="http://schemas.microsoft.com/office/powerpoint/2010/main" val="2490622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E42C-0073-4D11-AAF9-842A47C82A48}"/>
              </a:ext>
            </a:extLst>
          </p:cNvPr>
          <p:cNvSpPr>
            <a:spLocks noGrp="1"/>
          </p:cNvSpPr>
          <p:nvPr>
            <p:ph type="title"/>
          </p:nvPr>
        </p:nvSpPr>
        <p:spPr>
          <a:xfrm>
            <a:off x="838200" y="320328"/>
            <a:ext cx="10145590" cy="538509"/>
          </a:xfrm>
        </p:spPr>
        <p:txBody>
          <a:bodyPr/>
          <a:lstStyle/>
          <a:p>
            <a:r>
              <a:rPr lang="en-US" dirty="0"/>
              <a:t>Hospital Mgt – The Business Model for Clinic Management</a:t>
            </a:r>
            <a:endParaRPr lang="aa-ET" dirty="0"/>
          </a:p>
        </p:txBody>
      </p:sp>
      <p:sp>
        <p:nvSpPr>
          <p:cNvPr id="4" name="Slide Number Placeholder 3">
            <a:extLst>
              <a:ext uri="{FF2B5EF4-FFF2-40B4-BE49-F238E27FC236}">
                <a16:creationId xmlns:a16="http://schemas.microsoft.com/office/drawing/2014/main" id="{C37CF6D5-37B9-4018-9627-4C7AAEEF7EEA}"/>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40</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BCBFB9B9-C358-4C3A-871C-97E055FB2D82}"/>
              </a:ext>
            </a:extLst>
          </p:cNvPr>
          <p:cNvGrpSpPr/>
          <p:nvPr/>
        </p:nvGrpSpPr>
        <p:grpSpPr>
          <a:xfrm>
            <a:off x="165653" y="1014027"/>
            <a:ext cx="11860695" cy="5790355"/>
            <a:chOff x="0" y="592802"/>
            <a:chExt cx="12192000" cy="6245731"/>
          </a:xfrm>
        </p:grpSpPr>
        <p:grpSp>
          <p:nvGrpSpPr>
            <p:cNvPr id="44" name="Group 43">
              <a:extLst>
                <a:ext uri="{FF2B5EF4-FFF2-40B4-BE49-F238E27FC236}">
                  <a16:creationId xmlns:a16="http://schemas.microsoft.com/office/drawing/2014/main" id="{28326729-5632-4D7D-93D7-8CD977F074FC}"/>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738A2959-A411-477C-91AF-40488CC57F9B}"/>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0873C386-4643-4E67-8F42-6AF082151BDE}"/>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42B8E3D8-5FDE-448C-8717-409B2A93AB6B}"/>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23C0C071-BA0E-45B3-8B35-0E4E39052872}"/>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DD04B33D-DED1-4016-A0AD-2DF30CEDDB6A}"/>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B32CFDC0-B7FE-43CD-8048-25BE4359248C}"/>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CBC49B19-1797-42A0-AD69-6F5FA510F642}"/>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5A24A445-08C8-46E4-A6B0-370CC6A5F266}"/>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0724085-5D03-4945-A688-C86A8FA191F7}"/>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8CDA1CFC-09CB-4602-8617-B19F95D557DB}"/>
                    </a:ext>
                  </a:extLst>
                </p:cNvPr>
                <p:cNvSpPr/>
                <p:nvPr/>
              </p:nvSpPr>
              <p:spPr>
                <a:xfrm>
                  <a:off x="8505369" y="1545348"/>
                  <a:ext cx="2333171" cy="3244201"/>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DDF56B71-62BB-4E37-998F-73531B82D74A}"/>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FF81E599-BB48-47D8-958A-D665392B9BDE}"/>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78837E8B-2FC3-4BAB-AE40-4A1BBEF6F014}"/>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8AE36140-8243-41DC-9F32-7B88DCC49381}"/>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EA04B7C6-EE32-495A-AFA3-2819A20A2907}"/>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17BD8375-1F19-4FFC-88DD-4EDC057A1651}"/>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336BD34A-D5EE-4A7F-8E84-0E759F8DDD66}"/>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2EF1921F-12A0-4292-AB5D-1501C1D3E538}"/>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2B746FF4-98AE-4B13-A45F-0CB3074BE7D5}"/>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CABD64A8-337C-4BF8-943E-F97A0429DF92}"/>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494FB167-9A1E-4DF7-9219-5A69202742E1}"/>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5DB11723-B083-4EB0-8F12-FE61419B9384}"/>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863B1A3B-E216-4DDC-B1A4-00FACFFFFA6B}"/>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1E8ADF63-2B9B-42D9-AD5F-46BAA0A45177}"/>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40FB48B-EDA1-484C-BEA9-683C73F87977}"/>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4426BB46-C43C-4379-AD2A-EAAD989EB398}"/>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63F99D56-8E70-4B43-8557-11A31811986E}"/>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1E358D9F-74F3-4A1B-A6A7-E924B8FC4425}"/>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EF5FFAF0-BD79-4FEE-B5C1-6B75D032B4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7AFBE5B2-D998-405D-BD69-8C2004A2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432C5BF7-31A1-4AEF-89F5-C5277A9DB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4CEF3EE3-5874-4597-B3E9-FC654F80ADC4}"/>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7BE92280-B220-4E84-95CB-ADEB37FB90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6E21737A-9451-42CD-9A52-631C4F4E55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3E501113-04A5-422E-979D-66E018A94D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7D125629-A9F1-4DCF-B1E6-0BB097644B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CAE06C6-C7E9-4CB7-A2BD-E9EDFEC8C0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AF75EBDB-DA3B-4588-B6CB-C878C0C96414}"/>
                </a:ext>
              </a:extLst>
            </p:cNvPr>
            <p:cNvSpPr txBox="1"/>
            <p:nvPr/>
          </p:nvSpPr>
          <p:spPr>
            <a:xfrm>
              <a:off x="9581360" y="1171957"/>
              <a:ext cx="2441781" cy="1331798"/>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Manufacturing</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2 Oil and Gas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Banks and financial institutions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Maritime </a:t>
              </a:r>
              <a:r>
                <a:rPr lang="en-US" sz="1400" dirty="0" err="1">
                  <a:latin typeface="Corbel" panose="020B0503020204020204" pitchFamily="34" charset="0"/>
                  <a:ea typeface="Cambria" panose="02040503050406030204" pitchFamily="18" charset="0"/>
                  <a:cs typeface="Times New Roman" panose="02020603050405020304" pitchFamily="18" charset="0"/>
                </a:rPr>
                <a:t>coys</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515E16-E8EA-428F-8353-C27672622128}"/>
                </a:ext>
              </a:extLst>
            </p:cNvPr>
            <p:cNvSpPr txBox="1"/>
            <p:nvPr/>
          </p:nvSpPr>
          <p:spPr>
            <a:xfrm>
              <a:off x="2222349" y="1040065"/>
              <a:ext cx="2214758" cy="207771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b="1" dirty="0">
                  <a:latin typeface="Corbel" panose="020B0503020204020204" pitchFamily="34" charset="0"/>
                  <a:ea typeface="Cambria" panose="02040503050406030204" pitchFamily="18" charset="0"/>
                  <a:cs typeface="Times New Roman" panose="02020603050405020304" pitchFamily="18" charset="0"/>
                </a:rPr>
                <a:t>Human Resource Managers : </a:t>
              </a:r>
              <a:r>
                <a:rPr lang="en-US" sz="1400" dirty="0">
                  <a:latin typeface="Corbel" panose="020B0503020204020204" pitchFamily="34" charset="0"/>
                  <a:ea typeface="Cambria" panose="02040503050406030204" pitchFamily="18" charset="0"/>
                  <a:cs typeface="Times New Roman" panose="02020603050405020304" pitchFamily="18" charset="0"/>
                </a:rPr>
                <a:t>HR of client company </a:t>
              </a:r>
            </a:p>
            <a:p>
              <a:pPr marL="285750" lvl="0" indent="-285750">
                <a:lnSpc>
                  <a:spcPct val="107000"/>
                </a:lnSpc>
                <a:spcAft>
                  <a:spcPts val="0"/>
                </a:spcAft>
                <a:buFont typeface="Arial" panose="020B0604020202020204" pitchFamily="34" charset="0"/>
                <a:buChar char="•"/>
              </a:pPr>
              <a:r>
                <a:rPr lang="en-US" sz="1400" b="1" dirty="0">
                  <a:latin typeface="Corbel" panose="020B0503020204020204" pitchFamily="34" charset="0"/>
                  <a:ea typeface="Cambria" panose="02040503050406030204" pitchFamily="18" charset="0"/>
                  <a:cs typeface="Times New Roman" panose="02020603050405020304" pitchFamily="18" charset="0"/>
                </a:rPr>
                <a:t>Procurement Manager </a:t>
              </a:r>
              <a:r>
                <a:rPr lang="en-US" sz="1400" dirty="0">
                  <a:latin typeface="Corbel" panose="020B0503020204020204" pitchFamily="34" charset="0"/>
                  <a:ea typeface="Cambria" panose="02040503050406030204" pitchFamily="18" charset="0"/>
                  <a:cs typeface="Times New Roman" panose="02020603050405020304" pitchFamily="18" charset="0"/>
                </a:rPr>
                <a:t>of Client companies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Medical Advisors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GPs Divisions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46382C8-B94C-46B8-B6C5-EC46960134AE}"/>
                </a:ext>
              </a:extLst>
            </p:cNvPr>
            <p:cNvSpPr txBox="1"/>
            <p:nvPr/>
          </p:nvSpPr>
          <p:spPr>
            <a:xfrm>
              <a:off x="7029927" y="2980674"/>
              <a:ext cx="2441781" cy="207771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Industry partners Referral</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Existing Corporate Companies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Lead generation and marketing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Sales Marketing through proposals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C441AC-3B93-4EF4-9BBF-FD63012A9ECA}"/>
                </a:ext>
              </a:extLst>
            </p:cNvPr>
            <p:cNvSpPr txBox="1"/>
            <p:nvPr/>
          </p:nvSpPr>
          <p:spPr>
            <a:xfrm>
              <a:off x="108130" y="1172805"/>
              <a:ext cx="2165589" cy="4066841"/>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Full Clinic Mgt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Industrial Clinic Staffing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Diagnostics &amp; Pharma unit mgt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Industrial Clinic staff supervision and management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Emergency Services provision</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Equipment and Drugs Supplies &amp; inventory management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Referral and Case management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11539F9A-D48D-485F-91FA-A46548E9D3D9}"/>
                </a:ext>
              </a:extLst>
            </p:cNvPr>
            <p:cNvSpPr txBox="1"/>
            <p:nvPr/>
          </p:nvSpPr>
          <p:spPr>
            <a:xfrm>
              <a:off x="2250521" y="3671555"/>
              <a:ext cx="2257890" cy="108315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Well qualified and training medical staff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Clinical Governance system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21D766E1-E27B-424E-8C9D-1105B969C40D}"/>
                </a:ext>
              </a:extLst>
            </p:cNvPr>
            <p:cNvSpPr txBox="1"/>
            <p:nvPr/>
          </p:nvSpPr>
          <p:spPr>
            <a:xfrm>
              <a:off x="47634" y="5735442"/>
              <a:ext cx="4747510" cy="59687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Direct staff cost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Indirect – Operations cost </a:t>
              </a:r>
            </a:p>
          </p:txBody>
        </p:sp>
        <p:sp>
          <p:nvSpPr>
            <p:cNvPr id="51" name="TextBox 50">
              <a:extLst>
                <a:ext uri="{FF2B5EF4-FFF2-40B4-BE49-F238E27FC236}">
                  <a16:creationId xmlns:a16="http://schemas.microsoft.com/office/drawing/2014/main" id="{48AB75F9-4294-4081-8659-84835AC1A04B}"/>
                </a:ext>
              </a:extLst>
            </p:cNvPr>
            <p:cNvSpPr txBox="1"/>
            <p:nvPr/>
          </p:nvSpPr>
          <p:spPr>
            <a:xfrm>
              <a:off x="6512859" y="5258094"/>
              <a:ext cx="4747510" cy="158043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Clinic set-up contracts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Capitation model payments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Fee for Service payments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Clinic staffing and service charges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Clinic management fees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Pharmaceuticals &amp; Diagnostics Outfit mgt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65CE81F9-0672-424B-B444-669E75B6FE66}"/>
                </a:ext>
              </a:extLst>
            </p:cNvPr>
            <p:cNvSpPr txBox="1"/>
            <p:nvPr/>
          </p:nvSpPr>
          <p:spPr>
            <a:xfrm>
              <a:off x="4508411" y="1041534"/>
              <a:ext cx="2501699" cy="207771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Operations &amp; Mgt Systems</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Access to World-class hospital mgt provider partnerships</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Highly qualified staff</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Clinical Activities  Over sight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70DA8E29-8A9A-4342-9C40-ACD3D671D9BA}"/>
                </a:ext>
              </a:extLst>
            </p:cNvPr>
            <p:cNvSpPr txBox="1"/>
            <p:nvPr/>
          </p:nvSpPr>
          <p:spPr>
            <a:xfrm>
              <a:off x="7108605" y="1068248"/>
              <a:ext cx="2441781" cy="84551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Key Account Management KAM</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Monthly reporting </a:t>
              </a:r>
            </a:p>
          </p:txBody>
        </p:sp>
      </p:grpSp>
    </p:spTree>
    <p:extLst>
      <p:ext uri="{BB962C8B-B14F-4D97-AF65-F5344CB8AC3E}">
        <p14:creationId xmlns:p14="http://schemas.microsoft.com/office/powerpoint/2010/main" val="207540385"/>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E42C-0073-4D11-AAF9-842A47C82A48}"/>
              </a:ext>
            </a:extLst>
          </p:cNvPr>
          <p:cNvSpPr>
            <a:spLocks noGrp="1"/>
          </p:cNvSpPr>
          <p:nvPr>
            <p:ph type="title"/>
          </p:nvPr>
        </p:nvSpPr>
        <p:spPr>
          <a:xfrm>
            <a:off x="838200" y="320328"/>
            <a:ext cx="10145590" cy="538509"/>
          </a:xfrm>
        </p:spPr>
        <p:txBody>
          <a:bodyPr/>
          <a:lstStyle/>
          <a:p>
            <a:r>
              <a:rPr lang="en-US" dirty="0" err="1"/>
              <a:t>MedProject</a:t>
            </a:r>
            <a:r>
              <a:rPr lang="en-US" dirty="0"/>
              <a:t>  – The Business Model for Onsite Medical Assessment Project </a:t>
            </a:r>
            <a:endParaRPr lang="aa-ET" dirty="0"/>
          </a:p>
        </p:txBody>
      </p:sp>
      <p:sp>
        <p:nvSpPr>
          <p:cNvPr id="4" name="Slide Number Placeholder 3">
            <a:extLst>
              <a:ext uri="{FF2B5EF4-FFF2-40B4-BE49-F238E27FC236}">
                <a16:creationId xmlns:a16="http://schemas.microsoft.com/office/drawing/2014/main" id="{C37CF6D5-37B9-4018-9627-4C7AAEEF7EEA}"/>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41</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BCBFB9B9-C358-4C3A-871C-97E055FB2D82}"/>
              </a:ext>
            </a:extLst>
          </p:cNvPr>
          <p:cNvGrpSpPr/>
          <p:nvPr/>
        </p:nvGrpSpPr>
        <p:grpSpPr>
          <a:xfrm>
            <a:off x="165653" y="1014027"/>
            <a:ext cx="11860695" cy="5774401"/>
            <a:chOff x="0" y="592802"/>
            <a:chExt cx="12192000" cy="6228522"/>
          </a:xfrm>
        </p:grpSpPr>
        <p:grpSp>
          <p:nvGrpSpPr>
            <p:cNvPr id="44" name="Group 43">
              <a:extLst>
                <a:ext uri="{FF2B5EF4-FFF2-40B4-BE49-F238E27FC236}">
                  <a16:creationId xmlns:a16="http://schemas.microsoft.com/office/drawing/2014/main" id="{28326729-5632-4D7D-93D7-8CD977F074FC}"/>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738A2959-A411-477C-91AF-40488CC57F9B}"/>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0873C386-4643-4E67-8F42-6AF082151BDE}"/>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42B8E3D8-5FDE-448C-8717-409B2A93AB6B}"/>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23C0C071-BA0E-45B3-8B35-0E4E39052872}"/>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DD04B33D-DED1-4016-A0AD-2DF30CEDDB6A}"/>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B32CFDC0-B7FE-43CD-8048-25BE4359248C}"/>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CBC49B19-1797-42A0-AD69-6F5FA510F642}"/>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5A24A445-08C8-46E4-A6B0-370CC6A5F266}"/>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0724085-5D03-4945-A688-C86A8FA191F7}"/>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8CDA1CFC-09CB-4602-8617-B19F95D557DB}"/>
                    </a:ext>
                  </a:extLst>
                </p:cNvPr>
                <p:cNvSpPr/>
                <p:nvPr/>
              </p:nvSpPr>
              <p:spPr>
                <a:xfrm>
                  <a:off x="8505369" y="1436750"/>
                  <a:ext cx="2333171" cy="3352799"/>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DDF56B71-62BB-4E37-998F-73531B82D74A}"/>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FF81E599-BB48-47D8-958A-D665392B9BDE}"/>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78837E8B-2FC3-4BAB-AE40-4A1BBEF6F014}"/>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8AE36140-8243-41DC-9F32-7B88DCC49381}"/>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EA04B7C6-EE32-495A-AFA3-2819A20A2907}"/>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17BD8375-1F19-4FFC-88DD-4EDC057A1651}"/>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336BD34A-D5EE-4A7F-8E84-0E759F8DDD66}"/>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2EF1921F-12A0-4292-AB5D-1501C1D3E538}"/>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2B746FF4-98AE-4B13-A45F-0CB3074BE7D5}"/>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CABD64A8-337C-4BF8-943E-F97A0429DF92}"/>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494FB167-9A1E-4DF7-9219-5A69202742E1}"/>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5DB11723-B083-4EB0-8F12-FE61419B9384}"/>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863B1A3B-E216-4DDC-B1A4-00FACFFFFA6B}"/>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1E8ADF63-2B9B-42D9-AD5F-46BAA0A45177}"/>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40FB48B-EDA1-484C-BEA9-683C73F87977}"/>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4426BB46-C43C-4379-AD2A-EAAD989EB398}"/>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63F99D56-8E70-4B43-8557-11A31811986E}"/>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1E358D9F-74F3-4A1B-A6A7-E924B8FC4425}"/>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EF5FFAF0-BD79-4FEE-B5C1-6B75D032B4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7AFBE5B2-D998-405D-BD69-8C2004A2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432C5BF7-31A1-4AEF-89F5-C5277A9DB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4CEF3EE3-5874-4597-B3E9-FC654F80ADC4}"/>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7BE92280-B220-4E84-95CB-ADEB37FB90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6E21737A-9451-42CD-9A52-631C4F4E55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3E501113-04A5-422E-979D-66E018A94D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7D125629-A9F1-4DCF-B1E6-0BB097644B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CAE06C6-C7E9-4CB7-A2BD-E9EDFEC8C0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AF75EBDB-DA3B-4588-B6CB-C878C0C96414}"/>
                </a:ext>
              </a:extLst>
            </p:cNvPr>
            <p:cNvSpPr txBox="1"/>
            <p:nvPr/>
          </p:nvSpPr>
          <p:spPr>
            <a:xfrm>
              <a:off x="9587786" y="1992128"/>
              <a:ext cx="2441781" cy="134279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and 2 Food and Beverage companies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Cement companies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and 2  Banks</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515E16-E8EA-428F-8353-C27672622128}"/>
                </a:ext>
              </a:extLst>
            </p:cNvPr>
            <p:cNvSpPr txBox="1"/>
            <p:nvPr/>
          </p:nvSpPr>
          <p:spPr>
            <a:xfrm>
              <a:off x="2222349" y="1040065"/>
              <a:ext cx="2214758" cy="108315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Consumables supplier</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Client medical representatives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FMOH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46382C8-B94C-46B8-B6C5-EC46960134AE}"/>
                </a:ext>
              </a:extLst>
            </p:cNvPr>
            <p:cNvSpPr txBox="1"/>
            <p:nvPr/>
          </p:nvSpPr>
          <p:spPr>
            <a:xfrm>
              <a:off x="7040756" y="3226715"/>
              <a:ext cx="2441781" cy="134279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Digital Marketing Agency</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Mobile App</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Website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Social Media</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Conference Sponsorship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C441AC-3B93-4EF4-9BBF-FD63012A9ECA}"/>
                </a:ext>
              </a:extLst>
            </p:cNvPr>
            <p:cNvSpPr txBox="1"/>
            <p:nvPr/>
          </p:nvSpPr>
          <p:spPr>
            <a:xfrm>
              <a:off x="81695" y="1589001"/>
              <a:ext cx="2165589" cy="258599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Onsite medical assessment of employees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management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Collation of laboratory and clinical findings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Uploading on EMR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Presentation of summary report</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11539F9A-D48D-485F-91FA-A46548E9D3D9}"/>
                </a:ext>
              </a:extLst>
            </p:cNvPr>
            <p:cNvSpPr txBox="1"/>
            <p:nvPr/>
          </p:nvSpPr>
          <p:spPr>
            <a:xfrm>
              <a:off x="2250521" y="3631809"/>
              <a:ext cx="2257890" cy="1331798"/>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Vencor partners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team</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supervisor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EMR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Finance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21D766E1-E27B-424E-8C9D-1105B969C40D}"/>
                </a:ext>
              </a:extLst>
            </p:cNvPr>
            <p:cNvSpPr txBox="1"/>
            <p:nvPr/>
          </p:nvSpPr>
          <p:spPr>
            <a:xfrm>
              <a:off x="47634" y="5735442"/>
              <a:ext cx="4747510" cy="84551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Purchase Order for consumables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Direct cost of personnel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Indirect cost of logistics ,accommodation </a:t>
              </a:r>
              <a:r>
                <a:rPr lang="en-US" sz="1400" dirty="0" err="1">
                  <a:latin typeface="Corbel" panose="020B0503020204020204" pitchFamily="34" charset="0"/>
                  <a:ea typeface="Cambria" panose="02040503050406030204" pitchFamily="18" charset="0"/>
                  <a:cs typeface="Times New Roman" panose="02020603050405020304" pitchFamily="18" charset="0"/>
                </a:rPr>
                <a:t>etc</a:t>
              </a:r>
              <a:r>
                <a:rPr lang="en-US" sz="1400" dirty="0">
                  <a:latin typeface="Corbel" panose="020B0503020204020204" pitchFamily="34" charset="0"/>
                  <a:ea typeface="Cambria" panose="02040503050406030204" pitchFamily="18" charset="0"/>
                  <a:cs typeface="Times New Roman" panose="02020603050405020304" pitchFamily="18" charset="0"/>
                </a:rPr>
                <a:t> 	</a:t>
              </a:r>
            </a:p>
          </p:txBody>
        </p:sp>
        <p:sp>
          <p:nvSpPr>
            <p:cNvPr id="51" name="TextBox 50">
              <a:extLst>
                <a:ext uri="{FF2B5EF4-FFF2-40B4-BE49-F238E27FC236}">
                  <a16:creationId xmlns:a16="http://schemas.microsoft.com/office/drawing/2014/main" id="{48AB75F9-4294-4081-8659-84835AC1A04B}"/>
                </a:ext>
              </a:extLst>
            </p:cNvPr>
            <p:cNvSpPr txBox="1"/>
            <p:nvPr/>
          </p:nvSpPr>
          <p:spPr>
            <a:xfrm>
              <a:off x="6559781" y="5588850"/>
              <a:ext cx="4747510" cy="3482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Onsite Medical Testing Project Fees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65CE81F9-0672-424B-B444-669E75B6FE66}"/>
                </a:ext>
              </a:extLst>
            </p:cNvPr>
            <p:cNvSpPr txBox="1"/>
            <p:nvPr/>
          </p:nvSpPr>
          <p:spPr>
            <a:xfrm>
              <a:off x="4566898" y="1420932"/>
              <a:ext cx="2501699" cy="208871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Convenient onsite Medical Assessment for staff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All reports in one place EMR</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Analysis of reports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Occupational Health Aligned Fitness Decision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Follow up and mop up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70DA8E29-8A9A-4342-9C40-ACD3D671D9BA}"/>
                </a:ext>
              </a:extLst>
            </p:cNvPr>
            <p:cNvSpPr txBox="1"/>
            <p:nvPr/>
          </p:nvSpPr>
          <p:spPr>
            <a:xfrm>
              <a:off x="7108605" y="1068248"/>
              <a:ext cx="2441781" cy="834518"/>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Excellent Key Account Management </a:t>
              </a: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1751222910"/>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E42C-0073-4D11-AAF9-842A47C82A48}"/>
              </a:ext>
            </a:extLst>
          </p:cNvPr>
          <p:cNvSpPr>
            <a:spLocks noGrp="1"/>
          </p:cNvSpPr>
          <p:nvPr>
            <p:ph type="title"/>
          </p:nvPr>
        </p:nvSpPr>
        <p:spPr>
          <a:xfrm>
            <a:off x="838200" y="320328"/>
            <a:ext cx="10145590" cy="538509"/>
          </a:xfrm>
        </p:spPr>
        <p:txBody>
          <a:bodyPr/>
          <a:lstStyle/>
          <a:p>
            <a:r>
              <a:rPr lang="en-US" dirty="0" err="1"/>
              <a:t>MedAdvisory</a:t>
            </a:r>
            <a:r>
              <a:rPr lang="en-US" dirty="0"/>
              <a:t>  – The Business Model for Medical Advisory and Occupational Hygiene</a:t>
            </a:r>
            <a:endParaRPr lang="aa-ET" dirty="0"/>
          </a:p>
        </p:txBody>
      </p:sp>
      <p:sp>
        <p:nvSpPr>
          <p:cNvPr id="4" name="Slide Number Placeholder 3">
            <a:extLst>
              <a:ext uri="{FF2B5EF4-FFF2-40B4-BE49-F238E27FC236}">
                <a16:creationId xmlns:a16="http://schemas.microsoft.com/office/drawing/2014/main" id="{C37CF6D5-37B9-4018-9627-4C7AAEEF7EEA}"/>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42</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BCBFB9B9-C358-4C3A-871C-97E055FB2D82}"/>
              </a:ext>
            </a:extLst>
          </p:cNvPr>
          <p:cNvGrpSpPr/>
          <p:nvPr/>
        </p:nvGrpSpPr>
        <p:grpSpPr>
          <a:xfrm>
            <a:off x="151956" y="1014027"/>
            <a:ext cx="11874392" cy="5889215"/>
            <a:chOff x="-14080" y="592802"/>
            <a:chExt cx="12206080" cy="6352365"/>
          </a:xfrm>
        </p:grpSpPr>
        <p:grpSp>
          <p:nvGrpSpPr>
            <p:cNvPr id="44" name="Group 43">
              <a:extLst>
                <a:ext uri="{FF2B5EF4-FFF2-40B4-BE49-F238E27FC236}">
                  <a16:creationId xmlns:a16="http://schemas.microsoft.com/office/drawing/2014/main" id="{28326729-5632-4D7D-93D7-8CD977F074FC}"/>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738A2959-A411-477C-91AF-40488CC57F9B}"/>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0873C386-4643-4E67-8F42-6AF082151BDE}"/>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42B8E3D8-5FDE-448C-8717-409B2A93AB6B}"/>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23C0C071-BA0E-45B3-8B35-0E4E39052872}"/>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DD04B33D-DED1-4016-A0AD-2DF30CEDDB6A}"/>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B32CFDC0-B7FE-43CD-8048-25BE4359248C}"/>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CBC49B19-1797-42A0-AD69-6F5FA510F642}"/>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5A24A445-08C8-46E4-A6B0-370CC6A5F266}"/>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0724085-5D03-4945-A688-C86A8FA191F7}"/>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8CDA1CFC-09CB-4602-8617-B19F95D557DB}"/>
                    </a:ext>
                  </a:extLst>
                </p:cNvPr>
                <p:cNvSpPr/>
                <p:nvPr/>
              </p:nvSpPr>
              <p:spPr>
                <a:xfrm>
                  <a:off x="8505369" y="1436750"/>
                  <a:ext cx="2333171" cy="3352799"/>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DDF56B71-62BB-4E37-998F-73531B82D74A}"/>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FF81E599-BB48-47D8-958A-D665392B9BDE}"/>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78837E8B-2FC3-4BAB-AE40-4A1BBEF6F014}"/>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8AE36140-8243-41DC-9F32-7B88DCC49381}"/>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EA04B7C6-EE32-495A-AFA3-2819A20A2907}"/>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17BD8375-1F19-4FFC-88DD-4EDC057A1651}"/>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336BD34A-D5EE-4A7F-8E84-0E759F8DDD66}"/>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2EF1921F-12A0-4292-AB5D-1501C1D3E538}"/>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2B746FF4-98AE-4B13-A45F-0CB3074BE7D5}"/>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CABD64A8-337C-4BF8-943E-F97A0429DF92}"/>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494FB167-9A1E-4DF7-9219-5A69202742E1}"/>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5DB11723-B083-4EB0-8F12-FE61419B9384}"/>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863B1A3B-E216-4DDC-B1A4-00FACFFFFA6B}"/>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1E8ADF63-2B9B-42D9-AD5F-46BAA0A45177}"/>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40FB48B-EDA1-484C-BEA9-683C73F87977}"/>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4426BB46-C43C-4379-AD2A-EAAD989EB398}"/>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63F99D56-8E70-4B43-8557-11A31811986E}"/>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1E358D9F-74F3-4A1B-A6A7-E924B8FC4425}"/>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EF5FFAF0-BD79-4FEE-B5C1-6B75D032B4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7AFBE5B2-D998-405D-BD69-8C2004A2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432C5BF7-31A1-4AEF-89F5-C5277A9DB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4CEF3EE3-5874-4597-B3E9-FC654F80ADC4}"/>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7BE92280-B220-4E84-95CB-ADEB37FB90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6E21737A-9451-42CD-9A52-631C4F4E55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3E501113-04A5-422E-979D-66E018A94D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7D125629-A9F1-4DCF-B1E6-0BB097644B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CAE06C6-C7E9-4CB7-A2BD-E9EDFEC8C0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AF75EBDB-DA3B-4588-B6CB-C878C0C96414}"/>
                </a:ext>
              </a:extLst>
            </p:cNvPr>
            <p:cNvSpPr txBox="1"/>
            <p:nvPr/>
          </p:nvSpPr>
          <p:spPr>
            <a:xfrm>
              <a:off x="9587786" y="1992128"/>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 Oil and Gas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and 2 – Manufacturing Companies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Corporate Organizations – Banking, Telco </a:t>
              </a:r>
              <a:r>
                <a:rPr lang="en-US" sz="1400" dirty="0" err="1">
                  <a:latin typeface="Corbel" panose="020B0503020204020204" pitchFamily="34" charset="0"/>
                  <a:ea typeface="Cambria" panose="02040503050406030204" pitchFamily="18" charset="0"/>
                  <a:cs typeface="Times New Roman" panose="02020603050405020304" pitchFamily="18" charset="0"/>
                </a:rPr>
                <a:t>Etc</a:t>
              </a:r>
              <a:r>
                <a:rPr lang="en-US" sz="1400" dirty="0">
                  <a:latin typeface="Corbel" panose="020B0503020204020204" pitchFamily="34" charset="0"/>
                  <a:ea typeface="Cambria" panose="02040503050406030204" pitchFamily="18" charset="0"/>
                  <a:cs typeface="Times New Roman" panose="02020603050405020304" pitchFamily="18" charset="0"/>
                </a:rPr>
                <a: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515E16-E8EA-428F-8353-C27672622128}"/>
                </a:ext>
              </a:extLst>
            </p:cNvPr>
            <p:cNvSpPr txBox="1"/>
            <p:nvPr/>
          </p:nvSpPr>
          <p:spPr>
            <a:xfrm>
              <a:off x="2222349" y="1040065"/>
              <a:ext cx="2214758" cy="1580439"/>
            </a:xfrm>
            <a:prstGeom prst="rect">
              <a:avLst/>
            </a:prstGeom>
            <a:noFill/>
          </p:spPr>
          <p:txBody>
            <a:bodyPr wrap="square" rtlCol="0">
              <a:spAutoFit/>
            </a:bodyPr>
            <a:lstStyle/>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3</a:t>
              </a:r>
              <a:r>
                <a:rPr lang="en-US" sz="1400" baseline="30000" dirty="0">
                  <a:latin typeface="Corbel" panose="020B0503020204020204" pitchFamily="34" charset="0"/>
                  <a:ea typeface="Cambria" panose="02040503050406030204" pitchFamily="18" charset="0"/>
                  <a:cs typeface="Times New Roman" panose="02020603050405020304" pitchFamily="18" charset="0"/>
                </a:rPr>
                <a:t>rd</a:t>
              </a:r>
              <a:r>
                <a:rPr lang="en-US" sz="1400" dirty="0">
                  <a:latin typeface="Corbel" panose="020B0503020204020204" pitchFamily="34" charset="0"/>
                  <a:ea typeface="Cambria" panose="02040503050406030204" pitchFamily="18" charset="0"/>
                  <a:cs typeface="Times New Roman" panose="02020603050405020304" pitchFamily="18" charset="0"/>
                </a:rPr>
                <a:t> Party Vendors – </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SOEPHON</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Consultancy services of Occ hygiene service provider</a:t>
              </a:r>
            </a:p>
            <a:p>
              <a:pPr marL="285750" lvl="0" indent="-285750" algn="just">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46382C8-B94C-46B8-B6C5-EC46960134AE}"/>
                </a:ext>
              </a:extLst>
            </p:cNvPr>
            <p:cNvSpPr txBox="1"/>
            <p:nvPr/>
          </p:nvSpPr>
          <p:spPr>
            <a:xfrm>
              <a:off x="7040756" y="3226715"/>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Digital Marketing Agency</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Website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Social Media</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Referral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Proposal Submission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C441AC-3B93-4EF4-9BBF-FD63012A9ECA}"/>
                </a:ext>
              </a:extLst>
            </p:cNvPr>
            <p:cNvSpPr txBox="1"/>
            <p:nvPr/>
          </p:nvSpPr>
          <p:spPr>
            <a:xfrm>
              <a:off x="-14080" y="1132848"/>
              <a:ext cx="2165589" cy="3072280"/>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Needs Analysis engagements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Corporate Medical Advice/ Reports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Occupational Hygiene Measurements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Health risk assessments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OHP services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MRO Services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Medical Training Services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11539F9A-D48D-485F-91FA-A46548E9D3D9}"/>
                </a:ext>
              </a:extLst>
            </p:cNvPr>
            <p:cNvSpPr txBox="1"/>
            <p:nvPr/>
          </p:nvSpPr>
          <p:spPr>
            <a:xfrm>
              <a:off x="2250521" y="3491576"/>
              <a:ext cx="2257890"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Occupational Health Specialist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Medical Advisor</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Industrial Hygiene specialist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21D766E1-E27B-424E-8C9D-1105B969C40D}"/>
                </a:ext>
              </a:extLst>
            </p:cNvPr>
            <p:cNvSpPr txBox="1"/>
            <p:nvPr/>
          </p:nvSpPr>
          <p:spPr>
            <a:xfrm>
              <a:off x="47634" y="5735442"/>
              <a:ext cx="4747510" cy="59687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Monthly Salary of </a:t>
              </a:r>
              <a:r>
                <a:rPr lang="en-US" sz="1400" dirty="0" err="1">
                  <a:latin typeface="Corbel" panose="020B0503020204020204" pitchFamily="34" charset="0"/>
                  <a:ea typeface="Cambria" panose="02040503050406030204" pitchFamily="18" charset="0"/>
                  <a:cs typeface="Times New Roman" panose="02020603050405020304" pitchFamily="18" charset="0"/>
                </a:rPr>
                <a:t>Medadvisor</a:t>
              </a:r>
              <a:endParaRPr lang="en-US" sz="14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3</a:t>
              </a:r>
              <a:r>
                <a:rPr lang="en-US" sz="1400" baseline="30000" dirty="0">
                  <a:latin typeface="Corbel" panose="020B0503020204020204" pitchFamily="34" charset="0"/>
                  <a:ea typeface="Cambria" panose="02040503050406030204" pitchFamily="18" charset="0"/>
                  <a:cs typeface="Times New Roman" panose="02020603050405020304" pitchFamily="18" charset="0"/>
                </a:rPr>
                <a:t>rd</a:t>
              </a:r>
              <a:r>
                <a:rPr lang="en-US" sz="1400" dirty="0">
                  <a:latin typeface="Corbel" panose="020B0503020204020204" pitchFamily="34" charset="0"/>
                  <a:ea typeface="Cambria" panose="02040503050406030204" pitchFamily="18" charset="0"/>
                  <a:cs typeface="Times New Roman" panose="02020603050405020304" pitchFamily="18" charset="0"/>
                </a:rPr>
                <a:t> Party Consultant Fees per project </a:t>
              </a:r>
            </a:p>
          </p:txBody>
        </p:sp>
        <p:sp>
          <p:nvSpPr>
            <p:cNvPr id="51" name="TextBox 50">
              <a:extLst>
                <a:ext uri="{FF2B5EF4-FFF2-40B4-BE49-F238E27FC236}">
                  <a16:creationId xmlns:a16="http://schemas.microsoft.com/office/drawing/2014/main" id="{48AB75F9-4294-4081-8659-84835AC1A04B}"/>
                </a:ext>
              </a:extLst>
            </p:cNvPr>
            <p:cNvSpPr txBox="1"/>
            <p:nvPr/>
          </p:nvSpPr>
          <p:spPr>
            <a:xfrm>
              <a:off x="6338753" y="5364728"/>
              <a:ext cx="4747510" cy="158043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Monthly Charge for </a:t>
              </a:r>
              <a:r>
                <a:rPr lang="en-US" sz="1400" dirty="0" err="1">
                  <a:latin typeface="Corbel" panose="020B0503020204020204" pitchFamily="34" charset="0"/>
                  <a:ea typeface="Cambria" panose="02040503050406030204" pitchFamily="18" charset="0"/>
                  <a:cs typeface="Times New Roman" panose="02020603050405020304" pitchFamily="18" charset="0"/>
                </a:rPr>
                <a:t>Medadvisory</a:t>
              </a:r>
              <a:r>
                <a:rPr lang="en-US" sz="1400" dirty="0">
                  <a:latin typeface="Corbel" panose="020B0503020204020204" pitchFamily="34" charset="0"/>
                  <a:ea typeface="Cambria" panose="02040503050406030204" pitchFamily="18" charset="0"/>
                  <a:cs typeface="Times New Roman" panose="02020603050405020304" pitchFamily="18" charset="0"/>
                </a:rPr>
                <a:t> Services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Contract fee per project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Consultancy fees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OHP retainership </a:t>
              </a:r>
              <a:r>
                <a:rPr lang="en-US" sz="1400" dirty="0" err="1">
                  <a:latin typeface="Corbel" panose="020B0503020204020204" pitchFamily="34" charset="0"/>
                  <a:ea typeface="Cambria" panose="02040503050406030204" pitchFamily="18" charset="0"/>
                  <a:cs typeface="Times New Roman" panose="02020603050405020304" pitchFamily="18" charset="0"/>
                </a:rPr>
                <a:t>sharges</a:t>
              </a:r>
              <a:endParaRPr lang="en-US" sz="14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a:p>
              <a:pPr lvl="0">
                <a:lnSpc>
                  <a:spcPct val="107000"/>
                </a:lnSpc>
                <a:spcAft>
                  <a:spcPts val="0"/>
                </a:spcAft>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65CE81F9-0672-424B-B444-669E75B6FE66}"/>
                </a:ext>
              </a:extLst>
            </p:cNvPr>
            <p:cNvSpPr txBox="1"/>
            <p:nvPr/>
          </p:nvSpPr>
          <p:spPr>
            <a:xfrm>
              <a:off x="4508411" y="1041534"/>
              <a:ext cx="2501699" cy="208871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Professional Medical Advise</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Health Promotion Program Management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HMO Selection and management</a:t>
              </a:r>
            </a:p>
            <a:p>
              <a:pPr marL="285750" lvl="0" indent="-285750">
                <a:lnSpc>
                  <a:spcPct val="107000"/>
                </a:lnSpc>
                <a:spcAft>
                  <a:spcPts val="0"/>
                </a:spcAft>
                <a:buFont typeface="Arial" panose="020B0604020202020204" pitchFamily="34" charset="0"/>
                <a:buChar char="•"/>
              </a:pPr>
              <a:endParaRPr lang="en-US" sz="1400" dirty="0">
                <a:solidFill>
                  <a:prstClr val="black"/>
                </a:solidFill>
                <a:latin typeface="Corbel" panose="020B0503020204020204" pitchFamily="34" charset="0"/>
                <a:ea typeface="Cambria" panose="02040503050406030204" pitchFamily="18" charset="0"/>
                <a:cs typeface="Arial" panose="020B0604020202020204" pitchFamily="34" charset="0"/>
              </a:endParaRP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70DA8E29-8A9A-4342-9C40-ACD3D671D9BA}"/>
                </a:ext>
              </a:extLst>
            </p:cNvPr>
            <p:cNvSpPr txBox="1"/>
            <p:nvPr/>
          </p:nvSpPr>
          <p:spPr>
            <a:xfrm>
              <a:off x="7108605" y="1068248"/>
              <a:ext cx="2441781" cy="1083159"/>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Excellent technical support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Case Advisory </a:t>
              </a: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803517442"/>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E42C-0073-4D11-AAF9-842A47C82A48}"/>
              </a:ext>
            </a:extLst>
          </p:cNvPr>
          <p:cNvSpPr>
            <a:spLocks noGrp="1"/>
          </p:cNvSpPr>
          <p:nvPr>
            <p:ph type="title"/>
          </p:nvPr>
        </p:nvSpPr>
        <p:spPr>
          <a:xfrm>
            <a:off x="838200" y="320328"/>
            <a:ext cx="10145590" cy="538509"/>
          </a:xfrm>
        </p:spPr>
        <p:txBody>
          <a:bodyPr/>
          <a:lstStyle/>
          <a:p>
            <a:r>
              <a:rPr lang="en-US" dirty="0" err="1"/>
              <a:t>MedSustain</a:t>
            </a:r>
            <a:r>
              <a:rPr lang="en-US" dirty="0"/>
              <a:t> – The Business Model for </a:t>
            </a:r>
            <a:r>
              <a:rPr lang="en-US" dirty="0" err="1"/>
              <a:t>Medsustain</a:t>
            </a:r>
            <a:r>
              <a:rPr lang="en-US" dirty="0"/>
              <a:t> / CSR</a:t>
            </a:r>
            <a:endParaRPr lang="aa-ET" dirty="0"/>
          </a:p>
        </p:txBody>
      </p:sp>
      <p:sp>
        <p:nvSpPr>
          <p:cNvPr id="4" name="Slide Number Placeholder 3">
            <a:extLst>
              <a:ext uri="{FF2B5EF4-FFF2-40B4-BE49-F238E27FC236}">
                <a16:creationId xmlns:a16="http://schemas.microsoft.com/office/drawing/2014/main" id="{C37CF6D5-37B9-4018-9627-4C7AAEEF7EEA}"/>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43</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BCBFB9B9-C358-4C3A-871C-97E055FB2D82}"/>
              </a:ext>
            </a:extLst>
          </p:cNvPr>
          <p:cNvGrpSpPr/>
          <p:nvPr/>
        </p:nvGrpSpPr>
        <p:grpSpPr>
          <a:xfrm>
            <a:off x="165653" y="1014027"/>
            <a:ext cx="11860695" cy="5774401"/>
            <a:chOff x="0" y="592802"/>
            <a:chExt cx="12192000" cy="6228522"/>
          </a:xfrm>
        </p:grpSpPr>
        <p:grpSp>
          <p:nvGrpSpPr>
            <p:cNvPr id="44" name="Group 43">
              <a:extLst>
                <a:ext uri="{FF2B5EF4-FFF2-40B4-BE49-F238E27FC236}">
                  <a16:creationId xmlns:a16="http://schemas.microsoft.com/office/drawing/2014/main" id="{28326729-5632-4D7D-93D7-8CD977F074FC}"/>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738A2959-A411-477C-91AF-40488CC57F9B}"/>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0873C386-4643-4E67-8F42-6AF082151BDE}"/>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42B8E3D8-5FDE-448C-8717-409B2A93AB6B}"/>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23C0C071-BA0E-45B3-8B35-0E4E39052872}"/>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DD04B33D-DED1-4016-A0AD-2DF30CEDDB6A}"/>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B32CFDC0-B7FE-43CD-8048-25BE4359248C}"/>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CBC49B19-1797-42A0-AD69-6F5FA510F642}"/>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5A24A445-08C8-46E4-A6B0-370CC6A5F266}"/>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0724085-5D03-4945-A688-C86A8FA191F7}"/>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8CDA1CFC-09CB-4602-8617-B19F95D557DB}"/>
                    </a:ext>
                  </a:extLst>
                </p:cNvPr>
                <p:cNvSpPr/>
                <p:nvPr/>
              </p:nvSpPr>
              <p:spPr>
                <a:xfrm>
                  <a:off x="8505369" y="1436750"/>
                  <a:ext cx="2333171" cy="3352799"/>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DDF56B71-62BB-4E37-998F-73531B82D74A}"/>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FF81E599-BB48-47D8-958A-D665392B9BDE}"/>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78837E8B-2FC3-4BAB-AE40-4A1BBEF6F014}"/>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8AE36140-8243-41DC-9F32-7B88DCC49381}"/>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EA04B7C6-EE32-495A-AFA3-2819A20A2907}"/>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17BD8375-1F19-4FFC-88DD-4EDC057A1651}"/>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336BD34A-D5EE-4A7F-8E84-0E759F8DDD66}"/>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2EF1921F-12A0-4292-AB5D-1501C1D3E538}"/>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2B746FF4-98AE-4B13-A45F-0CB3074BE7D5}"/>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CABD64A8-337C-4BF8-943E-F97A0429DF92}"/>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494FB167-9A1E-4DF7-9219-5A69202742E1}"/>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5DB11723-B083-4EB0-8F12-FE61419B9384}"/>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863B1A3B-E216-4DDC-B1A4-00FACFFFFA6B}"/>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1E8ADF63-2B9B-42D9-AD5F-46BAA0A45177}"/>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40FB48B-EDA1-484C-BEA9-683C73F87977}"/>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4426BB46-C43C-4379-AD2A-EAAD989EB398}"/>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63F99D56-8E70-4B43-8557-11A31811986E}"/>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1E358D9F-74F3-4A1B-A6A7-E924B8FC4425}"/>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EF5FFAF0-BD79-4FEE-B5C1-6B75D032B4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7AFBE5B2-D998-405D-BD69-8C2004A2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432C5BF7-31A1-4AEF-89F5-C5277A9DB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4CEF3EE3-5874-4597-B3E9-FC654F80ADC4}"/>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7BE92280-B220-4E84-95CB-ADEB37FB909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6E21737A-9451-42CD-9A52-631C4F4E55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3E501113-04A5-422E-979D-66E018A94D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7D125629-A9F1-4DCF-B1E6-0BB097644B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CAE06C6-C7E9-4CB7-A2BD-E9EDFEC8C0D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AF75EBDB-DA3B-4588-B6CB-C878C0C96414}"/>
                </a:ext>
              </a:extLst>
            </p:cNvPr>
            <p:cNvSpPr txBox="1"/>
            <p:nvPr/>
          </p:nvSpPr>
          <p:spPr>
            <a:xfrm>
              <a:off x="9587786" y="1992128"/>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 Oil and Gas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and 2 – Manufacturing Companies ,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Corporate Organizations – Banking, Telco </a:t>
              </a:r>
              <a:r>
                <a:rPr lang="en-US" sz="1400" dirty="0" err="1">
                  <a:latin typeface="Corbel" panose="020B0503020204020204" pitchFamily="34" charset="0"/>
                  <a:ea typeface="Cambria" panose="02040503050406030204" pitchFamily="18" charset="0"/>
                  <a:cs typeface="Times New Roman" panose="02020603050405020304" pitchFamily="18" charset="0"/>
                </a:rPr>
                <a:t>Etc</a:t>
              </a:r>
              <a:r>
                <a:rPr lang="en-US" sz="1400" dirty="0">
                  <a:latin typeface="Corbel" panose="020B0503020204020204" pitchFamily="34" charset="0"/>
                  <a:ea typeface="Cambria" panose="02040503050406030204" pitchFamily="18" charset="0"/>
                  <a:cs typeface="Times New Roman" panose="02020603050405020304" pitchFamily="18" charset="0"/>
                </a:rPr>
                <a: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515E16-E8EA-428F-8353-C27672622128}"/>
                </a:ext>
              </a:extLst>
            </p:cNvPr>
            <p:cNvSpPr txBox="1"/>
            <p:nvPr/>
          </p:nvSpPr>
          <p:spPr>
            <a:xfrm>
              <a:off x="2222349" y="1040065"/>
              <a:ext cx="2214758" cy="845515"/>
            </a:xfrm>
            <a:prstGeom prst="rect">
              <a:avLst/>
            </a:prstGeom>
            <a:noFill/>
          </p:spPr>
          <p:txBody>
            <a:bodyPr wrap="square" rtlCol="0">
              <a:spAutoFit/>
            </a:bodyPr>
            <a:lstStyle/>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HMO</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NGO</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Action groups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46382C8-B94C-46B8-B6C5-EC46960134AE}"/>
                </a:ext>
              </a:extLst>
            </p:cNvPr>
            <p:cNvSpPr txBox="1"/>
            <p:nvPr/>
          </p:nvSpPr>
          <p:spPr>
            <a:xfrm>
              <a:off x="7040756" y="3226715"/>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Digital Marketing Agency</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Website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Social Media</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Referral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Proposal Submission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C441AC-3B93-4EF4-9BBF-FD63012A9ECA}"/>
                </a:ext>
              </a:extLst>
            </p:cNvPr>
            <p:cNvSpPr txBox="1"/>
            <p:nvPr/>
          </p:nvSpPr>
          <p:spPr>
            <a:xfrm>
              <a:off x="37391" y="2017626"/>
              <a:ext cx="2165589" cy="233735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Mobilization of local community / attendees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Management of event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Media Coverage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Post impact assessment and reporting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11539F9A-D48D-485F-91FA-A46548E9D3D9}"/>
                </a:ext>
              </a:extLst>
            </p:cNvPr>
            <p:cNvSpPr txBox="1"/>
            <p:nvPr/>
          </p:nvSpPr>
          <p:spPr>
            <a:xfrm>
              <a:off x="2250521" y="3491576"/>
              <a:ext cx="2257890" cy="184007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Event Planner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manager</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Logistics support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Speakers / Material Productions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Media Support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21D766E1-E27B-424E-8C9D-1105B969C40D}"/>
                </a:ext>
              </a:extLst>
            </p:cNvPr>
            <p:cNvSpPr txBox="1"/>
            <p:nvPr/>
          </p:nvSpPr>
          <p:spPr>
            <a:xfrm>
              <a:off x="47634" y="5735442"/>
              <a:ext cx="4747510" cy="84551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Consumables and IEC materials cost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Logistics cost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Speakers cost </a:t>
              </a:r>
            </a:p>
          </p:txBody>
        </p:sp>
        <p:sp>
          <p:nvSpPr>
            <p:cNvPr id="51" name="TextBox 50">
              <a:extLst>
                <a:ext uri="{FF2B5EF4-FFF2-40B4-BE49-F238E27FC236}">
                  <a16:creationId xmlns:a16="http://schemas.microsoft.com/office/drawing/2014/main" id="{48AB75F9-4294-4081-8659-84835AC1A04B}"/>
                </a:ext>
              </a:extLst>
            </p:cNvPr>
            <p:cNvSpPr txBox="1"/>
            <p:nvPr/>
          </p:nvSpPr>
          <p:spPr>
            <a:xfrm>
              <a:off x="6559781" y="5588850"/>
              <a:ext cx="4747510" cy="3482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CSR Mobilization and implementation fees</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65CE81F9-0672-424B-B444-669E75B6FE66}"/>
                </a:ext>
              </a:extLst>
            </p:cNvPr>
            <p:cNvSpPr txBox="1"/>
            <p:nvPr/>
          </p:nvSpPr>
          <p:spPr>
            <a:xfrm>
              <a:off x="4508411" y="1041534"/>
              <a:ext cx="2501699" cy="208871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Effective community outreach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Great media  coverage and publicity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Post impact assessment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Wide reaching impact </a:t>
              </a:r>
            </a:p>
            <a:p>
              <a:pPr marL="285750" lvl="0" indent="-285750">
                <a:lnSpc>
                  <a:spcPct val="107000"/>
                </a:lnSpc>
                <a:spcAft>
                  <a:spcPts val="0"/>
                </a:spcAft>
                <a:buFont typeface="Arial" panose="020B0604020202020204" pitchFamily="34" charset="0"/>
                <a:buChar char="•"/>
              </a:pPr>
              <a:endParaRPr lang="en-US" sz="1400" dirty="0">
                <a:solidFill>
                  <a:prstClr val="black"/>
                </a:solidFill>
                <a:latin typeface="Corbel" panose="020B0503020204020204" pitchFamily="34" charset="0"/>
                <a:ea typeface="Cambria" panose="02040503050406030204" pitchFamily="18" charset="0"/>
                <a:cs typeface="Arial" panose="020B0604020202020204" pitchFamily="34" charset="0"/>
              </a:endParaRP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70DA8E29-8A9A-4342-9C40-ACD3D671D9BA}"/>
                </a:ext>
              </a:extLst>
            </p:cNvPr>
            <p:cNvSpPr txBox="1"/>
            <p:nvPr/>
          </p:nvSpPr>
          <p:spPr>
            <a:xfrm>
              <a:off x="7108605" y="1068248"/>
              <a:ext cx="2441781" cy="109415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CSR managers for corporate organizations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Excellent KAM	</a:t>
              </a: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3480626453"/>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F538-C6ED-2F83-1350-8EEC7C083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45EE8-0719-D127-6C98-41BEC3923E0A}"/>
              </a:ext>
            </a:extLst>
          </p:cNvPr>
          <p:cNvSpPr>
            <a:spLocks noGrp="1"/>
          </p:cNvSpPr>
          <p:nvPr>
            <p:ph type="title"/>
          </p:nvPr>
        </p:nvSpPr>
        <p:spPr>
          <a:xfrm>
            <a:off x="838200" y="320328"/>
            <a:ext cx="10145590" cy="538509"/>
          </a:xfrm>
        </p:spPr>
        <p:txBody>
          <a:bodyPr/>
          <a:lstStyle/>
          <a:p>
            <a:r>
              <a:rPr lang="en-US" dirty="0"/>
              <a:t> – The Business Model for </a:t>
            </a:r>
            <a:r>
              <a:rPr lang="en-US" dirty="0" err="1"/>
              <a:t>Medsustain</a:t>
            </a:r>
            <a:r>
              <a:rPr lang="en-US" dirty="0"/>
              <a:t> / CSR</a:t>
            </a:r>
            <a:endParaRPr lang="aa-ET" dirty="0"/>
          </a:p>
        </p:txBody>
      </p:sp>
      <p:sp>
        <p:nvSpPr>
          <p:cNvPr id="4" name="Slide Number Placeholder 3">
            <a:extLst>
              <a:ext uri="{FF2B5EF4-FFF2-40B4-BE49-F238E27FC236}">
                <a16:creationId xmlns:a16="http://schemas.microsoft.com/office/drawing/2014/main" id="{0B0ABD1C-7A35-8C13-1687-E57F221D29C4}"/>
              </a:ext>
            </a:extLst>
          </p:cNvPr>
          <p:cNvSpPr>
            <a:spLocks noGrp="1"/>
          </p:cNvSpPr>
          <p:nvPr>
            <p:ph type="sldNum" sz="quarter" idx="12"/>
          </p:nvPr>
        </p:nvSpPr>
        <p:spPr/>
        <p:txBody>
          <a:bodyPr/>
          <a:lstStyle/>
          <a:p>
            <a:fld id="{88DB5A6F-883B-4080-A811-FB5B8D05AFA3}" type="slidenum">
              <a:rPr lang="en-GB" smtClean="0">
                <a:latin typeface="Corbel" panose="020B0503020204020204" pitchFamily="34" charset="0"/>
              </a:rPr>
              <a:pPr/>
              <a:t>44</a:t>
            </a:fld>
            <a:endParaRPr lang="en-GB">
              <a:latin typeface="Corbel" panose="020B0503020204020204" pitchFamily="34" charset="0"/>
            </a:endParaRPr>
          </a:p>
        </p:txBody>
      </p:sp>
      <p:grpSp>
        <p:nvGrpSpPr>
          <p:cNvPr id="43" name="Group 42">
            <a:extLst>
              <a:ext uri="{FF2B5EF4-FFF2-40B4-BE49-F238E27FC236}">
                <a16:creationId xmlns:a16="http://schemas.microsoft.com/office/drawing/2014/main" id="{7148EEBD-B2F0-F08A-837D-7AF6DBC6AFF8}"/>
              </a:ext>
            </a:extLst>
          </p:cNvPr>
          <p:cNvGrpSpPr/>
          <p:nvPr/>
        </p:nvGrpSpPr>
        <p:grpSpPr>
          <a:xfrm>
            <a:off x="165653" y="1014027"/>
            <a:ext cx="11860695" cy="5774401"/>
            <a:chOff x="0" y="592802"/>
            <a:chExt cx="12192000" cy="6228522"/>
          </a:xfrm>
        </p:grpSpPr>
        <p:grpSp>
          <p:nvGrpSpPr>
            <p:cNvPr id="44" name="Group 43">
              <a:extLst>
                <a:ext uri="{FF2B5EF4-FFF2-40B4-BE49-F238E27FC236}">
                  <a16:creationId xmlns:a16="http://schemas.microsoft.com/office/drawing/2014/main" id="{8A8DED98-E209-AEB6-0AAB-5A204DCCCE24}"/>
                </a:ext>
              </a:extLst>
            </p:cNvPr>
            <p:cNvGrpSpPr/>
            <p:nvPr/>
          </p:nvGrpSpPr>
          <p:grpSpPr>
            <a:xfrm>
              <a:off x="0" y="592802"/>
              <a:ext cx="12192000" cy="6228522"/>
              <a:chOff x="166477" y="1185348"/>
              <a:chExt cx="10672064" cy="5215452"/>
            </a:xfrm>
          </p:grpSpPr>
          <p:sp>
            <p:nvSpPr>
              <p:cNvPr id="52" name="Rectangle 51">
                <a:extLst>
                  <a:ext uri="{FF2B5EF4-FFF2-40B4-BE49-F238E27FC236}">
                    <a16:creationId xmlns:a16="http://schemas.microsoft.com/office/drawing/2014/main" id="{EBEF7E8F-71F7-AD10-8650-0EA66ED6EEB0}"/>
                  </a:ext>
                </a:extLst>
              </p:cNvPr>
              <p:cNvSpPr/>
              <p:nvPr/>
            </p:nvSpPr>
            <p:spPr>
              <a:xfrm>
                <a:off x="166477" y="4790455"/>
                <a:ext cx="5410636"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53" name="Rectangle 52">
                <a:extLst>
                  <a:ext uri="{FF2B5EF4-FFF2-40B4-BE49-F238E27FC236}">
                    <a16:creationId xmlns:a16="http://schemas.microsoft.com/office/drawing/2014/main" id="{618818EF-8039-9542-0CDC-CE049B0995DF}"/>
                  </a:ext>
                </a:extLst>
              </p:cNvPr>
              <p:cNvSpPr/>
              <p:nvPr/>
            </p:nvSpPr>
            <p:spPr>
              <a:xfrm>
                <a:off x="5577112" y="4790455"/>
                <a:ext cx="5261429" cy="16103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grpSp>
            <p:nvGrpSpPr>
              <p:cNvPr id="54" name="Group 53">
                <a:extLst>
                  <a:ext uri="{FF2B5EF4-FFF2-40B4-BE49-F238E27FC236}">
                    <a16:creationId xmlns:a16="http://schemas.microsoft.com/office/drawing/2014/main" id="{C0D3A230-A547-A87C-D231-E21D775A8ACC}"/>
                  </a:ext>
                </a:extLst>
              </p:cNvPr>
              <p:cNvGrpSpPr/>
              <p:nvPr/>
            </p:nvGrpSpPr>
            <p:grpSpPr>
              <a:xfrm>
                <a:off x="166477" y="1185348"/>
                <a:ext cx="10672063" cy="3965108"/>
                <a:chOff x="166477" y="1185348"/>
                <a:chExt cx="10672063" cy="3965108"/>
              </a:xfrm>
            </p:grpSpPr>
            <p:sp>
              <p:nvSpPr>
                <p:cNvPr id="64" name="Rectangle 63">
                  <a:extLst>
                    <a:ext uri="{FF2B5EF4-FFF2-40B4-BE49-F238E27FC236}">
                      <a16:creationId xmlns:a16="http://schemas.microsoft.com/office/drawing/2014/main" id="{E1EE2F1E-B3E0-C3AC-AE7F-9952C0D23EFF}"/>
                    </a:ext>
                  </a:extLst>
                </p:cNvPr>
                <p:cNvSpPr/>
                <p:nvPr/>
              </p:nvSpPr>
              <p:spPr>
                <a:xfrm>
                  <a:off x="166477" y="1436750"/>
                  <a:ext cx="1967123"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Corbel" panose="020B0503020204020204" pitchFamily="34" charset="0"/>
                    <a:ea typeface="Cambria" panose="02040503050406030204" pitchFamily="18" charset="0"/>
                  </a:endParaRPr>
                </a:p>
              </p:txBody>
            </p:sp>
            <p:sp>
              <p:nvSpPr>
                <p:cNvPr id="65" name="Rectangle 64">
                  <a:extLst>
                    <a:ext uri="{FF2B5EF4-FFF2-40B4-BE49-F238E27FC236}">
                      <a16:creationId xmlns:a16="http://schemas.microsoft.com/office/drawing/2014/main" id="{1DD737FD-6E19-A976-17DD-D8CB2B263296}"/>
                    </a:ext>
                  </a:extLst>
                </p:cNvPr>
                <p:cNvSpPr/>
                <p:nvPr/>
              </p:nvSpPr>
              <p:spPr>
                <a:xfrm>
                  <a:off x="2133600" y="1195777"/>
                  <a:ext cx="2008513" cy="205287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6" name="Rectangle 65">
                  <a:extLst>
                    <a:ext uri="{FF2B5EF4-FFF2-40B4-BE49-F238E27FC236}">
                      <a16:creationId xmlns:a16="http://schemas.microsoft.com/office/drawing/2014/main" id="{2676F715-9FCB-4692-E7CD-4B88412D575D}"/>
                    </a:ext>
                  </a:extLst>
                </p:cNvPr>
                <p:cNvSpPr/>
                <p:nvPr/>
              </p:nvSpPr>
              <p:spPr>
                <a:xfrm>
                  <a:off x="2133600" y="3287803"/>
                  <a:ext cx="2008513" cy="1501745"/>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7" name="Rectangle 66">
                  <a:extLst>
                    <a:ext uri="{FF2B5EF4-FFF2-40B4-BE49-F238E27FC236}">
                      <a16:creationId xmlns:a16="http://schemas.microsoft.com/office/drawing/2014/main" id="{12953E82-6202-6F7A-334B-F77089CFB717}"/>
                    </a:ext>
                  </a:extLst>
                </p:cNvPr>
                <p:cNvSpPr/>
                <p:nvPr/>
              </p:nvSpPr>
              <p:spPr>
                <a:xfrm>
                  <a:off x="4142114" y="1436750"/>
                  <a:ext cx="2148862" cy="3352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68" name="Rectangle 67">
                  <a:extLst>
                    <a:ext uri="{FF2B5EF4-FFF2-40B4-BE49-F238E27FC236}">
                      <a16:creationId xmlns:a16="http://schemas.microsoft.com/office/drawing/2014/main" id="{4258DF91-BA7C-20BF-2322-3E80E59CEB10}"/>
                    </a:ext>
                  </a:extLst>
                </p:cNvPr>
                <p:cNvSpPr/>
                <p:nvPr/>
              </p:nvSpPr>
              <p:spPr>
                <a:xfrm>
                  <a:off x="6290975" y="1185348"/>
                  <a:ext cx="2214395" cy="170096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orbel" panose="020B0503020204020204" pitchFamily="34" charset="0"/>
                    <a:ea typeface="Cambria" panose="02040503050406030204" pitchFamily="18" charset="0"/>
                  </a:endParaRPr>
                </a:p>
              </p:txBody>
            </p:sp>
            <p:sp>
              <p:nvSpPr>
                <p:cNvPr id="69" name="Rectangle 68">
                  <a:extLst>
                    <a:ext uri="{FF2B5EF4-FFF2-40B4-BE49-F238E27FC236}">
                      <a16:creationId xmlns:a16="http://schemas.microsoft.com/office/drawing/2014/main" id="{061F83A6-4400-89F0-805F-DB6DE9932F7D}"/>
                    </a:ext>
                  </a:extLst>
                </p:cNvPr>
                <p:cNvSpPr/>
                <p:nvPr/>
              </p:nvSpPr>
              <p:spPr>
                <a:xfrm>
                  <a:off x="6290975" y="3138616"/>
                  <a:ext cx="2214395" cy="1650934"/>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0" name="Rectangle 69">
                  <a:extLst>
                    <a:ext uri="{FF2B5EF4-FFF2-40B4-BE49-F238E27FC236}">
                      <a16:creationId xmlns:a16="http://schemas.microsoft.com/office/drawing/2014/main" id="{E3BB90A4-5C44-A4E6-C305-7483F1F2E018}"/>
                    </a:ext>
                  </a:extLst>
                </p:cNvPr>
                <p:cNvSpPr/>
                <p:nvPr/>
              </p:nvSpPr>
              <p:spPr>
                <a:xfrm>
                  <a:off x="8505369" y="1436750"/>
                  <a:ext cx="2333171" cy="3352799"/>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1" name="Rectangle 70">
                  <a:extLst>
                    <a:ext uri="{FF2B5EF4-FFF2-40B4-BE49-F238E27FC236}">
                      <a16:creationId xmlns:a16="http://schemas.microsoft.com/office/drawing/2014/main" id="{CB61305C-6D11-237D-2835-9AA8A9EF8AA0}"/>
                    </a:ext>
                  </a:extLst>
                </p:cNvPr>
                <p:cNvSpPr/>
                <p:nvPr/>
              </p:nvSpPr>
              <p:spPr>
                <a:xfrm>
                  <a:off x="6290975" y="1185350"/>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2" name="Rectangle 71">
                  <a:extLst>
                    <a:ext uri="{FF2B5EF4-FFF2-40B4-BE49-F238E27FC236}">
                      <a16:creationId xmlns:a16="http://schemas.microsoft.com/office/drawing/2014/main" id="{28AEB843-76A4-709E-A513-F8BBFD2440D4}"/>
                    </a:ext>
                  </a:extLst>
                </p:cNvPr>
                <p:cNvSpPr/>
                <p:nvPr/>
              </p:nvSpPr>
              <p:spPr>
                <a:xfrm>
                  <a:off x="6290975" y="2871272"/>
                  <a:ext cx="2214395"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3" name="Rectangle 72">
                  <a:extLst>
                    <a:ext uri="{FF2B5EF4-FFF2-40B4-BE49-F238E27FC236}">
                      <a16:creationId xmlns:a16="http://schemas.microsoft.com/office/drawing/2014/main" id="{589EB6B1-B512-1644-E194-B2904A85C036}"/>
                    </a:ext>
                  </a:extLst>
                </p:cNvPr>
                <p:cNvSpPr/>
                <p:nvPr/>
              </p:nvSpPr>
              <p:spPr>
                <a:xfrm>
                  <a:off x="8505370" y="1185348"/>
                  <a:ext cx="2333170"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4" name="Rectangle 73">
                  <a:extLst>
                    <a:ext uri="{FF2B5EF4-FFF2-40B4-BE49-F238E27FC236}">
                      <a16:creationId xmlns:a16="http://schemas.microsoft.com/office/drawing/2014/main" id="{A9C9DABA-1D3B-3B57-303F-37B51B28B717}"/>
                    </a:ext>
                  </a:extLst>
                </p:cNvPr>
                <p:cNvSpPr/>
                <p:nvPr/>
              </p:nvSpPr>
              <p:spPr>
                <a:xfrm>
                  <a:off x="4142114" y="1185348"/>
                  <a:ext cx="2148861"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5" name="Rectangle 74">
                  <a:extLst>
                    <a:ext uri="{FF2B5EF4-FFF2-40B4-BE49-F238E27FC236}">
                      <a16:creationId xmlns:a16="http://schemas.microsoft.com/office/drawing/2014/main" id="{7F2B05DF-2106-FE5E-8F22-897B09E7017E}"/>
                    </a:ext>
                  </a:extLst>
                </p:cNvPr>
                <p:cNvSpPr/>
                <p:nvPr/>
              </p:nvSpPr>
              <p:spPr>
                <a:xfrm>
                  <a:off x="2133602" y="1185348"/>
                  <a:ext cx="2008511"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6" name="Rectangle 75">
                  <a:extLst>
                    <a:ext uri="{FF2B5EF4-FFF2-40B4-BE49-F238E27FC236}">
                      <a16:creationId xmlns:a16="http://schemas.microsoft.com/office/drawing/2014/main" id="{8D7FF1BE-0DCB-547B-4042-CA50A73F99BD}"/>
                    </a:ext>
                  </a:extLst>
                </p:cNvPr>
                <p:cNvSpPr/>
                <p:nvPr/>
              </p:nvSpPr>
              <p:spPr>
                <a:xfrm>
                  <a:off x="171558" y="1185348"/>
                  <a:ext cx="1967123"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7" name="Rectangle 76">
                  <a:extLst>
                    <a:ext uri="{FF2B5EF4-FFF2-40B4-BE49-F238E27FC236}">
                      <a16:creationId xmlns:a16="http://schemas.microsoft.com/office/drawing/2014/main" id="{C4BE44CE-58C8-7A26-532B-550EF767E742}"/>
                    </a:ext>
                  </a:extLst>
                </p:cNvPr>
                <p:cNvSpPr/>
                <p:nvPr/>
              </p:nvSpPr>
              <p:spPr>
                <a:xfrm>
                  <a:off x="2145287" y="3252636"/>
                  <a:ext cx="2008512"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78" name="Rectangle 77">
                  <a:extLst>
                    <a:ext uri="{FF2B5EF4-FFF2-40B4-BE49-F238E27FC236}">
                      <a16:creationId xmlns:a16="http://schemas.microsoft.com/office/drawing/2014/main" id="{E86A66B0-CC63-5DD4-5E62-EADF350A00E6}"/>
                    </a:ext>
                  </a:extLst>
                </p:cNvPr>
                <p:cNvSpPr/>
                <p:nvPr/>
              </p:nvSpPr>
              <p:spPr>
                <a:xfrm>
                  <a:off x="5577112" y="4790456"/>
                  <a:ext cx="5261428" cy="360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sp>
              <p:nvSpPr>
                <p:cNvPr id="79" name="Rectangle 78">
                  <a:extLst>
                    <a:ext uri="{FF2B5EF4-FFF2-40B4-BE49-F238E27FC236}">
                      <a16:creationId xmlns:a16="http://schemas.microsoft.com/office/drawing/2014/main" id="{8E4805EE-9640-173E-7319-60795B0C40EA}"/>
                    </a:ext>
                  </a:extLst>
                </p:cNvPr>
                <p:cNvSpPr/>
                <p:nvPr/>
              </p:nvSpPr>
              <p:spPr>
                <a:xfrm>
                  <a:off x="166477" y="4790456"/>
                  <a:ext cx="5410636" cy="360000"/>
                </a:xfrm>
                <a:prstGeom prst="rect">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orbel" panose="020B0503020204020204" pitchFamily="34" charset="0"/>
                    <a:ea typeface="Cambria" panose="02040503050406030204" pitchFamily="18" charset="0"/>
                  </a:endParaRPr>
                </a:p>
              </p:txBody>
            </p:sp>
            <p:sp>
              <p:nvSpPr>
                <p:cNvPr id="80" name="Rectangle 79">
                  <a:extLst>
                    <a:ext uri="{FF2B5EF4-FFF2-40B4-BE49-F238E27FC236}">
                      <a16:creationId xmlns:a16="http://schemas.microsoft.com/office/drawing/2014/main" id="{E37E2CC0-0B8F-0176-0AAF-8971743AEB8A}"/>
                    </a:ext>
                  </a:extLst>
                </p:cNvPr>
                <p:cNvSpPr/>
                <p:nvPr/>
              </p:nvSpPr>
              <p:spPr>
                <a:xfrm>
                  <a:off x="512413" y="1219200"/>
                  <a:ext cx="169972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Activities</a:t>
                  </a:r>
                </a:p>
              </p:txBody>
            </p:sp>
            <p:sp>
              <p:nvSpPr>
                <p:cNvPr id="81" name="Rectangle 80">
                  <a:extLst>
                    <a:ext uri="{FF2B5EF4-FFF2-40B4-BE49-F238E27FC236}">
                      <a16:creationId xmlns:a16="http://schemas.microsoft.com/office/drawing/2014/main" id="{DFB5D9D3-54C6-65EC-126E-190EF9359E62}"/>
                    </a:ext>
                  </a:extLst>
                </p:cNvPr>
                <p:cNvSpPr/>
                <p:nvPr/>
              </p:nvSpPr>
              <p:spPr>
                <a:xfrm>
                  <a:off x="4343400" y="1219200"/>
                  <a:ext cx="172122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Value Proposition</a:t>
                  </a:r>
                </a:p>
              </p:txBody>
            </p:sp>
            <p:sp>
              <p:nvSpPr>
                <p:cNvPr id="82" name="Rectangle 81">
                  <a:extLst>
                    <a:ext uri="{FF2B5EF4-FFF2-40B4-BE49-F238E27FC236}">
                      <a16:creationId xmlns:a16="http://schemas.microsoft.com/office/drawing/2014/main" id="{19A9FF07-420F-FBED-B434-8DB62F89CFA3}"/>
                    </a:ext>
                  </a:extLst>
                </p:cNvPr>
                <p:cNvSpPr/>
                <p:nvPr/>
              </p:nvSpPr>
              <p:spPr>
                <a:xfrm>
                  <a:off x="6320006" y="1219200"/>
                  <a:ext cx="2214394"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Relationships</a:t>
                  </a:r>
                </a:p>
              </p:txBody>
            </p:sp>
            <p:sp>
              <p:nvSpPr>
                <p:cNvPr id="83" name="Rectangle 82">
                  <a:extLst>
                    <a:ext uri="{FF2B5EF4-FFF2-40B4-BE49-F238E27FC236}">
                      <a16:creationId xmlns:a16="http://schemas.microsoft.com/office/drawing/2014/main" id="{1DC88BE7-07F3-6356-1BFA-20C249F6E45A}"/>
                    </a:ext>
                  </a:extLst>
                </p:cNvPr>
                <p:cNvSpPr/>
                <p:nvPr/>
              </p:nvSpPr>
              <p:spPr>
                <a:xfrm>
                  <a:off x="8610600" y="1219200"/>
                  <a:ext cx="1978859"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Customer Segments</a:t>
                  </a:r>
                </a:p>
              </p:txBody>
            </p:sp>
            <p:sp>
              <p:nvSpPr>
                <p:cNvPr id="84" name="Rectangle 83">
                  <a:extLst>
                    <a:ext uri="{FF2B5EF4-FFF2-40B4-BE49-F238E27FC236}">
                      <a16:creationId xmlns:a16="http://schemas.microsoft.com/office/drawing/2014/main" id="{69856028-A43A-BB20-E991-07918B86D282}"/>
                    </a:ext>
                  </a:extLst>
                </p:cNvPr>
                <p:cNvSpPr/>
                <p:nvPr/>
              </p:nvSpPr>
              <p:spPr>
                <a:xfrm>
                  <a:off x="2286000" y="1219200"/>
                  <a:ext cx="1584938" cy="282347"/>
                </a:xfrm>
                <a:prstGeom prst="rect">
                  <a:avLst/>
                </a:prstGeom>
              </p:spPr>
              <p:txBody>
                <a:bodyPr wrap="square">
                  <a:spAutoFit/>
                </a:bodyPr>
                <a:lstStyle/>
                <a:p>
                  <a:r>
                    <a:rPr lang="en-US" sz="1400" b="1" dirty="0">
                      <a:solidFill>
                        <a:schemeClr val="bg1"/>
                      </a:solidFill>
                      <a:latin typeface="Corbel" panose="020B0503020204020204" pitchFamily="34" charset="0"/>
                      <a:ea typeface="Cambria" panose="02040503050406030204" pitchFamily="18" charset="0"/>
                    </a:rPr>
                    <a:t>Key Partners</a:t>
                  </a:r>
                </a:p>
              </p:txBody>
            </p:sp>
            <p:sp>
              <p:nvSpPr>
                <p:cNvPr id="85" name="Rectangle 84">
                  <a:extLst>
                    <a:ext uri="{FF2B5EF4-FFF2-40B4-BE49-F238E27FC236}">
                      <a16:creationId xmlns:a16="http://schemas.microsoft.com/office/drawing/2014/main" id="{7E1DA8F5-4AB1-ED57-B758-D980484745E1}"/>
                    </a:ext>
                  </a:extLst>
                </p:cNvPr>
                <p:cNvSpPr/>
                <p:nvPr/>
              </p:nvSpPr>
              <p:spPr>
                <a:xfrm>
                  <a:off x="2277521" y="3284136"/>
                  <a:ext cx="117164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Key Resources</a:t>
                  </a:r>
                </a:p>
              </p:txBody>
            </p:sp>
            <p:sp>
              <p:nvSpPr>
                <p:cNvPr id="86" name="Rectangle 85">
                  <a:extLst>
                    <a:ext uri="{FF2B5EF4-FFF2-40B4-BE49-F238E27FC236}">
                      <a16:creationId xmlns:a16="http://schemas.microsoft.com/office/drawing/2014/main" id="{AB95FC75-02E4-000E-3C90-CCF06AD2657E}"/>
                    </a:ext>
                  </a:extLst>
                </p:cNvPr>
                <p:cNvSpPr/>
                <p:nvPr/>
              </p:nvSpPr>
              <p:spPr>
                <a:xfrm>
                  <a:off x="6400800" y="2887755"/>
                  <a:ext cx="805656"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Channels</a:t>
                  </a:r>
                </a:p>
              </p:txBody>
            </p:sp>
            <p:sp>
              <p:nvSpPr>
                <p:cNvPr id="87" name="Rectangle 86">
                  <a:extLst>
                    <a:ext uri="{FF2B5EF4-FFF2-40B4-BE49-F238E27FC236}">
                      <a16:creationId xmlns:a16="http://schemas.microsoft.com/office/drawing/2014/main" id="{3559AD62-6C02-92CB-74D1-FB4F71C2F2E8}"/>
                    </a:ext>
                  </a:extLst>
                </p:cNvPr>
                <p:cNvSpPr/>
                <p:nvPr/>
              </p:nvSpPr>
              <p:spPr>
                <a:xfrm>
                  <a:off x="512412" y="4823402"/>
                  <a:ext cx="1160888"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Cost Structure</a:t>
                  </a:r>
                </a:p>
              </p:txBody>
            </p:sp>
            <p:sp>
              <p:nvSpPr>
                <p:cNvPr id="88" name="Rectangle 87">
                  <a:extLst>
                    <a:ext uri="{FF2B5EF4-FFF2-40B4-BE49-F238E27FC236}">
                      <a16:creationId xmlns:a16="http://schemas.microsoft.com/office/drawing/2014/main" id="{2C092D54-A78B-D5C7-0483-2A7D5F4A3379}"/>
                    </a:ext>
                  </a:extLst>
                </p:cNvPr>
                <p:cNvSpPr/>
                <p:nvPr/>
              </p:nvSpPr>
              <p:spPr>
                <a:xfrm>
                  <a:off x="5714999" y="4823402"/>
                  <a:ext cx="1366851" cy="282347"/>
                </a:xfrm>
                <a:prstGeom prst="rect">
                  <a:avLst/>
                </a:prstGeom>
              </p:spPr>
              <p:txBody>
                <a:bodyPr wrap="none">
                  <a:spAutoFit/>
                </a:bodyPr>
                <a:lstStyle/>
                <a:p>
                  <a:r>
                    <a:rPr lang="en-US" sz="1400" b="1" dirty="0">
                      <a:solidFill>
                        <a:schemeClr val="bg1"/>
                      </a:solidFill>
                      <a:latin typeface="Corbel" panose="020B0503020204020204" pitchFamily="34" charset="0"/>
                      <a:ea typeface="Cambria" panose="02040503050406030204" pitchFamily="18" charset="0"/>
                    </a:rPr>
                    <a:t>Revenue Streams</a:t>
                  </a:r>
                </a:p>
              </p:txBody>
            </p:sp>
          </p:grpSp>
          <p:pic>
            <p:nvPicPr>
              <p:cNvPr id="55" name="Content Placeholder 11">
                <a:extLst>
                  <a:ext uri="{FF2B5EF4-FFF2-40B4-BE49-F238E27FC236}">
                    <a16:creationId xmlns:a16="http://schemas.microsoft.com/office/drawing/2014/main" id="{F50FE56D-F1C1-C360-599B-08B39B9C74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4547" y="1241577"/>
                <a:ext cx="250453" cy="247541"/>
              </a:xfrm>
              <a:prstGeom prst="rect">
                <a:avLst/>
              </a:prstGeom>
              <a:noFill/>
            </p:spPr>
          </p:pic>
          <p:pic>
            <p:nvPicPr>
              <p:cNvPr id="56" name="Picture 55">
                <a:extLst>
                  <a:ext uri="{FF2B5EF4-FFF2-40B4-BE49-F238E27FC236}">
                    <a16:creationId xmlns:a16="http://schemas.microsoft.com/office/drawing/2014/main" id="{896D529A-AD97-A656-DE9C-B854AB9D46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2345" y="1299284"/>
                <a:ext cx="145255" cy="143567"/>
              </a:xfrm>
              <a:prstGeom prst="rect">
                <a:avLst/>
              </a:prstGeom>
              <a:noFill/>
            </p:spPr>
          </p:pic>
          <p:pic>
            <p:nvPicPr>
              <p:cNvPr id="57" name="Picture 56">
                <a:extLst>
                  <a:ext uri="{FF2B5EF4-FFF2-40B4-BE49-F238E27FC236}">
                    <a16:creationId xmlns:a16="http://schemas.microsoft.com/office/drawing/2014/main" id="{2059490B-6DEE-945C-E1C4-99C85663F7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7400" y="1243551"/>
                <a:ext cx="169822" cy="204249"/>
              </a:xfrm>
              <a:prstGeom prst="rect">
                <a:avLst/>
              </a:prstGeom>
              <a:noFill/>
            </p:spPr>
          </p:pic>
          <p:sp>
            <p:nvSpPr>
              <p:cNvPr id="58" name="Heart 57">
                <a:extLst>
                  <a:ext uri="{FF2B5EF4-FFF2-40B4-BE49-F238E27FC236}">
                    <a16:creationId xmlns:a16="http://schemas.microsoft.com/office/drawing/2014/main" id="{84A4CAF8-3699-95D2-C0D6-7A51FA52639D}"/>
                  </a:ext>
                </a:extLst>
              </p:cNvPr>
              <p:cNvSpPr/>
              <p:nvPr/>
            </p:nvSpPr>
            <p:spPr>
              <a:xfrm>
                <a:off x="8238150" y="1299283"/>
                <a:ext cx="143850" cy="143567"/>
              </a:xfrm>
              <a:prstGeom prst="hear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latin typeface="Corbel" panose="020B0503020204020204" pitchFamily="34" charset="0"/>
                  <a:ea typeface="Cambria" panose="02040503050406030204" pitchFamily="18" charset="0"/>
                </a:endParaRPr>
              </a:p>
            </p:txBody>
          </p:sp>
          <p:pic>
            <p:nvPicPr>
              <p:cNvPr id="59" name="Picture 58">
                <a:extLst>
                  <a:ext uri="{FF2B5EF4-FFF2-40B4-BE49-F238E27FC236}">
                    <a16:creationId xmlns:a16="http://schemas.microsoft.com/office/drawing/2014/main" id="{CBD30952-C4D7-4275-1B87-14A44C9226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05258" y="1271398"/>
                <a:ext cx="164516" cy="166258"/>
              </a:xfrm>
              <a:prstGeom prst="rect">
                <a:avLst/>
              </a:prstGeom>
              <a:noFill/>
            </p:spPr>
          </p:pic>
          <p:pic>
            <p:nvPicPr>
              <p:cNvPr id="60" name="Picture 59">
                <a:extLst>
                  <a:ext uri="{FF2B5EF4-FFF2-40B4-BE49-F238E27FC236}">
                    <a16:creationId xmlns:a16="http://schemas.microsoft.com/office/drawing/2014/main" id="{34F7BC7F-2F9A-D727-3EC7-021975E83C8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95234" y="2936604"/>
                <a:ext cx="173673" cy="171654"/>
              </a:xfrm>
              <a:prstGeom prst="rect">
                <a:avLst/>
              </a:prstGeom>
              <a:noFill/>
            </p:spPr>
          </p:pic>
          <p:pic>
            <p:nvPicPr>
              <p:cNvPr id="61" name="Picture 60">
                <a:extLst>
                  <a:ext uri="{FF2B5EF4-FFF2-40B4-BE49-F238E27FC236}">
                    <a16:creationId xmlns:a16="http://schemas.microsoft.com/office/drawing/2014/main" id="{44F8A181-6482-15D5-7395-3982F9864EB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69136" y="4882662"/>
                <a:ext cx="177654" cy="175588"/>
              </a:xfrm>
              <a:prstGeom prst="rect">
                <a:avLst/>
              </a:prstGeom>
              <a:noFill/>
            </p:spPr>
          </p:pic>
          <p:pic>
            <p:nvPicPr>
              <p:cNvPr id="62" name="Picture 61">
                <a:extLst>
                  <a:ext uri="{FF2B5EF4-FFF2-40B4-BE49-F238E27FC236}">
                    <a16:creationId xmlns:a16="http://schemas.microsoft.com/office/drawing/2014/main" id="{836C01F5-46C3-7DAC-D754-0D3F03E70B9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6987" y="3365422"/>
                <a:ext cx="165768" cy="163841"/>
              </a:xfrm>
              <a:prstGeom prst="rect">
                <a:avLst/>
              </a:prstGeom>
              <a:noFill/>
            </p:spPr>
          </p:pic>
          <p:pic>
            <p:nvPicPr>
              <p:cNvPr id="63" name="Picture 62">
                <a:extLst>
                  <a:ext uri="{FF2B5EF4-FFF2-40B4-BE49-F238E27FC236}">
                    <a16:creationId xmlns:a16="http://schemas.microsoft.com/office/drawing/2014/main" id="{E824771A-4BD2-74AB-5FB5-C87F0D6A039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81811" y="4882662"/>
                <a:ext cx="175588" cy="175588"/>
              </a:xfrm>
              <a:prstGeom prst="rect">
                <a:avLst/>
              </a:prstGeom>
            </p:spPr>
          </p:pic>
        </p:grpSp>
        <p:sp>
          <p:nvSpPr>
            <p:cNvPr id="45" name="TextBox 44">
              <a:extLst>
                <a:ext uri="{FF2B5EF4-FFF2-40B4-BE49-F238E27FC236}">
                  <a16:creationId xmlns:a16="http://schemas.microsoft.com/office/drawing/2014/main" id="{D3B388E4-060B-0291-06F9-8C2917777872}"/>
                </a:ext>
              </a:extLst>
            </p:cNvPr>
            <p:cNvSpPr txBox="1"/>
            <p:nvPr/>
          </p:nvSpPr>
          <p:spPr>
            <a:xfrm>
              <a:off x="9587786" y="1992128"/>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 Oil and Gas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Tier 1 and 2 – Manufacturing Companies ,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Corporate Organizations – Banking, Telco </a:t>
              </a:r>
              <a:r>
                <a:rPr lang="en-US" sz="1400" dirty="0" err="1">
                  <a:latin typeface="Corbel" panose="020B0503020204020204" pitchFamily="34" charset="0"/>
                  <a:ea typeface="Cambria" panose="02040503050406030204" pitchFamily="18" charset="0"/>
                  <a:cs typeface="Times New Roman" panose="02020603050405020304" pitchFamily="18" charset="0"/>
                </a:rPr>
                <a:t>Etc</a:t>
              </a:r>
              <a:r>
                <a:rPr lang="en-US" sz="1400" dirty="0">
                  <a:latin typeface="Corbel" panose="020B0503020204020204" pitchFamily="34" charset="0"/>
                  <a:ea typeface="Cambria" panose="02040503050406030204" pitchFamily="18" charset="0"/>
                  <a:cs typeface="Times New Roman" panose="02020603050405020304" pitchFamily="18" charset="0"/>
                </a:rPr>
                <a:t>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C26BC3DA-317B-66D0-FD6C-A7AD3792C143}"/>
                </a:ext>
              </a:extLst>
            </p:cNvPr>
            <p:cNvSpPr txBox="1"/>
            <p:nvPr/>
          </p:nvSpPr>
          <p:spPr>
            <a:xfrm>
              <a:off x="2222349" y="1040065"/>
              <a:ext cx="2214758" cy="845515"/>
            </a:xfrm>
            <a:prstGeom prst="rect">
              <a:avLst/>
            </a:prstGeom>
            <a:noFill/>
          </p:spPr>
          <p:txBody>
            <a:bodyPr wrap="square" rtlCol="0">
              <a:spAutoFit/>
            </a:bodyPr>
            <a:lstStyle/>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HMO</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NGO</a:t>
              </a:r>
            </a:p>
            <a:p>
              <a:pPr marL="285750" lvl="0" indent="-285750" algn="just">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Action groups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13D6701C-2011-3697-CAAF-9CADEE642CA6}"/>
                </a:ext>
              </a:extLst>
            </p:cNvPr>
            <p:cNvSpPr txBox="1"/>
            <p:nvPr/>
          </p:nvSpPr>
          <p:spPr>
            <a:xfrm>
              <a:off x="7040756" y="3226715"/>
              <a:ext cx="2441781" cy="15914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Digital Marketing Agency</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Website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Social Media</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Referral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Proposal Submission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F843E089-6D01-AA70-84B1-F6B92A743E99}"/>
                </a:ext>
              </a:extLst>
            </p:cNvPr>
            <p:cNvSpPr txBox="1"/>
            <p:nvPr/>
          </p:nvSpPr>
          <p:spPr>
            <a:xfrm>
              <a:off x="37391" y="2017626"/>
              <a:ext cx="2165589" cy="233735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Mobilization of local community / attendees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Management of event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Media Coverage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Post impact assessment and reporting </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A8B2536C-9218-3013-4287-E2A3A3665BEB}"/>
                </a:ext>
              </a:extLst>
            </p:cNvPr>
            <p:cNvSpPr txBox="1"/>
            <p:nvPr/>
          </p:nvSpPr>
          <p:spPr>
            <a:xfrm>
              <a:off x="2250521" y="3491576"/>
              <a:ext cx="2257890" cy="184007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Event Planner </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Project manager</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Logistics support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Speakers / Material Productions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Media Support </a:t>
              </a: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93381990-AAEE-C18E-42EA-EAEC151206B3}"/>
                </a:ext>
              </a:extLst>
            </p:cNvPr>
            <p:cNvSpPr txBox="1"/>
            <p:nvPr/>
          </p:nvSpPr>
          <p:spPr>
            <a:xfrm>
              <a:off x="47634" y="5735442"/>
              <a:ext cx="4747510" cy="84551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Consumables and IEC materials cost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Logistics cost</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Speakers cost </a:t>
              </a:r>
            </a:p>
          </p:txBody>
        </p:sp>
        <p:sp>
          <p:nvSpPr>
            <p:cNvPr id="51" name="TextBox 50">
              <a:extLst>
                <a:ext uri="{FF2B5EF4-FFF2-40B4-BE49-F238E27FC236}">
                  <a16:creationId xmlns:a16="http://schemas.microsoft.com/office/drawing/2014/main" id="{89B20DB3-78A8-F15B-038F-DE0E718FEE05}"/>
                </a:ext>
              </a:extLst>
            </p:cNvPr>
            <p:cNvSpPr txBox="1"/>
            <p:nvPr/>
          </p:nvSpPr>
          <p:spPr>
            <a:xfrm>
              <a:off x="6559781" y="5588850"/>
              <a:ext cx="4747510" cy="34823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CSR Mobilization and implementation fees</a:t>
              </a: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572CAD49-9A7E-E4B5-949C-90B3BC6C7364}"/>
                </a:ext>
              </a:extLst>
            </p:cNvPr>
            <p:cNvSpPr txBox="1"/>
            <p:nvPr/>
          </p:nvSpPr>
          <p:spPr>
            <a:xfrm>
              <a:off x="4508411" y="1041534"/>
              <a:ext cx="2501699" cy="2088716"/>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cs typeface="Arial" panose="020B0604020202020204" pitchFamily="34" charset="0"/>
                </a:rPr>
                <a:t>Effective community outreach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Great media  coverage and publicity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Post impact assessment </a:t>
              </a:r>
            </a:p>
            <a:p>
              <a:pPr marL="285750" lvl="0" indent="-285750">
                <a:lnSpc>
                  <a:spcPct val="107000"/>
                </a:lnSpc>
                <a:spcAft>
                  <a:spcPts val="0"/>
                </a:spcAft>
                <a:buFont typeface="Arial" panose="020B0604020202020204" pitchFamily="34" charset="0"/>
                <a:buChar char="•"/>
              </a:pPr>
              <a:r>
                <a:rPr lang="en-US" sz="1400" dirty="0">
                  <a:solidFill>
                    <a:prstClr val="black"/>
                  </a:solidFill>
                  <a:latin typeface="Corbel" panose="020B0503020204020204" pitchFamily="34" charset="0"/>
                  <a:ea typeface="Cambria" panose="02040503050406030204" pitchFamily="18" charset="0"/>
                  <a:cs typeface="Arial" panose="020B0604020202020204" pitchFamily="34" charset="0"/>
                </a:rPr>
                <a:t>Wide reaching impact </a:t>
              </a:r>
            </a:p>
            <a:p>
              <a:pPr marL="285750" lvl="0" indent="-285750">
                <a:lnSpc>
                  <a:spcPct val="107000"/>
                </a:lnSpc>
                <a:spcAft>
                  <a:spcPts val="0"/>
                </a:spcAft>
                <a:buFont typeface="Arial" panose="020B0604020202020204" pitchFamily="34" charset="0"/>
                <a:buChar char="•"/>
              </a:pPr>
              <a:endParaRPr lang="en-US" sz="1400" dirty="0">
                <a:solidFill>
                  <a:prstClr val="black"/>
                </a:solidFill>
                <a:latin typeface="Corbel" panose="020B0503020204020204" pitchFamily="34" charset="0"/>
                <a:ea typeface="Cambria" panose="02040503050406030204" pitchFamily="18" charset="0"/>
                <a:cs typeface="Arial" panose="020B0604020202020204" pitchFamily="34" charset="0"/>
              </a:endParaRPr>
            </a:p>
            <a:p>
              <a:pPr marL="285750" lvl="0" indent="-285750">
                <a:lnSpc>
                  <a:spcPct val="107000"/>
                </a:lnSpc>
                <a:spcAft>
                  <a:spcPts val="0"/>
                </a:spcAft>
                <a:buFont typeface="Arial" panose="020B0604020202020204" pitchFamily="34" charset="0"/>
                <a:buChar char="•"/>
              </a:pPr>
              <a:endParaRPr lang="aa-ET" sz="1400" dirty="0">
                <a:latin typeface="Corbel" panose="020B0503020204020204" pitchFamily="34" charset="0"/>
                <a:ea typeface="Cambria" panose="020405030504060302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3F981D30-F64A-D3DF-0188-3F63B463488F}"/>
                </a:ext>
              </a:extLst>
            </p:cNvPr>
            <p:cNvSpPr txBox="1"/>
            <p:nvPr/>
          </p:nvSpPr>
          <p:spPr>
            <a:xfrm>
              <a:off x="7108605" y="1068248"/>
              <a:ext cx="2441781" cy="1094155"/>
            </a:xfrm>
            <a:prstGeom prst="rect">
              <a:avLst/>
            </a:prstGeom>
            <a:noFill/>
          </p:spPr>
          <p:txBody>
            <a:bodyPr wrap="square" rtlCol="0">
              <a:spAutoFit/>
            </a:bodyPr>
            <a:lstStyle/>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CSR managers for corporate organizations</a:t>
              </a:r>
            </a:p>
            <a:p>
              <a:pPr marL="285750" lvl="0" indent="-285750">
                <a:lnSpc>
                  <a:spcPct val="107000"/>
                </a:lnSpc>
                <a:spcAft>
                  <a:spcPts val="0"/>
                </a:spcAft>
                <a:buFont typeface="Arial" panose="020B0604020202020204" pitchFamily="34" charset="0"/>
                <a:buChar char="•"/>
              </a:pPr>
              <a:r>
                <a:rPr lang="en-US" sz="1400" dirty="0">
                  <a:latin typeface="Corbel" panose="020B0503020204020204" pitchFamily="34" charset="0"/>
                  <a:ea typeface="Cambria" panose="02040503050406030204" pitchFamily="18" charset="0"/>
                  <a:cs typeface="Times New Roman" panose="02020603050405020304" pitchFamily="18" charset="0"/>
                </a:rPr>
                <a:t>Excellent KAM	</a:t>
              </a:r>
            </a:p>
            <a:p>
              <a:pPr marL="285750" lvl="0" indent="-285750">
                <a:lnSpc>
                  <a:spcPct val="107000"/>
                </a:lnSpc>
                <a:spcAft>
                  <a:spcPts val="0"/>
                </a:spcAft>
                <a:buFont typeface="Arial" panose="020B0604020202020204" pitchFamily="34" charset="0"/>
                <a:buChar char="•"/>
              </a:pPr>
              <a:endParaRPr lang="en-US" sz="1400" dirty="0">
                <a:latin typeface="Corbel" panose="020B0503020204020204" pitchFamily="34" charset="0"/>
                <a:ea typeface="Cambria" panose="02040503050406030204" pitchFamily="18" charset="0"/>
                <a:cs typeface="Times New Roman" panose="02020603050405020304" pitchFamily="18" charset="0"/>
              </a:endParaRPr>
            </a:p>
          </p:txBody>
        </p:sp>
      </p:grpSp>
    </p:spTree>
    <p:extLst>
      <p:ext uri="{BB962C8B-B14F-4D97-AF65-F5344CB8AC3E}">
        <p14:creationId xmlns:p14="http://schemas.microsoft.com/office/powerpoint/2010/main" val="1215877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3FB2F-23F5-223E-E419-6D461CB19EE9}"/>
              </a:ext>
            </a:extLst>
          </p:cNvPr>
          <p:cNvSpPr>
            <a:spLocks noGrp="1"/>
          </p:cNvSpPr>
          <p:nvPr>
            <p:ph type="title"/>
          </p:nvPr>
        </p:nvSpPr>
        <p:spPr/>
        <p:txBody>
          <a:bodyPr/>
          <a:lstStyle/>
          <a:p>
            <a:r>
              <a:rPr lang="en-US" dirty="0"/>
              <a:t>Competitor Analysis: </a:t>
            </a:r>
            <a:endParaRPr lang="aa-ET" dirty="0"/>
          </a:p>
        </p:txBody>
      </p:sp>
      <p:sp>
        <p:nvSpPr>
          <p:cNvPr id="4" name="Slide Number Placeholder 3">
            <a:extLst>
              <a:ext uri="{FF2B5EF4-FFF2-40B4-BE49-F238E27FC236}">
                <a16:creationId xmlns:a16="http://schemas.microsoft.com/office/drawing/2014/main" id="{07BEE179-9F43-271C-2451-06A814AC2F31}"/>
              </a:ext>
            </a:extLst>
          </p:cNvPr>
          <p:cNvSpPr>
            <a:spLocks noGrp="1"/>
          </p:cNvSpPr>
          <p:nvPr>
            <p:ph type="sldNum" sz="quarter" idx="12"/>
          </p:nvPr>
        </p:nvSpPr>
        <p:spPr>
          <a:xfrm>
            <a:off x="5977089" y="6562783"/>
            <a:ext cx="621030" cy="365125"/>
          </a:xfrm>
        </p:spPr>
        <p:txBody>
          <a:bodyPr/>
          <a:lstStyle/>
          <a:p>
            <a:fld id="{88DB5A6F-883B-4080-A811-FB5B8D05AFA3}" type="slidenum">
              <a:rPr lang="en-GB" smtClean="0"/>
              <a:pPr/>
              <a:t>45</a:t>
            </a:fld>
            <a:endParaRPr lang="en-GB" dirty="0"/>
          </a:p>
        </p:txBody>
      </p:sp>
      <p:graphicFrame>
        <p:nvGraphicFramePr>
          <p:cNvPr id="3" name="Table 2">
            <a:extLst>
              <a:ext uri="{FF2B5EF4-FFF2-40B4-BE49-F238E27FC236}">
                <a16:creationId xmlns:a16="http://schemas.microsoft.com/office/drawing/2014/main" id="{15B915CA-4F91-0BE2-5B1B-D8AAA66F1F67}"/>
              </a:ext>
            </a:extLst>
          </p:cNvPr>
          <p:cNvGraphicFramePr>
            <a:graphicFrameLocks noGrp="1"/>
          </p:cNvGraphicFramePr>
          <p:nvPr>
            <p:extLst>
              <p:ext uri="{D42A27DB-BD31-4B8C-83A1-F6EECF244321}">
                <p14:modId xmlns:p14="http://schemas.microsoft.com/office/powerpoint/2010/main" val="2032473700"/>
              </p:ext>
            </p:extLst>
          </p:nvPr>
        </p:nvGraphicFramePr>
        <p:xfrm>
          <a:off x="218659" y="994321"/>
          <a:ext cx="11754681" cy="5873775"/>
        </p:xfrm>
        <a:graphic>
          <a:graphicData uri="http://schemas.openxmlformats.org/drawingml/2006/table">
            <a:tbl>
              <a:tblPr firstRow="1" bandRow="1">
                <a:tableStyleId>{5DA37D80-6434-44D0-A028-1B22A696006F}</a:tableStyleId>
              </a:tblPr>
              <a:tblGrid>
                <a:gridCol w="1530628">
                  <a:extLst>
                    <a:ext uri="{9D8B030D-6E8A-4147-A177-3AD203B41FA5}">
                      <a16:colId xmlns:a16="http://schemas.microsoft.com/office/drawing/2014/main" val="1710133941"/>
                    </a:ext>
                  </a:extLst>
                </a:gridCol>
                <a:gridCol w="2740282">
                  <a:extLst>
                    <a:ext uri="{9D8B030D-6E8A-4147-A177-3AD203B41FA5}">
                      <a16:colId xmlns:a16="http://schemas.microsoft.com/office/drawing/2014/main" val="2479942922"/>
                    </a:ext>
                  </a:extLst>
                </a:gridCol>
                <a:gridCol w="2786994">
                  <a:extLst>
                    <a:ext uri="{9D8B030D-6E8A-4147-A177-3AD203B41FA5}">
                      <a16:colId xmlns:a16="http://schemas.microsoft.com/office/drawing/2014/main" val="3767799004"/>
                    </a:ext>
                  </a:extLst>
                </a:gridCol>
                <a:gridCol w="2443043">
                  <a:extLst>
                    <a:ext uri="{9D8B030D-6E8A-4147-A177-3AD203B41FA5}">
                      <a16:colId xmlns:a16="http://schemas.microsoft.com/office/drawing/2014/main" val="3069509887"/>
                    </a:ext>
                  </a:extLst>
                </a:gridCol>
                <a:gridCol w="2253734">
                  <a:extLst>
                    <a:ext uri="{9D8B030D-6E8A-4147-A177-3AD203B41FA5}">
                      <a16:colId xmlns:a16="http://schemas.microsoft.com/office/drawing/2014/main" val="2167657724"/>
                    </a:ext>
                  </a:extLst>
                </a:gridCol>
              </a:tblGrid>
              <a:tr h="252478">
                <a:tc>
                  <a:txBody>
                    <a:bodyPr/>
                    <a:lstStyle/>
                    <a:p>
                      <a:pPr algn="ctr" rtl="0" fontAlgn="ctr"/>
                      <a:r>
                        <a:rPr lang="aa-ET" sz="1000" b="1" u="none" strike="noStrike" dirty="0">
                          <a:solidFill>
                            <a:schemeClr val="tx1"/>
                          </a:solidFill>
                          <a:effectLst/>
                          <a:latin typeface="Corbel" panose="020B0503020204020204" pitchFamily="34" charset="0"/>
                        </a:rPr>
                        <a:t> </a:t>
                      </a:r>
                      <a:endParaRPr lang="aa-ET"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ctr" rtl="0" fontAlgn="ctr"/>
                      <a:r>
                        <a:rPr lang="en-US" sz="1000" b="1" u="none" strike="noStrike" dirty="0">
                          <a:solidFill>
                            <a:schemeClr val="tx1"/>
                          </a:solidFill>
                          <a:effectLst/>
                          <a:latin typeface="Corbel" panose="020B0503020204020204" pitchFamily="34" charset="0"/>
                        </a:rPr>
                        <a:t>Medbury</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ctr" rtl="0" fontAlgn="ctr"/>
                      <a:r>
                        <a:rPr lang="en-US" sz="1000" b="1" u="none" strike="noStrike" dirty="0">
                          <a:solidFill>
                            <a:schemeClr val="tx1"/>
                          </a:solidFill>
                          <a:effectLst/>
                          <a:latin typeface="Corbel" panose="020B0503020204020204" pitchFamily="34" charset="0"/>
                        </a:rPr>
                        <a:t>ISOS </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ctr" rtl="0" fontAlgn="ctr"/>
                      <a:r>
                        <a:rPr lang="en-US" sz="1000" b="1" i="0" u="none" strike="noStrike" dirty="0" err="1">
                          <a:solidFill>
                            <a:schemeClr val="tx1"/>
                          </a:solidFill>
                          <a:effectLst/>
                          <a:latin typeface="Corbel" panose="020B0503020204020204" pitchFamily="34" charset="0"/>
                        </a:rPr>
                        <a:t>Mecure</a:t>
                      </a:r>
                      <a:r>
                        <a:rPr lang="en-US" sz="1000" b="1" i="0" u="none" strike="noStrike" baseline="0" dirty="0">
                          <a:solidFill>
                            <a:schemeClr val="tx1"/>
                          </a:solidFill>
                          <a:effectLst/>
                          <a:latin typeface="Corbel" panose="020B0503020204020204" pitchFamily="34" charset="0"/>
                        </a:rPr>
                        <a:t> </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ctr" rtl="0" fontAlgn="ctr"/>
                      <a:r>
                        <a:rPr lang="en-US" sz="1000" b="1" i="0" u="none" strike="noStrike" dirty="0">
                          <a:solidFill>
                            <a:schemeClr val="tx1"/>
                          </a:solidFill>
                          <a:effectLst/>
                          <a:latin typeface="Corbel" panose="020B0503020204020204" pitchFamily="34" charset="0"/>
                        </a:rPr>
                        <a:t>CIMS</a:t>
                      </a:r>
                    </a:p>
                  </a:txBody>
                  <a:tcPr marL="4878" marR="4878" marT="4878" marB="0" anchor="ctr"/>
                </a:tc>
                <a:extLst>
                  <a:ext uri="{0D108BD9-81ED-4DB2-BD59-A6C34878D82A}">
                    <a16:rowId xmlns:a16="http://schemas.microsoft.com/office/drawing/2014/main" val="442977034"/>
                  </a:ext>
                </a:extLst>
              </a:tr>
              <a:tr h="2002212">
                <a:tc>
                  <a:txBody>
                    <a:bodyPr/>
                    <a:lstStyle/>
                    <a:p>
                      <a:pPr algn="ctr" rtl="0" fontAlgn="ctr"/>
                      <a:r>
                        <a:rPr lang="en-US" sz="1000" b="1" u="none" strike="noStrike" dirty="0">
                          <a:solidFill>
                            <a:schemeClr val="tx1"/>
                          </a:solidFill>
                          <a:effectLst/>
                          <a:latin typeface="Corbel" panose="020B0503020204020204" pitchFamily="34" charset="0"/>
                        </a:rPr>
                        <a:t>Overview</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dirty="0">
                          <a:solidFill>
                            <a:schemeClr val="tx1"/>
                          </a:solidFill>
                          <a:effectLst/>
                          <a:latin typeface="Corbel" panose="020B0503020204020204" pitchFamily="34" charset="0"/>
                        </a:rPr>
                        <a:t>Medbury is the first dedicated Corporate Health Advisory &amp; Management company which provides assistance to organizations that enables them achieve their Workplace Health and Wellness goals. This create a special access to corporate organizations. </a:t>
                      </a:r>
                    </a:p>
                    <a:p>
                      <a:pPr algn="l" rtl="0" fontAlgn="ctr"/>
                      <a:endParaRPr lang="en-US" sz="1000" b="0" u="none" strike="noStrike" dirty="0">
                        <a:solidFill>
                          <a:schemeClr val="tx1"/>
                        </a:solidFill>
                        <a:effectLst/>
                        <a:latin typeface="Corbel" panose="020B0503020204020204" pitchFamily="34" charset="0"/>
                      </a:endParaRPr>
                    </a:p>
                    <a:p>
                      <a:pPr algn="l" rtl="0" fontAlgn="ctr"/>
                      <a:r>
                        <a:rPr lang="en-US" sz="1000" b="0" u="none" strike="noStrike" dirty="0">
                          <a:solidFill>
                            <a:schemeClr val="tx1"/>
                          </a:solidFill>
                          <a:effectLst/>
                          <a:latin typeface="Corbel" panose="020B0503020204020204" pitchFamily="34" charset="0"/>
                        </a:rPr>
                        <a:t>Medbury provides a holistic end-to-end service that covers all health needs within the workplace, and it is a one-stop shop for all  the clients’ healthcare needs</a:t>
                      </a:r>
                      <a:r>
                        <a:rPr lang="aa-ET" sz="1000" b="0" u="none" strike="noStrike" dirty="0">
                          <a:solidFill>
                            <a:schemeClr val="tx1"/>
                          </a:solidFill>
                          <a:effectLst/>
                          <a:latin typeface="Corbel" panose="020B0503020204020204" pitchFamily="34" charset="0"/>
                        </a:rPr>
                        <a:t>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err="1">
                          <a:solidFill>
                            <a:schemeClr val="tx1"/>
                          </a:solidFill>
                          <a:effectLst/>
                          <a:latin typeface="Corbel" panose="020B0503020204020204" pitchFamily="34" charset="0"/>
                        </a:rPr>
                        <a:t>Isos</a:t>
                      </a:r>
                      <a:r>
                        <a:rPr lang="en-US" sz="1000" b="0" i="0" u="none" strike="noStrike" dirty="0">
                          <a:solidFill>
                            <a:schemeClr val="tx1"/>
                          </a:solidFill>
                          <a:effectLst/>
                          <a:latin typeface="Corbel" panose="020B0503020204020204" pitchFamily="34" charset="0"/>
                        </a:rPr>
                        <a:t> deliver international standards of healthcare and emergency medical assistance to the wider expatriate community and international organizations in the region. </a:t>
                      </a:r>
                    </a:p>
                    <a:p>
                      <a:pPr algn="l" rtl="0" fontAlgn="ctr"/>
                      <a:endParaRPr lang="en-US" sz="1000" b="0" i="0" u="none" strike="noStrike" dirty="0">
                        <a:solidFill>
                          <a:schemeClr val="tx1"/>
                        </a:solidFill>
                        <a:effectLst/>
                        <a:latin typeface="Corbel" panose="020B0503020204020204" pitchFamily="34" charset="0"/>
                      </a:endParaRPr>
                    </a:p>
                    <a:p>
                      <a:pPr algn="l" rtl="0" fontAlgn="ctr"/>
                      <a:r>
                        <a:rPr lang="en-US" sz="1000" b="0" i="0" u="none" strike="noStrike" dirty="0">
                          <a:solidFill>
                            <a:schemeClr val="tx1"/>
                          </a:solidFill>
                          <a:effectLst/>
                          <a:latin typeface="Corbel" panose="020B0503020204020204" pitchFamily="34" charset="0"/>
                        </a:rPr>
                        <a:t>Its purpose was to provide clients with access to local assistance services, clinics, centers of medical excellence, and evacuations when needed</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 </a:t>
                      </a:r>
                      <a:r>
                        <a:rPr lang="en-US" sz="1000" b="0" i="0" u="none" strike="noStrike" dirty="0" err="1">
                          <a:solidFill>
                            <a:schemeClr val="tx1"/>
                          </a:solidFill>
                          <a:effectLst/>
                          <a:latin typeface="Corbel" panose="020B0503020204020204" pitchFamily="34" charset="0"/>
                        </a:rPr>
                        <a:t>Mecure</a:t>
                      </a:r>
                      <a:r>
                        <a:rPr lang="en-US" sz="1000" b="0" i="0" u="none" strike="noStrike" baseline="0" dirty="0">
                          <a:solidFill>
                            <a:schemeClr val="tx1"/>
                          </a:solidFill>
                          <a:effectLst/>
                          <a:latin typeface="Corbel" panose="020B0503020204020204" pitchFamily="34" charset="0"/>
                        </a:rPr>
                        <a:t> is a </a:t>
                      </a:r>
                      <a:r>
                        <a:rPr lang="en-US" sz="1000" b="0" i="0" u="none" strike="noStrike" dirty="0">
                          <a:solidFill>
                            <a:schemeClr val="tx1"/>
                          </a:solidFill>
                          <a:effectLst/>
                          <a:latin typeface="Corbel" panose="020B0503020204020204" pitchFamily="34" charset="0"/>
                        </a:rPr>
                        <a:t>diagnostic company and since have ventured into eye-care, dental care, cancer management and preventive healthcare</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en-US"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1494344301"/>
                  </a:ext>
                </a:extLst>
              </a:tr>
              <a:tr h="1004936">
                <a:tc>
                  <a:txBody>
                    <a:bodyPr/>
                    <a:lstStyle/>
                    <a:p>
                      <a:pPr algn="ctr" rtl="0" fontAlgn="ctr"/>
                      <a:r>
                        <a:rPr lang="en-US" sz="1000" b="1" u="none" strike="noStrike" dirty="0">
                          <a:solidFill>
                            <a:schemeClr val="tx1"/>
                          </a:solidFill>
                          <a:effectLst/>
                          <a:latin typeface="Corbel" panose="020B0503020204020204" pitchFamily="34" charset="0"/>
                        </a:rPr>
                        <a:t>Products &amp; Services</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a:solidFill>
                            <a:schemeClr val="tx1"/>
                          </a:solidFill>
                          <a:effectLst/>
                          <a:latin typeface="Corbel" panose="020B0503020204020204" pitchFamily="34" charset="0"/>
                        </a:rPr>
                        <a:t>Medical Supplies (Consumables &amp; Equipment),</a:t>
                      </a:r>
                      <a:br>
                        <a:rPr lang="en-US" sz="1000" b="0" u="none" strike="noStrike">
                          <a:solidFill>
                            <a:schemeClr val="tx1"/>
                          </a:solidFill>
                          <a:effectLst/>
                          <a:latin typeface="Corbel" panose="020B0503020204020204" pitchFamily="34" charset="0"/>
                        </a:rPr>
                      </a:br>
                      <a:r>
                        <a:rPr lang="en-US" sz="1000" b="0" u="none" strike="noStrike">
                          <a:solidFill>
                            <a:schemeClr val="tx1"/>
                          </a:solidFill>
                          <a:effectLst/>
                          <a:latin typeface="Corbel" panose="020B0503020204020204" pitchFamily="34" charset="0"/>
                        </a:rPr>
                        <a:t>Medical Fitness Solution,</a:t>
                      </a:r>
                      <a:br>
                        <a:rPr lang="en-US" sz="1000" b="0" u="none" strike="noStrike">
                          <a:solidFill>
                            <a:schemeClr val="tx1"/>
                          </a:solidFill>
                          <a:effectLst/>
                          <a:latin typeface="Corbel" panose="020B0503020204020204" pitchFamily="34" charset="0"/>
                        </a:rPr>
                      </a:br>
                      <a:r>
                        <a:rPr lang="en-US" sz="1000" b="0" u="none" strike="noStrike">
                          <a:solidFill>
                            <a:schemeClr val="tx1"/>
                          </a:solidFill>
                          <a:effectLst/>
                          <a:latin typeface="Corbel" panose="020B0503020204020204" pitchFamily="34" charset="0"/>
                        </a:rPr>
                        <a:t>Emergency Response Service,</a:t>
                      </a:r>
                      <a:br>
                        <a:rPr lang="en-US" sz="1000" b="0" u="none" strike="noStrike">
                          <a:solidFill>
                            <a:schemeClr val="tx1"/>
                          </a:solidFill>
                          <a:effectLst/>
                          <a:latin typeface="Corbel" panose="020B0503020204020204" pitchFamily="34" charset="0"/>
                        </a:rPr>
                      </a:br>
                      <a:r>
                        <a:rPr lang="en-US" sz="1000" b="0" u="none" strike="noStrike">
                          <a:solidFill>
                            <a:schemeClr val="tx1"/>
                          </a:solidFill>
                          <a:effectLst/>
                          <a:latin typeface="Corbel" panose="020B0503020204020204" pitchFamily="34" charset="0"/>
                        </a:rPr>
                        <a:t>Medical Staffing,</a:t>
                      </a:r>
                      <a:br>
                        <a:rPr lang="en-US" sz="1000" b="0" u="none" strike="noStrike">
                          <a:solidFill>
                            <a:schemeClr val="tx1"/>
                          </a:solidFill>
                          <a:effectLst/>
                          <a:latin typeface="Corbel" panose="020B0503020204020204" pitchFamily="34" charset="0"/>
                        </a:rPr>
                      </a:br>
                      <a:r>
                        <a:rPr lang="en-US" sz="1000" b="0" u="none" strike="noStrike">
                          <a:solidFill>
                            <a:schemeClr val="tx1"/>
                          </a:solidFill>
                          <a:effectLst/>
                          <a:latin typeface="Corbel" panose="020B0503020204020204" pitchFamily="34" charset="0"/>
                        </a:rPr>
                        <a:t>Health &amp; Safety Training</a:t>
                      </a:r>
                      <a:endParaRPr lang="en-US" sz="1000" b="0" i="0" u="none" strike="noStrike">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27 Assistance </a:t>
                      </a:r>
                      <a:r>
                        <a:rPr lang="en-US" sz="1000" b="0" i="0" u="none" strike="noStrike" dirty="0" err="1">
                          <a:solidFill>
                            <a:schemeClr val="tx1"/>
                          </a:solidFill>
                          <a:effectLst/>
                          <a:latin typeface="Corbel" panose="020B0503020204020204" pitchFamily="34" charset="0"/>
                        </a:rPr>
                        <a:t>Centres</a:t>
                      </a:r>
                      <a:r>
                        <a:rPr lang="en-US" sz="1000" b="0" i="0" u="none" strike="noStrike" dirty="0">
                          <a:solidFill>
                            <a:schemeClr val="tx1"/>
                          </a:solidFill>
                          <a:effectLst/>
                          <a:latin typeface="Corbel" panose="020B0503020204020204" pitchFamily="34" charset="0"/>
                        </a:rPr>
                        <a:t> -</a:t>
                      </a:r>
                    </a:p>
                    <a:p>
                      <a:pPr algn="l" rtl="0" fontAlgn="ctr"/>
                      <a:r>
                        <a:rPr lang="en-US" sz="1000" b="0" i="0" u="none" strike="noStrike" dirty="0">
                          <a:solidFill>
                            <a:schemeClr val="tx1"/>
                          </a:solidFill>
                          <a:effectLst/>
                          <a:latin typeface="Corbel" panose="020B0503020204020204" pitchFamily="34" charset="0"/>
                        </a:rPr>
                        <a:t>6,000 Medical Professionals -.</a:t>
                      </a:r>
                    </a:p>
                    <a:p>
                      <a:pPr algn="l" rtl="0" fontAlgn="ctr"/>
                      <a:r>
                        <a:rPr lang="en-US" sz="1000" b="0" i="0" u="none" strike="noStrike" dirty="0">
                          <a:solidFill>
                            <a:schemeClr val="tx1"/>
                          </a:solidFill>
                          <a:effectLst/>
                          <a:latin typeface="Corbel" panose="020B0503020204020204" pitchFamily="34" charset="0"/>
                        </a:rPr>
                        <a:t>Access to 3,200 Security Specialists -.</a:t>
                      </a:r>
                    </a:p>
                    <a:p>
                      <a:pPr algn="l" rtl="0" fontAlgn="ctr"/>
                      <a:r>
                        <a:rPr lang="en-US" sz="1000" b="0" i="0" u="none" strike="noStrike" dirty="0">
                          <a:solidFill>
                            <a:schemeClr val="tx1"/>
                          </a:solidFill>
                          <a:effectLst/>
                          <a:latin typeface="Corbel" panose="020B0503020204020204" pitchFamily="34" charset="0"/>
                        </a:rPr>
                        <a:t>53 Clinics and over 1,000 Remote and Workplace Sites 103,000 Accredited Providers - In healthcare, aviation and security.</a:t>
                      </a: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Laboratory testing </a:t>
                      </a:r>
                      <a:r>
                        <a:rPr lang="en-US" sz="1000" b="0" i="0" u="none" strike="noStrike" baseline="0" dirty="0">
                          <a:solidFill>
                            <a:schemeClr val="tx1"/>
                          </a:solidFill>
                          <a:effectLst/>
                          <a:latin typeface="Corbel" panose="020B0503020204020204" pitchFamily="34" charset="0"/>
                        </a:rPr>
                        <a:t> - individual and </a:t>
                      </a:r>
                      <a:r>
                        <a:rPr lang="en-US" sz="1000" b="0" i="0" u="none" strike="noStrike" dirty="0">
                          <a:solidFill>
                            <a:schemeClr val="tx1"/>
                          </a:solidFill>
                          <a:effectLst/>
                          <a:latin typeface="Corbel" panose="020B0503020204020204" pitchFamily="34" charset="0"/>
                        </a:rPr>
                        <a:t>Corporate</a:t>
                      </a:r>
                      <a:r>
                        <a:rPr lang="en-US" sz="1000" b="0" i="0" u="none" strike="noStrike" baseline="0" dirty="0">
                          <a:solidFill>
                            <a:schemeClr val="tx1"/>
                          </a:solidFill>
                          <a:effectLst/>
                          <a:latin typeface="Corbel" panose="020B0503020204020204" pitchFamily="34" charset="0"/>
                        </a:rPr>
                        <a:t> Medical</a:t>
                      </a:r>
                    </a:p>
                    <a:p>
                      <a:pPr algn="l" rtl="0" fontAlgn="ctr"/>
                      <a:r>
                        <a:rPr lang="en-US" sz="1000" b="0" i="0" u="none" strike="noStrike" baseline="0" dirty="0">
                          <a:solidFill>
                            <a:schemeClr val="tx1"/>
                          </a:solidFill>
                          <a:effectLst/>
                          <a:latin typeface="Corbel" panose="020B0503020204020204" pitchFamily="34" charset="0"/>
                        </a:rPr>
                        <a:t>Imaging – CT, MRI, </a:t>
                      </a:r>
                      <a:r>
                        <a:rPr lang="en-US" sz="1000" b="0" i="0" u="none" strike="noStrike" baseline="0" dirty="0" err="1">
                          <a:solidFill>
                            <a:schemeClr val="tx1"/>
                          </a:solidFill>
                          <a:effectLst/>
                          <a:latin typeface="Corbel" panose="020B0503020204020204" pitchFamily="34" charset="0"/>
                        </a:rPr>
                        <a:t>Uss</a:t>
                      </a:r>
                      <a:r>
                        <a:rPr lang="en-US" sz="1000" b="0" i="0" u="none" strike="noStrike" baseline="0" dirty="0">
                          <a:solidFill>
                            <a:schemeClr val="tx1"/>
                          </a:solidFill>
                          <a:effectLst/>
                          <a:latin typeface="Corbel" panose="020B0503020204020204" pitchFamily="34" charset="0"/>
                        </a:rPr>
                        <a:t>, </a:t>
                      </a:r>
                    </a:p>
                    <a:p>
                      <a:pPr algn="l" rtl="0" fontAlgn="ctr"/>
                      <a:r>
                        <a:rPr lang="en-US" sz="1000" b="0" i="0" u="none" strike="noStrike" baseline="0" dirty="0">
                          <a:solidFill>
                            <a:schemeClr val="tx1"/>
                          </a:solidFill>
                          <a:effectLst/>
                          <a:latin typeface="Corbel" panose="020B0503020204020204" pitchFamily="34" charset="0"/>
                        </a:rPr>
                        <a:t>DNA Testing</a:t>
                      </a:r>
                    </a:p>
                    <a:p>
                      <a:pPr algn="l" rtl="0" fontAlgn="ctr"/>
                      <a:r>
                        <a:rPr lang="en-US" sz="1000" b="0" i="0" u="none" strike="noStrike" baseline="0" dirty="0">
                          <a:solidFill>
                            <a:schemeClr val="tx1"/>
                          </a:solidFill>
                          <a:effectLst/>
                          <a:latin typeface="Corbel" panose="020B0503020204020204" pitchFamily="34" charset="0"/>
                        </a:rPr>
                        <a:t>Cardiac testing</a:t>
                      </a:r>
                    </a:p>
                    <a:p>
                      <a:pPr algn="l" rtl="0" fontAlgn="ctr"/>
                      <a:r>
                        <a:rPr lang="en-US" sz="1000" b="0" i="0" u="none" strike="noStrike" baseline="0" dirty="0">
                          <a:solidFill>
                            <a:schemeClr val="tx1"/>
                          </a:solidFill>
                          <a:effectLst/>
                          <a:latin typeface="Corbel" panose="020B0503020204020204" pitchFamily="34" charset="0"/>
                        </a:rPr>
                        <a:t>Dental </a:t>
                      </a:r>
                    </a:p>
                    <a:p>
                      <a:pPr algn="l" rtl="0" fontAlgn="ctr"/>
                      <a:r>
                        <a:rPr lang="en-US" sz="1000" b="0" i="0" u="none" strike="noStrike" baseline="0" dirty="0">
                          <a:solidFill>
                            <a:schemeClr val="tx1"/>
                          </a:solidFill>
                          <a:effectLst/>
                          <a:latin typeface="Corbel" panose="020B0503020204020204" pitchFamily="34" charset="0"/>
                        </a:rPr>
                        <a:t>Eye Screening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aa-ET"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582283250"/>
                  </a:ext>
                </a:extLst>
              </a:tr>
              <a:tr h="240734">
                <a:tc>
                  <a:txBody>
                    <a:bodyPr/>
                    <a:lstStyle/>
                    <a:p>
                      <a:pPr algn="ctr" rtl="0" fontAlgn="ctr"/>
                      <a:r>
                        <a:rPr lang="en-US" sz="1000" b="1" u="none" strike="noStrike" dirty="0">
                          <a:solidFill>
                            <a:schemeClr val="tx1"/>
                          </a:solidFill>
                          <a:effectLst/>
                          <a:latin typeface="Corbel" panose="020B0503020204020204" pitchFamily="34" charset="0"/>
                        </a:rPr>
                        <a:t>Competitive Advantage</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aa-ET" sz="1000" b="0" u="none" strike="noStrike" dirty="0">
                          <a:solidFill>
                            <a:schemeClr val="tx1"/>
                          </a:solidFill>
                          <a:effectLst/>
                          <a:latin typeface="Corbel" panose="020B0503020204020204" pitchFamily="34" charset="0"/>
                        </a:rPr>
                        <a:t> </a:t>
                      </a:r>
                      <a:r>
                        <a:rPr lang="en-US" sz="1000" b="0" u="none" strike="noStrike" dirty="0">
                          <a:solidFill>
                            <a:schemeClr val="tx1"/>
                          </a:solidFill>
                          <a:effectLst/>
                          <a:latin typeface="Corbel" panose="020B0503020204020204" pitchFamily="34" charset="0"/>
                        </a:rPr>
                        <a:t>Brand reputation, Wide reach across the geopolitical zones in Nigeria, robust technology</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Air Ambulance</a:t>
                      </a:r>
                      <a:r>
                        <a:rPr lang="en-US" sz="1000" b="0" i="0" u="none" strike="noStrike" baseline="0" dirty="0">
                          <a:solidFill>
                            <a:schemeClr val="tx1"/>
                          </a:solidFill>
                          <a:effectLst/>
                          <a:latin typeface="Corbel" panose="020B0503020204020204" pitchFamily="34" charset="0"/>
                        </a:rPr>
                        <a:t> </a:t>
                      </a:r>
                      <a:r>
                        <a:rPr lang="en-US" sz="1000" b="0" i="0" u="none" strike="noStrike" dirty="0">
                          <a:solidFill>
                            <a:schemeClr val="tx1"/>
                          </a:solidFill>
                          <a:effectLst/>
                          <a:latin typeface="Corbel" panose="020B0503020204020204" pitchFamily="34" charset="0"/>
                        </a:rPr>
                        <a:t>, International</a:t>
                      </a:r>
                      <a:r>
                        <a:rPr lang="en-US" sz="1000" b="0" i="0" u="none" strike="noStrike" baseline="0" dirty="0">
                          <a:solidFill>
                            <a:schemeClr val="tx1"/>
                          </a:solidFill>
                          <a:effectLst/>
                          <a:latin typeface="Corbel" panose="020B0503020204020204" pitchFamily="34" charset="0"/>
                        </a:rPr>
                        <a:t> Brand, International accreditation, cross continent expertise , 27 Assistance Call center</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MRI, CT Scan, Massive</a:t>
                      </a:r>
                      <a:r>
                        <a:rPr lang="en-US" sz="1000" b="0" i="0" u="none" strike="noStrike" baseline="0" dirty="0">
                          <a:solidFill>
                            <a:schemeClr val="tx1"/>
                          </a:solidFill>
                          <a:effectLst/>
                          <a:latin typeface="Corbel" panose="020B0503020204020204" pitchFamily="34" charset="0"/>
                        </a:rPr>
                        <a:t> Facility with capacity for large footfall</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aa-ET"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3224879121"/>
                  </a:ext>
                </a:extLst>
              </a:tr>
              <a:tr h="475599">
                <a:tc>
                  <a:txBody>
                    <a:bodyPr/>
                    <a:lstStyle/>
                    <a:p>
                      <a:pPr algn="ctr" rtl="0" fontAlgn="ctr"/>
                      <a:r>
                        <a:rPr lang="en-US" sz="1000" b="1" u="none" strike="noStrike" dirty="0">
                          <a:solidFill>
                            <a:schemeClr val="tx1"/>
                          </a:solidFill>
                          <a:effectLst/>
                          <a:latin typeface="Corbel" panose="020B0503020204020204" pitchFamily="34" charset="0"/>
                        </a:rPr>
                        <a:t>Target Market</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dirty="0">
                          <a:solidFill>
                            <a:schemeClr val="tx1"/>
                          </a:solidFill>
                          <a:effectLst/>
                          <a:latin typeface="Corbel" panose="020B0503020204020204" pitchFamily="34" charset="0"/>
                        </a:rPr>
                        <a:t>Corporate Institutions, Government &amp; Its Agencies, Hospitals &amp; Pharmacies</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Oil</a:t>
                      </a:r>
                      <a:r>
                        <a:rPr lang="en-US" sz="1000" b="0" i="0" u="none" strike="noStrike" baseline="0" dirty="0">
                          <a:solidFill>
                            <a:schemeClr val="tx1"/>
                          </a:solidFill>
                          <a:effectLst/>
                          <a:latin typeface="Corbel" panose="020B0503020204020204" pitchFamily="34" charset="0"/>
                        </a:rPr>
                        <a:t> and Gas companies, Government </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Individuals, Corporates,</a:t>
                      </a:r>
                      <a:r>
                        <a:rPr lang="en-US" sz="1000" b="0" i="0" u="none" strike="noStrike" baseline="0" dirty="0">
                          <a:solidFill>
                            <a:schemeClr val="tx1"/>
                          </a:solidFill>
                          <a:effectLst/>
                          <a:latin typeface="Corbel" panose="020B0503020204020204" pitchFamily="34" charset="0"/>
                        </a:rPr>
                        <a:t>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1948738057"/>
                  </a:ext>
                </a:extLst>
              </a:tr>
              <a:tr h="169512">
                <a:tc>
                  <a:txBody>
                    <a:bodyPr/>
                    <a:lstStyle/>
                    <a:p>
                      <a:pPr algn="ctr" rtl="0" fontAlgn="ctr"/>
                      <a:r>
                        <a:rPr lang="en-US" sz="1000" b="1" u="none" strike="noStrike">
                          <a:solidFill>
                            <a:schemeClr val="tx1"/>
                          </a:solidFill>
                          <a:effectLst/>
                          <a:latin typeface="Corbel" panose="020B0503020204020204" pitchFamily="34" charset="0"/>
                        </a:rPr>
                        <a:t>Partnerships</a:t>
                      </a:r>
                      <a:endParaRPr lang="en-US" sz="1000" b="1" i="0" u="none" strike="noStrike">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a:solidFill>
                            <a:schemeClr val="tx1"/>
                          </a:solidFill>
                          <a:effectLst/>
                          <a:latin typeface="Corbel" panose="020B0503020204020204" pitchFamily="34" charset="0"/>
                        </a:rPr>
                        <a:t>Local &amp; International</a:t>
                      </a:r>
                      <a:endParaRPr lang="en-US" sz="1000" b="0" i="0" u="none" strike="noStrike">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International</a:t>
                      </a:r>
                      <a:r>
                        <a:rPr lang="en-US" sz="1000" b="0" i="0" u="none" strike="noStrike" baseline="0" dirty="0">
                          <a:solidFill>
                            <a:schemeClr val="tx1"/>
                          </a:solidFill>
                          <a:effectLst/>
                          <a:latin typeface="Corbel" panose="020B0503020204020204" pitchFamily="34" charset="0"/>
                        </a:rPr>
                        <a:t> </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Local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aa-ET"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1637609104"/>
                  </a:ext>
                </a:extLst>
              </a:tr>
              <a:tr h="498950">
                <a:tc>
                  <a:txBody>
                    <a:bodyPr/>
                    <a:lstStyle/>
                    <a:p>
                      <a:pPr algn="ctr" rtl="0" fontAlgn="ctr"/>
                      <a:r>
                        <a:rPr lang="en-US" sz="1000" b="1" u="none" strike="noStrike" dirty="0">
                          <a:solidFill>
                            <a:schemeClr val="tx1"/>
                          </a:solidFill>
                          <a:effectLst/>
                          <a:latin typeface="Corbel" panose="020B0503020204020204" pitchFamily="34" charset="0"/>
                        </a:rPr>
                        <a:t>Marketing Strategies</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a:solidFill>
                            <a:schemeClr val="tx1"/>
                          </a:solidFill>
                          <a:effectLst/>
                          <a:latin typeface="Corbel" panose="020B0503020204020204" pitchFamily="34" charset="0"/>
                        </a:rPr>
                        <a:t>Advertisement &amp; promotions, Social Media, CSR, Cost reduction through economies of scale</a:t>
                      </a:r>
                      <a:endParaRPr lang="en-US" sz="1000" b="0" i="0" u="none" strike="noStrike">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Global market</a:t>
                      </a:r>
                      <a:r>
                        <a:rPr lang="en-US" sz="1000" b="0" i="0" u="none" strike="noStrike" baseline="0" dirty="0">
                          <a:solidFill>
                            <a:schemeClr val="tx1"/>
                          </a:solidFill>
                          <a:effectLst/>
                          <a:latin typeface="Corbel" panose="020B0503020204020204" pitchFamily="34" charset="0"/>
                        </a:rPr>
                        <a:t> entry, referral , Bidding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Online presence,</a:t>
                      </a:r>
                      <a:r>
                        <a:rPr lang="en-US" sz="1000" b="0" i="0" u="none" strike="noStrike" baseline="0" dirty="0">
                          <a:solidFill>
                            <a:schemeClr val="tx1"/>
                          </a:solidFill>
                          <a:effectLst/>
                          <a:latin typeface="Corbel" panose="020B0503020204020204" pitchFamily="34" charset="0"/>
                        </a:rPr>
                        <a:t> Social media, Bundle discount, wellness packages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en-US"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1398880262"/>
                  </a:ext>
                </a:extLst>
              </a:tr>
              <a:tr h="334231">
                <a:tc>
                  <a:txBody>
                    <a:bodyPr/>
                    <a:lstStyle/>
                    <a:p>
                      <a:pPr algn="ctr" rtl="0" fontAlgn="ctr"/>
                      <a:r>
                        <a:rPr lang="en-US" sz="1000" b="1" u="none" strike="noStrike" dirty="0">
                          <a:solidFill>
                            <a:schemeClr val="tx1"/>
                          </a:solidFill>
                          <a:effectLst/>
                          <a:latin typeface="Corbel" panose="020B0503020204020204" pitchFamily="34" charset="0"/>
                        </a:rPr>
                        <a:t>Technology Leverage</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dirty="0">
                          <a:solidFill>
                            <a:schemeClr val="tx1"/>
                          </a:solidFill>
                          <a:effectLst/>
                          <a:latin typeface="Corbel" panose="020B0503020204020204" pitchFamily="34" charset="0"/>
                        </a:rPr>
                        <a:t>Online ordering channels, customer support (Web Chat, WhatsApp), Inventory Management System, Mobile App (</a:t>
                      </a:r>
                      <a:r>
                        <a:rPr lang="en-US" sz="1000" b="0" u="none" strike="noStrike" dirty="0" err="1">
                          <a:solidFill>
                            <a:schemeClr val="tx1"/>
                          </a:solidFill>
                          <a:effectLst/>
                          <a:latin typeface="Corbel" panose="020B0503020204020204" pitchFamily="34" charset="0"/>
                        </a:rPr>
                        <a:t>MedburyLabs</a:t>
                      </a:r>
                      <a:r>
                        <a:rPr lang="en-US" sz="1000" b="0" u="none" strike="noStrike" dirty="0">
                          <a:solidFill>
                            <a:schemeClr val="tx1"/>
                          </a:solidFill>
                          <a:effectLst/>
                          <a:latin typeface="Corbel" panose="020B0503020204020204" pitchFamily="34" charset="0"/>
                        </a:rPr>
                        <a:t>)</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Proprietary</a:t>
                      </a:r>
                      <a:r>
                        <a:rPr lang="en-US" sz="1000" b="0" i="0" u="none" strike="noStrike" baseline="0" dirty="0">
                          <a:solidFill>
                            <a:schemeClr val="tx1"/>
                          </a:solidFill>
                          <a:effectLst/>
                          <a:latin typeface="Corbel" panose="020B0503020204020204" pitchFamily="34" charset="0"/>
                        </a:rPr>
                        <a:t> EMR software and Clinic management software </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EMR , LMS, Robust website</a:t>
                      </a:r>
                      <a:r>
                        <a:rPr lang="en-US" sz="1000" b="0" i="0" u="none" strike="noStrike" baseline="0" dirty="0">
                          <a:solidFill>
                            <a:schemeClr val="tx1"/>
                          </a:solidFill>
                          <a:effectLst/>
                          <a:latin typeface="Corbel" panose="020B0503020204020204" pitchFamily="34" charset="0"/>
                        </a:rPr>
                        <a:t> </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aa-ET"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2810327520"/>
                  </a:ext>
                </a:extLst>
              </a:tr>
              <a:tr h="169512">
                <a:tc>
                  <a:txBody>
                    <a:bodyPr/>
                    <a:lstStyle/>
                    <a:p>
                      <a:pPr algn="ctr" rtl="0" fontAlgn="ctr"/>
                      <a:r>
                        <a:rPr lang="en-US" sz="1000" b="1" u="none" strike="noStrike" dirty="0">
                          <a:solidFill>
                            <a:schemeClr val="tx1"/>
                          </a:solidFill>
                          <a:effectLst/>
                          <a:latin typeface="Corbel" panose="020B0503020204020204" pitchFamily="34" charset="0"/>
                        </a:rPr>
                        <a:t>Pricing</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a:solidFill>
                            <a:schemeClr val="tx1"/>
                          </a:solidFill>
                          <a:effectLst/>
                          <a:latin typeface="Corbel" panose="020B0503020204020204" pitchFamily="34" charset="0"/>
                        </a:rPr>
                        <a:t>Competitive</a:t>
                      </a:r>
                      <a:endParaRPr lang="en-US" sz="1000" b="0" i="0" u="none" strike="noStrike">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Premium </a:t>
                      </a: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Low</a:t>
                      </a:r>
                      <a:r>
                        <a:rPr lang="en-US" sz="1000" b="0" i="0" u="none" strike="noStrike" baseline="0" dirty="0">
                          <a:solidFill>
                            <a:schemeClr val="tx1"/>
                          </a:solidFill>
                          <a:effectLst/>
                          <a:latin typeface="Corbel" panose="020B0503020204020204" pitchFamily="34" charset="0"/>
                        </a:rPr>
                        <a:t> pricing and premium </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en-US"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1712269148"/>
                  </a:ext>
                </a:extLst>
              </a:tr>
              <a:tr h="240734">
                <a:tc>
                  <a:txBody>
                    <a:bodyPr/>
                    <a:lstStyle/>
                    <a:p>
                      <a:pPr algn="ctr" rtl="0" fontAlgn="ctr"/>
                      <a:r>
                        <a:rPr lang="en-US" sz="1000" b="1" u="none" strike="noStrike" dirty="0">
                          <a:solidFill>
                            <a:schemeClr val="tx1"/>
                          </a:solidFill>
                          <a:effectLst/>
                          <a:latin typeface="Corbel" panose="020B0503020204020204" pitchFamily="34" charset="0"/>
                        </a:rPr>
                        <a:t>Distribution Channels</a:t>
                      </a:r>
                      <a:endParaRPr lang="en-US" sz="1000" b="1"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u="none" strike="noStrike" dirty="0">
                          <a:solidFill>
                            <a:schemeClr val="tx1"/>
                          </a:solidFill>
                          <a:effectLst/>
                          <a:latin typeface="Corbel" panose="020B0503020204020204" pitchFamily="34" charset="0"/>
                        </a:rPr>
                        <a:t>Vast and spread across the geopolitical zones of Nigeria</a:t>
                      </a:r>
                      <a:endParaRPr lang="en-US"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Global Distribution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r>
                        <a:rPr lang="en-US" sz="1000" b="0" i="0" u="none" strike="noStrike" dirty="0">
                          <a:solidFill>
                            <a:schemeClr val="tx1"/>
                          </a:solidFill>
                          <a:effectLst/>
                          <a:latin typeface="Corbel" panose="020B0503020204020204" pitchFamily="34" charset="0"/>
                        </a:rPr>
                        <a:t>Pan</a:t>
                      </a:r>
                      <a:r>
                        <a:rPr lang="en-US" sz="1000" b="0" i="0" u="none" strike="noStrike" baseline="0" dirty="0">
                          <a:solidFill>
                            <a:schemeClr val="tx1"/>
                          </a:solidFill>
                          <a:effectLst/>
                          <a:latin typeface="Corbel" panose="020B0503020204020204" pitchFamily="34" charset="0"/>
                        </a:rPr>
                        <a:t> Nigerian, </a:t>
                      </a:r>
                      <a:endParaRPr lang="aa-ET" sz="1000" b="0" i="0" u="none" strike="noStrike" dirty="0">
                        <a:solidFill>
                          <a:schemeClr val="tx1"/>
                        </a:solidFill>
                        <a:effectLst/>
                        <a:latin typeface="Corbel" panose="020B0503020204020204" pitchFamily="34" charset="0"/>
                      </a:endParaRPr>
                    </a:p>
                  </a:txBody>
                  <a:tcPr marL="4878" marR="4878" marT="4878" marB="0" anchor="ctr"/>
                </a:tc>
                <a:tc>
                  <a:txBody>
                    <a:bodyPr/>
                    <a:lstStyle/>
                    <a:p>
                      <a:pPr algn="l" rtl="0" fontAlgn="ctr"/>
                      <a:endParaRPr lang="en-US" sz="1000" b="0" i="0" u="none" strike="noStrike" dirty="0">
                        <a:solidFill>
                          <a:schemeClr val="tx1"/>
                        </a:solidFill>
                        <a:effectLst/>
                        <a:latin typeface="Corbel" panose="020B0503020204020204" pitchFamily="34" charset="0"/>
                      </a:endParaRPr>
                    </a:p>
                  </a:txBody>
                  <a:tcPr marL="4878" marR="4878" marT="4878" marB="0" anchor="ctr"/>
                </a:tc>
                <a:extLst>
                  <a:ext uri="{0D108BD9-81ED-4DB2-BD59-A6C34878D82A}">
                    <a16:rowId xmlns:a16="http://schemas.microsoft.com/office/drawing/2014/main" val="4247686548"/>
                  </a:ext>
                </a:extLst>
              </a:tr>
            </a:tbl>
          </a:graphicData>
        </a:graphic>
      </p:graphicFrame>
    </p:spTree>
    <p:extLst>
      <p:ext uri="{BB962C8B-B14F-4D97-AF65-F5344CB8AC3E}">
        <p14:creationId xmlns:p14="http://schemas.microsoft.com/office/powerpoint/2010/main" val="4020102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402-5228-4CA0-9A56-543DD29009C5}"/>
              </a:ext>
            </a:extLst>
          </p:cNvPr>
          <p:cNvSpPr>
            <a:spLocks noGrp="1"/>
          </p:cNvSpPr>
          <p:nvPr>
            <p:ph type="title"/>
          </p:nvPr>
        </p:nvSpPr>
        <p:spPr/>
        <p:txBody>
          <a:bodyPr/>
          <a:lstStyle/>
          <a:p>
            <a:r>
              <a:rPr lang="en-US" dirty="0"/>
              <a:t>MEDFIT - Unique Selling Points</a:t>
            </a:r>
            <a:endParaRPr lang="aa-ET" dirty="0"/>
          </a:p>
        </p:txBody>
      </p:sp>
      <p:sp>
        <p:nvSpPr>
          <p:cNvPr id="4" name="Slide Number Placeholder 3">
            <a:extLst>
              <a:ext uri="{FF2B5EF4-FFF2-40B4-BE49-F238E27FC236}">
                <a16:creationId xmlns:a16="http://schemas.microsoft.com/office/drawing/2014/main" id="{160BB239-E124-417C-B563-813BC465EBCD}"/>
              </a:ext>
            </a:extLst>
          </p:cNvPr>
          <p:cNvSpPr>
            <a:spLocks noGrp="1"/>
          </p:cNvSpPr>
          <p:nvPr>
            <p:ph type="sldNum" sz="quarter" idx="12"/>
          </p:nvPr>
        </p:nvSpPr>
        <p:spPr/>
        <p:txBody>
          <a:bodyPr/>
          <a:lstStyle/>
          <a:p>
            <a:fld id="{88DB5A6F-883B-4080-A811-FB5B8D05AFA3}" type="slidenum">
              <a:rPr lang="en-GB" smtClean="0"/>
              <a:pPr/>
              <a:t>46</a:t>
            </a:fld>
            <a:endParaRPr lang="en-GB"/>
          </a:p>
        </p:txBody>
      </p:sp>
      <p:graphicFrame>
        <p:nvGraphicFramePr>
          <p:cNvPr id="15" name="Diagram 14">
            <a:extLst>
              <a:ext uri="{FF2B5EF4-FFF2-40B4-BE49-F238E27FC236}">
                <a16:creationId xmlns:a16="http://schemas.microsoft.com/office/drawing/2014/main" id="{18C0BAA1-19E1-4AD5-A175-BA98FB37576F}"/>
              </a:ext>
            </a:extLst>
          </p:cNvPr>
          <p:cNvGraphicFramePr/>
          <p:nvPr>
            <p:extLst>
              <p:ext uri="{D42A27DB-BD31-4B8C-83A1-F6EECF244321}">
                <p14:modId xmlns:p14="http://schemas.microsoft.com/office/powerpoint/2010/main" val="3708490825"/>
              </p:ext>
            </p:extLst>
          </p:nvPr>
        </p:nvGraphicFramePr>
        <p:xfrm>
          <a:off x="993913" y="1071764"/>
          <a:ext cx="9900229" cy="5102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0146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402-5228-4CA0-9A56-543DD29009C5}"/>
              </a:ext>
            </a:extLst>
          </p:cNvPr>
          <p:cNvSpPr>
            <a:spLocks noGrp="1"/>
          </p:cNvSpPr>
          <p:nvPr>
            <p:ph type="title"/>
          </p:nvPr>
        </p:nvSpPr>
        <p:spPr/>
        <p:txBody>
          <a:bodyPr/>
          <a:lstStyle/>
          <a:p>
            <a:r>
              <a:rPr lang="en-US" dirty="0"/>
              <a:t>HOSPITAL MGT - Unique Selling Points</a:t>
            </a:r>
            <a:endParaRPr lang="aa-ET" dirty="0"/>
          </a:p>
        </p:txBody>
      </p:sp>
      <p:sp>
        <p:nvSpPr>
          <p:cNvPr id="4" name="Slide Number Placeholder 3">
            <a:extLst>
              <a:ext uri="{FF2B5EF4-FFF2-40B4-BE49-F238E27FC236}">
                <a16:creationId xmlns:a16="http://schemas.microsoft.com/office/drawing/2014/main" id="{160BB239-E124-417C-B563-813BC465EBCD}"/>
              </a:ext>
            </a:extLst>
          </p:cNvPr>
          <p:cNvSpPr>
            <a:spLocks noGrp="1"/>
          </p:cNvSpPr>
          <p:nvPr>
            <p:ph type="sldNum" sz="quarter" idx="12"/>
          </p:nvPr>
        </p:nvSpPr>
        <p:spPr/>
        <p:txBody>
          <a:bodyPr/>
          <a:lstStyle/>
          <a:p>
            <a:fld id="{88DB5A6F-883B-4080-A811-FB5B8D05AFA3}" type="slidenum">
              <a:rPr lang="en-GB" smtClean="0"/>
              <a:pPr/>
              <a:t>47</a:t>
            </a:fld>
            <a:endParaRPr lang="en-GB"/>
          </a:p>
        </p:txBody>
      </p:sp>
      <p:graphicFrame>
        <p:nvGraphicFramePr>
          <p:cNvPr id="15" name="Diagram 14">
            <a:extLst>
              <a:ext uri="{FF2B5EF4-FFF2-40B4-BE49-F238E27FC236}">
                <a16:creationId xmlns:a16="http://schemas.microsoft.com/office/drawing/2014/main" id="{18C0BAA1-19E1-4AD5-A175-BA98FB37576F}"/>
              </a:ext>
            </a:extLst>
          </p:cNvPr>
          <p:cNvGraphicFramePr/>
          <p:nvPr>
            <p:extLst>
              <p:ext uri="{D42A27DB-BD31-4B8C-83A1-F6EECF244321}">
                <p14:modId xmlns:p14="http://schemas.microsoft.com/office/powerpoint/2010/main" val="321440622"/>
              </p:ext>
            </p:extLst>
          </p:nvPr>
        </p:nvGraphicFramePr>
        <p:xfrm>
          <a:off x="993913" y="1071764"/>
          <a:ext cx="9900229" cy="5102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02100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402-5228-4CA0-9A56-543DD29009C5}"/>
              </a:ext>
            </a:extLst>
          </p:cNvPr>
          <p:cNvSpPr>
            <a:spLocks noGrp="1"/>
          </p:cNvSpPr>
          <p:nvPr>
            <p:ph type="title"/>
          </p:nvPr>
        </p:nvSpPr>
        <p:spPr/>
        <p:txBody>
          <a:bodyPr/>
          <a:lstStyle/>
          <a:p>
            <a:r>
              <a:rPr lang="en-US" dirty="0"/>
              <a:t>MEDPROJECT  - Unique Selling Points</a:t>
            </a:r>
            <a:endParaRPr lang="aa-ET" dirty="0"/>
          </a:p>
        </p:txBody>
      </p:sp>
      <p:sp>
        <p:nvSpPr>
          <p:cNvPr id="4" name="Slide Number Placeholder 3">
            <a:extLst>
              <a:ext uri="{FF2B5EF4-FFF2-40B4-BE49-F238E27FC236}">
                <a16:creationId xmlns:a16="http://schemas.microsoft.com/office/drawing/2014/main" id="{160BB239-E124-417C-B563-813BC465EBCD}"/>
              </a:ext>
            </a:extLst>
          </p:cNvPr>
          <p:cNvSpPr>
            <a:spLocks noGrp="1"/>
          </p:cNvSpPr>
          <p:nvPr>
            <p:ph type="sldNum" sz="quarter" idx="12"/>
          </p:nvPr>
        </p:nvSpPr>
        <p:spPr/>
        <p:txBody>
          <a:bodyPr/>
          <a:lstStyle/>
          <a:p>
            <a:fld id="{88DB5A6F-883B-4080-A811-FB5B8D05AFA3}" type="slidenum">
              <a:rPr lang="en-GB" smtClean="0"/>
              <a:pPr/>
              <a:t>48</a:t>
            </a:fld>
            <a:endParaRPr lang="en-GB"/>
          </a:p>
        </p:txBody>
      </p:sp>
      <p:graphicFrame>
        <p:nvGraphicFramePr>
          <p:cNvPr id="15" name="Diagram 14">
            <a:extLst>
              <a:ext uri="{FF2B5EF4-FFF2-40B4-BE49-F238E27FC236}">
                <a16:creationId xmlns:a16="http://schemas.microsoft.com/office/drawing/2014/main" id="{18C0BAA1-19E1-4AD5-A175-BA98FB37576F}"/>
              </a:ext>
            </a:extLst>
          </p:cNvPr>
          <p:cNvGraphicFramePr/>
          <p:nvPr>
            <p:extLst>
              <p:ext uri="{D42A27DB-BD31-4B8C-83A1-F6EECF244321}">
                <p14:modId xmlns:p14="http://schemas.microsoft.com/office/powerpoint/2010/main" val="47213964"/>
              </p:ext>
            </p:extLst>
          </p:nvPr>
        </p:nvGraphicFramePr>
        <p:xfrm>
          <a:off x="993913" y="1071764"/>
          <a:ext cx="9900229" cy="5102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99193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402-5228-4CA0-9A56-543DD29009C5}"/>
              </a:ext>
            </a:extLst>
          </p:cNvPr>
          <p:cNvSpPr>
            <a:spLocks noGrp="1"/>
          </p:cNvSpPr>
          <p:nvPr>
            <p:ph type="title"/>
          </p:nvPr>
        </p:nvSpPr>
        <p:spPr/>
        <p:txBody>
          <a:bodyPr/>
          <a:lstStyle/>
          <a:p>
            <a:r>
              <a:rPr lang="en-US" dirty="0"/>
              <a:t>MEDADVISORY - Unique Selling Points</a:t>
            </a:r>
            <a:endParaRPr lang="aa-ET" dirty="0"/>
          </a:p>
        </p:txBody>
      </p:sp>
      <p:sp>
        <p:nvSpPr>
          <p:cNvPr id="4" name="Slide Number Placeholder 3">
            <a:extLst>
              <a:ext uri="{FF2B5EF4-FFF2-40B4-BE49-F238E27FC236}">
                <a16:creationId xmlns:a16="http://schemas.microsoft.com/office/drawing/2014/main" id="{160BB239-E124-417C-B563-813BC465EBCD}"/>
              </a:ext>
            </a:extLst>
          </p:cNvPr>
          <p:cNvSpPr>
            <a:spLocks noGrp="1"/>
          </p:cNvSpPr>
          <p:nvPr>
            <p:ph type="sldNum" sz="quarter" idx="12"/>
          </p:nvPr>
        </p:nvSpPr>
        <p:spPr/>
        <p:txBody>
          <a:bodyPr/>
          <a:lstStyle/>
          <a:p>
            <a:fld id="{88DB5A6F-883B-4080-A811-FB5B8D05AFA3}" type="slidenum">
              <a:rPr lang="en-GB" smtClean="0"/>
              <a:pPr/>
              <a:t>49</a:t>
            </a:fld>
            <a:endParaRPr lang="en-GB"/>
          </a:p>
        </p:txBody>
      </p:sp>
      <p:graphicFrame>
        <p:nvGraphicFramePr>
          <p:cNvPr id="15" name="Diagram 14">
            <a:extLst>
              <a:ext uri="{FF2B5EF4-FFF2-40B4-BE49-F238E27FC236}">
                <a16:creationId xmlns:a16="http://schemas.microsoft.com/office/drawing/2014/main" id="{18C0BAA1-19E1-4AD5-A175-BA98FB37576F}"/>
              </a:ext>
            </a:extLst>
          </p:cNvPr>
          <p:cNvGraphicFramePr/>
          <p:nvPr>
            <p:extLst>
              <p:ext uri="{D42A27DB-BD31-4B8C-83A1-F6EECF244321}">
                <p14:modId xmlns:p14="http://schemas.microsoft.com/office/powerpoint/2010/main" val="740476458"/>
              </p:ext>
            </p:extLst>
          </p:nvPr>
        </p:nvGraphicFramePr>
        <p:xfrm>
          <a:off x="993913" y="1071764"/>
          <a:ext cx="9900229" cy="5102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9030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A402-5228-4CA0-9A56-543DD29009C5}"/>
              </a:ext>
            </a:extLst>
          </p:cNvPr>
          <p:cNvSpPr>
            <a:spLocks noGrp="1"/>
          </p:cNvSpPr>
          <p:nvPr>
            <p:ph type="title"/>
          </p:nvPr>
        </p:nvSpPr>
        <p:spPr/>
        <p:txBody>
          <a:bodyPr/>
          <a:lstStyle/>
          <a:p>
            <a:r>
              <a:rPr lang="en-US" dirty="0"/>
              <a:t>MEDSUSTAIN - Unique Selling Points</a:t>
            </a:r>
            <a:endParaRPr lang="aa-ET" dirty="0"/>
          </a:p>
        </p:txBody>
      </p:sp>
      <p:sp>
        <p:nvSpPr>
          <p:cNvPr id="4" name="Slide Number Placeholder 3">
            <a:extLst>
              <a:ext uri="{FF2B5EF4-FFF2-40B4-BE49-F238E27FC236}">
                <a16:creationId xmlns:a16="http://schemas.microsoft.com/office/drawing/2014/main" id="{160BB239-E124-417C-B563-813BC465EBCD}"/>
              </a:ext>
            </a:extLst>
          </p:cNvPr>
          <p:cNvSpPr>
            <a:spLocks noGrp="1"/>
          </p:cNvSpPr>
          <p:nvPr>
            <p:ph type="sldNum" sz="quarter" idx="12"/>
          </p:nvPr>
        </p:nvSpPr>
        <p:spPr/>
        <p:txBody>
          <a:bodyPr/>
          <a:lstStyle/>
          <a:p>
            <a:fld id="{88DB5A6F-883B-4080-A811-FB5B8D05AFA3}" type="slidenum">
              <a:rPr lang="en-GB" smtClean="0"/>
              <a:pPr/>
              <a:t>50</a:t>
            </a:fld>
            <a:endParaRPr lang="en-GB"/>
          </a:p>
        </p:txBody>
      </p:sp>
      <p:graphicFrame>
        <p:nvGraphicFramePr>
          <p:cNvPr id="15" name="Diagram 14">
            <a:extLst>
              <a:ext uri="{FF2B5EF4-FFF2-40B4-BE49-F238E27FC236}">
                <a16:creationId xmlns:a16="http://schemas.microsoft.com/office/drawing/2014/main" id="{18C0BAA1-19E1-4AD5-A175-BA98FB37576F}"/>
              </a:ext>
            </a:extLst>
          </p:cNvPr>
          <p:cNvGraphicFramePr/>
          <p:nvPr>
            <p:extLst>
              <p:ext uri="{D42A27DB-BD31-4B8C-83A1-F6EECF244321}">
                <p14:modId xmlns:p14="http://schemas.microsoft.com/office/powerpoint/2010/main" val="2941830758"/>
              </p:ext>
            </p:extLst>
          </p:nvPr>
        </p:nvGraphicFramePr>
        <p:xfrm>
          <a:off x="993913" y="1071764"/>
          <a:ext cx="9900229" cy="5102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10747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1483-5BB2-8FAE-87C2-FD06C849BDE3}"/>
              </a:ext>
            </a:extLst>
          </p:cNvPr>
          <p:cNvSpPr>
            <a:spLocks noGrp="1"/>
          </p:cNvSpPr>
          <p:nvPr>
            <p:ph type="title"/>
          </p:nvPr>
        </p:nvSpPr>
        <p:spPr/>
        <p:txBody>
          <a:bodyPr/>
          <a:lstStyle/>
          <a:p>
            <a:r>
              <a:rPr lang="en-GB" dirty="0"/>
              <a:t>MEDFIT - Marketing &amp;Sales Plan</a:t>
            </a:r>
          </a:p>
        </p:txBody>
      </p:sp>
      <p:sp>
        <p:nvSpPr>
          <p:cNvPr id="4" name="Slide Number Placeholder 3">
            <a:extLst>
              <a:ext uri="{FF2B5EF4-FFF2-40B4-BE49-F238E27FC236}">
                <a16:creationId xmlns:a16="http://schemas.microsoft.com/office/drawing/2014/main" id="{A0097708-1131-5FC6-1CEA-ED2FCC533E59}"/>
              </a:ext>
            </a:extLst>
          </p:cNvPr>
          <p:cNvSpPr>
            <a:spLocks noGrp="1"/>
          </p:cNvSpPr>
          <p:nvPr>
            <p:ph type="sldNum" sz="quarter" idx="12"/>
          </p:nvPr>
        </p:nvSpPr>
        <p:spPr/>
        <p:txBody>
          <a:bodyPr/>
          <a:lstStyle/>
          <a:p>
            <a:fld id="{88DB5A6F-883B-4080-A811-FB5B8D05AFA3}" type="slidenum">
              <a:rPr lang="en-GB" smtClean="0"/>
              <a:pPr/>
              <a:t>51</a:t>
            </a:fld>
            <a:endParaRPr lang="en-GB"/>
          </a:p>
        </p:txBody>
      </p:sp>
      <p:graphicFrame>
        <p:nvGraphicFramePr>
          <p:cNvPr id="5" name="Table 5">
            <a:extLst>
              <a:ext uri="{FF2B5EF4-FFF2-40B4-BE49-F238E27FC236}">
                <a16:creationId xmlns:a16="http://schemas.microsoft.com/office/drawing/2014/main" id="{5AFBFB50-979D-532E-89C2-BF96E6C8E77D}"/>
              </a:ext>
            </a:extLst>
          </p:cNvPr>
          <p:cNvGraphicFramePr>
            <a:graphicFrameLocks noGrp="1"/>
          </p:cNvGraphicFramePr>
          <p:nvPr>
            <p:ph idx="1"/>
            <p:extLst>
              <p:ext uri="{D42A27DB-BD31-4B8C-83A1-F6EECF244321}">
                <p14:modId xmlns:p14="http://schemas.microsoft.com/office/powerpoint/2010/main" val="856571158"/>
              </p:ext>
            </p:extLst>
          </p:nvPr>
        </p:nvGraphicFramePr>
        <p:xfrm>
          <a:off x="415297" y="1550168"/>
          <a:ext cx="11162412" cy="3662680"/>
        </p:xfrm>
        <a:graphic>
          <a:graphicData uri="http://schemas.openxmlformats.org/drawingml/2006/table">
            <a:tbl>
              <a:tblPr firstRow="1" bandRow="1">
                <a:tableStyleId>{5C22544A-7EE6-4342-B048-85BDC9FD1C3A}</a:tableStyleId>
              </a:tblPr>
              <a:tblGrid>
                <a:gridCol w="1669256">
                  <a:extLst>
                    <a:ext uri="{9D8B030D-6E8A-4147-A177-3AD203B41FA5}">
                      <a16:colId xmlns:a16="http://schemas.microsoft.com/office/drawing/2014/main" val="3480751125"/>
                    </a:ext>
                  </a:extLst>
                </a:gridCol>
                <a:gridCol w="1569014">
                  <a:extLst>
                    <a:ext uri="{9D8B030D-6E8A-4147-A177-3AD203B41FA5}">
                      <a16:colId xmlns:a16="http://schemas.microsoft.com/office/drawing/2014/main" val="369464670"/>
                    </a:ext>
                  </a:extLst>
                </a:gridCol>
                <a:gridCol w="1723394">
                  <a:extLst>
                    <a:ext uri="{9D8B030D-6E8A-4147-A177-3AD203B41FA5}">
                      <a16:colId xmlns:a16="http://schemas.microsoft.com/office/drawing/2014/main" val="638723642"/>
                    </a:ext>
                  </a:extLst>
                </a:gridCol>
                <a:gridCol w="1599463">
                  <a:extLst>
                    <a:ext uri="{9D8B030D-6E8A-4147-A177-3AD203B41FA5}">
                      <a16:colId xmlns:a16="http://schemas.microsoft.com/office/drawing/2014/main" val="3582677418"/>
                    </a:ext>
                  </a:extLst>
                </a:gridCol>
                <a:gridCol w="1858861">
                  <a:extLst>
                    <a:ext uri="{9D8B030D-6E8A-4147-A177-3AD203B41FA5}">
                      <a16:colId xmlns:a16="http://schemas.microsoft.com/office/drawing/2014/main" val="3825211074"/>
                    </a:ext>
                  </a:extLst>
                </a:gridCol>
                <a:gridCol w="1452020">
                  <a:extLst>
                    <a:ext uri="{9D8B030D-6E8A-4147-A177-3AD203B41FA5}">
                      <a16:colId xmlns:a16="http://schemas.microsoft.com/office/drawing/2014/main" val="730398414"/>
                    </a:ext>
                  </a:extLst>
                </a:gridCol>
                <a:gridCol w="1290404">
                  <a:extLst>
                    <a:ext uri="{9D8B030D-6E8A-4147-A177-3AD203B41FA5}">
                      <a16:colId xmlns:a16="http://schemas.microsoft.com/office/drawing/2014/main" val="3557200522"/>
                    </a:ext>
                  </a:extLst>
                </a:gridCol>
              </a:tblGrid>
              <a:tr h="370840">
                <a:tc>
                  <a:txBody>
                    <a:bodyPr/>
                    <a:lstStyle/>
                    <a:p>
                      <a:r>
                        <a:rPr lang="en-GB" dirty="0"/>
                        <a:t>Customer Segment</a:t>
                      </a:r>
                    </a:p>
                  </a:txBody>
                  <a:tcPr>
                    <a:solidFill>
                      <a:srgbClr val="FF0000"/>
                    </a:solidFill>
                  </a:tcPr>
                </a:tc>
                <a:tc>
                  <a:txBody>
                    <a:bodyPr/>
                    <a:lstStyle/>
                    <a:p>
                      <a:r>
                        <a:rPr lang="en-GB" dirty="0"/>
                        <a:t>Target Tiers</a:t>
                      </a:r>
                    </a:p>
                  </a:txBody>
                  <a:tcPr>
                    <a:solidFill>
                      <a:srgbClr val="FF0000"/>
                    </a:solidFill>
                  </a:tcPr>
                </a:tc>
                <a:tc>
                  <a:txBody>
                    <a:bodyPr/>
                    <a:lstStyle/>
                    <a:p>
                      <a:r>
                        <a:rPr lang="en-GB" dirty="0"/>
                        <a:t>Channel Partners </a:t>
                      </a:r>
                    </a:p>
                  </a:txBody>
                  <a:tcPr>
                    <a:solidFill>
                      <a:srgbClr val="FF0000"/>
                    </a:solidFill>
                  </a:tcPr>
                </a:tc>
                <a:tc>
                  <a:txBody>
                    <a:bodyPr/>
                    <a:lstStyle/>
                    <a:p>
                      <a:r>
                        <a:rPr lang="en-GB" dirty="0"/>
                        <a:t>Online Strategy </a:t>
                      </a:r>
                    </a:p>
                  </a:txBody>
                  <a:tcPr>
                    <a:solidFill>
                      <a:srgbClr val="FF0000"/>
                    </a:solidFill>
                  </a:tcPr>
                </a:tc>
                <a:tc>
                  <a:txBody>
                    <a:bodyPr/>
                    <a:lstStyle/>
                    <a:p>
                      <a:r>
                        <a:rPr lang="en-GB" dirty="0"/>
                        <a:t>Offline Strategy/PR</a:t>
                      </a:r>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Pricing Strategy </a:t>
                      </a:r>
                    </a:p>
                    <a:p>
                      <a:endParaRPr lang="en-GB" dirty="0"/>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Sales Strategy </a:t>
                      </a:r>
                    </a:p>
                    <a:p>
                      <a:endParaRPr lang="en-GB" dirty="0"/>
                    </a:p>
                  </a:txBody>
                  <a:tcPr>
                    <a:solidFill>
                      <a:srgbClr val="FF0000"/>
                    </a:solidFill>
                  </a:tcPr>
                </a:tc>
                <a:extLst>
                  <a:ext uri="{0D108BD9-81ED-4DB2-BD59-A6C34878D82A}">
                    <a16:rowId xmlns:a16="http://schemas.microsoft.com/office/drawing/2014/main" val="3929793996"/>
                  </a:ext>
                </a:extLst>
              </a:tr>
              <a:tr h="939814">
                <a:tc>
                  <a:txBody>
                    <a:bodyPr/>
                    <a:lstStyle/>
                    <a:p>
                      <a:r>
                        <a:rPr lang="en-US" dirty="0"/>
                        <a:t>Oil and Gas</a:t>
                      </a:r>
                      <a:r>
                        <a:rPr lang="en-US" baseline="0" dirty="0"/>
                        <a:t> companies </a:t>
                      </a:r>
                      <a:endParaRPr lang="en-GB" dirty="0"/>
                    </a:p>
                  </a:txBody>
                  <a:tcPr/>
                </a:tc>
                <a:tc>
                  <a:txBody>
                    <a:bodyPr/>
                    <a:lstStyle/>
                    <a:p>
                      <a:r>
                        <a:rPr lang="en-US" dirty="0"/>
                        <a:t>Tier</a:t>
                      </a:r>
                      <a:r>
                        <a:rPr lang="en-US" baseline="0" dirty="0"/>
                        <a:t> 1 , 2 and 3 </a:t>
                      </a:r>
                      <a:endParaRPr lang="en-GB" dirty="0"/>
                    </a:p>
                  </a:txBody>
                  <a:tcPr/>
                </a:tc>
                <a:tc>
                  <a:txBody>
                    <a:bodyPr/>
                    <a:lstStyle/>
                    <a:p>
                      <a:r>
                        <a:rPr lang="en-US" dirty="0"/>
                        <a:t>HSE</a:t>
                      </a:r>
                      <a:r>
                        <a:rPr lang="en-US" baseline="0" dirty="0"/>
                        <a:t> manager, HR and Procurement </a:t>
                      </a:r>
                      <a:endParaRPr lang="en-GB" dirty="0"/>
                    </a:p>
                  </a:txBody>
                  <a:tcPr/>
                </a:tc>
                <a:tc>
                  <a:txBody>
                    <a:bodyPr/>
                    <a:lstStyle/>
                    <a:p>
                      <a:r>
                        <a:rPr lang="en-US" dirty="0"/>
                        <a:t>Newsletters</a:t>
                      </a:r>
                      <a:r>
                        <a:rPr lang="en-US" baseline="0" dirty="0"/>
                        <a:t> and social media lead generation </a:t>
                      </a:r>
                      <a:endParaRPr lang="en-GB" dirty="0"/>
                    </a:p>
                  </a:txBody>
                  <a:tcPr/>
                </a:tc>
                <a:tc>
                  <a:txBody>
                    <a:bodyPr/>
                    <a:lstStyle/>
                    <a:p>
                      <a:r>
                        <a:rPr lang="en-US" dirty="0"/>
                        <a:t>Oil and Gas conference sponsorship</a:t>
                      </a:r>
                      <a:r>
                        <a:rPr lang="en-US" baseline="0" dirty="0"/>
                        <a:t> </a:t>
                      </a:r>
                      <a:endParaRPr lang="en-GB" dirty="0"/>
                    </a:p>
                  </a:txBody>
                  <a:tcPr/>
                </a:tc>
                <a:tc>
                  <a:txBody>
                    <a:bodyPr/>
                    <a:lstStyle/>
                    <a:p>
                      <a:r>
                        <a:rPr lang="en-US" dirty="0"/>
                        <a:t>Premium Pricing </a:t>
                      </a:r>
                      <a:endParaRPr lang="en-GB" dirty="0"/>
                    </a:p>
                  </a:txBody>
                  <a:tcPr/>
                </a:tc>
                <a:tc>
                  <a:txBody>
                    <a:bodyPr/>
                    <a:lstStyle/>
                    <a:p>
                      <a:r>
                        <a:rPr lang="en-US" dirty="0"/>
                        <a:t>Sell</a:t>
                      </a:r>
                      <a:r>
                        <a:rPr lang="en-US" baseline="0" dirty="0"/>
                        <a:t> through Network and referral </a:t>
                      </a:r>
                      <a:endParaRPr lang="en-GB" dirty="0"/>
                    </a:p>
                  </a:txBody>
                  <a:tcPr/>
                </a:tc>
                <a:extLst>
                  <a:ext uri="{0D108BD9-81ED-4DB2-BD59-A6C34878D82A}">
                    <a16:rowId xmlns:a16="http://schemas.microsoft.com/office/drawing/2014/main" val="10001"/>
                  </a:ext>
                </a:extLst>
              </a:tr>
              <a:tr h="370840">
                <a:tc>
                  <a:txBody>
                    <a:bodyPr/>
                    <a:lstStyle/>
                    <a:p>
                      <a:r>
                        <a:rPr lang="en-GB" dirty="0"/>
                        <a:t>Corporate</a:t>
                      </a:r>
                      <a:r>
                        <a:rPr lang="en-GB" baseline="0" dirty="0"/>
                        <a:t> Organization </a:t>
                      </a:r>
                      <a:endParaRPr lang="en-GB" dirty="0"/>
                    </a:p>
                  </a:txBody>
                  <a:tcPr/>
                </a:tc>
                <a:tc>
                  <a:txBody>
                    <a:bodyPr/>
                    <a:lstStyle/>
                    <a:p>
                      <a:r>
                        <a:rPr lang="en-GB" dirty="0"/>
                        <a:t>Tier 1 and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HSE</a:t>
                      </a:r>
                      <a:r>
                        <a:rPr lang="en-US" baseline="0" dirty="0"/>
                        <a:t> manager, HR and Procurement </a:t>
                      </a:r>
                      <a:endParaRPr lang="en-GB" dirty="0"/>
                    </a:p>
                    <a:p>
                      <a:endParaRPr lang="en-GB" dirty="0"/>
                    </a:p>
                  </a:txBody>
                  <a:tcPr/>
                </a:tc>
                <a:tc>
                  <a:txBody>
                    <a:bodyPr/>
                    <a:lstStyle/>
                    <a:p>
                      <a:r>
                        <a:rPr lang="en-GB" dirty="0"/>
                        <a:t>Website, Webinars for Clients</a:t>
                      </a:r>
                      <a:r>
                        <a:rPr lang="en-GB" baseline="0" dirty="0"/>
                        <a:t> </a:t>
                      </a:r>
                      <a:r>
                        <a:rPr lang="en-GB" dirty="0"/>
                        <a:t>, </a:t>
                      </a:r>
                    </a:p>
                  </a:txBody>
                  <a:tcPr/>
                </a:tc>
                <a:tc>
                  <a:txBody>
                    <a:bodyPr/>
                    <a:lstStyle/>
                    <a:p>
                      <a:r>
                        <a:rPr lang="en-GB" dirty="0"/>
                        <a:t>Join Associations and sponsor HR programs </a:t>
                      </a:r>
                    </a:p>
                  </a:txBody>
                  <a:tcPr/>
                </a:tc>
                <a:tc>
                  <a:txBody>
                    <a:bodyPr/>
                    <a:lstStyle/>
                    <a:p>
                      <a:r>
                        <a:rPr lang="en-US" dirty="0"/>
                        <a:t>Competitive Pricing</a:t>
                      </a:r>
                      <a:r>
                        <a:rPr lang="en-US" baseline="0" dirty="0"/>
                        <a:t> , Low pricing for market entry </a:t>
                      </a:r>
                      <a:endParaRPr lang="en-GB" dirty="0"/>
                    </a:p>
                  </a:txBody>
                  <a:tcPr/>
                </a:tc>
                <a:tc>
                  <a:txBody>
                    <a:bodyPr/>
                    <a:lstStyle/>
                    <a:p>
                      <a:r>
                        <a:rPr lang="en-US" dirty="0"/>
                        <a:t>Direct selling ,</a:t>
                      </a:r>
                      <a:r>
                        <a:rPr lang="en-US" baseline="0" dirty="0"/>
                        <a:t> HMO referral </a:t>
                      </a:r>
                      <a:endParaRPr lang="en-GB" dirty="0"/>
                    </a:p>
                  </a:txBody>
                  <a:tcPr/>
                </a:tc>
                <a:extLst>
                  <a:ext uri="{0D108BD9-81ED-4DB2-BD59-A6C34878D82A}">
                    <a16:rowId xmlns:a16="http://schemas.microsoft.com/office/drawing/2014/main" val="2507688835"/>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014965479"/>
                  </a:ext>
                </a:extLst>
              </a:tr>
            </a:tbl>
          </a:graphicData>
        </a:graphic>
      </p:graphicFrame>
    </p:spTree>
    <p:extLst>
      <p:ext uri="{BB962C8B-B14F-4D97-AF65-F5344CB8AC3E}">
        <p14:creationId xmlns:p14="http://schemas.microsoft.com/office/powerpoint/2010/main" val="3299459038"/>
      </p:ext>
    </p:extLst>
  </p:cSld>
  <p:clrMapOvr>
    <a:masterClrMapping/>
  </p:clrMapOvr>
  <p:extLst>
    <p:ext uri="{6950BFC3-D8DA-4A85-94F7-54DA5524770B}">
      <p188:commentRel xmlns:p188="http://schemas.microsoft.com/office/powerpoint/2018/8/main" r:id="rId2"/>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1483-5BB2-8FAE-87C2-FD06C849BDE3}"/>
              </a:ext>
            </a:extLst>
          </p:cNvPr>
          <p:cNvSpPr>
            <a:spLocks noGrp="1"/>
          </p:cNvSpPr>
          <p:nvPr>
            <p:ph type="title"/>
          </p:nvPr>
        </p:nvSpPr>
        <p:spPr/>
        <p:txBody>
          <a:bodyPr/>
          <a:lstStyle/>
          <a:p>
            <a:r>
              <a:rPr lang="en-GB" dirty="0"/>
              <a:t>HOSPITAL MGT - Marketing &amp;Sales Plan</a:t>
            </a:r>
          </a:p>
        </p:txBody>
      </p:sp>
      <p:sp>
        <p:nvSpPr>
          <p:cNvPr id="4" name="Slide Number Placeholder 3">
            <a:extLst>
              <a:ext uri="{FF2B5EF4-FFF2-40B4-BE49-F238E27FC236}">
                <a16:creationId xmlns:a16="http://schemas.microsoft.com/office/drawing/2014/main" id="{A0097708-1131-5FC6-1CEA-ED2FCC533E59}"/>
              </a:ext>
            </a:extLst>
          </p:cNvPr>
          <p:cNvSpPr>
            <a:spLocks noGrp="1"/>
          </p:cNvSpPr>
          <p:nvPr>
            <p:ph type="sldNum" sz="quarter" idx="12"/>
          </p:nvPr>
        </p:nvSpPr>
        <p:spPr/>
        <p:txBody>
          <a:bodyPr/>
          <a:lstStyle/>
          <a:p>
            <a:fld id="{88DB5A6F-883B-4080-A811-FB5B8D05AFA3}" type="slidenum">
              <a:rPr lang="en-GB" smtClean="0"/>
              <a:pPr/>
              <a:t>52</a:t>
            </a:fld>
            <a:endParaRPr lang="en-GB"/>
          </a:p>
        </p:txBody>
      </p:sp>
      <p:graphicFrame>
        <p:nvGraphicFramePr>
          <p:cNvPr id="5" name="Table 5">
            <a:extLst>
              <a:ext uri="{FF2B5EF4-FFF2-40B4-BE49-F238E27FC236}">
                <a16:creationId xmlns:a16="http://schemas.microsoft.com/office/drawing/2014/main" id="{5AFBFB50-979D-532E-89C2-BF96E6C8E77D}"/>
              </a:ext>
            </a:extLst>
          </p:cNvPr>
          <p:cNvGraphicFramePr>
            <a:graphicFrameLocks noGrp="1"/>
          </p:cNvGraphicFramePr>
          <p:nvPr>
            <p:ph idx="1"/>
            <p:extLst>
              <p:ext uri="{D42A27DB-BD31-4B8C-83A1-F6EECF244321}">
                <p14:modId xmlns:p14="http://schemas.microsoft.com/office/powerpoint/2010/main" val="2911511191"/>
              </p:ext>
            </p:extLst>
          </p:nvPr>
        </p:nvGraphicFramePr>
        <p:xfrm>
          <a:off x="415297" y="1550168"/>
          <a:ext cx="11500038" cy="3291840"/>
        </p:xfrm>
        <a:graphic>
          <a:graphicData uri="http://schemas.openxmlformats.org/drawingml/2006/table">
            <a:tbl>
              <a:tblPr firstRow="1" bandRow="1">
                <a:tableStyleId>{5C22544A-7EE6-4342-B048-85BDC9FD1C3A}</a:tableStyleId>
              </a:tblPr>
              <a:tblGrid>
                <a:gridCol w="1719745">
                  <a:extLst>
                    <a:ext uri="{9D8B030D-6E8A-4147-A177-3AD203B41FA5}">
                      <a16:colId xmlns:a16="http://schemas.microsoft.com/office/drawing/2014/main" val="3480751125"/>
                    </a:ext>
                  </a:extLst>
                </a:gridCol>
                <a:gridCol w="1241204">
                  <a:extLst>
                    <a:ext uri="{9D8B030D-6E8A-4147-A177-3AD203B41FA5}">
                      <a16:colId xmlns:a16="http://schemas.microsoft.com/office/drawing/2014/main" val="369464670"/>
                    </a:ext>
                  </a:extLst>
                </a:gridCol>
                <a:gridCol w="1674056">
                  <a:extLst>
                    <a:ext uri="{9D8B030D-6E8A-4147-A177-3AD203B41FA5}">
                      <a16:colId xmlns:a16="http://schemas.microsoft.com/office/drawing/2014/main" val="638723642"/>
                    </a:ext>
                  </a:extLst>
                </a:gridCol>
                <a:gridCol w="2039815">
                  <a:extLst>
                    <a:ext uri="{9D8B030D-6E8A-4147-A177-3AD203B41FA5}">
                      <a16:colId xmlns:a16="http://schemas.microsoft.com/office/drawing/2014/main" val="3582677418"/>
                    </a:ext>
                  </a:extLst>
                </a:gridCol>
                <a:gridCol w="1702191">
                  <a:extLst>
                    <a:ext uri="{9D8B030D-6E8A-4147-A177-3AD203B41FA5}">
                      <a16:colId xmlns:a16="http://schemas.microsoft.com/office/drawing/2014/main" val="3825211074"/>
                    </a:ext>
                  </a:extLst>
                </a:gridCol>
                <a:gridCol w="1519310">
                  <a:extLst>
                    <a:ext uri="{9D8B030D-6E8A-4147-A177-3AD203B41FA5}">
                      <a16:colId xmlns:a16="http://schemas.microsoft.com/office/drawing/2014/main" val="730398414"/>
                    </a:ext>
                  </a:extLst>
                </a:gridCol>
                <a:gridCol w="1603717">
                  <a:extLst>
                    <a:ext uri="{9D8B030D-6E8A-4147-A177-3AD203B41FA5}">
                      <a16:colId xmlns:a16="http://schemas.microsoft.com/office/drawing/2014/main" val="3557200522"/>
                    </a:ext>
                  </a:extLst>
                </a:gridCol>
              </a:tblGrid>
              <a:tr h="370840">
                <a:tc>
                  <a:txBody>
                    <a:bodyPr/>
                    <a:lstStyle/>
                    <a:p>
                      <a:r>
                        <a:rPr lang="en-GB" dirty="0"/>
                        <a:t>Customer Segment</a:t>
                      </a:r>
                    </a:p>
                  </a:txBody>
                  <a:tcPr>
                    <a:solidFill>
                      <a:srgbClr val="FF0000"/>
                    </a:solidFill>
                  </a:tcPr>
                </a:tc>
                <a:tc>
                  <a:txBody>
                    <a:bodyPr/>
                    <a:lstStyle/>
                    <a:p>
                      <a:r>
                        <a:rPr lang="en-GB" dirty="0"/>
                        <a:t>Target Tiers</a:t>
                      </a:r>
                    </a:p>
                  </a:txBody>
                  <a:tcPr>
                    <a:solidFill>
                      <a:srgbClr val="FF0000"/>
                    </a:solidFill>
                  </a:tcPr>
                </a:tc>
                <a:tc>
                  <a:txBody>
                    <a:bodyPr/>
                    <a:lstStyle/>
                    <a:p>
                      <a:r>
                        <a:rPr lang="en-GB" dirty="0"/>
                        <a:t>Channel Partners </a:t>
                      </a:r>
                    </a:p>
                  </a:txBody>
                  <a:tcPr>
                    <a:solidFill>
                      <a:srgbClr val="FF0000"/>
                    </a:solidFill>
                  </a:tcPr>
                </a:tc>
                <a:tc>
                  <a:txBody>
                    <a:bodyPr/>
                    <a:lstStyle/>
                    <a:p>
                      <a:r>
                        <a:rPr lang="en-GB" dirty="0"/>
                        <a:t>Online Strategy </a:t>
                      </a:r>
                    </a:p>
                  </a:txBody>
                  <a:tcPr>
                    <a:solidFill>
                      <a:srgbClr val="FF0000"/>
                    </a:solidFill>
                  </a:tcPr>
                </a:tc>
                <a:tc>
                  <a:txBody>
                    <a:bodyPr/>
                    <a:lstStyle/>
                    <a:p>
                      <a:r>
                        <a:rPr lang="en-GB" dirty="0"/>
                        <a:t>Offline Strategy/PR</a:t>
                      </a:r>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Pricing Strategy </a:t>
                      </a:r>
                    </a:p>
                    <a:p>
                      <a:endParaRPr lang="en-GB" dirty="0"/>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Sales Strategy </a:t>
                      </a:r>
                    </a:p>
                    <a:p>
                      <a:endParaRPr lang="en-GB" dirty="0"/>
                    </a:p>
                  </a:txBody>
                  <a:tcPr>
                    <a:solidFill>
                      <a:srgbClr val="FF0000"/>
                    </a:solidFill>
                  </a:tcPr>
                </a:tc>
                <a:extLst>
                  <a:ext uri="{0D108BD9-81ED-4DB2-BD59-A6C34878D82A}">
                    <a16:rowId xmlns:a16="http://schemas.microsoft.com/office/drawing/2014/main" val="3929793996"/>
                  </a:ext>
                </a:extLst>
              </a:tr>
              <a:tr h="370840">
                <a:tc>
                  <a:txBody>
                    <a:bodyPr/>
                    <a:lstStyle/>
                    <a:p>
                      <a:r>
                        <a:rPr lang="en-GB" dirty="0"/>
                        <a:t>Manufacturing</a:t>
                      </a:r>
                      <a:r>
                        <a:rPr lang="en-GB" baseline="0" dirty="0"/>
                        <a:t> Companies </a:t>
                      </a:r>
                      <a:endParaRPr lang="en-GB" dirty="0"/>
                    </a:p>
                  </a:txBody>
                  <a:tcPr/>
                </a:tc>
                <a:tc>
                  <a:txBody>
                    <a:bodyPr/>
                    <a:lstStyle/>
                    <a:p>
                      <a:r>
                        <a:rPr lang="en-GB" dirty="0"/>
                        <a:t>Tier 1 and Tier 2</a:t>
                      </a:r>
                    </a:p>
                  </a:txBody>
                  <a:tcPr/>
                </a:tc>
                <a:tc>
                  <a:txBody>
                    <a:bodyPr/>
                    <a:lstStyle/>
                    <a:p>
                      <a:r>
                        <a:rPr lang="en-GB" dirty="0"/>
                        <a:t>HMO, HR Associations</a:t>
                      </a:r>
                    </a:p>
                  </a:txBody>
                  <a:tcPr/>
                </a:tc>
                <a:tc>
                  <a:txBody>
                    <a:bodyPr/>
                    <a:lstStyle/>
                    <a:p>
                      <a:r>
                        <a:rPr lang="en-GB" dirty="0"/>
                        <a:t>Website, email Marketing,</a:t>
                      </a:r>
                      <a:r>
                        <a:rPr lang="en-GB" baseline="0" dirty="0"/>
                        <a:t> </a:t>
                      </a:r>
                      <a:r>
                        <a:rPr lang="en-GB" dirty="0"/>
                        <a:t>Webinars for Prospective</a:t>
                      </a:r>
                      <a:r>
                        <a:rPr lang="en-GB" baseline="0" dirty="0"/>
                        <a:t> leads </a:t>
                      </a:r>
                      <a:r>
                        <a:rPr lang="en-GB" dirty="0"/>
                        <a:t>, </a:t>
                      </a:r>
                    </a:p>
                  </a:txBody>
                  <a:tcPr/>
                </a:tc>
                <a:tc>
                  <a:txBody>
                    <a:bodyPr/>
                    <a:lstStyle/>
                    <a:p>
                      <a:r>
                        <a:rPr lang="en-US" dirty="0"/>
                        <a:t>Sponsorship</a:t>
                      </a:r>
                      <a:r>
                        <a:rPr lang="en-US" baseline="0" dirty="0"/>
                        <a:t> of Conferences </a:t>
                      </a:r>
                      <a:endParaRPr lang="en-GB" dirty="0"/>
                    </a:p>
                  </a:txBody>
                  <a:tcPr/>
                </a:tc>
                <a:tc>
                  <a:txBody>
                    <a:bodyPr/>
                    <a:lstStyle/>
                    <a:p>
                      <a:r>
                        <a:rPr lang="en-US" dirty="0"/>
                        <a:t>Competitive</a:t>
                      </a:r>
                      <a:r>
                        <a:rPr lang="en-US" baseline="0" dirty="0"/>
                        <a:t> Pricing </a:t>
                      </a:r>
                      <a:endParaRPr lang="en-GB" dirty="0"/>
                    </a:p>
                  </a:txBody>
                  <a:tcPr/>
                </a:tc>
                <a:tc>
                  <a:txBody>
                    <a:bodyPr/>
                    <a:lstStyle/>
                    <a:p>
                      <a:r>
                        <a:rPr lang="en-US" dirty="0"/>
                        <a:t>Proposal</a:t>
                      </a:r>
                      <a:r>
                        <a:rPr lang="en-US" baseline="0" dirty="0"/>
                        <a:t> and Presentation to Leads </a:t>
                      </a:r>
                      <a:endParaRPr lang="en-GB" dirty="0"/>
                    </a:p>
                  </a:txBody>
                  <a:tcPr/>
                </a:tc>
                <a:extLst>
                  <a:ext uri="{0D108BD9-81ED-4DB2-BD59-A6C34878D82A}">
                    <a16:rowId xmlns:a16="http://schemas.microsoft.com/office/drawing/2014/main" val="2507688835"/>
                  </a:ext>
                </a:extLst>
              </a:tr>
              <a:tr h="370840">
                <a:tc>
                  <a:txBody>
                    <a:bodyPr/>
                    <a:lstStyle/>
                    <a:p>
                      <a:r>
                        <a:rPr lang="en-GB" dirty="0"/>
                        <a:t>Oil and Gas </a:t>
                      </a:r>
                    </a:p>
                  </a:txBody>
                  <a:tcPr/>
                </a:tc>
                <a:tc>
                  <a:txBody>
                    <a:bodyPr/>
                    <a:lstStyle/>
                    <a:p>
                      <a:r>
                        <a:rPr lang="en-GB" dirty="0"/>
                        <a:t>Tier 1 and Tier 2</a:t>
                      </a:r>
                    </a:p>
                  </a:txBody>
                  <a:tcPr/>
                </a:tc>
                <a:tc>
                  <a:txBody>
                    <a:bodyPr/>
                    <a:lstStyle/>
                    <a:p>
                      <a:r>
                        <a:rPr lang="en-GB" dirty="0"/>
                        <a:t>NIPEX, DPR, NOG forum </a:t>
                      </a:r>
                    </a:p>
                  </a:txBody>
                  <a:tcPr/>
                </a:tc>
                <a:tc>
                  <a:txBody>
                    <a:bodyPr/>
                    <a:lstStyle/>
                    <a:p>
                      <a:r>
                        <a:rPr lang="en-GB" dirty="0"/>
                        <a:t>Website,</a:t>
                      </a:r>
                      <a:r>
                        <a:rPr lang="en-GB" baseline="0" dirty="0"/>
                        <a:t> email marketing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Sponsorship</a:t>
                      </a:r>
                      <a:r>
                        <a:rPr lang="en-US" baseline="0" dirty="0"/>
                        <a:t> of Conferences </a:t>
                      </a:r>
                      <a:endParaRPr lang="en-GB" dirty="0"/>
                    </a:p>
                    <a:p>
                      <a:endParaRPr lang="en-GB" dirty="0"/>
                    </a:p>
                  </a:txBody>
                  <a:tcPr/>
                </a:tc>
                <a:tc>
                  <a:txBody>
                    <a:bodyPr/>
                    <a:lstStyle/>
                    <a:p>
                      <a:r>
                        <a:rPr lang="en-US" dirty="0"/>
                        <a:t>Premium</a:t>
                      </a:r>
                      <a:r>
                        <a:rPr lang="en-US" baseline="0" dirty="0"/>
                        <a:t> Pricing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Proposal</a:t>
                      </a:r>
                      <a:r>
                        <a:rPr lang="en-US" baseline="0" dirty="0"/>
                        <a:t> and Presentation to Leads </a:t>
                      </a:r>
                      <a:endParaRPr lang="en-GB" dirty="0"/>
                    </a:p>
                    <a:p>
                      <a:r>
                        <a:rPr lang="en-US" dirty="0"/>
                        <a:t>Client referrals </a:t>
                      </a:r>
                      <a:endParaRPr lang="en-GB" dirty="0"/>
                    </a:p>
                  </a:txBody>
                  <a:tcPr/>
                </a:tc>
                <a:extLst>
                  <a:ext uri="{0D108BD9-81ED-4DB2-BD59-A6C34878D82A}">
                    <a16:rowId xmlns:a16="http://schemas.microsoft.com/office/drawing/2014/main" val="2014965479"/>
                  </a:ext>
                </a:extLst>
              </a:tr>
            </a:tbl>
          </a:graphicData>
        </a:graphic>
      </p:graphicFrame>
    </p:spTree>
    <p:extLst>
      <p:ext uri="{BB962C8B-B14F-4D97-AF65-F5344CB8AC3E}">
        <p14:creationId xmlns:p14="http://schemas.microsoft.com/office/powerpoint/2010/main" val="3788166509"/>
      </p:ext>
    </p:extLst>
  </p:cSld>
  <p:clrMapOvr>
    <a:masterClrMapping/>
  </p:clrMapOvr>
  <p:extLst>
    <p:ext uri="{6950BFC3-D8DA-4A85-94F7-54DA5524770B}">
      <p188:commentRel xmlns:p188="http://schemas.microsoft.com/office/powerpoint/2018/8/main" r:id="rId2"/>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1483-5BB2-8FAE-87C2-FD06C849BDE3}"/>
              </a:ext>
            </a:extLst>
          </p:cNvPr>
          <p:cNvSpPr>
            <a:spLocks noGrp="1"/>
          </p:cNvSpPr>
          <p:nvPr>
            <p:ph type="title"/>
          </p:nvPr>
        </p:nvSpPr>
        <p:spPr/>
        <p:txBody>
          <a:bodyPr/>
          <a:lstStyle/>
          <a:p>
            <a:r>
              <a:rPr lang="en-GB" dirty="0"/>
              <a:t>MEDPROJECT - Marketing &amp;Sales Plan</a:t>
            </a:r>
          </a:p>
        </p:txBody>
      </p:sp>
      <p:sp>
        <p:nvSpPr>
          <p:cNvPr id="4" name="Slide Number Placeholder 3">
            <a:extLst>
              <a:ext uri="{FF2B5EF4-FFF2-40B4-BE49-F238E27FC236}">
                <a16:creationId xmlns:a16="http://schemas.microsoft.com/office/drawing/2014/main" id="{A0097708-1131-5FC6-1CEA-ED2FCC533E59}"/>
              </a:ext>
            </a:extLst>
          </p:cNvPr>
          <p:cNvSpPr>
            <a:spLocks noGrp="1"/>
          </p:cNvSpPr>
          <p:nvPr>
            <p:ph type="sldNum" sz="quarter" idx="12"/>
          </p:nvPr>
        </p:nvSpPr>
        <p:spPr/>
        <p:txBody>
          <a:bodyPr/>
          <a:lstStyle/>
          <a:p>
            <a:fld id="{88DB5A6F-883B-4080-A811-FB5B8D05AFA3}" type="slidenum">
              <a:rPr lang="en-GB" smtClean="0"/>
              <a:pPr/>
              <a:t>53</a:t>
            </a:fld>
            <a:endParaRPr lang="en-GB"/>
          </a:p>
        </p:txBody>
      </p:sp>
      <p:graphicFrame>
        <p:nvGraphicFramePr>
          <p:cNvPr id="6" name="Table 5">
            <a:extLst>
              <a:ext uri="{FF2B5EF4-FFF2-40B4-BE49-F238E27FC236}">
                <a16:creationId xmlns:a16="http://schemas.microsoft.com/office/drawing/2014/main" id="{5AFBFB50-979D-532E-89C2-BF96E6C8E77D}"/>
              </a:ext>
            </a:extLst>
          </p:cNvPr>
          <p:cNvGraphicFramePr>
            <a:graphicFrameLocks/>
          </p:cNvGraphicFramePr>
          <p:nvPr>
            <p:extLst>
              <p:ext uri="{D42A27DB-BD31-4B8C-83A1-F6EECF244321}">
                <p14:modId xmlns:p14="http://schemas.microsoft.com/office/powerpoint/2010/main" val="973178924"/>
              </p:ext>
            </p:extLst>
          </p:nvPr>
        </p:nvGraphicFramePr>
        <p:xfrm>
          <a:off x="415297" y="1550166"/>
          <a:ext cx="11500038" cy="4879966"/>
        </p:xfrm>
        <a:graphic>
          <a:graphicData uri="http://schemas.openxmlformats.org/drawingml/2006/table">
            <a:tbl>
              <a:tblPr firstRow="1" bandRow="1">
                <a:tableStyleId>{5C22544A-7EE6-4342-B048-85BDC9FD1C3A}</a:tableStyleId>
              </a:tblPr>
              <a:tblGrid>
                <a:gridCol w="1719745">
                  <a:extLst>
                    <a:ext uri="{9D8B030D-6E8A-4147-A177-3AD203B41FA5}">
                      <a16:colId xmlns:a16="http://schemas.microsoft.com/office/drawing/2014/main" val="3480751125"/>
                    </a:ext>
                  </a:extLst>
                </a:gridCol>
                <a:gridCol w="1241204">
                  <a:extLst>
                    <a:ext uri="{9D8B030D-6E8A-4147-A177-3AD203B41FA5}">
                      <a16:colId xmlns:a16="http://schemas.microsoft.com/office/drawing/2014/main" val="369464670"/>
                    </a:ext>
                  </a:extLst>
                </a:gridCol>
                <a:gridCol w="1674056">
                  <a:extLst>
                    <a:ext uri="{9D8B030D-6E8A-4147-A177-3AD203B41FA5}">
                      <a16:colId xmlns:a16="http://schemas.microsoft.com/office/drawing/2014/main" val="638723642"/>
                    </a:ext>
                  </a:extLst>
                </a:gridCol>
                <a:gridCol w="2039815">
                  <a:extLst>
                    <a:ext uri="{9D8B030D-6E8A-4147-A177-3AD203B41FA5}">
                      <a16:colId xmlns:a16="http://schemas.microsoft.com/office/drawing/2014/main" val="3582677418"/>
                    </a:ext>
                  </a:extLst>
                </a:gridCol>
                <a:gridCol w="1702191">
                  <a:extLst>
                    <a:ext uri="{9D8B030D-6E8A-4147-A177-3AD203B41FA5}">
                      <a16:colId xmlns:a16="http://schemas.microsoft.com/office/drawing/2014/main" val="3825211074"/>
                    </a:ext>
                  </a:extLst>
                </a:gridCol>
                <a:gridCol w="1519310">
                  <a:extLst>
                    <a:ext uri="{9D8B030D-6E8A-4147-A177-3AD203B41FA5}">
                      <a16:colId xmlns:a16="http://schemas.microsoft.com/office/drawing/2014/main" val="730398414"/>
                    </a:ext>
                  </a:extLst>
                </a:gridCol>
                <a:gridCol w="1603717">
                  <a:extLst>
                    <a:ext uri="{9D8B030D-6E8A-4147-A177-3AD203B41FA5}">
                      <a16:colId xmlns:a16="http://schemas.microsoft.com/office/drawing/2014/main" val="3557200522"/>
                    </a:ext>
                  </a:extLst>
                </a:gridCol>
              </a:tblGrid>
              <a:tr h="1088055">
                <a:tc>
                  <a:txBody>
                    <a:bodyPr/>
                    <a:lstStyle/>
                    <a:p>
                      <a:r>
                        <a:rPr lang="en-GB" dirty="0"/>
                        <a:t>Customer Segment</a:t>
                      </a:r>
                    </a:p>
                  </a:txBody>
                  <a:tcPr>
                    <a:solidFill>
                      <a:srgbClr val="FF0000"/>
                    </a:solidFill>
                  </a:tcPr>
                </a:tc>
                <a:tc>
                  <a:txBody>
                    <a:bodyPr/>
                    <a:lstStyle/>
                    <a:p>
                      <a:r>
                        <a:rPr lang="en-GB" dirty="0"/>
                        <a:t>Target Tiers</a:t>
                      </a:r>
                    </a:p>
                  </a:txBody>
                  <a:tcPr>
                    <a:solidFill>
                      <a:srgbClr val="FF0000"/>
                    </a:solidFill>
                  </a:tcPr>
                </a:tc>
                <a:tc>
                  <a:txBody>
                    <a:bodyPr/>
                    <a:lstStyle/>
                    <a:p>
                      <a:r>
                        <a:rPr lang="en-GB" dirty="0"/>
                        <a:t>Channel Partners </a:t>
                      </a:r>
                    </a:p>
                  </a:txBody>
                  <a:tcPr>
                    <a:solidFill>
                      <a:srgbClr val="FF0000"/>
                    </a:solidFill>
                  </a:tcPr>
                </a:tc>
                <a:tc>
                  <a:txBody>
                    <a:bodyPr/>
                    <a:lstStyle/>
                    <a:p>
                      <a:r>
                        <a:rPr lang="en-GB" dirty="0"/>
                        <a:t>Online Strategy </a:t>
                      </a:r>
                    </a:p>
                  </a:txBody>
                  <a:tcPr>
                    <a:solidFill>
                      <a:srgbClr val="FF0000"/>
                    </a:solidFill>
                  </a:tcPr>
                </a:tc>
                <a:tc>
                  <a:txBody>
                    <a:bodyPr/>
                    <a:lstStyle/>
                    <a:p>
                      <a:r>
                        <a:rPr lang="en-GB" dirty="0"/>
                        <a:t>Offline Strategy/PR</a:t>
                      </a:r>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Pricing Strategy </a:t>
                      </a:r>
                    </a:p>
                    <a:p>
                      <a:endParaRPr lang="en-GB" dirty="0"/>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Sales Strategy </a:t>
                      </a:r>
                    </a:p>
                    <a:p>
                      <a:endParaRPr lang="en-GB" dirty="0"/>
                    </a:p>
                  </a:txBody>
                  <a:tcPr>
                    <a:solidFill>
                      <a:srgbClr val="FF0000"/>
                    </a:solidFill>
                  </a:tcPr>
                </a:tc>
                <a:extLst>
                  <a:ext uri="{0D108BD9-81ED-4DB2-BD59-A6C34878D82A}">
                    <a16:rowId xmlns:a16="http://schemas.microsoft.com/office/drawing/2014/main" val="3929793996"/>
                  </a:ext>
                </a:extLst>
              </a:tr>
              <a:tr h="1414471">
                <a:tc>
                  <a:txBody>
                    <a:bodyPr/>
                    <a:lstStyle/>
                    <a:p>
                      <a:r>
                        <a:rPr lang="en-GB" dirty="0"/>
                        <a:t>Manufacturing</a:t>
                      </a:r>
                      <a:r>
                        <a:rPr lang="en-GB" baseline="0" dirty="0"/>
                        <a:t> Companies </a:t>
                      </a:r>
                      <a:endParaRPr lang="en-GB" dirty="0"/>
                    </a:p>
                  </a:txBody>
                  <a:tcPr/>
                </a:tc>
                <a:tc>
                  <a:txBody>
                    <a:bodyPr/>
                    <a:lstStyle/>
                    <a:p>
                      <a:r>
                        <a:rPr lang="en-GB" dirty="0"/>
                        <a:t>Tier 1 and Tier 2</a:t>
                      </a:r>
                    </a:p>
                  </a:txBody>
                  <a:tcPr/>
                </a:tc>
                <a:tc>
                  <a:txBody>
                    <a:bodyPr/>
                    <a:lstStyle/>
                    <a:p>
                      <a:r>
                        <a:rPr lang="en-GB" dirty="0"/>
                        <a:t>HMO, HR Associations</a:t>
                      </a:r>
                    </a:p>
                  </a:txBody>
                  <a:tcPr/>
                </a:tc>
                <a:tc>
                  <a:txBody>
                    <a:bodyPr/>
                    <a:lstStyle/>
                    <a:p>
                      <a:r>
                        <a:rPr lang="en-GB" dirty="0"/>
                        <a:t>Website, email Marketing,</a:t>
                      </a:r>
                      <a:r>
                        <a:rPr lang="en-GB" baseline="0" dirty="0"/>
                        <a:t> </a:t>
                      </a:r>
                      <a:r>
                        <a:rPr lang="en-GB" dirty="0"/>
                        <a:t>Webinars for Prospective</a:t>
                      </a:r>
                      <a:r>
                        <a:rPr lang="en-GB" baseline="0" dirty="0"/>
                        <a:t> leads </a:t>
                      </a:r>
                      <a:r>
                        <a:rPr lang="en-GB" dirty="0"/>
                        <a:t>, </a:t>
                      </a:r>
                    </a:p>
                  </a:txBody>
                  <a:tcPr/>
                </a:tc>
                <a:tc>
                  <a:txBody>
                    <a:bodyPr/>
                    <a:lstStyle/>
                    <a:p>
                      <a:r>
                        <a:rPr lang="en-US" dirty="0"/>
                        <a:t>Sponsorship</a:t>
                      </a:r>
                      <a:r>
                        <a:rPr lang="en-US" baseline="0" dirty="0"/>
                        <a:t> of Conferences </a:t>
                      </a:r>
                      <a:endParaRPr lang="en-GB" dirty="0"/>
                    </a:p>
                  </a:txBody>
                  <a:tcPr/>
                </a:tc>
                <a:tc>
                  <a:txBody>
                    <a:bodyPr/>
                    <a:lstStyle/>
                    <a:p>
                      <a:r>
                        <a:rPr lang="en-US" dirty="0"/>
                        <a:t>Competitive</a:t>
                      </a:r>
                      <a:r>
                        <a:rPr lang="en-US" baseline="0" dirty="0"/>
                        <a:t> Pricing </a:t>
                      </a:r>
                      <a:endParaRPr lang="en-GB" dirty="0"/>
                    </a:p>
                  </a:txBody>
                  <a:tcPr/>
                </a:tc>
                <a:tc>
                  <a:txBody>
                    <a:bodyPr/>
                    <a:lstStyle/>
                    <a:p>
                      <a:r>
                        <a:rPr lang="en-US" dirty="0"/>
                        <a:t>Proposal</a:t>
                      </a:r>
                      <a:r>
                        <a:rPr lang="en-US" baseline="0" dirty="0"/>
                        <a:t> and Presentation to Leads </a:t>
                      </a:r>
                      <a:endParaRPr lang="en-GB" dirty="0"/>
                    </a:p>
                  </a:txBody>
                  <a:tcPr/>
                </a:tc>
                <a:extLst>
                  <a:ext uri="{0D108BD9-81ED-4DB2-BD59-A6C34878D82A}">
                    <a16:rowId xmlns:a16="http://schemas.microsoft.com/office/drawing/2014/main" val="2507688835"/>
                  </a:ext>
                </a:extLst>
              </a:tr>
              <a:tr h="997610">
                <a:tc>
                  <a:txBody>
                    <a:bodyPr/>
                    <a:lstStyle/>
                    <a:p>
                      <a:r>
                        <a:rPr lang="en-GB" dirty="0"/>
                        <a:t>Oil and Gas </a:t>
                      </a:r>
                    </a:p>
                  </a:txBody>
                  <a:tcPr/>
                </a:tc>
                <a:tc>
                  <a:txBody>
                    <a:bodyPr/>
                    <a:lstStyle/>
                    <a:p>
                      <a:r>
                        <a:rPr lang="en-GB" dirty="0"/>
                        <a:t>Tier 1 and Tier 2</a:t>
                      </a:r>
                    </a:p>
                  </a:txBody>
                  <a:tcPr/>
                </a:tc>
                <a:tc>
                  <a:txBody>
                    <a:bodyPr/>
                    <a:lstStyle/>
                    <a:p>
                      <a:r>
                        <a:rPr lang="en-GB" dirty="0"/>
                        <a:t>NIPEX, DPR, NOG forum </a:t>
                      </a:r>
                    </a:p>
                  </a:txBody>
                  <a:tcPr/>
                </a:tc>
                <a:tc>
                  <a:txBody>
                    <a:bodyPr/>
                    <a:lstStyle/>
                    <a:p>
                      <a:r>
                        <a:rPr lang="en-GB" dirty="0"/>
                        <a:t>Website,</a:t>
                      </a:r>
                      <a:r>
                        <a:rPr lang="en-GB" baseline="0" dirty="0"/>
                        <a:t> email marketing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Sponsorship</a:t>
                      </a:r>
                      <a:r>
                        <a:rPr lang="en-US" baseline="0" dirty="0"/>
                        <a:t> of Conferences </a:t>
                      </a:r>
                      <a:endParaRPr lang="en-GB" dirty="0"/>
                    </a:p>
                    <a:p>
                      <a:endParaRPr lang="en-GB" dirty="0"/>
                    </a:p>
                  </a:txBody>
                  <a:tcPr/>
                </a:tc>
                <a:tc>
                  <a:txBody>
                    <a:bodyPr/>
                    <a:lstStyle/>
                    <a:p>
                      <a:r>
                        <a:rPr lang="en-US" dirty="0"/>
                        <a:t>Premium</a:t>
                      </a:r>
                      <a:r>
                        <a:rPr lang="en-US" baseline="0" dirty="0"/>
                        <a:t> Pricing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Proposal</a:t>
                      </a:r>
                      <a:r>
                        <a:rPr lang="en-US" baseline="0" dirty="0"/>
                        <a:t> and Presentation to Leads </a:t>
                      </a:r>
                      <a:endParaRPr lang="en-GB" dirty="0"/>
                    </a:p>
                    <a:p>
                      <a:r>
                        <a:rPr lang="en-US" dirty="0"/>
                        <a:t>Client referrals </a:t>
                      </a:r>
                      <a:endParaRPr lang="en-GB" dirty="0"/>
                    </a:p>
                  </a:txBody>
                  <a:tcPr/>
                </a:tc>
                <a:extLst>
                  <a:ext uri="{0D108BD9-81ED-4DB2-BD59-A6C34878D82A}">
                    <a16:rowId xmlns:a16="http://schemas.microsoft.com/office/drawing/2014/main" val="2014965479"/>
                  </a:ext>
                </a:extLst>
              </a:tr>
              <a:tr h="441267">
                <a:tc>
                  <a:txBody>
                    <a:bodyPr/>
                    <a:lstStyle/>
                    <a:p>
                      <a:r>
                        <a:rPr lang="en-US" dirty="0"/>
                        <a:t>Banks and Financial Institutions </a:t>
                      </a:r>
                      <a:endParaRPr lang="en-GB" dirty="0"/>
                    </a:p>
                  </a:txBody>
                  <a:tcPr/>
                </a:tc>
                <a:tc>
                  <a:txBody>
                    <a:bodyPr/>
                    <a:lstStyle/>
                    <a:p>
                      <a:r>
                        <a:rPr lang="en-US" dirty="0"/>
                        <a:t>Tier 1 and 2</a:t>
                      </a:r>
                      <a:endParaRPr lang="en-GB" dirty="0"/>
                    </a:p>
                  </a:txBody>
                  <a:tcPr/>
                </a:tc>
                <a:tc>
                  <a:txBody>
                    <a:bodyPr/>
                    <a:lstStyle/>
                    <a:p>
                      <a:r>
                        <a:rPr lang="en-US" dirty="0"/>
                        <a:t>HMO, Sales Reps </a:t>
                      </a:r>
                      <a:endParaRPr lang="en-GB" dirty="0"/>
                    </a:p>
                  </a:txBody>
                  <a:tcPr/>
                </a:tc>
                <a:tc>
                  <a:txBody>
                    <a:bodyPr/>
                    <a:lstStyle/>
                    <a:p>
                      <a:r>
                        <a:rPr lang="en-US" dirty="0"/>
                        <a:t>Website and email marketing </a:t>
                      </a:r>
                      <a:endParaRPr lang="en-GB" dirty="0"/>
                    </a:p>
                  </a:txBody>
                  <a:tcPr/>
                </a:tc>
                <a:tc>
                  <a:txBody>
                    <a:bodyPr/>
                    <a:lstStyle/>
                    <a:p>
                      <a:r>
                        <a:rPr lang="en-US" dirty="0"/>
                        <a:t>Attending and presentation at  Association meeting </a:t>
                      </a:r>
                      <a:endParaRPr lang="en-GB" dirty="0"/>
                    </a:p>
                  </a:txBody>
                  <a:tcPr/>
                </a:tc>
                <a:tc>
                  <a:txBody>
                    <a:bodyPr/>
                    <a:lstStyle/>
                    <a:p>
                      <a:r>
                        <a:rPr lang="en-US" dirty="0"/>
                        <a:t>Competitive Pricing,</a:t>
                      </a:r>
                      <a:r>
                        <a:rPr lang="en-US" baseline="0" dirty="0"/>
                        <a:t> Large volume discounts </a:t>
                      </a:r>
                      <a:endParaRPr lang="en-GB" dirty="0"/>
                    </a:p>
                  </a:txBody>
                  <a:tcPr/>
                </a:tc>
                <a:tc>
                  <a:txBody>
                    <a:bodyPr/>
                    <a:lstStyle/>
                    <a:p>
                      <a:r>
                        <a:rPr lang="en-US" dirty="0"/>
                        <a:t>Value proposition</a:t>
                      </a:r>
                      <a:r>
                        <a:rPr lang="en-US" baseline="0" dirty="0"/>
                        <a:t> proposals </a:t>
                      </a:r>
                      <a:endParaRPr lang="en-GB"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30861116"/>
      </p:ext>
    </p:extLst>
  </p:cSld>
  <p:clrMapOvr>
    <a:masterClrMapping/>
  </p:clrMapOvr>
  <p:extLst>
    <p:ext uri="{6950BFC3-D8DA-4A85-94F7-54DA5524770B}">
      <p188:commentRel xmlns:p188="http://schemas.microsoft.com/office/powerpoint/2018/8/main" r:id="rId2"/>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1483-5BB2-8FAE-87C2-FD06C849BDE3}"/>
              </a:ext>
            </a:extLst>
          </p:cNvPr>
          <p:cNvSpPr>
            <a:spLocks noGrp="1"/>
          </p:cNvSpPr>
          <p:nvPr>
            <p:ph type="title"/>
          </p:nvPr>
        </p:nvSpPr>
        <p:spPr/>
        <p:txBody>
          <a:bodyPr/>
          <a:lstStyle/>
          <a:p>
            <a:r>
              <a:rPr lang="en-GB" dirty="0"/>
              <a:t>MEDADVISORY - Marketing &amp;Sales Plan</a:t>
            </a:r>
          </a:p>
        </p:txBody>
      </p:sp>
      <p:sp>
        <p:nvSpPr>
          <p:cNvPr id="4" name="Slide Number Placeholder 3">
            <a:extLst>
              <a:ext uri="{FF2B5EF4-FFF2-40B4-BE49-F238E27FC236}">
                <a16:creationId xmlns:a16="http://schemas.microsoft.com/office/drawing/2014/main" id="{A0097708-1131-5FC6-1CEA-ED2FCC533E59}"/>
              </a:ext>
            </a:extLst>
          </p:cNvPr>
          <p:cNvSpPr>
            <a:spLocks noGrp="1"/>
          </p:cNvSpPr>
          <p:nvPr>
            <p:ph type="sldNum" sz="quarter" idx="12"/>
          </p:nvPr>
        </p:nvSpPr>
        <p:spPr/>
        <p:txBody>
          <a:bodyPr/>
          <a:lstStyle/>
          <a:p>
            <a:fld id="{88DB5A6F-883B-4080-A811-FB5B8D05AFA3}" type="slidenum">
              <a:rPr lang="en-GB" smtClean="0"/>
              <a:pPr/>
              <a:t>54</a:t>
            </a:fld>
            <a:endParaRPr lang="en-GB"/>
          </a:p>
        </p:txBody>
      </p:sp>
      <p:graphicFrame>
        <p:nvGraphicFramePr>
          <p:cNvPr id="5" name="Table 5">
            <a:extLst>
              <a:ext uri="{FF2B5EF4-FFF2-40B4-BE49-F238E27FC236}">
                <a16:creationId xmlns:a16="http://schemas.microsoft.com/office/drawing/2014/main" id="{5AFBFB50-979D-532E-89C2-BF96E6C8E77D}"/>
              </a:ext>
            </a:extLst>
          </p:cNvPr>
          <p:cNvGraphicFramePr>
            <a:graphicFrameLocks noGrp="1"/>
          </p:cNvGraphicFramePr>
          <p:nvPr>
            <p:ph idx="1"/>
            <p:extLst>
              <p:ext uri="{D42A27DB-BD31-4B8C-83A1-F6EECF244321}">
                <p14:modId xmlns:p14="http://schemas.microsoft.com/office/powerpoint/2010/main" val="3735055093"/>
              </p:ext>
            </p:extLst>
          </p:nvPr>
        </p:nvGraphicFramePr>
        <p:xfrm>
          <a:off x="415297" y="1550168"/>
          <a:ext cx="11274956" cy="3566160"/>
        </p:xfrm>
        <a:graphic>
          <a:graphicData uri="http://schemas.openxmlformats.org/drawingml/2006/table">
            <a:tbl>
              <a:tblPr firstRow="1" bandRow="1">
                <a:tableStyleId>{5C22544A-7EE6-4342-B048-85BDC9FD1C3A}</a:tableStyleId>
              </a:tblPr>
              <a:tblGrid>
                <a:gridCol w="1686086">
                  <a:extLst>
                    <a:ext uri="{9D8B030D-6E8A-4147-A177-3AD203B41FA5}">
                      <a16:colId xmlns:a16="http://schemas.microsoft.com/office/drawing/2014/main" val="3480751125"/>
                    </a:ext>
                  </a:extLst>
                </a:gridCol>
                <a:gridCol w="1662802">
                  <a:extLst>
                    <a:ext uri="{9D8B030D-6E8A-4147-A177-3AD203B41FA5}">
                      <a16:colId xmlns:a16="http://schemas.microsoft.com/office/drawing/2014/main" val="369464670"/>
                    </a:ext>
                  </a:extLst>
                </a:gridCol>
                <a:gridCol w="1662802">
                  <a:extLst>
                    <a:ext uri="{9D8B030D-6E8A-4147-A177-3AD203B41FA5}">
                      <a16:colId xmlns:a16="http://schemas.microsoft.com/office/drawing/2014/main" val="638723642"/>
                    </a:ext>
                  </a:extLst>
                </a:gridCol>
                <a:gridCol w="1615589">
                  <a:extLst>
                    <a:ext uri="{9D8B030D-6E8A-4147-A177-3AD203B41FA5}">
                      <a16:colId xmlns:a16="http://schemas.microsoft.com/office/drawing/2014/main" val="3582677418"/>
                    </a:ext>
                  </a:extLst>
                </a:gridCol>
                <a:gridCol w="2135127">
                  <a:extLst>
                    <a:ext uri="{9D8B030D-6E8A-4147-A177-3AD203B41FA5}">
                      <a16:colId xmlns:a16="http://schemas.microsoft.com/office/drawing/2014/main" val="3825211074"/>
                    </a:ext>
                  </a:extLst>
                </a:gridCol>
                <a:gridCol w="1256275">
                  <a:extLst>
                    <a:ext uri="{9D8B030D-6E8A-4147-A177-3AD203B41FA5}">
                      <a16:colId xmlns:a16="http://schemas.microsoft.com/office/drawing/2014/main" val="730398414"/>
                    </a:ext>
                  </a:extLst>
                </a:gridCol>
                <a:gridCol w="1256275">
                  <a:extLst>
                    <a:ext uri="{9D8B030D-6E8A-4147-A177-3AD203B41FA5}">
                      <a16:colId xmlns:a16="http://schemas.microsoft.com/office/drawing/2014/main" val="3557200522"/>
                    </a:ext>
                  </a:extLst>
                </a:gridCol>
              </a:tblGrid>
              <a:tr h="370840">
                <a:tc>
                  <a:txBody>
                    <a:bodyPr/>
                    <a:lstStyle/>
                    <a:p>
                      <a:r>
                        <a:rPr lang="en-GB" dirty="0"/>
                        <a:t>Customer Segment</a:t>
                      </a:r>
                    </a:p>
                  </a:txBody>
                  <a:tcPr>
                    <a:solidFill>
                      <a:srgbClr val="FF0000"/>
                    </a:solidFill>
                  </a:tcPr>
                </a:tc>
                <a:tc>
                  <a:txBody>
                    <a:bodyPr/>
                    <a:lstStyle/>
                    <a:p>
                      <a:r>
                        <a:rPr lang="en-GB" dirty="0"/>
                        <a:t>Target Tiers</a:t>
                      </a:r>
                    </a:p>
                  </a:txBody>
                  <a:tcPr>
                    <a:solidFill>
                      <a:srgbClr val="FF0000"/>
                    </a:solidFill>
                  </a:tcPr>
                </a:tc>
                <a:tc>
                  <a:txBody>
                    <a:bodyPr/>
                    <a:lstStyle/>
                    <a:p>
                      <a:r>
                        <a:rPr lang="en-GB" dirty="0"/>
                        <a:t>Channel Partners </a:t>
                      </a:r>
                    </a:p>
                  </a:txBody>
                  <a:tcPr>
                    <a:solidFill>
                      <a:srgbClr val="FF0000"/>
                    </a:solidFill>
                  </a:tcPr>
                </a:tc>
                <a:tc>
                  <a:txBody>
                    <a:bodyPr/>
                    <a:lstStyle/>
                    <a:p>
                      <a:r>
                        <a:rPr lang="en-GB" dirty="0"/>
                        <a:t>Online Strategy </a:t>
                      </a:r>
                    </a:p>
                  </a:txBody>
                  <a:tcPr>
                    <a:solidFill>
                      <a:srgbClr val="FF0000"/>
                    </a:solidFill>
                  </a:tcPr>
                </a:tc>
                <a:tc>
                  <a:txBody>
                    <a:bodyPr/>
                    <a:lstStyle/>
                    <a:p>
                      <a:r>
                        <a:rPr lang="en-GB" dirty="0"/>
                        <a:t>Offline Strategy/PR</a:t>
                      </a:r>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Pricing Strategy </a:t>
                      </a:r>
                    </a:p>
                    <a:p>
                      <a:endParaRPr lang="en-GB" dirty="0"/>
                    </a:p>
                  </a:txBody>
                  <a:tcP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Sales Strategy </a:t>
                      </a:r>
                    </a:p>
                    <a:p>
                      <a:endParaRPr lang="en-GB" dirty="0"/>
                    </a:p>
                  </a:txBody>
                  <a:tcPr>
                    <a:solidFill>
                      <a:srgbClr val="FF0000"/>
                    </a:solidFill>
                  </a:tcPr>
                </a:tc>
                <a:extLst>
                  <a:ext uri="{0D108BD9-81ED-4DB2-BD59-A6C34878D82A}">
                    <a16:rowId xmlns:a16="http://schemas.microsoft.com/office/drawing/2014/main" val="3929793996"/>
                  </a:ext>
                </a:extLst>
              </a:tr>
              <a:tr h="370840">
                <a:tc>
                  <a:txBody>
                    <a:bodyPr/>
                    <a:lstStyle/>
                    <a:p>
                      <a:r>
                        <a:rPr lang="en-GB" dirty="0"/>
                        <a:t>Manufacturing</a:t>
                      </a:r>
                      <a:r>
                        <a:rPr lang="en-GB" baseline="0" dirty="0"/>
                        <a:t> Companies </a:t>
                      </a:r>
                      <a:endParaRPr lang="en-GB" dirty="0"/>
                    </a:p>
                  </a:txBody>
                  <a:tcPr/>
                </a:tc>
                <a:tc>
                  <a:txBody>
                    <a:bodyPr/>
                    <a:lstStyle/>
                    <a:p>
                      <a:r>
                        <a:rPr lang="en-GB" dirty="0"/>
                        <a:t>Tier 1 and</a:t>
                      </a:r>
                      <a:r>
                        <a:rPr lang="en-GB" baseline="0" dirty="0"/>
                        <a:t> </a:t>
                      </a:r>
                      <a:r>
                        <a:rPr lang="en-GB" dirty="0"/>
                        <a:t>2 </a:t>
                      </a:r>
                    </a:p>
                  </a:txBody>
                  <a:tcPr/>
                </a:tc>
                <a:tc>
                  <a:txBody>
                    <a:bodyPr/>
                    <a:lstStyle/>
                    <a:p>
                      <a:r>
                        <a:rPr lang="en-GB" dirty="0"/>
                        <a:t>HMO, HR Associations, Procurement Team </a:t>
                      </a:r>
                    </a:p>
                  </a:txBody>
                  <a:tcPr/>
                </a:tc>
                <a:tc>
                  <a:txBody>
                    <a:bodyPr/>
                    <a:lstStyle/>
                    <a:p>
                      <a:r>
                        <a:rPr lang="en-GB" dirty="0"/>
                        <a:t>Website, email Marketing,</a:t>
                      </a:r>
                      <a:r>
                        <a:rPr lang="en-GB" baseline="0" dirty="0"/>
                        <a:t> </a:t>
                      </a:r>
                      <a:r>
                        <a:rPr lang="en-GB" dirty="0"/>
                        <a:t>Webinars for Prospective</a:t>
                      </a:r>
                      <a:r>
                        <a:rPr lang="en-GB" baseline="0" dirty="0"/>
                        <a:t> leads </a:t>
                      </a:r>
                      <a:r>
                        <a:rPr lang="en-GB" dirty="0"/>
                        <a:t>, </a:t>
                      </a:r>
                    </a:p>
                  </a:txBody>
                  <a:tcPr/>
                </a:tc>
                <a:tc>
                  <a:txBody>
                    <a:bodyPr/>
                    <a:lstStyle/>
                    <a:p>
                      <a:r>
                        <a:rPr lang="en-US" dirty="0"/>
                        <a:t>Sponsorship</a:t>
                      </a:r>
                      <a:r>
                        <a:rPr lang="en-US" baseline="0" dirty="0"/>
                        <a:t> of Conferences </a:t>
                      </a:r>
                      <a:endParaRPr lang="en-GB" dirty="0"/>
                    </a:p>
                  </a:txBody>
                  <a:tcPr/>
                </a:tc>
                <a:tc>
                  <a:txBody>
                    <a:bodyPr/>
                    <a:lstStyle/>
                    <a:p>
                      <a:r>
                        <a:rPr lang="en-US" dirty="0"/>
                        <a:t>Competitive</a:t>
                      </a:r>
                      <a:r>
                        <a:rPr lang="en-US" baseline="0" dirty="0"/>
                        <a:t> Pricing </a:t>
                      </a:r>
                      <a:endParaRPr lang="en-GB" dirty="0"/>
                    </a:p>
                  </a:txBody>
                  <a:tcPr/>
                </a:tc>
                <a:tc>
                  <a:txBody>
                    <a:bodyPr/>
                    <a:lstStyle/>
                    <a:p>
                      <a:r>
                        <a:rPr lang="en-US" dirty="0"/>
                        <a:t>Proposal</a:t>
                      </a:r>
                      <a:r>
                        <a:rPr lang="en-US" baseline="0" dirty="0"/>
                        <a:t> and Presentation to Leads </a:t>
                      </a:r>
                      <a:endParaRPr lang="en-GB" dirty="0"/>
                    </a:p>
                  </a:txBody>
                  <a:tcPr/>
                </a:tc>
                <a:extLst>
                  <a:ext uri="{0D108BD9-81ED-4DB2-BD59-A6C34878D82A}">
                    <a16:rowId xmlns:a16="http://schemas.microsoft.com/office/drawing/2014/main" val="2507688835"/>
                  </a:ext>
                </a:extLst>
              </a:tr>
              <a:tr h="370840">
                <a:tc>
                  <a:txBody>
                    <a:bodyPr/>
                    <a:lstStyle/>
                    <a:p>
                      <a:r>
                        <a:rPr lang="en-GB" dirty="0"/>
                        <a:t>Oil and Gas </a:t>
                      </a:r>
                    </a:p>
                  </a:txBody>
                  <a:tcPr/>
                </a:tc>
                <a:tc>
                  <a:txBody>
                    <a:bodyPr/>
                    <a:lstStyle/>
                    <a:p>
                      <a:r>
                        <a:rPr lang="en-GB" dirty="0"/>
                        <a:t>Tier 1 and Tier 2</a:t>
                      </a:r>
                    </a:p>
                  </a:txBody>
                  <a:tcPr/>
                </a:tc>
                <a:tc>
                  <a:txBody>
                    <a:bodyPr/>
                    <a:lstStyle/>
                    <a:p>
                      <a:r>
                        <a:rPr lang="en-GB" dirty="0"/>
                        <a:t>NIPEX, DPR, NOG forum </a:t>
                      </a:r>
                    </a:p>
                  </a:txBody>
                  <a:tcPr/>
                </a:tc>
                <a:tc>
                  <a:txBody>
                    <a:bodyPr/>
                    <a:lstStyle/>
                    <a:p>
                      <a:r>
                        <a:rPr lang="en-GB" dirty="0"/>
                        <a:t>Website,</a:t>
                      </a:r>
                      <a:r>
                        <a:rPr lang="en-GB" baseline="0" dirty="0"/>
                        <a:t> email marketing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Sponsorship</a:t>
                      </a:r>
                      <a:r>
                        <a:rPr lang="en-US" baseline="0" dirty="0"/>
                        <a:t> of Conferences </a:t>
                      </a:r>
                      <a:endParaRPr lang="en-GB" dirty="0"/>
                    </a:p>
                  </a:txBody>
                  <a:tcPr/>
                </a:tc>
                <a:tc>
                  <a:txBody>
                    <a:bodyPr/>
                    <a:lstStyle/>
                    <a:p>
                      <a:r>
                        <a:rPr lang="en-US" dirty="0"/>
                        <a:t>Premium</a:t>
                      </a:r>
                      <a:r>
                        <a:rPr lang="en-US" baseline="0" dirty="0"/>
                        <a:t> Pricing </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Industrial</a:t>
                      </a:r>
                      <a:r>
                        <a:rPr lang="en-US" baseline="0" dirty="0"/>
                        <a:t> Hygiene Value proposition</a:t>
                      </a:r>
                      <a:endParaRPr lang="en-GB" dirty="0"/>
                    </a:p>
                  </a:txBody>
                  <a:tcPr/>
                </a:tc>
                <a:extLst>
                  <a:ext uri="{0D108BD9-81ED-4DB2-BD59-A6C34878D82A}">
                    <a16:rowId xmlns:a16="http://schemas.microsoft.com/office/drawing/2014/main" val="2014965479"/>
                  </a:ext>
                </a:extLst>
              </a:tr>
            </a:tbl>
          </a:graphicData>
        </a:graphic>
      </p:graphicFrame>
    </p:spTree>
    <p:extLst>
      <p:ext uri="{BB962C8B-B14F-4D97-AF65-F5344CB8AC3E}">
        <p14:creationId xmlns:p14="http://schemas.microsoft.com/office/powerpoint/2010/main" val="841866441"/>
      </p:ext>
    </p:extLst>
  </p:cSld>
  <p:clrMapOvr>
    <a:masterClrMapping/>
  </p:clrMapOvr>
  <p:extLst>
    <p:ext uri="{6950BFC3-D8DA-4A85-94F7-54DA5524770B}">
      <p188:commentRel xmlns:p188="http://schemas.microsoft.com/office/powerpoint/2018/8/main" r:id="rId2"/>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2641-0B06-2A3A-4B29-4BB457DA813C}"/>
              </a:ext>
            </a:extLst>
          </p:cNvPr>
          <p:cNvSpPr>
            <a:spLocks noGrp="1"/>
          </p:cNvSpPr>
          <p:nvPr>
            <p:ph type="title"/>
          </p:nvPr>
        </p:nvSpPr>
        <p:spPr/>
        <p:txBody>
          <a:bodyPr/>
          <a:lstStyle/>
          <a:p>
            <a:r>
              <a:rPr lang="en-US" dirty="0"/>
              <a:t>Financial projections-Wellness products</a:t>
            </a:r>
          </a:p>
        </p:txBody>
      </p:sp>
      <p:sp>
        <p:nvSpPr>
          <p:cNvPr id="4" name="Slide Number Placeholder 3">
            <a:extLst>
              <a:ext uri="{FF2B5EF4-FFF2-40B4-BE49-F238E27FC236}">
                <a16:creationId xmlns:a16="http://schemas.microsoft.com/office/drawing/2014/main" id="{D641AC12-E550-2454-BBEC-0B64D414C96E}"/>
              </a:ext>
            </a:extLst>
          </p:cNvPr>
          <p:cNvSpPr>
            <a:spLocks noGrp="1"/>
          </p:cNvSpPr>
          <p:nvPr>
            <p:ph type="sldNum" sz="quarter" idx="12"/>
          </p:nvPr>
        </p:nvSpPr>
        <p:spPr/>
        <p:txBody>
          <a:bodyPr/>
          <a:lstStyle/>
          <a:p>
            <a:fld id="{88DB5A6F-883B-4080-A811-FB5B8D05AFA3}" type="slidenum">
              <a:rPr lang="en-GB" smtClean="0"/>
              <a:pPr/>
              <a:t>55</a:t>
            </a:fld>
            <a:endParaRPr lang="en-GB"/>
          </a:p>
        </p:txBody>
      </p:sp>
      <p:pic>
        <p:nvPicPr>
          <p:cNvPr id="6" name="Picture 5">
            <a:extLst>
              <a:ext uri="{FF2B5EF4-FFF2-40B4-BE49-F238E27FC236}">
                <a16:creationId xmlns:a16="http://schemas.microsoft.com/office/drawing/2014/main" id="{04F02F71-5700-4A5C-5396-23EF1DC0928F}"/>
              </a:ext>
            </a:extLst>
          </p:cNvPr>
          <p:cNvPicPr>
            <a:picLocks noChangeAspect="1"/>
          </p:cNvPicPr>
          <p:nvPr/>
        </p:nvPicPr>
        <p:blipFill>
          <a:blip r:embed="rId2"/>
          <a:stretch>
            <a:fillRect/>
          </a:stretch>
        </p:blipFill>
        <p:spPr>
          <a:xfrm>
            <a:off x="509168" y="1036321"/>
            <a:ext cx="9914992" cy="5319496"/>
          </a:xfrm>
          <a:prstGeom prst="rect">
            <a:avLst/>
          </a:prstGeom>
        </p:spPr>
      </p:pic>
    </p:spTree>
    <p:extLst>
      <p:ext uri="{BB962C8B-B14F-4D97-AF65-F5344CB8AC3E}">
        <p14:creationId xmlns:p14="http://schemas.microsoft.com/office/powerpoint/2010/main" val="793427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25C3B78-3BDF-4391-B018-0C6B8C18AB70}"/>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536243550"/>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498948145"/>
                  </a:ext>
                </a:extLst>
              </a:tr>
            </a:tbl>
          </a:graphicData>
        </a:graphic>
      </p:graphicFrame>
      <p:sp>
        <p:nvSpPr>
          <p:cNvPr id="5" name="Rectangle 4">
            <a:extLst>
              <a:ext uri="{FF2B5EF4-FFF2-40B4-BE49-F238E27FC236}">
                <a16:creationId xmlns:a16="http://schemas.microsoft.com/office/drawing/2014/main" id="{BF7A1243-B92E-4FB2-84CA-2B40B10009D5}"/>
              </a:ext>
            </a:extLst>
          </p:cNvPr>
          <p:cNvSpPr/>
          <p:nvPr/>
        </p:nvSpPr>
        <p:spPr>
          <a:xfrm>
            <a:off x="1526549" y="2741196"/>
            <a:ext cx="10173217" cy="1077218"/>
          </a:xfrm>
          <a:prstGeom prst="rect">
            <a:avLst/>
          </a:prstGeom>
        </p:spPr>
        <p:txBody>
          <a:bodyPr wrap="square">
            <a:spAutoFit/>
          </a:bodyPr>
          <a:lstStyle/>
          <a:p>
            <a:r>
              <a:rPr lang="en-US" sz="3200" b="1" dirty="0">
                <a:latin typeface="Georgia" panose="02040502050405020303" pitchFamily="18" charset="0"/>
              </a:rPr>
              <a:t>Balanced Scorecard for Medbury Medical Services-Corporate Health &amp; Wellness</a:t>
            </a:r>
          </a:p>
        </p:txBody>
      </p:sp>
      <p:grpSp>
        <p:nvGrpSpPr>
          <p:cNvPr id="4" name="Group 3">
            <a:extLst>
              <a:ext uri="{FF2B5EF4-FFF2-40B4-BE49-F238E27FC236}">
                <a16:creationId xmlns:a16="http://schemas.microsoft.com/office/drawing/2014/main" id="{98DDAE4D-93EC-2437-85D5-7281BD084951}"/>
              </a:ext>
            </a:extLst>
          </p:cNvPr>
          <p:cNvGrpSpPr/>
          <p:nvPr/>
        </p:nvGrpSpPr>
        <p:grpSpPr>
          <a:xfrm>
            <a:off x="320128" y="330940"/>
            <a:ext cx="1572433" cy="371330"/>
            <a:chOff x="766122" y="639518"/>
            <a:chExt cx="1561432" cy="354761"/>
          </a:xfrm>
        </p:grpSpPr>
        <p:pic>
          <p:nvPicPr>
            <p:cNvPr id="6" name="Picture 5">
              <a:extLst>
                <a:ext uri="{FF2B5EF4-FFF2-40B4-BE49-F238E27FC236}">
                  <a16:creationId xmlns:a16="http://schemas.microsoft.com/office/drawing/2014/main" id="{2EB05F94-23A6-CBE8-CE40-DE99D45262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6735" y="639518"/>
              <a:ext cx="530819" cy="354761"/>
            </a:xfrm>
            <a:prstGeom prst="rect">
              <a:avLst/>
            </a:prstGeom>
          </p:spPr>
        </p:pic>
        <p:pic>
          <p:nvPicPr>
            <p:cNvPr id="7" name="Picture 6">
              <a:extLst>
                <a:ext uri="{FF2B5EF4-FFF2-40B4-BE49-F238E27FC236}">
                  <a16:creationId xmlns:a16="http://schemas.microsoft.com/office/drawing/2014/main" id="{FE732440-02E6-358A-EE46-847A47AED5C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66122" y="692024"/>
              <a:ext cx="1030613" cy="249751"/>
            </a:xfrm>
            <a:prstGeom prst="rect">
              <a:avLst/>
            </a:prstGeom>
          </p:spPr>
        </p:pic>
      </p:grpSp>
    </p:spTree>
    <p:extLst>
      <p:ext uri="{BB962C8B-B14F-4D97-AF65-F5344CB8AC3E}">
        <p14:creationId xmlns:p14="http://schemas.microsoft.com/office/powerpoint/2010/main" val="38506450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90D9F0C-42C0-40BF-AC72-1AAA64FC9B4C}"/>
              </a:ext>
            </a:extLst>
          </p:cNvPr>
          <p:cNvGraphicFramePr>
            <a:graphicFrameLocks noGrp="1"/>
          </p:cNvGraphicFramePr>
          <p:nvPr>
            <p:extLst>
              <p:ext uri="{D42A27DB-BD31-4B8C-83A1-F6EECF244321}">
                <p14:modId xmlns:p14="http://schemas.microsoft.com/office/powerpoint/2010/main" val="3548896118"/>
              </p:ext>
            </p:extLst>
          </p:nvPr>
        </p:nvGraphicFramePr>
        <p:xfrm>
          <a:off x="204486" y="2154067"/>
          <a:ext cx="11783028" cy="4297680"/>
        </p:xfrm>
        <a:graphic>
          <a:graphicData uri="http://schemas.openxmlformats.org/drawingml/2006/table">
            <a:tbl>
              <a:tblPr/>
              <a:tblGrid>
                <a:gridCol w="2945757">
                  <a:extLst>
                    <a:ext uri="{9D8B030D-6E8A-4147-A177-3AD203B41FA5}">
                      <a16:colId xmlns:a16="http://schemas.microsoft.com/office/drawing/2014/main" val="2457716415"/>
                    </a:ext>
                  </a:extLst>
                </a:gridCol>
                <a:gridCol w="2945757">
                  <a:extLst>
                    <a:ext uri="{9D8B030D-6E8A-4147-A177-3AD203B41FA5}">
                      <a16:colId xmlns:a16="http://schemas.microsoft.com/office/drawing/2014/main" val="3472458444"/>
                    </a:ext>
                  </a:extLst>
                </a:gridCol>
                <a:gridCol w="2945757">
                  <a:extLst>
                    <a:ext uri="{9D8B030D-6E8A-4147-A177-3AD203B41FA5}">
                      <a16:colId xmlns:a16="http://schemas.microsoft.com/office/drawing/2014/main" val="2015772110"/>
                    </a:ext>
                  </a:extLst>
                </a:gridCol>
                <a:gridCol w="2945757">
                  <a:extLst>
                    <a:ext uri="{9D8B030D-6E8A-4147-A177-3AD203B41FA5}">
                      <a16:colId xmlns:a16="http://schemas.microsoft.com/office/drawing/2014/main" val="3009958640"/>
                    </a:ext>
                  </a:extLst>
                </a:gridCol>
              </a:tblGrid>
              <a:tr h="0">
                <a:tc>
                  <a:txBody>
                    <a:bodyPr/>
                    <a:lstStyle/>
                    <a:p>
                      <a:r>
                        <a:rPr lang="en-US" b="1"/>
                        <a:t>Strategic Objective</a:t>
                      </a:r>
                      <a:endParaRPr lang="en-US"/>
                    </a:p>
                  </a:txBody>
                  <a:tcPr anchor="ctr">
                    <a:lnL>
                      <a:noFill/>
                    </a:lnL>
                    <a:lnR>
                      <a:noFill/>
                    </a:lnR>
                    <a:lnT>
                      <a:noFill/>
                    </a:lnT>
                    <a:lnB>
                      <a:noFill/>
                    </a:lnB>
                  </a:tcPr>
                </a:tc>
                <a:tc>
                  <a:txBody>
                    <a:bodyPr/>
                    <a:lstStyle/>
                    <a:p>
                      <a:r>
                        <a:rPr lang="en-US" b="1"/>
                        <a:t>Priorities</a:t>
                      </a:r>
                      <a:endParaRPr lang="en-US"/>
                    </a:p>
                  </a:txBody>
                  <a:tcPr anchor="ctr">
                    <a:lnL>
                      <a:noFill/>
                    </a:lnL>
                    <a:lnR>
                      <a:noFill/>
                    </a:lnR>
                    <a:lnT>
                      <a:noFill/>
                    </a:lnT>
                    <a:lnB>
                      <a:noFill/>
                    </a:lnB>
                  </a:tcPr>
                </a:tc>
                <a:tc>
                  <a:txBody>
                    <a:bodyPr/>
                    <a:lstStyle/>
                    <a:p>
                      <a:r>
                        <a:rPr lang="en-US" b="1"/>
                        <a:t>KPIs</a:t>
                      </a:r>
                      <a:endParaRPr lang="en-US"/>
                    </a:p>
                  </a:txBody>
                  <a:tcPr anchor="ctr">
                    <a:lnL>
                      <a:noFill/>
                    </a:lnL>
                    <a:lnR>
                      <a:noFill/>
                    </a:lnR>
                    <a:lnT>
                      <a:noFill/>
                    </a:lnT>
                    <a:lnB>
                      <a:noFill/>
                    </a:lnB>
                  </a:tcPr>
                </a:tc>
                <a:tc>
                  <a:txBody>
                    <a:bodyPr/>
                    <a:lstStyle/>
                    <a:p>
                      <a:r>
                        <a:rPr lang="en-US" b="1"/>
                        <a:t>Strategic Initiatives</a:t>
                      </a:r>
                      <a:endParaRPr lang="en-US"/>
                    </a:p>
                  </a:txBody>
                  <a:tcPr anchor="ctr">
                    <a:lnL>
                      <a:noFill/>
                    </a:lnL>
                    <a:lnR>
                      <a:noFill/>
                    </a:lnR>
                    <a:lnT>
                      <a:noFill/>
                    </a:lnT>
                    <a:lnB>
                      <a:noFill/>
                    </a:lnB>
                  </a:tcPr>
                </a:tc>
                <a:extLst>
                  <a:ext uri="{0D108BD9-81ED-4DB2-BD59-A6C34878D82A}">
                    <a16:rowId xmlns:a16="http://schemas.microsoft.com/office/drawing/2014/main" val="2272397666"/>
                  </a:ext>
                </a:extLst>
              </a:tr>
              <a:tr h="0">
                <a:tc>
                  <a:txBody>
                    <a:bodyPr/>
                    <a:lstStyle/>
                    <a:p>
                      <a:r>
                        <a:rPr lang="en-US" dirty="0"/>
                        <a:t>Product diversification</a:t>
                      </a:r>
                    </a:p>
                  </a:txBody>
                  <a:tcPr anchor="ctr">
                    <a:lnL>
                      <a:noFill/>
                    </a:lnL>
                    <a:lnR>
                      <a:noFill/>
                    </a:lnR>
                    <a:lnT>
                      <a:noFill/>
                    </a:lnT>
                    <a:lnB>
                      <a:noFill/>
                    </a:lnB>
                  </a:tcPr>
                </a:tc>
                <a:tc>
                  <a:txBody>
                    <a:bodyPr/>
                    <a:lstStyle/>
                    <a:p>
                      <a:r>
                        <a:rPr lang="en-US" dirty="0"/>
                        <a:t>- Develop premium, high-demand, value-based life-style &amp; wellness products </a:t>
                      </a:r>
                    </a:p>
                  </a:txBody>
                  <a:tcPr anchor="ctr">
                    <a:lnL>
                      <a:noFill/>
                    </a:lnL>
                    <a:lnR>
                      <a:noFill/>
                    </a:lnR>
                    <a:lnT>
                      <a:noFill/>
                    </a:lnT>
                    <a:lnB>
                      <a:noFill/>
                    </a:lnB>
                  </a:tcPr>
                </a:tc>
                <a:tc>
                  <a:txBody>
                    <a:bodyPr/>
                    <a:lstStyle/>
                    <a:p>
                      <a:r>
                        <a:rPr lang="en-US" dirty="0"/>
                        <a:t>- 20% growth in annual revenue (New and existing products)</a:t>
                      </a:r>
                    </a:p>
                  </a:txBody>
                  <a:tcPr anchor="ctr">
                    <a:lnL>
                      <a:noFill/>
                    </a:lnL>
                    <a:lnR>
                      <a:noFill/>
                    </a:lnR>
                    <a:lnT>
                      <a:noFill/>
                    </a:lnT>
                    <a:lnB>
                      <a:noFill/>
                    </a:lnB>
                  </a:tcPr>
                </a:tc>
                <a:tc>
                  <a:txBody>
                    <a:bodyPr/>
                    <a:lstStyle/>
                    <a:p>
                      <a:r>
                        <a:rPr lang="en-US" dirty="0"/>
                        <a:t>- Hire technical partners and staff to assure revenue-magnet products </a:t>
                      </a:r>
                    </a:p>
                  </a:txBody>
                  <a:tcPr anchor="ctr">
                    <a:lnL>
                      <a:noFill/>
                    </a:lnL>
                    <a:lnR>
                      <a:noFill/>
                    </a:lnR>
                    <a:lnT>
                      <a:noFill/>
                    </a:lnT>
                    <a:lnB>
                      <a:noFill/>
                    </a:lnB>
                  </a:tcPr>
                </a:tc>
                <a:extLst>
                  <a:ext uri="{0D108BD9-81ED-4DB2-BD59-A6C34878D82A}">
                    <a16:rowId xmlns:a16="http://schemas.microsoft.com/office/drawing/2014/main" val="770396912"/>
                  </a:ext>
                </a:extLst>
              </a:tr>
              <a:tr h="0">
                <a:tc>
                  <a:txBody>
                    <a:bodyPr/>
                    <a:lstStyle/>
                    <a:p>
                      <a:r>
                        <a:rPr lang="en-US" dirty="0"/>
                        <a:t>Increase profits</a:t>
                      </a:r>
                    </a:p>
                  </a:txBody>
                  <a:tcPr anchor="ctr">
                    <a:lnL>
                      <a:noFill/>
                    </a:lnL>
                    <a:lnR>
                      <a:noFill/>
                    </a:lnR>
                    <a:lnT>
                      <a:noFill/>
                    </a:lnT>
                    <a:lnB>
                      <a:noFill/>
                    </a:lnB>
                  </a:tcPr>
                </a:tc>
                <a:tc>
                  <a:txBody>
                    <a:bodyPr/>
                    <a:lstStyle/>
                    <a:p>
                      <a:r>
                        <a:rPr lang="en-US" dirty="0"/>
                        <a:t>- Price standardization</a:t>
                      </a:r>
                    </a:p>
                  </a:txBody>
                  <a:tcPr anchor="ctr">
                    <a:lnL>
                      <a:noFill/>
                    </a:lnL>
                    <a:lnR>
                      <a:noFill/>
                    </a:lnR>
                    <a:lnT>
                      <a:noFill/>
                    </a:lnT>
                    <a:lnB>
                      <a:noFill/>
                    </a:lnB>
                  </a:tcPr>
                </a:tc>
                <a:tc>
                  <a:txBody>
                    <a:bodyPr/>
                    <a:lstStyle/>
                    <a:p>
                      <a:r>
                        <a:rPr lang="en-US" dirty="0"/>
                        <a:t>- 40% Gross profit margin</a:t>
                      </a:r>
                    </a:p>
                  </a:txBody>
                  <a:tcPr anchor="ctr">
                    <a:lnL>
                      <a:noFill/>
                    </a:lnL>
                    <a:lnR>
                      <a:noFill/>
                    </a:lnR>
                    <a:lnT>
                      <a:noFill/>
                    </a:lnT>
                    <a:lnB>
                      <a:noFill/>
                    </a:lnB>
                  </a:tcPr>
                </a:tc>
                <a:tc>
                  <a:txBody>
                    <a:bodyPr/>
                    <a:lstStyle/>
                    <a:p>
                      <a:r>
                        <a:rPr lang="en-US"/>
                        <a:t>- Optimize product pricing strategies</a:t>
                      </a:r>
                    </a:p>
                  </a:txBody>
                  <a:tcPr anchor="ctr">
                    <a:lnL>
                      <a:noFill/>
                    </a:lnL>
                    <a:lnR>
                      <a:noFill/>
                    </a:lnR>
                    <a:lnT>
                      <a:noFill/>
                    </a:lnT>
                    <a:lnB>
                      <a:noFill/>
                    </a:lnB>
                  </a:tcPr>
                </a:tc>
                <a:extLst>
                  <a:ext uri="{0D108BD9-81ED-4DB2-BD59-A6C34878D82A}">
                    <a16:rowId xmlns:a16="http://schemas.microsoft.com/office/drawing/2014/main" val="3609683710"/>
                  </a:ext>
                </a:extLst>
              </a:tr>
              <a:tr h="0">
                <a:tc>
                  <a:txBody>
                    <a:bodyPr/>
                    <a:lstStyle/>
                    <a:p>
                      <a:r>
                        <a:rPr lang="en-US"/>
                        <a:t>Reduce operational costs</a:t>
                      </a:r>
                    </a:p>
                  </a:txBody>
                  <a:tcPr anchor="ctr">
                    <a:lnL>
                      <a:noFill/>
                    </a:lnL>
                    <a:lnR>
                      <a:noFill/>
                    </a:lnR>
                    <a:lnT>
                      <a:noFill/>
                    </a:lnT>
                    <a:lnB>
                      <a:noFill/>
                    </a:lnB>
                  </a:tcPr>
                </a:tc>
                <a:tc>
                  <a:txBody>
                    <a:bodyPr/>
                    <a:lstStyle/>
                    <a:p>
                      <a:r>
                        <a:rPr lang="en-US" dirty="0"/>
                        <a:t>- Build cost leadership culture in operation</a:t>
                      </a:r>
                    </a:p>
                  </a:txBody>
                  <a:tcPr anchor="ctr">
                    <a:lnL>
                      <a:noFill/>
                    </a:lnL>
                    <a:lnR>
                      <a:noFill/>
                    </a:lnR>
                    <a:lnT>
                      <a:noFill/>
                    </a:lnT>
                    <a:lnB>
                      <a:noFill/>
                    </a:lnB>
                  </a:tcPr>
                </a:tc>
                <a:tc>
                  <a:txBody>
                    <a:bodyPr/>
                    <a:lstStyle/>
                    <a:p>
                      <a:r>
                        <a:rPr lang="en-US" dirty="0"/>
                        <a:t>- 40% Cost-to-sales ratio</a:t>
                      </a:r>
                    </a:p>
                  </a:txBody>
                  <a:tcPr anchor="ctr">
                    <a:lnL>
                      <a:noFill/>
                    </a:lnL>
                    <a:lnR>
                      <a:noFill/>
                    </a:lnR>
                    <a:lnT>
                      <a:noFill/>
                    </a:lnT>
                    <a:lnB>
                      <a:noFill/>
                    </a:lnB>
                  </a:tcPr>
                </a:tc>
                <a:tc>
                  <a:txBody>
                    <a:bodyPr/>
                    <a:lstStyle/>
                    <a:p>
                      <a:r>
                        <a:rPr lang="en-US" dirty="0"/>
                        <a:t>- Implement cost management techniques and tools </a:t>
                      </a:r>
                      <a:r>
                        <a:rPr lang="en-US" b="1" dirty="0"/>
                        <a:t>(</a:t>
                      </a:r>
                      <a:r>
                        <a:rPr lang="en-US" b="1" dirty="0" err="1"/>
                        <a:t>eg</a:t>
                      </a:r>
                      <a:r>
                        <a:rPr lang="en-US" b="1" dirty="0"/>
                        <a:t> Customer profiling, Profitability Based Sales Drive)</a:t>
                      </a:r>
                    </a:p>
                  </a:txBody>
                  <a:tcPr anchor="ctr">
                    <a:lnL>
                      <a:noFill/>
                    </a:lnL>
                    <a:lnR>
                      <a:noFill/>
                    </a:lnR>
                    <a:lnT>
                      <a:noFill/>
                    </a:lnT>
                    <a:lnB>
                      <a:noFill/>
                    </a:lnB>
                  </a:tcPr>
                </a:tc>
                <a:extLst>
                  <a:ext uri="{0D108BD9-81ED-4DB2-BD59-A6C34878D82A}">
                    <a16:rowId xmlns:a16="http://schemas.microsoft.com/office/drawing/2014/main" val="834985898"/>
                  </a:ext>
                </a:extLst>
              </a:tr>
              <a:tr h="0">
                <a:tc>
                  <a:txBody>
                    <a:bodyPr/>
                    <a:lstStyle/>
                    <a:p>
                      <a:r>
                        <a:rPr lang="en-US" dirty="0"/>
                        <a:t>Improve cash flow</a:t>
                      </a:r>
                    </a:p>
                  </a:txBody>
                  <a:tcPr anchor="ctr">
                    <a:lnL>
                      <a:noFill/>
                    </a:lnL>
                    <a:lnR>
                      <a:noFill/>
                    </a:lnR>
                    <a:lnT>
                      <a:noFill/>
                    </a:lnT>
                    <a:lnB>
                      <a:noFill/>
                    </a:lnB>
                  </a:tcPr>
                </a:tc>
                <a:tc>
                  <a:txBody>
                    <a:bodyPr/>
                    <a:lstStyle/>
                    <a:p>
                      <a:r>
                        <a:rPr lang="en-US" dirty="0"/>
                        <a:t>- Develop culture of cash flow monitoring</a:t>
                      </a:r>
                    </a:p>
                  </a:txBody>
                  <a:tcPr anchor="ctr">
                    <a:lnL>
                      <a:noFill/>
                    </a:lnL>
                    <a:lnR>
                      <a:noFill/>
                    </a:lnR>
                    <a:lnT>
                      <a:noFill/>
                    </a:lnT>
                    <a:lnB>
                      <a:noFill/>
                    </a:lnB>
                  </a:tcPr>
                </a:tc>
                <a:tc>
                  <a:txBody>
                    <a:bodyPr/>
                    <a:lstStyle/>
                    <a:p>
                      <a:r>
                        <a:rPr lang="en-US" dirty="0"/>
                        <a:t>- At least 98% of invoices submitted within 72hrs of job completion.</a:t>
                      </a:r>
                    </a:p>
                  </a:txBody>
                  <a:tcPr anchor="ctr">
                    <a:lnL>
                      <a:noFill/>
                    </a:lnL>
                    <a:lnR>
                      <a:noFill/>
                    </a:lnR>
                    <a:lnT>
                      <a:noFill/>
                    </a:lnT>
                    <a:lnB>
                      <a:noFill/>
                    </a:lnB>
                  </a:tcPr>
                </a:tc>
                <a:tc>
                  <a:txBody>
                    <a:bodyPr/>
                    <a:lstStyle/>
                    <a:p>
                      <a:r>
                        <a:rPr lang="en-US" dirty="0"/>
                        <a:t>- Implement cash flow monitoring tools </a:t>
                      </a:r>
                      <a:r>
                        <a:rPr lang="en-US" b="1" dirty="0"/>
                        <a:t>(Monthly statement, Working Capital)</a:t>
                      </a:r>
                    </a:p>
                  </a:txBody>
                  <a:tcPr anchor="ctr">
                    <a:lnL>
                      <a:noFill/>
                    </a:lnL>
                    <a:lnR>
                      <a:noFill/>
                    </a:lnR>
                    <a:lnT>
                      <a:noFill/>
                    </a:lnT>
                    <a:lnB>
                      <a:noFill/>
                    </a:lnB>
                  </a:tcPr>
                </a:tc>
                <a:extLst>
                  <a:ext uri="{0D108BD9-81ED-4DB2-BD59-A6C34878D82A}">
                    <a16:rowId xmlns:a16="http://schemas.microsoft.com/office/drawing/2014/main" val="2387938445"/>
                  </a:ext>
                </a:extLst>
              </a:tr>
            </a:tbl>
          </a:graphicData>
        </a:graphic>
      </p:graphicFrame>
      <p:grpSp>
        <p:nvGrpSpPr>
          <p:cNvPr id="3" name="Group 2">
            <a:extLst>
              <a:ext uri="{FF2B5EF4-FFF2-40B4-BE49-F238E27FC236}">
                <a16:creationId xmlns:a16="http://schemas.microsoft.com/office/drawing/2014/main" id="{7ADA84C0-5EEE-09FD-9369-E49FF9F6F469}"/>
              </a:ext>
            </a:extLst>
          </p:cNvPr>
          <p:cNvGrpSpPr/>
          <p:nvPr/>
        </p:nvGrpSpPr>
        <p:grpSpPr>
          <a:xfrm>
            <a:off x="320128" y="330940"/>
            <a:ext cx="1572433" cy="371330"/>
            <a:chOff x="766122" y="639518"/>
            <a:chExt cx="1561432" cy="354761"/>
          </a:xfrm>
        </p:grpSpPr>
        <p:pic>
          <p:nvPicPr>
            <p:cNvPr id="4" name="Picture 3">
              <a:extLst>
                <a:ext uri="{FF2B5EF4-FFF2-40B4-BE49-F238E27FC236}">
                  <a16:creationId xmlns:a16="http://schemas.microsoft.com/office/drawing/2014/main" id="{09A61273-F78D-BD68-D0AC-3E97FE78A4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6735" y="639518"/>
              <a:ext cx="530819" cy="354761"/>
            </a:xfrm>
            <a:prstGeom prst="rect">
              <a:avLst/>
            </a:prstGeom>
          </p:spPr>
        </p:pic>
        <p:pic>
          <p:nvPicPr>
            <p:cNvPr id="5" name="Picture 4">
              <a:extLst>
                <a:ext uri="{FF2B5EF4-FFF2-40B4-BE49-F238E27FC236}">
                  <a16:creationId xmlns:a16="http://schemas.microsoft.com/office/drawing/2014/main" id="{DE314B69-893A-4076-3276-043456DF2A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66122" y="692024"/>
              <a:ext cx="1030613" cy="249751"/>
            </a:xfrm>
            <a:prstGeom prst="rect">
              <a:avLst/>
            </a:prstGeom>
          </p:spPr>
        </p:pic>
      </p:grpSp>
      <p:sp>
        <p:nvSpPr>
          <p:cNvPr id="7" name="TextBox 6">
            <a:extLst>
              <a:ext uri="{FF2B5EF4-FFF2-40B4-BE49-F238E27FC236}">
                <a16:creationId xmlns:a16="http://schemas.microsoft.com/office/drawing/2014/main" id="{70228FC3-5FDD-20F8-A3FC-A8316EC12D12}"/>
              </a:ext>
            </a:extLst>
          </p:cNvPr>
          <p:cNvSpPr txBox="1"/>
          <p:nvPr/>
        </p:nvSpPr>
        <p:spPr>
          <a:xfrm>
            <a:off x="975412" y="912740"/>
            <a:ext cx="10403788" cy="11387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eorgia" panose="02040502050405020303" pitchFamily="18" charset="0"/>
              </a:rPr>
              <a:t>Financial Perspective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eorgia" panose="02040502050405020303" pitchFamily="18" charset="0"/>
              </a:rPr>
              <a:t>Objective:</a:t>
            </a:r>
            <a:br>
              <a:rPr kumimoji="0" lang="en-US" altLang="en-US" sz="1600" b="1" i="0" u="none" strike="noStrike" cap="none" normalizeH="0" baseline="0" dirty="0">
                <a:ln>
                  <a:noFill/>
                </a:ln>
                <a:solidFill>
                  <a:schemeClr val="tx1"/>
                </a:solidFill>
                <a:effectLst/>
                <a:latin typeface="Georgia" panose="02040502050405020303" pitchFamily="18" charset="0"/>
              </a:rPr>
            </a:br>
            <a:r>
              <a:rPr kumimoji="0" lang="en-US" altLang="en-US" sz="1800" b="0" i="0" u="none" strike="noStrike" cap="none" normalizeH="0" baseline="0" dirty="0">
                <a:ln>
                  <a:noFill/>
                </a:ln>
                <a:solidFill>
                  <a:schemeClr val="tx1"/>
                </a:solidFill>
                <a:effectLst/>
                <a:latin typeface="Georgia" panose="02040502050405020303" pitchFamily="18" charset="0"/>
              </a:rPr>
              <a:t> To d</a:t>
            </a:r>
            <a:r>
              <a:rPr lang="en-US" altLang="en-US" sz="1800" dirty="0">
                <a:latin typeface="Georgia" panose="02040502050405020303" pitchFamily="18" charset="0"/>
              </a:rPr>
              <a:t>iversify and grow revenue streams to achieve financial sustainability </a:t>
            </a:r>
            <a:r>
              <a:rPr kumimoji="0" lang="en-US" altLang="en-US" sz="1800" b="0" i="0" u="none" strike="noStrike" cap="none" normalizeH="0" baseline="0" dirty="0">
                <a:ln>
                  <a:noFill/>
                </a:ln>
                <a:solidFill>
                  <a:schemeClr val="tx1"/>
                </a:solidFill>
                <a:effectLst/>
                <a:latin typeface="Georgia" panose="02040502050405020303" pitchFamily="18" charset="0"/>
              </a:rPr>
              <a:t>through innovative product and customer base expansion.</a:t>
            </a:r>
            <a:r>
              <a:rPr lang="en-US" altLang="en-US" dirty="0">
                <a:latin typeface="Georgia" panose="02040502050405020303" pitchFamily="18" charset="0"/>
              </a:rPr>
              <a:t> </a:t>
            </a:r>
            <a:endParaRPr kumimoji="0" lang="en-US" altLang="en-US" sz="1100" b="0" i="0" u="none" strike="noStrike" cap="none" normalizeH="0" baseline="0" dirty="0">
              <a:ln>
                <a:noFill/>
              </a:ln>
              <a:solidFill>
                <a:schemeClr val="tx1"/>
              </a:solidFill>
              <a:effectLst/>
              <a:latin typeface="Georgia" panose="02040502050405020303" pitchFamily="18" charset="0"/>
            </a:endParaRPr>
          </a:p>
        </p:txBody>
      </p:sp>
    </p:spTree>
    <p:extLst>
      <p:ext uri="{BB962C8B-B14F-4D97-AF65-F5344CB8AC3E}">
        <p14:creationId xmlns:p14="http://schemas.microsoft.com/office/powerpoint/2010/main" val="34540382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3352BBC-389D-4173-AE53-0EC68E318278}"/>
              </a:ext>
            </a:extLst>
          </p:cNvPr>
          <p:cNvGraphicFramePr>
            <a:graphicFrameLocks noGrp="1"/>
          </p:cNvGraphicFramePr>
          <p:nvPr>
            <p:extLst>
              <p:ext uri="{D42A27DB-BD31-4B8C-83A1-F6EECF244321}">
                <p14:modId xmlns:p14="http://schemas.microsoft.com/office/powerpoint/2010/main" val="605987476"/>
              </p:ext>
            </p:extLst>
          </p:nvPr>
        </p:nvGraphicFramePr>
        <p:xfrm>
          <a:off x="395468" y="1701478"/>
          <a:ext cx="11401064" cy="4747555"/>
        </p:xfrm>
        <a:graphic>
          <a:graphicData uri="http://schemas.openxmlformats.org/drawingml/2006/table">
            <a:tbl>
              <a:tblPr/>
              <a:tblGrid>
                <a:gridCol w="2850266">
                  <a:extLst>
                    <a:ext uri="{9D8B030D-6E8A-4147-A177-3AD203B41FA5}">
                      <a16:colId xmlns:a16="http://schemas.microsoft.com/office/drawing/2014/main" val="1887088339"/>
                    </a:ext>
                  </a:extLst>
                </a:gridCol>
                <a:gridCol w="2850266">
                  <a:extLst>
                    <a:ext uri="{9D8B030D-6E8A-4147-A177-3AD203B41FA5}">
                      <a16:colId xmlns:a16="http://schemas.microsoft.com/office/drawing/2014/main" val="3432282632"/>
                    </a:ext>
                  </a:extLst>
                </a:gridCol>
                <a:gridCol w="2850266">
                  <a:extLst>
                    <a:ext uri="{9D8B030D-6E8A-4147-A177-3AD203B41FA5}">
                      <a16:colId xmlns:a16="http://schemas.microsoft.com/office/drawing/2014/main" val="1105186010"/>
                    </a:ext>
                  </a:extLst>
                </a:gridCol>
                <a:gridCol w="2850266">
                  <a:extLst>
                    <a:ext uri="{9D8B030D-6E8A-4147-A177-3AD203B41FA5}">
                      <a16:colId xmlns:a16="http://schemas.microsoft.com/office/drawing/2014/main" val="1501269935"/>
                    </a:ext>
                  </a:extLst>
                </a:gridCol>
              </a:tblGrid>
              <a:tr h="439879">
                <a:tc>
                  <a:txBody>
                    <a:bodyPr/>
                    <a:lstStyle/>
                    <a:p>
                      <a:r>
                        <a:rPr lang="en-US" b="1"/>
                        <a:t>Strategic Objective</a:t>
                      </a:r>
                      <a:endParaRPr lang="en-US"/>
                    </a:p>
                  </a:txBody>
                  <a:tcPr anchor="ctr">
                    <a:lnL>
                      <a:noFill/>
                    </a:lnL>
                    <a:lnR>
                      <a:noFill/>
                    </a:lnR>
                    <a:lnT>
                      <a:noFill/>
                    </a:lnT>
                    <a:lnB>
                      <a:noFill/>
                    </a:lnB>
                  </a:tcPr>
                </a:tc>
                <a:tc>
                  <a:txBody>
                    <a:bodyPr/>
                    <a:lstStyle/>
                    <a:p>
                      <a:r>
                        <a:rPr lang="en-US" b="1"/>
                        <a:t>Priorities</a:t>
                      </a:r>
                      <a:endParaRPr lang="en-US"/>
                    </a:p>
                  </a:txBody>
                  <a:tcPr anchor="ctr">
                    <a:lnL>
                      <a:noFill/>
                    </a:lnL>
                    <a:lnR>
                      <a:noFill/>
                    </a:lnR>
                    <a:lnT>
                      <a:noFill/>
                    </a:lnT>
                    <a:lnB>
                      <a:noFill/>
                    </a:lnB>
                  </a:tcPr>
                </a:tc>
                <a:tc>
                  <a:txBody>
                    <a:bodyPr/>
                    <a:lstStyle/>
                    <a:p>
                      <a:r>
                        <a:rPr lang="en-US" b="1"/>
                        <a:t>KPIs</a:t>
                      </a:r>
                      <a:endParaRPr lang="en-US"/>
                    </a:p>
                  </a:txBody>
                  <a:tcPr anchor="ctr">
                    <a:lnL>
                      <a:noFill/>
                    </a:lnL>
                    <a:lnR>
                      <a:noFill/>
                    </a:lnR>
                    <a:lnT>
                      <a:noFill/>
                    </a:lnT>
                    <a:lnB>
                      <a:noFill/>
                    </a:lnB>
                  </a:tcPr>
                </a:tc>
                <a:tc>
                  <a:txBody>
                    <a:bodyPr/>
                    <a:lstStyle/>
                    <a:p>
                      <a:r>
                        <a:rPr lang="en-US" b="1"/>
                        <a:t>Strategic Initiatives</a:t>
                      </a:r>
                      <a:endParaRPr lang="en-US"/>
                    </a:p>
                  </a:txBody>
                  <a:tcPr anchor="ctr">
                    <a:lnL>
                      <a:noFill/>
                    </a:lnL>
                    <a:lnR>
                      <a:noFill/>
                    </a:lnR>
                    <a:lnT>
                      <a:noFill/>
                    </a:lnT>
                    <a:lnB>
                      <a:noFill/>
                    </a:lnB>
                  </a:tcPr>
                </a:tc>
                <a:extLst>
                  <a:ext uri="{0D108BD9-81ED-4DB2-BD59-A6C34878D82A}">
                    <a16:rowId xmlns:a16="http://schemas.microsoft.com/office/drawing/2014/main" val="833090918"/>
                  </a:ext>
                </a:extLst>
              </a:tr>
              <a:tr h="769788">
                <a:tc>
                  <a:txBody>
                    <a:bodyPr/>
                    <a:lstStyle/>
                    <a:p>
                      <a:r>
                        <a:rPr lang="en-US" dirty="0"/>
                        <a:t>Promote brand loyalty</a:t>
                      </a:r>
                    </a:p>
                  </a:txBody>
                  <a:tcPr anchor="ctr">
                    <a:lnL>
                      <a:noFill/>
                    </a:lnL>
                    <a:lnR>
                      <a:noFill/>
                    </a:lnR>
                    <a:lnT>
                      <a:noFill/>
                    </a:lnT>
                    <a:lnB>
                      <a:noFill/>
                    </a:lnB>
                  </a:tcPr>
                </a:tc>
                <a:tc>
                  <a:txBody>
                    <a:bodyPr/>
                    <a:lstStyle/>
                    <a:p>
                      <a:r>
                        <a:rPr lang="en-US" dirty="0"/>
                        <a:t>- Build customer-</a:t>
                      </a:r>
                      <a:r>
                        <a:rPr lang="en-US" dirty="0" err="1"/>
                        <a:t>centeric</a:t>
                      </a:r>
                      <a:r>
                        <a:rPr lang="en-US" dirty="0"/>
                        <a:t> services &amp; centers</a:t>
                      </a:r>
                    </a:p>
                  </a:txBody>
                  <a:tcPr anchor="ctr">
                    <a:lnL>
                      <a:noFill/>
                    </a:lnL>
                    <a:lnR>
                      <a:noFill/>
                    </a:lnR>
                    <a:lnT>
                      <a:noFill/>
                    </a:lnT>
                    <a:lnB>
                      <a:noFill/>
                    </a:lnB>
                  </a:tcPr>
                </a:tc>
                <a:tc>
                  <a:txBody>
                    <a:bodyPr/>
                    <a:lstStyle/>
                    <a:p>
                      <a:r>
                        <a:rPr lang="en-US" dirty="0"/>
                        <a:t>-70% Customer retention rate</a:t>
                      </a:r>
                    </a:p>
                  </a:txBody>
                  <a:tcPr anchor="ctr">
                    <a:lnL>
                      <a:noFill/>
                    </a:lnL>
                    <a:lnR>
                      <a:noFill/>
                    </a:lnR>
                    <a:lnT>
                      <a:noFill/>
                    </a:lnT>
                    <a:lnB>
                      <a:noFill/>
                    </a:lnB>
                  </a:tcPr>
                </a:tc>
                <a:tc>
                  <a:txBody>
                    <a:bodyPr/>
                    <a:lstStyle/>
                    <a:p>
                      <a:r>
                        <a:rPr lang="en-US" dirty="0"/>
                        <a:t>- Implement a System and CRM to track customer engagement and retention performance</a:t>
                      </a:r>
                    </a:p>
                  </a:txBody>
                  <a:tcPr anchor="ctr">
                    <a:lnL>
                      <a:noFill/>
                    </a:lnL>
                    <a:lnR>
                      <a:noFill/>
                    </a:lnR>
                    <a:lnT>
                      <a:noFill/>
                    </a:lnT>
                    <a:lnB>
                      <a:noFill/>
                    </a:lnB>
                  </a:tcPr>
                </a:tc>
                <a:extLst>
                  <a:ext uri="{0D108BD9-81ED-4DB2-BD59-A6C34878D82A}">
                    <a16:rowId xmlns:a16="http://schemas.microsoft.com/office/drawing/2014/main" val="500220937"/>
                  </a:ext>
                </a:extLst>
              </a:tr>
              <a:tr h="965118">
                <a:tc>
                  <a:txBody>
                    <a:bodyPr/>
                    <a:lstStyle/>
                    <a:p>
                      <a:r>
                        <a:rPr lang="en-US" dirty="0"/>
                        <a:t>Enhance customer TAT </a:t>
                      </a:r>
                    </a:p>
                  </a:txBody>
                  <a:tcPr anchor="ctr">
                    <a:lnL>
                      <a:noFill/>
                    </a:lnL>
                    <a:lnR>
                      <a:noFill/>
                    </a:lnR>
                    <a:lnT>
                      <a:noFill/>
                    </a:lnT>
                    <a:lnB>
                      <a:noFill/>
                    </a:lnB>
                  </a:tcPr>
                </a:tc>
                <a:tc>
                  <a:txBody>
                    <a:bodyPr/>
                    <a:lstStyle/>
                    <a:p>
                      <a:r>
                        <a:rPr lang="en-US" dirty="0"/>
                        <a:t>- Attain best TAT in the industry</a:t>
                      </a:r>
                    </a:p>
                  </a:txBody>
                  <a:tcPr anchor="ctr">
                    <a:lnL>
                      <a:noFill/>
                    </a:lnL>
                    <a:lnR>
                      <a:noFill/>
                    </a:lnR>
                    <a:lnT>
                      <a:noFill/>
                    </a:lnT>
                    <a:lnB>
                      <a:noFill/>
                    </a:lnB>
                  </a:tcPr>
                </a:tc>
                <a:tc>
                  <a:txBody>
                    <a:bodyPr/>
                    <a:lstStyle/>
                    <a:p>
                      <a:r>
                        <a:rPr lang="en-US" dirty="0"/>
                        <a:t>- 85% Customer satisfaction score (CSAT)</a:t>
                      </a:r>
                    </a:p>
                  </a:txBody>
                  <a:tcPr anchor="ctr">
                    <a:lnL>
                      <a:noFill/>
                    </a:lnL>
                    <a:lnR>
                      <a:noFill/>
                    </a:lnR>
                    <a:lnT>
                      <a:noFill/>
                    </a:lnT>
                    <a:lnB>
                      <a:noFill/>
                    </a:lnB>
                  </a:tcPr>
                </a:tc>
                <a:tc>
                  <a:txBody>
                    <a:bodyPr/>
                    <a:lstStyle/>
                    <a:p>
                      <a:r>
                        <a:rPr lang="en-US" dirty="0"/>
                        <a:t>- Optimize SOPs, SLAs and internal set-up to facilitate service delivery &amp; communication</a:t>
                      </a:r>
                    </a:p>
                  </a:txBody>
                  <a:tcPr anchor="ctr">
                    <a:lnL>
                      <a:noFill/>
                    </a:lnL>
                    <a:lnR>
                      <a:noFill/>
                    </a:lnR>
                    <a:lnT>
                      <a:noFill/>
                    </a:lnT>
                    <a:lnB>
                      <a:noFill/>
                    </a:lnB>
                  </a:tcPr>
                </a:tc>
                <a:extLst>
                  <a:ext uri="{0D108BD9-81ED-4DB2-BD59-A6C34878D82A}">
                    <a16:rowId xmlns:a16="http://schemas.microsoft.com/office/drawing/2014/main" val="1001754114"/>
                  </a:ext>
                </a:extLst>
              </a:tr>
              <a:tr h="965118">
                <a:tc>
                  <a:txBody>
                    <a:bodyPr/>
                    <a:lstStyle/>
                    <a:p>
                      <a:r>
                        <a:rPr lang="en-US" dirty="0"/>
                        <a:t>Customer empowerment</a:t>
                      </a:r>
                    </a:p>
                  </a:txBody>
                  <a:tcPr anchor="ctr">
                    <a:lnL>
                      <a:noFill/>
                    </a:lnL>
                    <a:lnR>
                      <a:noFill/>
                    </a:lnR>
                    <a:lnT>
                      <a:noFill/>
                    </a:lnT>
                    <a:lnB>
                      <a:noFill/>
                    </a:lnB>
                  </a:tcPr>
                </a:tc>
                <a:tc>
                  <a:txBody>
                    <a:bodyPr/>
                    <a:lstStyle/>
                    <a:p>
                      <a:r>
                        <a:rPr lang="en-US" dirty="0"/>
                        <a:t>- Improve customer participation in service delivery</a:t>
                      </a:r>
                    </a:p>
                  </a:txBody>
                  <a:tcPr anchor="ctr">
                    <a:lnL>
                      <a:noFill/>
                    </a:lnL>
                    <a:lnR>
                      <a:noFill/>
                    </a:lnR>
                    <a:lnT>
                      <a:noFill/>
                    </a:lnT>
                    <a:lnB>
                      <a:noFill/>
                    </a:lnB>
                  </a:tcPr>
                </a:tc>
                <a:tc>
                  <a:txBody>
                    <a:bodyPr/>
                    <a:lstStyle/>
                    <a:p>
                      <a:r>
                        <a:rPr lang="en-US" dirty="0"/>
                        <a:t>- 30% score in customer participation in surveys &amp; forums</a:t>
                      </a:r>
                    </a:p>
                  </a:txBody>
                  <a:tcPr anchor="ctr">
                    <a:lnL>
                      <a:noFill/>
                    </a:lnL>
                    <a:lnR>
                      <a:noFill/>
                    </a:lnR>
                    <a:lnT>
                      <a:noFill/>
                    </a:lnT>
                    <a:lnB>
                      <a:noFill/>
                    </a:lnB>
                  </a:tcPr>
                </a:tc>
                <a:tc>
                  <a:txBody>
                    <a:bodyPr/>
                    <a:lstStyle/>
                    <a:p>
                      <a:r>
                        <a:rPr lang="en-US" dirty="0"/>
                        <a:t>- Introduce customer engagement forums (pod-casts), platforms &amp; events</a:t>
                      </a:r>
                    </a:p>
                  </a:txBody>
                  <a:tcPr anchor="ctr">
                    <a:lnL>
                      <a:noFill/>
                    </a:lnL>
                    <a:lnR>
                      <a:noFill/>
                    </a:lnR>
                    <a:lnT>
                      <a:noFill/>
                    </a:lnT>
                    <a:lnB>
                      <a:noFill/>
                    </a:lnB>
                  </a:tcPr>
                </a:tc>
                <a:extLst>
                  <a:ext uri="{0D108BD9-81ED-4DB2-BD59-A6C34878D82A}">
                    <a16:rowId xmlns:a16="http://schemas.microsoft.com/office/drawing/2014/main" val="3405189770"/>
                  </a:ext>
                </a:extLst>
              </a:tr>
              <a:tr h="965118">
                <a:tc>
                  <a:txBody>
                    <a:bodyPr/>
                    <a:lstStyle/>
                    <a:p>
                      <a:r>
                        <a:rPr lang="en-US" dirty="0"/>
                        <a:t>New customer acquisition</a:t>
                      </a:r>
                    </a:p>
                  </a:txBody>
                  <a:tcPr anchor="ctr">
                    <a:lnL>
                      <a:noFill/>
                    </a:lnL>
                    <a:lnR>
                      <a:noFill/>
                    </a:lnR>
                    <a:lnT>
                      <a:noFill/>
                    </a:lnT>
                    <a:lnB>
                      <a:noFill/>
                    </a:lnB>
                  </a:tcPr>
                </a:tc>
                <a:tc>
                  <a:txBody>
                    <a:bodyPr/>
                    <a:lstStyle/>
                    <a:p>
                      <a:r>
                        <a:rPr lang="en-US" dirty="0"/>
                        <a:t>- Diversification of products</a:t>
                      </a:r>
                    </a:p>
                  </a:txBody>
                  <a:tcPr anchor="ctr">
                    <a:lnL>
                      <a:noFill/>
                    </a:lnL>
                    <a:lnR>
                      <a:noFill/>
                    </a:lnR>
                    <a:lnT>
                      <a:noFill/>
                    </a:lnT>
                    <a:lnB>
                      <a:noFill/>
                    </a:lnB>
                  </a:tcPr>
                </a:tc>
                <a:tc>
                  <a:txBody>
                    <a:bodyPr/>
                    <a:lstStyle/>
                    <a:p>
                      <a:r>
                        <a:rPr lang="en-US" dirty="0"/>
                        <a:t>- 30% growth in new customers/business</a:t>
                      </a:r>
                    </a:p>
                  </a:txBody>
                  <a:tcPr anchor="ctr">
                    <a:lnL>
                      <a:noFill/>
                    </a:lnL>
                    <a:lnR>
                      <a:noFill/>
                    </a:lnR>
                    <a:lnT>
                      <a:noFill/>
                    </a:lnT>
                    <a:lnB>
                      <a:noFill/>
                    </a:lnB>
                  </a:tcPr>
                </a:tc>
                <a:tc>
                  <a:txBody>
                    <a:bodyPr/>
                    <a:lstStyle/>
                    <a:p>
                      <a:r>
                        <a:rPr lang="en-US" dirty="0"/>
                        <a:t>- Create and grow retail products and services</a:t>
                      </a:r>
                    </a:p>
                    <a:p>
                      <a:endParaRPr lang="en-US" dirty="0"/>
                    </a:p>
                  </a:txBody>
                  <a:tcPr anchor="ctr">
                    <a:lnL>
                      <a:noFill/>
                    </a:lnL>
                    <a:lnR>
                      <a:noFill/>
                    </a:lnR>
                    <a:lnT>
                      <a:noFill/>
                    </a:lnT>
                    <a:lnB>
                      <a:noFill/>
                    </a:lnB>
                  </a:tcPr>
                </a:tc>
                <a:extLst>
                  <a:ext uri="{0D108BD9-81ED-4DB2-BD59-A6C34878D82A}">
                    <a16:rowId xmlns:a16="http://schemas.microsoft.com/office/drawing/2014/main" val="969320131"/>
                  </a:ext>
                </a:extLst>
              </a:tr>
            </a:tbl>
          </a:graphicData>
        </a:graphic>
      </p:graphicFrame>
      <p:sp>
        <p:nvSpPr>
          <p:cNvPr id="4" name="Rectangle 3">
            <a:extLst>
              <a:ext uri="{FF2B5EF4-FFF2-40B4-BE49-F238E27FC236}">
                <a16:creationId xmlns:a16="http://schemas.microsoft.com/office/drawing/2014/main" id="{AA2959B5-A819-4C08-AA04-9838E7B5254A}"/>
              </a:ext>
            </a:extLst>
          </p:cNvPr>
          <p:cNvSpPr/>
          <p:nvPr/>
        </p:nvSpPr>
        <p:spPr>
          <a:xfrm>
            <a:off x="395468" y="601207"/>
            <a:ext cx="11197092" cy="1015663"/>
          </a:xfrm>
          <a:prstGeom prst="rect">
            <a:avLst/>
          </a:prstGeom>
        </p:spPr>
        <p:txBody>
          <a:bodyPr wrap="square">
            <a:spAutoFit/>
          </a:bodyPr>
          <a:lstStyle/>
          <a:p>
            <a:r>
              <a:rPr lang="en-US" sz="2000" b="1" dirty="0">
                <a:latin typeface="Georgia" panose="02040502050405020303" pitchFamily="18" charset="0"/>
              </a:rPr>
              <a:t>Customer Perspective Objective: </a:t>
            </a:r>
            <a:br>
              <a:rPr lang="en-US" sz="2000" b="1" dirty="0">
                <a:latin typeface="Georgia" panose="02040502050405020303" pitchFamily="18" charset="0"/>
              </a:rPr>
            </a:br>
            <a:r>
              <a:rPr lang="en-US" sz="2000" dirty="0">
                <a:latin typeface="Georgia" panose="02040502050405020303" pitchFamily="18" charset="0"/>
              </a:rPr>
              <a:t>To build excellent services and centers where we offer personalized customer experiences that exceed expectation </a:t>
            </a:r>
          </a:p>
        </p:txBody>
      </p:sp>
    </p:spTree>
    <p:extLst>
      <p:ext uri="{BB962C8B-B14F-4D97-AF65-F5344CB8AC3E}">
        <p14:creationId xmlns:p14="http://schemas.microsoft.com/office/powerpoint/2010/main" val="440668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AFA1DD26-9F97-4A14-AFF1-D4A863946A31}"/>
              </a:ext>
            </a:extLst>
          </p:cNvPr>
          <p:cNvSpPr>
            <a:spLocks noChangeArrowheads="1"/>
          </p:cNvSpPr>
          <p:nvPr/>
        </p:nvSpPr>
        <p:spPr bwMode="auto">
          <a:xfrm>
            <a:off x="319726" y="436732"/>
            <a:ext cx="10836111"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Georgia" panose="02040502050405020303" pitchFamily="18" charset="0"/>
              </a:rPr>
              <a:t>Internal Processes Perspective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eorgia" panose="02040502050405020303" pitchFamily="18" charset="0"/>
              </a:rPr>
              <a:t>Objective: </a:t>
            </a:r>
            <a:r>
              <a:rPr kumimoji="0" lang="en-US" altLang="en-US" sz="2400" b="0" i="0" u="none" strike="noStrike" cap="none" normalizeH="0" baseline="0" dirty="0">
                <a:ln>
                  <a:noFill/>
                </a:ln>
                <a:solidFill>
                  <a:schemeClr val="tx1"/>
                </a:solidFill>
                <a:effectLst/>
                <a:latin typeface="Georgia" panose="02040502050405020303" pitchFamily="18" charset="0"/>
              </a:rPr>
              <a:t>Streamline internal operations to ensure efficiency, compliance, and product excellence.</a:t>
            </a:r>
          </a:p>
        </p:txBody>
      </p:sp>
      <p:graphicFrame>
        <p:nvGraphicFramePr>
          <p:cNvPr id="15" name="Table 14">
            <a:extLst>
              <a:ext uri="{FF2B5EF4-FFF2-40B4-BE49-F238E27FC236}">
                <a16:creationId xmlns:a16="http://schemas.microsoft.com/office/drawing/2014/main" id="{25C4C225-9052-4249-9DCF-78DD913C859B}"/>
              </a:ext>
            </a:extLst>
          </p:cNvPr>
          <p:cNvGraphicFramePr>
            <a:graphicFrameLocks noGrp="1"/>
          </p:cNvGraphicFramePr>
          <p:nvPr>
            <p:extLst>
              <p:ext uri="{D42A27DB-BD31-4B8C-83A1-F6EECF244321}">
                <p14:modId xmlns:p14="http://schemas.microsoft.com/office/powerpoint/2010/main" val="3701448817"/>
              </p:ext>
            </p:extLst>
          </p:nvPr>
        </p:nvGraphicFramePr>
        <p:xfrm>
          <a:off x="451701" y="1875099"/>
          <a:ext cx="10836112" cy="3622750"/>
        </p:xfrm>
        <a:graphic>
          <a:graphicData uri="http://schemas.openxmlformats.org/drawingml/2006/table">
            <a:tbl>
              <a:tblPr/>
              <a:tblGrid>
                <a:gridCol w="2709028">
                  <a:extLst>
                    <a:ext uri="{9D8B030D-6E8A-4147-A177-3AD203B41FA5}">
                      <a16:colId xmlns:a16="http://schemas.microsoft.com/office/drawing/2014/main" val="1881748147"/>
                    </a:ext>
                  </a:extLst>
                </a:gridCol>
                <a:gridCol w="2709028">
                  <a:extLst>
                    <a:ext uri="{9D8B030D-6E8A-4147-A177-3AD203B41FA5}">
                      <a16:colId xmlns:a16="http://schemas.microsoft.com/office/drawing/2014/main" val="3033735200"/>
                    </a:ext>
                  </a:extLst>
                </a:gridCol>
                <a:gridCol w="2709028">
                  <a:extLst>
                    <a:ext uri="{9D8B030D-6E8A-4147-A177-3AD203B41FA5}">
                      <a16:colId xmlns:a16="http://schemas.microsoft.com/office/drawing/2014/main" val="4084927898"/>
                    </a:ext>
                  </a:extLst>
                </a:gridCol>
                <a:gridCol w="2709028">
                  <a:extLst>
                    <a:ext uri="{9D8B030D-6E8A-4147-A177-3AD203B41FA5}">
                      <a16:colId xmlns:a16="http://schemas.microsoft.com/office/drawing/2014/main" val="1295244805"/>
                    </a:ext>
                  </a:extLst>
                </a:gridCol>
              </a:tblGrid>
              <a:tr h="433336">
                <a:tc>
                  <a:txBody>
                    <a:bodyPr/>
                    <a:lstStyle/>
                    <a:p>
                      <a:r>
                        <a:rPr lang="en-US" b="1"/>
                        <a:t>Strategic Objective</a:t>
                      </a:r>
                      <a:endParaRPr lang="en-US"/>
                    </a:p>
                  </a:txBody>
                  <a:tcPr anchor="ctr">
                    <a:lnL>
                      <a:noFill/>
                    </a:lnL>
                    <a:lnR>
                      <a:noFill/>
                    </a:lnR>
                    <a:lnT>
                      <a:noFill/>
                    </a:lnT>
                    <a:lnB>
                      <a:noFill/>
                    </a:lnB>
                  </a:tcPr>
                </a:tc>
                <a:tc>
                  <a:txBody>
                    <a:bodyPr/>
                    <a:lstStyle/>
                    <a:p>
                      <a:r>
                        <a:rPr lang="en-US" b="1"/>
                        <a:t>Priorities</a:t>
                      </a:r>
                      <a:endParaRPr lang="en-US"/>
                    </a:p>
                  </a:txBody>
                  <a:tcPr anchor="ctr">
                    <a:lnL>
                      <a:noFill/>
                    </a:lnL>
                    <a:lnR>
                      <a:noFill/>
                    </a:lnR>
                    <a:lnT>
                      <a:noFill/>
                    </a:lnT>
                    <a:lnB>
                      <a:noFill/>
                    </a:lnB>
                  </a:tcPr>
                </a:tc>
                <a:tc>
                  <a:txBody>
                    <a:bodyPr/>
                    <a:lstStyle/>
                    <a:p>
                      <a:r>
                        <a:rPr lang="en-US" b="1"/>
                        <a:t>KPIs</a:t>
                      </a:r>
                      <a:endParaRPr lang="en-US"/>
                    </a:p>
                  </a:txBody>
                  <a:tcPr anchor="ctr">
                    <a:lnL>
                      <a:noFill/>
                    </a:lnL>
                    <a:lnR>
                      <a:noFill/>
                    </a:lnR>
                    <a:lnT>
                      <a:noFill/>
                    </a:lnT>
                    <a:lnB>
                      <a:noFill/>
                    </a:lnB>
                  </a:tcPr>
                </a:tc>
                <a:tc>
                  <a:txBody>
                    <a:bodyPr/>
                    <a:lstStyle/>
                    <a:p>
                      <a:r>
                        <a:rPr lang="en-US" b="1"/>
                        <a:t>Strategic Initiatives</a:t>
                      </a:r>
                      <a:endParaRPr lang="en-US"/>
                    </a:p>
                  </a:txBody>
                  <a:tcPr anchor="ctr">
                    <a:lnL>
                      <a:noFill/>
                    </a:lnL>
                    <a:lnR>
                      <a:noFill/>
                    </a:lnR>
                    <a:lnT>
                      <a:noFill/>
                    </a:lnT>
                    <a:lnB>
                      <a:noFill/>
                    </a:lnB>
                  </a:tcPr>
                </a:tc>
                <a:extLst>
                  <a:ext uri="{0D108BD9-81ED-4DB2-BD59-A6C34878D82A}">
                    <a16:rowId xmlns:a16="http://schemas.microsoft.com/office/drawing/2014/main" val="1607203078"/>
                  </a:ext>
                </a:extLst>
              </a:tr>
              <a:tr h="758338">
                <a:tc>
                  <a:txBody>
                    <a:bodyPr/>
                    <a:lstStyle/>
                    <a:p>
                      <a:r>
                        <a:rPr lang="en-US"/>
                        <a:t>Optimize production efficiency</a:t>
                      </a:r>
                    </a:p>
                  </a:txBody>
                  <a:tcPr anchor="ctr">
                    <a:lnL>
                      <a:noFill/>
                    </a:lnL>
                    <a:lnR>
                      <a:noFill/>
                    </a:lnR>
                    <a:lnT>
                      <a:noFill/>
                    </a:lnT>
                    <a:lnB>
                      <a:noFill/>
                    </a:lnB>
                  </a:tcPr>
                </a:tc>
                <a:tc>
                  <a:txBody>
                    <a:bodyPr/>
                    <a:lstStyle/>
                    <a:p>
                      <a:r>
                        <a:rPr lang="en-US" dirty="0"/>
                        <a:t>- Achieve at least 98% TAT compliance</a:t>
                      </a:r>
                    </a:p>
                  </a:txBody>
                  <a:tcPr anchor="ctr">
                    <a:lnL>
                      <a:noFill/>
                    </a:lnL>
                    <a:lnR>
                      <a:noFill/>
                    </a:lnR>
                    <a:lnT>
                      <a:noFill/>
                    </a:lnT>
                    <a:lnB>
                      <a:noFill/>
                    </a:lnB>
                  </a:tcPr>
                </a:tc>
                <a:tc>
                  <a:txBody>
                    <a:bodyPr/>
                    <a:lstStyle/>
                    <a:p>
                      <a:r>
                        <a:rPr lang="en-US"/>
                        <a:t>- Production efficiency rate</a:t>
                      </a:r>
                    </a:p>
                  </a:txBody>
                  <a:tcPr anchor="ctr">
                    <a:lnL>
                      <a:noFill/>
                    </a:lnL>
                    <a:lnR>
                      <a:noFill/>
                    </a:lnR>
                    <a:lnT>
                      <a:noFill/>
                    </a:lnT>
                    <a:lnB>
                      <a:noFill/>
                    </a:lnB>
                  </a:tcPr>
                </a:tc>
                <a:tc>
                  <a:txBody>
                    <a:bodyPr/>
                    <a:lstStyle/>
                    <a:p>
                      <a:r>
                        <a:rPr lang="en-US" dirty="0"/>
                        <a:t>- Invest in EMR upgrade and automation of processes </a:t>
                      </a:r>
                      <a:r>
                        <a:rPr lang="en-US"/>
                        <a:t>and SLAs</a:t>
                      </a:r>
                      <a:endParaRPr lang="en-US" dirty="0"/>
                    </a:p>
                  </a:txBody>
                  <a:tcPr anchor="ctr">
                    <a:lnL>
                      <a:noFill/>
                    </a:lnL>
                    <a:lnR>
                      <a:noFill/>
                    </a:lnR>
                    <a:lnT>
                      <a:noFill/>
                    </a:lnT>
                    <a:lnB>
                      <a:noFill/>
                    </a:lnB>
                  </a:tcPr>
                </a:tc>
                <a:extLst>
                  <a:ext uri="{0D108BD9-81ED-4DB2-BD59-A6C34878D82A}">
                    <a16:rowId xmlns:a16="http://schemas.microsoft.com/office/drawing/2014/main" val="3508856531"/>
                  </a:ext>
                </a:extLst>
              </a:tr>
              <a:tr h="758338">
                <a:tc>
                  <a:txBody>
                    <a:bodyPr/>
                    <a:lstStyle/>
                    <a:p>
                      <a:r>
                        <a:rPr lang="en-US"/>
                        <a:t>Ensure product quality</a:t>
                      </a:r>
                    </a:p>
                  </a:txBody>
                  <a:tcPr anchor="ctr">
                    <a:lnL>
                      <a:noFill/>
                    </a:lnL>
                    <a:lnR>
                      <a:noFill/>
                    </a:lnR>
                    <a:lnT>
                      <a:noFill/>
                    </a:lnT>
                    <a:lnB>
                      <a:noFill/>
                    </a:lnB>
                  </a:tcPr>
                </a:tc>
                <a:tc>
                  <a:txBody>
                    <a:bodyPr/>
                    <a:lstStyle/>
                    <a:p>
                      <a:r>
                        <a:rPr lang="en-US"/>
                        <a:t>- Maintain stringent quality controls</a:t>
                      </a:r>
                    </a:p>
                  </a:txBody>
                  <a:tcPr anchor="ctr">
                    <a:lnL>
                      <a:noFill/>
                    </a:lnL>
                    <a:lnR>
                      <a:noFill/>
                    </a:lnR>
                    <a:lnT>
                      <a:noFill/>
                    </a:lnT>
                    <a:lnB>
                      <a:noFill/>
                    </a:lnB>
                  </a:tcPr>
                </a:tc>
                <a:tc>
                  <a:txBody>
                    <a:bodyPr/>
                    <a:lstStyle/>
                    <a:p>
                      <a:r>
                        <a:rPr lang="en-US"/>
                        <a:t>- % defect-free products</a:t>
                      </a:r>
                    </a:p>
                  </a:txBody>
                  <a:tcPr anchor="ctr">
                    <a:lnL>
                      <a:noFill/>
                    </a:lnL>
                    <a:lnR>
                      <a:noFill/>
                    </a:lnR>
                    <a:lnT>
                      <a:noFill/>
                    </a:lnT>
                    <a:lnB>
                      <a:noFill/>
                    </a:lnB>
                  </a:tcPr>
                </a:tc>
                <a:tc>
                  <a:txBody>
                    <a:bodyPr/>
                    <a:lstStyle/>
                    <a:p>
                      <a:r>
                        <a:rPr lang="en-US"/>
                        <a:t>- Regular quality audits and employee training</a:t>
                      </a:r>
                    </a:p>
                  </a:txBody>
                  <a:tcPr anchor="ctr">
                    <a:lnL>
                      <a:noFill/>
                    </a:lnL>
                    <a:lnR>
                      <a:noFill/>
                    </a:lnR>
                    <a:lnT>
                      <a:noFill/>
                    </a:lnT>
                    <a:lnB>
                      <a:noFill/>
                    </a:lnB>
                  </a:tcPr>
                </a:tc>
                <a:extLst>
                  <a:ext uri="{0D108BD9-81ED-4DB2-BD59-A6C34878D82A}">
                    <a16:rowId xmlns:a16="http://schemas.microsoft.com/office/drawing/2014/main" val="3854243251"/>
                  </a:ext>
                </a:extLst>
              </a:tr>
              <a:tr h="758338">
                <a:tc>
                  <a:txBody>
                    <a:bodyPr/>
                    <a:lstStyle/>
                    <a:p>
                      <a:r>
                        <a:rPr lang="en-US"/>
                        <a:t>Strengthen supply chain management</a:t>
                      </a:r>
                    </a:p>
                  </a:txBody>
                  <a:tcPr anchor="ctr">
                    <a:lnL>
                      <a:noFill/>
                    </a:lnL>
                    <a:lnR>
                      <a:noFill/>
                    </a:lnR>
                    <a:lnT>
                      <a:noFill/>
                    </a:lnT>
                    <a:lnB>
                      <a:noFill/>
                    </a:lnB>
                  </a:tcPr>
                </a:tc>
                <a:tc>
                  <a:txBody>
                    <a:bodyPr/>
                    <a:lstStyle/>
                    <a:p>
                      <a:r>
                        <a:rPr lang="en-US" dirty="0"/>
                        <a:t>- Minimize delivery lead times</a:t>
                      </a:r>
                    </a:p>
                  </a:txBody>
                  <a:tcPr anchor="ctr">
                    <a:lnL>
                      <a:noFill/>
                    </a:lnL>
                    <a:lnR>
                      <a:noFill/>
                    </a:lnR>
                    <a:lnT>
                      <a:noFill/>
                    </a:lnT>
                    <a:lnB>
                      <a:noFill/>
                    </a:lnB>
                  </a:tcPr>
                </a:tc>
                <a:tc>
                  <a:txBody>
                    <a:bodyPr/>
                    <a:lstStyle/>
                    <a:p>
                      <a:r>
                        <a:rPr lang="en-US"/>
                        <a:t>- On-time delivery rate</a:t>
                      </a:r>
                    </a:p>
                  </a:txBody>
                  <a:tcPr anchor="ctr">
                    <a:lnL>
                      <a:noFill/>
                    </a:lnL>
                    <a:lnR>
                      <a:noFill/>
                    </a:lnR>
                    <a:lnT>
                      <a:noFill/>
                    </a:lnT>
                    <a:lnB>
                      <a:noFill/>
                    </a:lnB>
                  </a:tcPr>
                </a:tc>
                <a:tc>
                  <a:txBody>
                    <a:bodyPr/>
                    <a:lstStyle/>
                    <a:p>
                      <a:r>
                        <a:rPr lang="en-US"/>
                        <a:t>- Implement a robust supply chain ERP</a:t>
                      </a:r>
                    </a:p>
                  </a:txBody>
                  <a:tcPr anchor="ctr">
                    <a:lnL>
                      <a:noFill/>
                    </a:lnL>
                    <a:lnR>
                      <a:noFill/>
                    </a:lnR>
                    <a:lnT>
                      <a:noFill/>
                    </a:lnT>
                    <a:lnB>
                      <a:noFill/>
                    </a:lnB>
                  </a:tcPr>
                </a:tc>
                <a:extLst>
                  <a:ext uri="{0D108BD9-81ED-4DB2-BD59-A6C34878D82A}">
                    <a16:rowId xmlns:a16="http://schemas.microsoft.com/office/drawing/2014/main" val="1841307662"/>
                  </a:ext>
                </a:extLst>
              </a:tr>
              <a:tr h="758338">
                <a:tc>
                  <a:txBody>
                    <a:bodyPr/>
                    <a:lstStyle/>
                    <a:p>
                      <a:r>
                        <a:rPr lang="en-US"/>
                        <a:t>Enhance regulatory compliance</a:t>
                      </a:r>
                    </a:p>
                  </a:txBody>
                  <a:tcPr anchor="ctr">
                    <a:lnL>
                      <a:noFill/>
                    </a:lnL>
                    <a:lnR>
                      <a:noFill/>
                    </a:lnR>
                    <a:lnT>
                      <a:noFill/>
                    </a:lnT>
                    <a:lnB>
                      <a:noFill/>
                    </a:lnB>
                  </a:tcPr>
                </a:tc>
                <a:tc>
                  <a:txBody>
                    <a:bodyPr/>
                    <a:lstStyle/>
                    <a:p>
                      <a:r>
                        <a:rPr lang="en-US"/>
                        <a:t>- Adhere to global and local standards</a:t>
                      </a:r>
                    </a:p>
                  </a:txBody>
                  <a:tcPr anchor="ctr">
                    <a:lnL>
                      <a:noFill/>
                    </a:lnL>
                    <a:lnR>
                      <a:noFill/>
                    </a:lnR>
                    <a:lnT>
                      <a:noFill/>
                    </a:lnT>
                    <a:lnB>
                      <a:noFill/>
                    </a:lnB>
                  </a:tcPr>
                </a:tc>
                <a:tc>
                  <a:txBody>
                    <a:bodyPr/>
                    <a:lstStyle/>
                    <a:p>
                      <a:r>
                        <a:rPr lang="en-US"/>
                        <a:t>- Compliance score</a:t>
                      </a:r>
                    </a:p>
                  </a:txBody>
                  <a:tcPr anchor="ctr">
                    <a:lnL>
                      <a:noFill/>
                    </a:lnL>
                    <a:lnR>
                      <a:noFill/>
                    </a:lnR>
                    <a:lnT>
                      <a:noFill/>
                    </a:lnT>
                    <a:lnB>
                      <a:noFill/>
                    </a:lnB>
                  </a:tcPr>
                </a:tc>
                <a:tc>
                  <a:txBody>
                    <a:bodyPr/>
                    <a:lstStyle/>
                    <a:p>
                      <a:r>
                        <a:rPr lang="en-US" dirty="0"/>
                        <a:t>- Conduct regular regulatory reviews</a:t>
                      </a:r>
                    </a:p>
                  </a:txBody>
                  <a:tcPr anchor="ctr">
                    <a:lnL>
                      <a:noFill/>
                    </a:lnL>
                    <a:lnR>
                      <a:noFill/>
                    </a:lnR>
                    <a:lnT>
                      <a:noFill/>
                    </a:lnT>
                    <a:lnB>
                      <a:noFill/>
                    </a:lnB>
                  </a:tcPr>
                </a:tc>
                <a:extLst>
                  <a:ext uri="{0D108BD9-81ED-4DB2-BD59-A6C34878D82A}">
                    <a16:rowId xmlns:a16="http://schemas.microsoft.com/office/drawing/2014/main" val="3584001296"/>
                  </a:ext>
                </a:extLst>
              </a:tr>
            </a:tbl>
          </a:graphicData>
        </a:graphic>
      </p:graphicFrame>
    </p:spTree>
    <p:extLst>
      <p:ext uri="{BB962C8B-B14F-4D97-AF65-F5344CB8AC3E}">
        <p14:creationId xmlns:p14="http://schemas.microsoft.com/office/powerpoint/2010/main" val="22098084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163E3-F51D-A206-240E-FCE5524A6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4BBBC-2E8A-4175-1CED-63D9F773C59B}"/>
              </a:ext>
            </a:extLst>
          </p:cNvPr>
          <p:cNvSpPr>
            <a:spLocks noGrp="1"/>
          </p:cNvSpPr>
          <p:nvPr>
            <p:ph type="title"/>
          </p:nvPr>
        </p:nvSpPr>
        <p:spPr>
          <a:xfrm>
            <a:off x="613369" y="0"/>
            <a:ext cx="10055942" cy="568939"/>
          </a:xfrm>
        </p:spPr>
        <p:txBody>
          <a:bodyPr/>
          <a:lstStyle/>
          <a:p>
            <a:r>
              <a:rPr lang="en-US" dirty="0"/>
              <a:t>Revenue Strategy –Lifecheck Wellness Centers</a:t>
            </a:r>
            <a:endParaRPr lang="aa-ET" dirty="0"/>
          </a:p>
        </p:txBody>
      </p:sp>
      <p:sp>
        <p:nvSpPr>
          <p:cNvPr id="4" name="Slide Number Placeholder 3">
            <a:extLst>
              <a:ext uri="{FF2B5EF4-FFF2-40B4-BE49-F238E27FC236}">
                <a16:creationId xmlns:a16="http://schemas.microsoft.com/office/drawing/2014/main" id="{155F669A-BE24-6209-2291-433778106BC5}"/>
              </a:ext>
            </a:extLst>
          </p:cNvPr>
          <p:cNvSpPr>
            <a:spLocks noGrp="1"/>
          </p:cNvSpPr>
          <p:nvPr>
            <p:ph type="sldNum" sz="quarter" idx="12"/>
          </p:nvPr>
        </p:nvSpPr>
        <p:spPr/>
        <p:txBody>
          <a:bodyPr/>
          <a:lstStyle/>
          <a:p>
            <a:fld id="{88DB5A6F-883B-4080-A811-FB5B8D05AFA3}" type="slidenum">
              <a:rPr lang="en-GB" smtClean="0"/>
              <a:pPr/>
              <a:t>60</a:t>
            </a:fld>
            <a:endParaRPr lang="en-GB"/>
          </a:p>
        </p:txBody>
      </p:sp>
      <p:sp>
        <p:nvSpPr>
          <p:cNvPr id="5" name="TextBox 4">
            <a:extLst>
              <a:ext uri="{FF2B5EF4-FFF2-40B4-BE49-F238E27FC236}">
                <a16:creationId xmlns:a16="http://schemas.microsoft.com/office/drawing/2014/main" id="{904F7915-2B79-324B-54AF-D1B2EBB0F36A}"/>
              </a:ext>
            </a:extLst>
          </p:cNvPr>
          <p:cNvSpPr txBox="1"/>
          <p:nvPr/>
        </p:nvSpPr>
        <p:spPr>
          <a:xfrm>
            <a:off x="479978" y="436880"/>
            <a:ext cx="10767142" cy="6006452"/>
          </a:xfrm>
          <a:prstGeom prst="rect">
            <a:avLst/>
          </a:prstGeom>
          <a:solidFill>
            <a:schemeClr val="bg1"/>
          </a:solidFill>
        </p:spPr>
        <p:txBody>
          <a:bodyPr wrap="square">
            <a:spAutoFit/>
          </a:bodyPr>
          <a:lstStyle/>
          <a:p>
            <a:pPr marL="285750" lvl="0" indent="-285750">
              <a:lnSpc>
                <a:spcPct val="107000"/>
              </a:lnSpc>
              <a:spcAft>
                <a:spcPts val="0"/>
              </a:spcAft>
              <a:buFont typeface="Arial" panose="020B0604020202020204" pitchFamily="34" charset="0"/>
              <a:buChar char="•"/>
            </a:pPr>
            <a:r>
              <a:rPr lang="en-US" dirty="0"/>
              <a:t>Restructuring of Lifecheck centers to Screening and Wellness mini-hub</a:t>
            </a:r>
          </a:p>
          <a:p>
            <a:pPr marL="285750" lvl="0" indent="-285750">
              <a:lnSpc>
                <a:spcPct val="107000"/>
              </a:lnSpc>
              <a:spcAft>
                <a:spcPts val="0"/>
              </a:spcAft>
              <a:buFont typeface="Arial" panose="020B0604020202020204" pitchFamily="34" charset="0"/>
              <a:buChar char="•"/>
            </a:pPr>
            <a:endParaRPr lang="en-US" dirty="0"/>
          </a:p>
          <a:p>
            <a:pPr marL="285750" lvl="0" indent="-285750">
              <a:lnSpc>
                <a:spcPct val="107000"/>
              </a:lnSpc>
              <a:spcAft>
                <a:spcPts val="0"/>
              </a:spcAft>
              <a:buFont typeface="Arial" panose="020B0604020202020204" pitchFamily="34" charset="0"/>
              <a:buChar char="•"/>
            </a:pPr>
            <a:r>
              <a:rPr lang="en-US" dirty="0"/>
              <a:t> Innovatively introduce products that attract pre-payment and up-front payment by corporates –Retail wellness products, subscriptions (Medbury App, Weight control programs)</a:t>
            </a:r>
          </a:p>
          <a:p>
            <a:pPr marL="285750" lvl="0" indent="-285750">
              <a:lnSpc>
                <a:spcPct val="107000"/>
              </a:lnSpc>
              <a:spcAft>
                <a:spcPts val="0"/>
              </a:spcAft>
              <a:buFont typeface="Arial" panose="020B0604020202020204" pitchFamily="34" charset="0"/>
              <a:buChar char="•"/>
            </a:pPr>
            <a:endParaRPr lang="en-US" sz="18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dirty="0">
                <a:latin typeface="Corbel" panose="020B0503020204020204" pitchFamily="34" charset="0"/>
                <a:ea typeface="Cambria" panose="02040503050406030204" pitchFamily="18" charset="0"/>
                <a:cs typeface="Times New Roman" panose="02020603050405020304" pitchFamily="18" charset="0"/>
              </a:rPr>
              <a:t>Ramp up  marketing  for Travel health products and services for non-regulated embassies and chase other Migration 5 Health Working group countries for accreditation</a:t>
            </a:r>
            <a:endParaRPr lang="en-US" sz="18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endParaRPr lang="en-US"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sz="1800" dirty="0">
                <a:latin typeface="Corbel" panose="020B0503020204020204" pitchFamily="34" charset="0"/>
                <a:ea typeface="Cambria" panose="02040503050406030204" pitchFamily="18" charset="0"/>
                <a:cs typeface="Times New Roman" panose="02020603050405020304" pitchFamily="18" charset="0"/>
              </a:rPr>
              <a:t>Create revenue generation targets for each </a:t>
            </a:r>
            <a:r>
              <a:rPr lang="en-US" dirty="0">
                <a:latin typeface="Corbel" panose="020B0503020204020204" pitchFamily="34" charset="0"/>
                <a:ea typeface="Cambria" panose="02040503050406030204" pitchFamily="18" charset="0"/>
                <a:cs typeface="Times New Roman" panose="02020603050405020304" pitchFamily="18" charset="0"/>
              </a:rPr>
              <a:t>Lifecheck center CM, </a:t>
            </a:r>
            <a:r>
              <a:rPr lang="en-US" sz="1800" dirty="0">
                <a:latin typeface="Corbel" panose="020B0503020204020204" pitchFamily="34" charset="0"/>
                <a:ea typeface="Cambria" panose="02040503050406030204" pitchFamily="18" charset="0"/>
                <a:cs typeface="Times New Roman" panose="02020603050405020304" pitchFamily="18" charset="0"/>
              </a:rPr>
              <a:t>ACMs and Customer Service team members (including project)</a:t>
            </a:r>
          </a:p>
          <a:p>
            <a:pPr marL="285750" lvl="0" indent="-285750">
              <a:lnSpc>
                <a:spcPct val="107000"/>
              </a:lnSpc>
              <a:spcAft>
                <a:spcPts val="0"/>
              </a:spcAft>
              <a:buFont typeface="Arial" panose="020B0604020202020204" pitchFamily="34" charset="0"/>
              <a:buChar char="•"/>
            </a:pPr>
            <a:endParaRPr lang="en-US"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sz="1800" dirty="0">
                <a:latin typeface="Corbel" panose="020B0503020204020204" pitchFamily="34" charset="0"/>
                <a:ea typeface="Cambria" panose="02040503050406030204" pitchFamily="18" charset="0"/>
                <a:cs typeface="Times New Roman" panose="02020603050405020304" pitchFamily="18" charset="0"/>
              </a:rPr>
              <a:t>Create  partnerships with Wellness experts, Consultants/ Doctors in </a:t>
            </a:r>
            <a:r>
              <a:rPr lang="en-US" dirty="0">
                <a:latin typeface="Corbel" panose="020B0503020204020204" pitchFamily="34" charset="0"/>
                <a:ea typeface="Cambria" panose="02040503050406030204" pitchFamily="18" charset="0"/>
                <a:cs typeface="Times New Roman" panose="02020603050405020304" pitchFamily="18" charset="0"/>
              </a:rPr>
              <a:t>private hospitals  with incentives for referrals for diagnostics/ screenings</a:t>
            </a:r>
          </a:p>
          <a:p>
            <a:pPr marL="285750" lvl="0" indent="-285750">
              <a:lnSpc>
                <a:spcPct val="107000"/>
              </a:lnSpc>
              <a:spcAft>
                <a:spcPts val="0"/>
              </a:spcAft>
              <a:buFont typeface="Arial" panose="020B0604020202020204" pitchFamily="34" charset="0"/>
              <a:buChar char="•"/>
            </a:pPr>
            <a:endParaRPr lang="en-US"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dirty="0">
                <a:latin typeface="Corbel" panose="020B0503020204020204" pitchFamily="34" charset="0"/>
                <a:ea typeface="Cambria" panose="02040503050406030204" pitchFamily="18" charset="0"/>
                <a:cs typeface="Times New Roman" panose="02020603050405020304" pitchFamily="18" charset="0"/>
              </a:rPr>
              <a:t>Partner with </a:t>
            </a:r>
            <a:r>
              <a:rPr lang="en-US" sz="1800" dirty="0">
                <a:latin typeface="Corbel" panose="020B0503020204020204" pitchFamily="34" charset="0"/>
                <a:ea typeface="Cambria" panose="02040503050406030204" pitchFamily="18" charset="0"/>
                <a:cs typeface="Times New Roman" panose="02020603050405020304" pitchFamily="18" charset="0"/>
              </a:rPr>
              <a:t>Wellness product and Occupational therapy merchants for Sales commissions/ </a:t>
            </a:r>
          </a:p>
          <a:p>
            <a:pPr marL="285750" lvl="0" indent="-285750">
              <a:lnSpc>
                <a:spcPct val="107000"/>
              </a:lnSpc>
              <a:spcAft>
                <a:spcPts val="0"/>
              </a:spcAft>
              <a:buFont typeface="Arial" panose="020B0604020202020204" pitchFamily="34" charset="0"/>
              <a:buChar char="•"/>
            </a:pPr>
            <a:endParaRPr lang="en-US" sz="1800"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sz="1800" dirty="0">
                <a:latin typeface="Corbel" panose="020B0503020204020204" pitchFamily="34" charset="0"/>
                <a:ea typeface="Cambria" panose="02040503050406030204" pitchFamily="18" charset="0"/>
                <a:cs typeface="Times New Roman" panose="02020603050405020304" pitchFamily="18" charset="0"/>
              </a:rPr>
              <a:t>Create Add-ons for some Lifecheck screening products</a:t>
            </a:r>
          </a:p>
          <a:p>
            <a:pPr marL="285750" lvl="0" indent="-285750">
              <a:lnSpc>
                <a:spcPct val="107000"/>
              </a:lnSpc>
              <a:spcAft>
                <a:spcPts val="0"/>
              </a:spcAft>
              <a:buFont typeface="Arial" panose="020B0604020202020204" pitchFamily="34" charset="0"/>
              <a:buChar char="•"/>
            </a:pPr>
            <a:endParaRPr lang="en-US" dirty="0">
              <a:latin typeface="Corbel" panose="020B0503020204020204" pitchFamily="34" charset="0"/>
              <a:ea typeface="Cambria" panose="02040503050406030204" pitchFamily="18" charset="0"/>
              <a:cs typeface="Times New Roman" panose="02020603050405020304" pitchFamily="18" charset="0"/>
            </a:endParaRPr>
          </a:p>
          <a:p>
            <a:pPr marL="285750" lvl="0" indent="-285750">
              <a:lnSpc>
                <a:spcPct val="107000"/>
              </a:lnSpc>
              <a:spcAft>
                <a:spcPts val="0"/>
              </a:spcAft>
              <a:buFont typeface="Arial" panose="020B0604020202020204" pitchFamily="34" charset="0"/>
              <a:buChar char="•"/>
            </a:pPr>
            <a:r>
              <a:rPr lang="en-US" dirty="0">
                <a:latin typeface="Corbel" panose="020B0503020204020204" pitchFamily="34" charset="0"/>
                <a:ea typeface="Cambria" panose="02040503050406030204" pitchFamily="18" charset="0"/>
                <a:cs typeface="Times New Roman" panose="02020603050405020304" pitchFamily="18" charset="0"/>
              </a:rPr>
              <a:t>Select strategic staff for training in certifications in order to begin to develop own expertise for Occupational health, ISO and </a:t>
            </a:r>
            <a:r>
              <a:rPr lang="en-US" dirty="0" err="1">
                <a:latin typeface="Corbel" panose="020B0503020204020204" pitchFamily="34" charset="0"/>
                <a:ea typeface="Cambria" panose="02040503050406030204" pitchFamily="18" charset="0"/>
                <a:cs typeface="Times New Roman" panose="02020603050405020304" pitchFamily="18" charset="0"/>
              </a:rPr>
              <a:t>Emregency</a:t>
            </a:r>
            <a:r>
              <a:rPr lang="en-US" dirty="0">
                <a:latin typeface="Corbel" panose="020B0503020204020204" pitchFamily="34" charset="0"/>
                <a:ea typeface="Cambria" panose="02040503050406030204" pitchFamily="18" charset="0"/>
                <a:cs typeface="Times New Roman" panose="02020603050405020304" pitchFamily="18" charset="0"/>
              </a:rPr>
              <a:t> certifications</a:t>
            </a:r>
            <a:endParaRPr lang="en-US" sz="1800" dirty="0">
              <a:latin typeface="Corbel" panose="020B0503020204020204" pitchFamily="34"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359662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ED33-F53F-C340-0629-5CC26FA8C0BC}"/>
              </a:ext>
            </a:extLst>
          </p:cNvPr>
          <p:cNvSpPr>
            <a:spLocks noGrp="1"/>
          </p:cNvSpPr>
          <p:nvPr>
            <p:ph type="title"/>
          </p:nvPr>
        </p:nvSpPr>
        <p:spPr>
          <a:xfrm>
            <a:off x="0" y="223520"/>
            <a:ext cx="10055942" cy="568939"/>
          </a:xfrm>
        </p:spPr>
        <p:txBody>
          <a:bodyPr/>
          <a:lstStyle/>
          <a:p>
            <a:r>
              <a:rPr lang="en-US" dirty="0"/>
              <a:t>Corporate Health &amp;</a:t>
            </a:r>
            <a:br>
              <a:rPr lang="en-US" dirty="0"/>
            </a:br>
            <a:r>
              <a:rPr lang="en-US" dirty="0"/>
              <a:t> Wellness organogram</a:t>
            </a:r>
          </a:p>
        </p:txBody>
      </p:sp>
      <p:sp>
        <p:nvSpPr>
          <p:cNvPr id="4" name="Slide Number Placeholder 3">
            <a:extLst>
              <a:ext uri="{FF2B5EF4-FFF2-40B4-BE49-F238E27FC236}">
                <a16:creationId xmlns:a16="http://schemas.microsoft.com/office/drawing/2014/main" id="{CAF2BEA2-FBDE-F7DC-94BF-1DCFC8A1F171}"/>
              </a:ext>
            </a:extLst>
          </p:cNvPr>
          <p:cNvSpPr>
            <a:spLocks noGrp="1"/>
          </p:cNvSpPr>
          <p:nvPr>
            <p:ph type="sldNum" sz="quarter" idx="12"/>
          </p:nvPr>
        </p:nvSpPr>
        <p:spPr/>
        <p:txBody>
          <a:bodyPr/>
          <a:lstStyle/>
          <a:p>
            <a:fld id="{88DB5A6F-883B-4080-A811-FB5B8D05AFA3}" type="slidenum">
              <a:rPr lang="en-GB" smtClean="0"/>
              <a:pPr/>
              <a:t>61</a:t>
            </a:fld>
            <a:endParaRPr lang="en-GB"/>
          </a:p>
        </p:txBody>
      </p:sp>
      <p:pic>
        <p:nvPicPr>
          <p:cNvPr id="3" name="Picture 2">
            <a:extLst>
              <a:ext uri="{FF2B5EF4-FFF2-40B4-BE49-F238E27FC236}">
                <a16:creationId xmlns:a16="http://schemas.microsoft.com/office/drawing/2014/main" id="{9BFFF85A-E8CA-B77D-5B44-AF4D2A0E65EA}"/>
              </a:ext>
            </a:extLst>
          </p:cNvPr>
          <p:cNvPicPr>
            <a:picLocks noChangeAspect="1"/>
          </p:cNvPicPr>
          <p:nvPr/>
        </p:nvPicPr>
        <p:blipFill>
          <a:blip r:embed="rId2"/>
          <a:stretch>
            <a:fillRect/>
          </a:stretch>
        </p:blipFill>
        <p:spPr>
          <a:xfrm>
            <a:off x="0" y="1397107"/>
            <a:ext cx="12192000" cy="2721122"/>
          </a:xfrm>
          <a:prstGeom prst="rect">
            <a:avLst/>
          </a:prstGeom>
        </p:spPr>
      </p:pic>
    </p:spTree>
    <p:extLst>
      <p:ext uri="{BB962C8B-B14F-4D97-AF65-F5344CB8AC3E}">
        <p14:creationId xmlns:p14="http://schemas.microsoft.com/office/powerpoint/2010/main" val="36863548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38264</TotalTime>
  <Words>6180</Words>
  <Application>Microsoft Office PowerPoint</Application>
  <PresentationFormat>Widescreen</PresentationFormat>
  <Paragraphs>1308</Paragraphs>
  <Slides>61</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61</vt:i4>
      </vt:variant>
    </vt:vector>
  </HeadingPairs>
  <TitlesOfParts>
    <vt:vector size="75" baseType="lpstr">
      <vt:lpstr>Aptos</vt:lpstr>
      <vt:lpstr>Arial</vt:lpstr>
      <vt:lpstr>Calibri</vt:lpstr>
      <vt:lpstr>Calibri Light</vt:lpstr>
      <vt:lpstr>Canva Sans 2</vt:lpstr>
      <vt:lpstr>Canva Sans 2 Bold</vt:lpstr>
      <vt:lpstr>Corbel</vt:lpstr>
      <vt:lpstr>Georgia</vt:lpstr>
      <vt:lpstr>Google Sans</vt:lpstr>
      <vt:lpstr>Open Sans</vt:lpstr>
      <vt:lpstr>Segoe UI</vt:lpstr>
      <vt:lpstr>Tenorite</vt:lpstr>
      <vt:lpstr>Wingdings</vt:lpstr>
      <vt:lpstr>1_Office Theme</vt:lpstr>
      <vt:lpstr>Strategy Document  Medbury Medical Services  Division  2025    </vt:lpstr>
      <vt:lpstr>Executive summary</vt:lpstr>
      <vt:lpstr>PowerPoint Presentation</vt:lpstr>
      <vt:lpstr>PowerPoint Presentation</vt:lpstr>
      <vt:lpstr>PowerPoint Presentation</vt:lpstr>
      <vt:lpstr>PowerPoint Presentation</vt:lpstr>
      <vt:lpstr>Most Valued Companies and Market Sector by Market Capitalization </vt:lpstr>
      <vt:lpstr>Medbury Top Customers and Industry that accounts for 70% of Revenue</vt:lpstr>
      <vt:lpstr>Medbury Top Customers and Industry that accounts for highest Revenue</vt:lpstr>
      <vt:lpstr>Gap Analysis</vt:lpstr>
      <vt:lpstr>PowerPoint Presentation</vt:lpstr>
      <vt:lpstr>Corporate Health &amp; Wellness Sub-Business Units</vt:lpstr>
      <vt:lpstr>Corporate Health &amp; Wellness Sub-Business Units</vt:lpstr>
      <vt:lpstr>PRODUCT RANGE</vt:lpstr>
      <vt:lpstr>MEDFIT (OH Clinics) </vt:lpstr>
      <vt:lpstr>HOSPITAL/ CLINIC MANAGEMENT  -MEDSTAFFING</vt:lpstr>
      <vt:lpstr>HOSPITAL/ CLINIC MANAGEMENT- FULL MGT </vt:lpstr>
      <vt:lpstr>MEDFIT </vt:lpstr>
      <vt:lpstr>OHP, INDUSTRIAL HYGIENE, MEDADVISORY SERVICES</vt:lpstr>
      <vt:lpstr>Occupational Health Service Line : MEDSUSTAIN / CSR  </vt:lpstr>
      <vt:lpstr>WELLNESS PRODUCTS</vt:lpstr>
      <vt:lpstr>Five Forces Analysis : MEDFIT </vt:lpstr>
      <vt:lpstr>Five Forces Analysis : HOSPITAL/ CLINIC MGT </vt:lpstr>
      <vt:lpstr>Five Forces Analysis : MEDPROJECT  </vt:lpstr>
      <vt:lpstr>Five Forces Analysis : MEDADVISORY </vt:lpstr>
      <vt:lpstr>Five Forces Analysis : MEDSUSTAIN / CSR </vt:lpstr>
      <vt:lpstr>Business Objectives MEDFIT- LIFECHECK WELLNESS CENTERS </vt:lpstr>
      <vt:lpstr>Business Objectives ; HOSPITAL/CLINIC MGT  </vt:lpstr>
      <vt:lpstr>Business Objectives ; MEDPROJECT</vt:lpstr>
      <vt:lpstr>Business Objectives ; MEDADVISORY  </vt:lpstr>
      <vt:lpstr>Business Objectives ; MEDSUSTAIN / CSR   </vt:lpstr>
      <vt:lpstr>MEDFIT– SWOT Analysis</vt:lpstr>
      <vt:lpstr>HOSPITAL &amp; CLINIC MGT – SWOT Analysis</vt:lpstr>
      <vt:lpstr>MEDADVISORY – SWOT Analysis</vt:lpstr>
      <vt:lpstr>MEDSUSTAIN / CSR – SWOT Analysis</vt:lpstr>
      <vt:lpstr>SWOT Analysis</vt:lpstr>
      <vt:lpstr> The Business Model for Lifecheck Wellness Centers</vt:lpstr>
      <vt:lpstr> Operational Model</vt:lpstr>
      <vt:lpstr>The Operations Strategy for Corporate Health &amp; Wellness</vt:lpstr>
      <vt:lpstr>Hospital Mgt – The Business Model for Clinic Management</vt:lpstr>
      <vt:lpstr>MedProject  – The Business Model for Onsite Medical Assessment Project </vt:lpstr>
      <vt:lpstr>MedAdvisory  – The Business Model for Medical Advisory and Occupational Hygiene</vt:lpstr>
      <vt:lpstr>MedSustain – The Business Model for Medsustain / CSR</vt:lpstr>
      <vt:lpstr> – The Business Model for Medsustain / CSR</vt:lpstr>
      <vt:lpstr>Competitor Analysis: </vt:lpstr>
      <vt:lpstr>MEDFIT - Unique Selling Points</vt:lpstr>
      <vt:lpstr>HOSPITAL MGT - Unique Selling Points</vt:lpstr>
      <vt:lpstr>MEDPROJECT  - Unique Selling Points</vt:lpstr>
      <vt:lpstr>MEDADVISORY - Unique Selling Points</vt:lpstr>
      <vt:lpstr>MEDSUSTAIN - Unique Selling Points</vt:lpstr>
      <vt:lpstr>MEDFIT - Marketing &amp;Sales Plan</vt:lpstr>
      <vt:lpstr>HOSPITAL MGT - Marketing &amp;Sales Plan</vt:lpstr>
      <vt:lpstr>MEDPROJECT - Marketing &amp;Sales Plan</vt:lpstr>
      <vt:lpstr>MEDADVISORY - Marketing &amp;Sales Plan</vt:lpstr>
      <vt:lpstr>Financial projections-Wellness products</vt:lpstr>
      <vt:lpstr>PowerPoint Presentation</vt:lpstr>
      <vt:lpstr>PowerPoint Presentation</vt:lpstr>
      <vt:lpstr>PowerPoint Presentation</vt:lpstr>
      <vt:lpstr>PowerPoint Presentation</vt:lpstr>
      <vt:lpstr>Revenue Strategy –Lifecheck Wellness Centers</vt:lpstr>
      <vt:lpstr>Corporate Health &amp;  Wellness organogram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Olatunbosun Oluborode</dc:creator>
  <cp:lastModifiedBy>MMS PHIA Chief Operational Officer</cp:lastModifiedBy>
  <cp:revision>345</cp:revision>
  <dcterms:created xsi:type="dcterms:W3CDTF">2023-01-15T13:14:25Z</dcterms:created>
  <dcterms:modified xsi:type="dcterms:W3CDTF">2025-05-02T23:32:15Z</dcterms:modified>
</cp:coreProperties>
</file>